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daty 2"/>
          <p:cNvSpPr txBox="1">
            <a:spLocks noGrp="1"/>
          </p:cNvSpPr>
          <p:nvPr>
            <p:ph type="dt" sz="quarter" idx="1"/>
          </p:nvPr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029D02C-69D0-4879-A53A-DF8004134DE3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Symbol zastępczy stopki 3"/>
          <p:cNvSpPr txBox="1">
            <a:spLocks noGrp="1"/>
          </p:cNvSpPr>
          <p:nvPr>
            <p:ph type="ftr" sz="quarter" idx="2"/>
          </p:nvPr>
        </p:nvSpPr>
        <p:spPr>
          <a:xfrm>
            <a:off x="0" y="10155234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ymbol zastępczy numeru slajdu 4"/>
          <p:cNvSpPr txBox="1">
            <a:spLocks noGrp="1"/>
          </p:cNvSpPr>
          <p:nvPr>
            <p:ph type="sldNum" sz="quarter" idx="3"/>
          </p:nvPr>
        </p:nvSpPr>
        <p:spPr>
          <a:xfrm>
            <a:off x="4281485" y="10155234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DB4BDB9-97A4-4BD2-9653-8E8069D6A974}" type="slidenum">
              <a:t>‹#›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Symbol zastępczy nagłówka 5"/>
          <p:cNvSpPr txBox="1">
            <a:spLocks noGrp="1"/>
          </p:cNvSpPr>
          <p:nvPr>
            <p:ph type="hdr" sz="quarter" idx="10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7" name="Symbol zastępczy daty 6"/>
          <p:cNvSpPr txBox="1">
            <a:spLocks noGrp="1"/>
          </p:cNvSpPr>
          <p:nvPr>
            <p:ph type="dt" sz="quarter" idx="7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8" name="Symbol zastępczy stopki 7"/>
          <p:cNvSpPr txBox="1">
            <a:spLocks noGrp="1"/>
          </p:cNvSpPr>
          <p:nvPr>
            <p:ph type="ftr" sz="quarter" idx="9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9" name="Symbol zastępczy numeru slajdu 8"/>
          <p:cNvSpPr txBox="1">
            <a:spLocks noGrp="1"/>
          </p:cNvSpPr>
          <p:nvPr>
            <p:ph type="sldNum" sz="quarter" idx="8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13B803E-4C5B-49E3-BEFC-EFD3C3F912EF}" type="slidenum">
              <a:t>‹#›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0" name="Symbol zastępczy nagłówka 1"/>
          <p:cNvSpPr txBox="1">
            <a:spLocks noGrp="1"/>
          </p:cNvSpPr>
          <p:nvPr>
            <p:ph type="hdr" sz="quarter" idx="10"/>
          </p:nvPr>
        </p:nvSpPr>
        <p:spPr>
          <a:xfrm>
            <a:off x="0" y="0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ymbol zastępczy daty 2"/>
          <p:cNvSpPr txBox="1">
            <a:spLocks noGrp="1"/>
          </p:cNvSpPr>
          <p:nvPr>
            <p:ph type="dt" sz="quarter" idx="7"/>
          </p:nvPr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E6DC7D2-E233-46D3-8D41-80337727FE6A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ymbol zastępczy stopki 3"/>
          <p:cNvSpPr txBox="1">
            <a:spLocks noGrp="1"/>
          </p:cNvSpPr>
          <p:nvPr>
            <p:ph type="ftr" sz="quarter" idx="9"/>
          </p:nvPr>
        </p:nvSpPr>
        <p:spPr>
          <a:xfrm>
            <a:off x="0" y="10155234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ymbol zastępczy numeru slajdu 4"/>
          <p:cNvSpPr txBox="1">
            <a:spLocks noGrp="1"/>
          </p:cNvSpPr>
          <p:nvPr>
            <p:ph type="sldNum" sz="quarter" idx="8"/>
          </p:nvPr>
        </p:nvSpPr>
        <p:spPr>
          <a:xfrm>
            <a:off x="4281485" y="10155234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087DEF4-786F-4550-AB00-1B8A91D5EA7A}" type="slidenum">
              <a:t>‹#›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9282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pl-PL"/>
          </a:p>
        </p:txBody>
      </p:sp>
      <p:sp>
        <p:nvSpPr>
          <p:cNvPr id="3" name="Symbol zastępczy daty 2"/>
          <p:cNvSpPr txBox="1">
            <a:spLocks noGrp="1"/>
          </p:cNvSpPr>
          <p:nvPr>
            <p:ph type="dt" idx="1"/>
          </p:nvPr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1DC9CDF4-A120-45C6-8700-259B80E4C432}" type="datetime1">
              <a:rPr lang="pl-PL"/>
              <a:pPr lvl="0"/>
              <a:t>13.05.2026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2" y="1336679"/>
            <a:ext cx="4810128" cy="3608386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Symbol zastępczy notatek 4"/>
          <p:cNvSpPr txBox="1">
            <a:spLocks noGrp="1"/>
          </p:cNvSpPr>
          <p:nvPr>
            <p:ph type="body" sz="quarter" idx="3"/>
          </p:nvPr>
        </p:nvSpPr>
        <p:spPr>
          <a:xfrm>
            <a:off x="755651" y="5145091"/>
            <a:ext cx="6048371" cy="42100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obrazu slajdu 7"/>
          <p:cNvSpPr>
            <a:spLocks noGrp="1" noRot="1" noChangeAspect="1"/>
          </p:cNvSpPr>
          <p:nvPr>
            <p:ph type="sldImg" sz="quarter" idx="4294967295"/>
          </p:nvPr>
        </p:nvSpPr>
        <p:spPr>
          <a:xfrm>
            <a:off x="215999" y="812517"/>
            <a:ext cx="7127281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7" name="Symbol zastępczy notatek 8"/>
          <p:cNvSpPr txBox="1">
            <a:spLocks noGrp="1"/>
          </p:cNvSpPr>
          <p:nvPr>
            <p:ph type="body" sz="quarter" idx="4294967295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pl-PL"/>
          </a:p>
        </p:txBody>
      </p:sp>
      <p:sp>
        <p:nvSpPr>
          <p:cNvPr id="8" name="Symbol zastępczy nagłówka 9"/>
          <p:cNvSpPr txBox="1">
            <a:spLocks noGrp="1"/>
          </p:cNvSpPr>
          <p:nvPr>
            <p:ph type="hdr" sz="quarter" idx="10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pl-PL"/>
          </a:p>
        </p:txBody>
      </p:sp>
      <p:sp>
        <p:nvSpPr>
          <p:cNvPr id="9" name="Symbol zastępczy daty 10"/>
          <p:cNvSpPr txBox="1">
            <a:spLocks noGrp="1"/>
          </p:cNvSpPr>
          <p:nvPr>
            <p:ph type="dt" sz="quarter" idx="7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pl-PL"/>
          </a:p>
        </p:txBody>
      </p:sp>
      <p:sp>
        <p:nvSpPr>
          <p:cNvPr id="10" name="Symbol zastępczy stopki 11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pl-PL"/>
          </a:p>
        </p:txBody>
      </p:sp>
      <p:sp>
        <p:nvSpPr>
          <p:cNvPr id="11" name="Symbol zastępczy numeru slajdu 12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3F3FC994-B26C-417F-9388-90789E73AF2D}" type="slidenum">
              <a:t>‹#›</a:t>
            </a:fld>
            <a:endParaRPr lang="pl-PL"/>
          </a:p>
        </p:txBody>
      </p:sp>
      <p:sp>
        <p:nvSpPr>
          <p:cNvPr id="12" name="Symbol zastępczy stopki 5"/>
          <p:cNvSpPr txBox="1">
            <a:spLocks noGrp="1"/>
          </p:cNvSpPr>
          <p:nvPr>
            <p:ph type="ftr" sz="quarter" idx="9"/>
          </p:nvPr>
        </p:nvSpPr>
        <p:spPr>
          <a:xfrm>
            <a:off x="0" y="10155234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pl-PL"/>
          </a:p>
        </p:txBody>
      </p:sp>
      <p:sp>
        <p:nvSpPr>
          <p:cNvPr id="13" name="Symbol zastępczy numeru slajdu 6"/>
          <p:cNvSpPr txBox="1">
            <a:spLocks noGrp="1"/>
          </p:cNvSpPr>
          <p:nvPr>
            <p:ph type="sldNum" sz="quarter" idx="8"/>
          </p:nvPr>
        </p:nvSpPr>
        <p:spPr>
          <a:xfrm>
            <a:off x="4281485" y="10155234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13444A9F-C0AC-45D8-BB54-F516DFEC5FD2}" type="slidenum">
              <a:t>‹#›</a:t>
            </a:fld>
            <a:endParaRPr lang="pl-PL"/>
          </a:p>
        </p:txBody>
      </p:sp>
      <p:sp>
        <p:nvSpPr>
          <p:cNvPr id="14" name="Symbol zastępczy nagłówka 1"/>
          <p:cNvSpPr txBox="1">
            <a:spLocks noGrp="1"/>
          </p:cNvSpPr>
          <p:nvPr>
            <p:ph type="hdr" sz="quarter" idx="10"/>
          </p:nvPr>
        </p:nvSpPr>
        <p:spPr>
          <a:xfrm>
            <a:off x="0" y="0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pl-PL"/>
          </a:p>
        </p:txBody>
      </p:sp>
      <p:sp>
        <p:nvSpPr>
          <p:cNvPr id="15" name="Symbol zastępczy daty 2"/>
          <p:cNvSpPr txBox="1">
            <a:spLocks noGrp="1"/>
          </p:cNvSpPr>
          <p:nvPr>
            <p:ph type="dt" sz="quarter" idx="7"/>
          </p:nvPr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B061FFBB-6A51-42BB-8E19-2186BBF8EF83}" type="datetime1">
              <a:rPr lang="pl-PL"/>
              <a:pPr lvl="0"/>
              <a:t>13.05.2026</a:t>
            </a:fld>
            <a:endParaRPr lang="pl-PL"/>
          </a:p>
        </p:txBody>
      </p:sp>
      <p:sp>
        <p:nvSpPr>
          <p:cNvPr id="16" name="Symbol zastępczy obrazu slajdu 3"/>
          <p:cNvSpPr>
            <a:spLocks noGrp="1" noRot="1" noChangeAspect="1"/>
          </p:cNvSpPr>
          <p:nvPr>
            <p:ph type="sldImg" sz="quarter" idx="4294967295"/>
          </p:nvPr>
        </p:nvSpPr>
        <p:spPr>
          <a:xfrm>
            <a:off x="1374772" y="1336679"/>
            <a:ext cx="4810128" cy="3608386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17" name="Symbol zastępczy notatek 4"/>
          <p:cNvSpPr txBox="1">
            <a:spLocks noGrp="1"/>
          </p:cNvSpPr>
          <p:nvPr>
            <p:ph type="body" sz="quarter" idx="4294967295"/>
          </p:nvPr>
        </p:nvSpPr>
        <p:spPr>
          <a:xfrm>
            <a:off x="755651" y="5145091"/>
            <a:ext cx="6048371" cy="42100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18" name="Symbol zastępczy stopki 5"/>
          <p:cNvSpPr txBox="1">
            <a:spLocks noGrp="1"/>
          </p:cNvSpPr>
          <p:nvPr>
            <p:ph type="ftr" sz="quarter" idx="9"/>
          </p:nvPr>
        </p:nvSpPr>
        <p:spPr>
          <a:xfrm>
            <a:off x="0" y="10155234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pl-PL"/>
          </a:p>
        </p:txBody>
      </p:sp>
      <p:sp>
        <p:nvSpPr>
          <p:cNvPr id="19" name="Symbol zastępczy numeru slajdu 6"/>
          <p:cNvSpPr txBox="1">
            <a:spLocks noGrp="1"/>
          </p:cNvSpPr>
          <p:nvPr>
            <p:ph type="sldNum" sz="quarter" idx="8"/>
          </p:nvPr>
        </p:nvSpPr>
        <p:spPr>
          <a:xfrm>
            <a:off x="4281485" y="10155234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FC79A3C7-A5DD-4D09-9967-2C883F5AF8FC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9162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pl-PL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348DF44-4078-45D4-9A70-E60330D64C06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3727674-65B6-4C0B-A75A-C1B4EC97029F}" type="slidenum">
              <a:t>1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79F64CA-DCE8-47A1-AF21-F35CFCD2AAC9}" type="slidenum">
              <a:t>1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7BD4F5-CECD-4169-868C-476901A7974C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C8DB900-753A-49BC-8CB8-8613004FD7B5}" type="slidenum">
              <a:t>3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3D4A1A9-6B6E-4544-8D66-B203679C7EFA}" type="slidenum">
              <a:t>3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11D13EE-4A6F-4170-BEA8-7E6E2AB6B6A5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9E37CF3-C09B-4488-96E9-839FE0DA1333}" type="slidenum">
              <a:t>4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0EA4E86-1434-4766-A922-9F60F561821F}" type="slidenum">
              <a:t>4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F8D1284-BA26-4581-8B0B-77358DDFB173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5D58BC4-565F-4584-993D-6CD325F2B5B2}" type="slidenum">
              <a:t>5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CC34144-7A4F-41F6-B5E8-54F2CDD90EE1}" type="slidenum">
              <a:t>5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FA883ED-B2E1-4D93-9F69-281F998D159D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D651D7D-8C1F-4EFE-B0EE-836F10134F51}" type="slidenum">
              <a:t>6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CE757E-96CA-43DC-8414-9D9F1749CD43}" type="slidenum">
              <a:t>6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7F71D4E-60AF-4BBC-A9F6-9341CA99B629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0552F04-8AFB-4A5C-8561-A15CDADBCFBF}" type="slidenum">
              <a:t>7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ED0E9AA-AC77-4C07-8EA6-0C9D2F57FBAF}" type="slidenum">
              <a:t>7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F09C485-AABB-4729-8E32-3CC7D485F985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B8F6495-6E93-4A88-BDB6-E14ED8E8EA10}" type="slidenum">
              <a:t>8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5D689A9-0EBF-4E11-8D22-FE0BE721D69B}" type="slidenum">
              <a:t>8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6FE5246-2C12-4AAD-BFFC-5D41081AC1A6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81E04CC-AB46-43C3-990D-9096799733FA}" type="slidenum">
              <a:t>9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86146A4-EBB6-4005-A5E3-A225C6F1C94E}" type="slidenum">
              <a:t>9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1C91605-5061-4A11-8ED4-1AAC358688E5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7398A24-7E8A-47A7-AB2E-C2C77A9C05AE}" type="slidenum">
              <a:t>10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1865E76-782A-4E0D-8B6D-858BA7F7E8C6}" type="slidenum">
              <a:t>10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2FF66BA-75FF-4420-B8A1-513F81737D87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5FA9FE9-15B8-44E4-8B0E-0DF0C5E18EA9}" type="slidenum">
              <a:t>11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3D9DD8E-6F3A-4CCD-877B-3FD2A72C71E7}" type="slidenum">
              <a:t>11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AFE7F87-43D9-4C6D-B0F4-373E51189554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43881D3-4120-430A-A931-BE73F27F4B11}" type="slidenum">
              <a:t>12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D26E6F-81C1-4E02-BF0E-5653BCBCB097}" type="slidenum">
              <a:t>12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D6BF25A-CD7E-452E-876E-481B057D093E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2F77B28-36E8-4B4B-884D-E112AD4DDAF7}" type="slidenum">
              <a:t>13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61A3AD-FBA8-4253-804A-07F6CBA7B343}" type="slidenum">
              <a:t>13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1E8B868-485B-444A-8B43-78E35E4194C3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7AB6659-9561-400A-8755-AF5C99BD5CDA}" type="slidenum">
              <a:t>14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98DFB0A-5EF6-4415-AFFB-095E632AC9B9}" type="slidenum">
              <a:t>14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C2097D0-75FE-4F73-BDB4-A8E6D8D7AC52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8FE14AE-0CD5-4B92-A391-90A61ADFF42A}" type="slidenum">
              <a:t>15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4D6BBD9-24D2-4E14-9087-87E6E519BD7A}" type="slidenum">
              <a:t>15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E0C83D9-BEBF-4176-AA6B-21C3082E8A94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8F66426-FF48-46EC-8EB6-28BA781FB6B7}" type="slidenum">
              <a:t>16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8A19359-A242-4F60-99EA-36C89EBC5616}" type="slidenum">
              <a:t>16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3542186-846B-4C5D-956C-479D0DDBF09E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13.05.2026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ymbol zastępczy numeru slajdu 12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9A995DF-58F0-4567-84E4-26AD2F770DAE}" type="slidenum">
              <a:t>17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09D29DA-AADC-4F75-BDDC-E1C20248AC19}" type="slidenum">
              <a:t>17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1"/>
            <a:ext cx="5346697" cy="4008436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Symbol zastępczy notatek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042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pl-PL"/>
              <a:t>Kliknij, aby edytować styl</a:t>
            </a:r>
          </a:p>
        </p:txBody>
      </p:sp>
      <p:sp>
        <p:nvSpPr>
          <p:cNvPr id="3" name="Podtytuł 2"/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5" name="Symbol zastępczy stopki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ymbol zastępczy numeru slajdu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7AFE5F-044C-434A-8415-DAC00A6A4664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9149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5" name="Symbol zastępczy stopki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ymbol zastępczy numeru slajdu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E1390B-D65C-40CB-AB65-D7E7DB2835B8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00099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5" name="Symbol zastępczy stopki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ymbol zastępczy numeru slajdu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47D3B7-DC24-4045-B782-CBF73C9CD6AE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46412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ymbol zastępczy stopki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7" name="Symbol zastępczy numeru slajdu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CA28E0-9FB4-48C8-8F1B-A1F9983263C8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7997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8" name="Symbol zastępczy stopki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9" name="Symbol zastępczy numeru slajdu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9D6B7F-2133-41CC-8473-A2046F58E2D6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02053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4" name="Symbol zastępczy stopki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5" name="Symbol zastępczy numeru slajdu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3B3330-47D9-4218-8E09-BA4C698C78B9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3863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3" name="Symbol zastępczy stopki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4" name="Symbol zastępczy numeru slajdu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CAD5DC-AFA5-4200-ADBB-3C13A7F6D7FD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5965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ymbol zastępczy stopki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7" name="Symbol zastępczy numeru slajdu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8BE578D-C945-437B-8FF0-043BBC46A506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2301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pl-PL"/>
          </a:p>
        </p:txBody>
      </p:sp>
      <p:sp>
        <p:nvSpPr>
          <p:cNvPr id="4" name="Symbol zastępczy tekstu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ymbol zastępczy stopki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7" name="Symbol zastępczy numeru slajdu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728E6F-B0BD-41D8-87D6-E9CF651E30FD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3165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5" name="Symbol zastępczy stopki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ymbol zastępczy numeru slajdu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1E74E8-CDEC-4E40-A4F7-41760C39E6B2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9597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5" name="Symbol zastępczy stopki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pl-PL"/>
          </a:p>
        </p:txBody>
      </p:sp>
      <p:sp>
        <p:nvSpPr>
          <p:cNvPr id="6" name="Symbol zastępczy numeru slajdu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4A66CCF-85EF-4421-9694-8F697391672B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0148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17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pl-PL"/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1"/>
          </p:nvPr>
        </p:nvSpPr>
        <p:spPr>
          <a:xfrm>
            <a:off x="503998" y="1768678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 txBox="1">
            <a:spLocks noGrp="1"/>
          </p:cNvSpPr>
          <p:nvPr>
            <p:ph type="dt" sz="half" idx="2"/>
          </p:nvPr>
        </p:nvSpPr>
        <p:spPr>
          <a:xfrm>
            <a:off x="503998" y="6886803"/>
            <a:ext cx="2348279" cy="5209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pl-PL"/>
          </a:p>
        </p:txBody>
      </p:sp>
      <p:sp>
        <p:nvSpPr>
          <p:cNvPr id="5" name="Symbol zastępczy stopki 4"/>
          <p:cNvSpPr txBox="1">
            <a:spLocks noGrp="1"/>
          </p:cNvSpPr>
          <p:nvPr>
            <p:ph type="ftr" sz="quarter" idx="3"/>
          </p:nvPr>
        </p:nvSpPr>
        <p:spPr>
          <a:xfrm>
            <a:off x="3447361" y="6886803"/>
            <a:ext cx="3194995" cy="5209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pl-PL"/>
          </a:p>
        </p:txBody>
      </p:sp>
      <p:sp>
        <p:nvSpPr>
          <p:cNvPr id="6" name="Symbol zastępczy numeru slajdu 5"/>
          <p:cNvSpPr txBox="1">
            <a:spLocks noGrp="1"/>
          </p:cNvSpPr>
          <p:nvPr>
            <p:ph type="sldNum" sz="quarter" idx="4"/>
          </p:nvPr>
        </p:nvSpPr>
        <p:spPr>
          <a:xfrm>
            <a:off x="7227362" y="6886803"/>
            <a:ext cx="2348279" cy="5209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87099894-F482-4314-B8F2-4282726B0EC7}" type="slidenum"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pl-PL" sz="586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890"/>
        </a:spcBef>
        <a:spcAft>
          <a:spcPts val="0"/>
        </a:spcAft>
        <a:buNone/>
        <a:tabLst/>
        <a:defRPr lang="pl-PL" sz="427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l-PL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l-PL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l-PL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l-PL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>
          <a:xfrm>
            <a:off x="503998" y="482099"/>
            <a:ext cx="9071643" cy="900245"/>
          </a:xfrm>
        </p:spPr>
        <p:txBody>
          <a:bodyPr>
            <a:spAutoFit/>
          </a:bodyPr>
          <a:lstStyle/>
          <a:p>
            <a:pPr lvl="0"/>
            <a:r>
              <a:rPr lang="pl-PL" sz="5850">
                <a:latin typeface="Arial"/>
                <a:cs typeface="Arial"/>
              </a:rPr>
              <a:t>Projekt zespołowy</a:t>
            </a:r>
          </a:p>
        </p:txBody>
      </p:sp>
      <p:sp>
        <p:nvSpPr>
          <p:cNvPr id="3" name="Podtytuł 2"/>
          <p:cNvSpPr txBox="1">
            <a:spLocks noGrp="1"/>
          </p:cNvSpPr>
          <p:nvPr>
            <p:ph type="subTitle" idx="4294967295"/>
          </p:nvPr>
        </p:nvSpPr>
        <p:spPr>
          <a:xfrm>
            <a:off x="503998" y="1934705"/>
            <a:ext cx="9071643" cy="4052392"/>
          </a:xfrm>
        </p:spPr>
        <p:txBody>
          <a:bodyPr anchor="ctr">
            <a:spAutoFit/>
          </a:bodyPr>
          <a:lstStyle/>
          <a:p>
            <a:pPr lvl="0" algn="l">
              <a:buSzPct val="45000"/>
              <a:buFont typeface="StarSymbol"/>
              <a:buChar char="●"/>
            </a:pPr>
            <a:r>
              <a:rPr lang="pl-PL" sz="4000">
                <a:latin typeface="Arial"/>
                <a:cs typeface="Arial"/>
              </a:rPr>
              <a:t>wi115568 (Piotr Grochowski)</a:t>
            </a:r>
          </a:p>
          <a:p>
            <a:pPr lvl="0" algn="l">
              <a:buSzPct val="45000"/>
              <a:buFont typeface="StarSymbol"/>
              <a:buChar char="●"/>
            </a:pPr>
            <a:r>
              <a:rPr lang="pl-PL" sz="4000">
                <a:latin typeface="Arial"/>
                <a:cs typeface="Arial"/>
              </a:rPr>
              <a:t>wi115647 (Michał Sołowiej)</a:t>
            </a:r>
          </a:p>
          <a:p>
            <a:pPr lvl="0" algn="l">
              <a:buSzPct val="45000"/>
              <a:buFont typeface="StarSymbol"/>
              <a:buChar char="●"/>
            </a:pPr>
            <a:r>
              <a:rPr lang="pl-PL" sz="4000">
                <a:latin typeface="Arial"/>
                <a:cs typeface="Arial"/>
              </a:rPr>
              <a:t>wi115710 (Jakub Brzozowski)</a:t>
            </a:r>
          </a:p>
          <a:p>
            <a:pPr lvl="0" algn="l">
              <a:buSzPct val="45000"/>
              <a:buFont typeface="StarSymbol"/>
              <a:buChar char="●"/>
            </a:pPr>
            <a:r>
              <a:rPr lang="pl-PL" sz="4000">
                <a:latin typeface="Arial"/>
                <a:cs typeface="Arial"/>
              </a:rPr>
              <a:t>wi115742 (Dominik Cegłowski)</a:t>
            </a:r>
          </a:p>
          <a:p>
            <a:pPr lvl="0" algn="l">
              <a:buSzPct val="45000"/>
              <a:buFont typeface="StarSymbol"/>
              <a:buChar char="●"/>
            </a:pPr>
            <a:r>
              <a:rPr lang="pl-PL" sz="4000">
                <a:latin typeface="Arial"/>
                <a:cs typeface="Arial"/>
              </a:rPr>
              <a:t>wi115744 (Kornel Jacek Świerzbiński)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 sz="4000">
                <a:highlight>
                  <a:srgbClr val="FFFFFF"/>
                </a:highlight>
                <a:latin typeface="Arial"/>
                <a:cs typeface="Arial"/>
              </a:rPr>
              <a:t>Tytuł i informacje podstawowe (nazwa projektu, autorzy, data)</a:t>
            </a:r>
            <a:endParaRPr lang="pl-PL" sz="4000">
              <a:latin typeface="Arial"/>
              <a:cs typeface="Arial"/>
            </a:endParaRPr>
          </a:p>
        </p:txBody>
      </p:sp>
      <p:sp>
        <p:nvSpPr>
          <p:cNvPr id="3" name="Symbol zastępczy zawartości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z="3200">
                <a:latin typeface="Arial"/>
                <a:cs typeface="Arial"/>
              </a:rPr>
              <a:t>Nazwa projektu: TH2025GR3</a:t>
            </a:r>
          </a:p>
          <a:p>
            <a:pPr lvl="0" algn="l"/>
            <a:r>
              <a:rPr lang="pl-PL" sz="3200">
                <a:latin typeface="Arial"/>
                <a:cs typeface="Arial"/>
              </a:rPr>
              <a:t>Autorzy: </a:t>
            </a:r>
            <a:r>
              <a:rPr lang="pl-PL" sz="3200">
                <a:latin typeface="Liberation Sans"/>
                <a:cs typeface="Arial"/>
              </a:rPr>
              <a:t>wi89135 (Piotr Grochowski), wi89214 (Michał Sołowiej), wi89277 (Jakub Brzozowski), wi89309 (Dominik Cegłowski), wi89311 (Kornel Świerzbiński)</a:t>
            </a:r>
            <a:endParaRPr lang="pl-PL" sz="4250">
              <a:latin typeface="Liberation Sans"/>
              <a:cs typeface="Arial"/>
            </a:endParaRPr>
          </a:p>
          <a:p>
            <a:pPr lvl="0" algn="l"/>
            <a:r>
              <a:rPr lang="pl-PL" sz="3200">
                <a:latin typeface="Liberation Sans"/>
                <a:cs typeface="Arial"/>
              </a:rPr>
              <a:t>Data: 2025-10-01—2026-06-30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 sz="4800">
                <a:latin typeface="Arial"/>
                <a:cs typeface="Arial"/>
              </a:rPr>
              <a:t>Wymagania funkcjonalne (MVP)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9071643" cy="5089321"/>
          </a:xfrm>
        </p:spPr>
        <p:txBody>
          <a:bodyPr>
            <a:noAutofit/>
          </a:bodyPr>
          <a:lstStyle/>
          <a:p>
            <a:pPr lvl="0" algn="l">
              <a:spcBef>
                <a:spcPts val="1800"/>
              </a:spcBef>
            </a:pPr>
            <a:r>
              <a:rPr lang="pl-PL" sz="2400">
                <a:latin typeface="Arial"/>
                <a:cs typeface="Arial"/>
              </a:rPr>
              <a:t>1) Rejestracja i logowanie</a:t>
            </a:r>
            <a:br>
              <a:rPr lang="pl-PL" sz="2400">
                <a:latin typeface="Arial"/>
                <a:cs typeface="Arial"/>
              </a:rPr>
            </a:br>
            <a:r>
              <a:rPr lang="pl-PL" sz="2400">
                <a:latin typeface="Arial"/>
                <a:cs typeface="Arial"/>
              </a:rPr>
              <a:t>2) Profil użytkownika</a:t>
            </a:r>
            <a:br>
              <a:rPr lang="pl-PL" sz="2400">
                <a:latin typeface="Arial"/>
                <a:cs typeface="Arial"/>
              </a:rPr>
            </a:br>
            <a:r>
              <a:rPr lang="pl-PL" sz="2400">
                <a:latin typeface="Arial"/>
                <a:cs typeface="Arial"/>
              </a:rPr>
              <a:t>3) Oferty (CRUD)</a:t>
            </a:r>
            <a:br>
              <a:rPr lang="pl-PL" sz="2400">
                <a:latin typeface="Arial"/>
                <a:cs typeface="Arial"/>
              </a:rPr>
            </a:br>
            <a:r>
              <a:rPr lang="pl-PL" sz="2400">
                <a:latin typeface="Arial"/>
                <a:cs typeface="Arial"/>
              </a:rPr>
              <a:t>4) Przeglądanie i filtrowanie</a:t>
            </a:r>
            <a:br>
              <a:rPr lang="pl-PL" sz="2400">
                <a:latin typeface="Arial"/>
                <a:cs typeface="Arial"/>
              </a:rPr>
            </a:br>
            <a:r>
              <a:rPr lang="pl-PL" sz="2400">
                <a:latin typeface="Arial"/>
                <a:cs typeface="Arial"/>
              </a:rPr>
              <a:t>5) Szczegóły oferty</a:t>
            </a:r>
            <a:br>
              <a:rPr lang="pl-PL" sz="2400">
                <a:latin typeface="Arial"/>
                <a:cs typeface="Arial"/>
              </a:rPr>
            </a:br>
            <a:r>
              <a:rPr lang="pl-PL" sz="2400">
                <a:latin typeface="Arial"/>
                <a:cs typeface="Arial"/>
              </a:rPr>
              <a:t>6) Wiadomości 1:1 (tekst)</a:t>
            </a:r>
            <a:br>
              <a:rPr lang="pl-PL" sz="2400">
                <a:latin typeface="Arial"/>
                <a:cs typeface="Arial"/>
              </a:rPr>
            </a:br>
            <a:r>
              <a:rPr lang="pl-PL" sz="2400">
                <a:latin typeface="Arial"/>
                <a:cs typeface="Arial"/>
              </a:rPr>
              <a:t>7) Oznaczenie oferty jako „zrealizowana”</a:t>
            </a:r>
            <a:br>
              <a:rPr lang="pl-PL" sz="2400">
                <a:latin typeface="Arial"/>
                <a:cs typeface="Arial"/>
              </a:rPr>
            </a:br>
            <a:r>
              <a:rPr lang="pl-PL" sz="2400">
                <a:latin typeface="Arial"/>
                <a:cs typeface="Arial"/>
              </a:rPr>
              <a:t>8) Transakcja (finalizacja)</a:t>
            </a:r>
            <a:br>
              <a:rPr lang="pl-PL" sz="2400">
                <a:latin typeface="Arial"/>
                <a:cs typeface="Arial"/>
              </a:rPr>
            </a:br>
            <a:r>
              <a:rPr lang="pl-PL" sz="2400">
                <a:latin typeface="Arial"/>
                <a:cs typeface="Arial"/>
              </a:rPr>
              <a:t>9) Recenzja sprzedawcy</a:t>
            </a:r>
            <a:br>
              <a:rPr lang="pl-PL" sz="2400">
                <a:latin typeface="Arial"/>
                <a:cs typeface="Arial"/>
              </a:rPr>
            </a:br>
            <a:r>
              <a:rPr lang="pl-PL" sz="2400">
                <a:latin typeface="Arial"/>
                <a:cs typeface="Arial"/>
              </a:rPr>
              <a:t>10) Zgłoszenie nadużycia</a:t>
            </a:r>
            <a:br>
              <a:rPr lang="pl-PL" sz="2400">
                <a:latin typeface="Arial"/>
                <a:cs typeface="Arial"/>
              </a:rPr>
            </a:br>
            <a:r>
              <a:rPr lang="pl-PL" sz="2400">
                <a:latin typeface="Arial"/>
                <a:cs typeface="Arial"/>
              </a:rPr>
              <a:t>11) Panel administratora</a:t>
            </a:r>
            <a:br>
              <a:rPr lang="pl-PL" sz="2400">
                <a:latin typeface="Arial"/>
                <a:cs typeface="Arial"/>
              </a:rPr>
            </a:br>
            <a:r>
              <a:rPr lang="pl-PL" sz="2400">
                <a:latin typeface="Arial"/>
                <a:cs typeface="Arial"/>
              </a:rPr>
              <a:t>12) Powiadomienia w aplikacji (badge/licznik)</a:t>
            </a:r>
            <a:endParaRPr lang="pl-PL" sz="2400">
              <a:latin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>
          <a:xfrm>
            <a:off x="503998" y="482099"/>
            <a:ext cx="9071643" cy="900245"/>
          </a:xfrm>
        </p:spPr>
        <p:txBody>
          <a:bodyPr>
            <a:spAutoFit/>
          </a:bodyPr>
          <a:lstStyle/>
          <a:p>
            <a:pPr lvl="0"/>
            <a:r>
              <a:rPr lang="pl-PL" sz="5850">
                <a:latin typeface="Arial"/>
                <a:cs typeface="Arial"/>
              </a:rPr>
              <a:t>Rejestracja i logowanie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4753801" cy="4860721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pl-PL" sz="2400">
                <a:latin typeface="Arial"/>
                <a:cs typeface="Arial"/>
              </a:rPr>
              <a:t>a) Zakres: konto przez e-mail+hasło; reset hasła linkiem; wylogowanie.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400">
                <a:latin typeface="Arial"/>
                <a:cs typeface="Arial"/>
              </a:rPr>
              <a:t>b) Reguły: unikalny e-mail; hasło min. 8 znaków (litera, cyfra); link resetu ważny 30 min.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400">
                <a:latin typeface="Arial"/>
                <a:cs typeface="Arial"/>
              </a:rPr>
              <a:t>c) Błędy: istniejący e-mail, zły token resetu, limit 5 prób logowania/15 min.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400">
                <a:latin typeface="Arial"/>
                <a:cs typeface="Arial"/>
              </a:rPr>
              <a:t>d) Kryteria: po rejestracji użytkownik ląduje na profilu; po resecie może się zalogować nowym hasłem.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188680" y="1828800"/>
            <a:ext cx="4412519" cy="34290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>
          <a:xfrm>
            <a:off x="503998" y="515154"/>
            <a:ext cx="9071643" cy="834115"/>
          </a:xfrm>
        </p:spPr>
        <p:txBody>
          <a:bodyPr/>
          <a:lstStyle/>
          <a:p>
            <a:pPr lvl="0"/>
            <a:r>
              <a:rPr lang="pl-PL" sz="5850">
                <a:latin typeface="Arial"/>
                <a:cs typeface="Arial"/>
              </a:rPr>
              <a:t>Profil użytkownika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9071643" cy="5317921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pl-PL" sz="3600">
                <a:latin typeface="Arial"/>
                <a:cs typeface="Arial"/>
              </a:rPr>
              <a:t>a) Zakres: podgląd własnego i cudzych profili; edycja: avatar (1 obraz), opis (max 500 znaków).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600">
                <a:latin typeface="Arial"/>
                <a:cs typeface="Arial"/>
              </a:rPr>
              <a:t>b) Reguły: formaty PNG/JPG, plik ≤ 2 MB; opis bez HTML (sanityzacja).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600">
                <a:latin typeface="Arial"/>
                <a:cs typeface="Arial"/>
              </a:rPr>
              <a:t>c) Błędy: zbyt duży/nieobsługiwany plik; pusty opis nie jest błędem.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600">
                <a:latin typeface="Arial"/>
                <a:cs typeface="Arial"/>
              </a:rPr>
              <a:t>d) Kryteria: zmiana avatara odświeża się na liście ofert i w czacie.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>
          <a:xfrm>
            <a:off x="503998" y="482099"/>
            <a:ext cx="9071643" cy="900245"/>
          </a:xfrm>
        </p:spPr>
        <p:txBody>
          <a:bodyPr>
            <a:spAutoFit/>
          </a:bodyPr>
          <a:lstStyle/>
          <a:p>
            <a:pPr lvl="0"/>
            <a:r>
              <a:rPr lang="pl-PL" sz="5850">
                <a:latin typeface="Arial"/>
                <a:cs typeface="Arial"/>
              </a:rPr>
              <a:t>Oferty (CRUD)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4753801" cy="5546521"/>
          </a:xfrm>
        </p:spPr>
        <p:txBody>
          <a:bodyPr>
            <a:noAutofit/>
          </a:bodyPr>
          <a:lstStyle/>
          <a:p>
            <a:pPr lvl="0">
              <a:spcBef>
                <a:spcPts val="1440"/>
              </a:spcBef>
              <a:buSzPct val="45000"/>
              <a:buFont typeface="StarSymbol"/>
              <a:buChar char="●"/>
            </a:pPr>
            <a:r>
              <a:rPr lang="pl-PL" sz="2000">
                <a:latin typeface="Arial"/>
                <a:cs typeface="Arial"/>
              </a:rPr>
              <a:t>a) Zakres: dodaj/edytuj/usuń; pola: tytuł, opis, 1-5 zdjęć, tagi, opcjonalna cena, typ: „oddaję/sprzedam”.</a:t>
            </a:r>
          </a:p>
          <a:p>
            <a:pPr lvl="0">
              <a:spcBef>
                <a:spcPts val="1440"/>
              </a:spcBef>
              <a:buSzPct val="45000"/>
              <a:buFont typeface="StarSymbol"/>
              <a:buChar char="●"/>
            </a:pPr>
            <a:r>
              <a:rPr lang="pl-PL" sz="2000">
                <a:latin typeface="Arial"/>
                <a:cs typeface="Arial"/>
              </a:rPr>
              <a:t>b) Reguły: tytuł 10-80 znaków; opis do 2000; cena &gt; 0 tylko przy „sprzedam”; max 10 tagów.</a:t>
            </a:r>
          </a:p>
          <a:p>
            <a:pPr lvl="0">
              <a:spcBef>
                <a:spcPts val="1440"/>
              </a:spcBef>
              <a:buSzPct val="45000"/>
              <a:buFont typeface="StarSymbol"/>
              <a:buChar char="●"/>
            </a:pPr>
            <a:r>
              <a:rPr lang="pl-PL" sz="2000">
                <a:latin typeface="Arial"/>
                <a:cs typeface="Arial"/>
              </a:rPr>
              <a:t>c) Błędy: brak tytułu; cena przy „oddaję”; więcej niż 5 zdjęć / &gt; 2 MB / zły MIME.</a:t>
            </a:r>
          </a:p>
          <a:p>
            <a:pPr lvl="0">
              <a:spcBef>
                <a:spcPts val="1440"/>
              </a:spcBef>
              <a:buSzPct val="45000"/>
              <a:buFont typeface="StarSymbol"/>
              <a:buChar char="●"/>
            </a:pPr>
            <a:r>
              <a:rPr lang="pl-PL" sz="2000">
                <a:latin typeface="Arial"/>
                <a:cs typeface="Arial"/>
              </a:rPr>
              <a:t>d) Kryteria: poprawne utworzenie pokazuje ofertę na liście i w profilu autora.</a:t>
            </a:r>
          </a:p>
          <a:p>
            <a:pPr lvl="0">
              <a:spcBef>
                <a:spcPts val="1440"/>
              </a:spcBef>
              <a:buSzPct val="45000"/>
              <a:buFont typeface="StarSymbol"/>
              <a:buChar char="●"/>
            </a:pPr>
            <a:r>
              <a:rPr lang="pl-PL" sz="2000">
                <a:latin typeface="Arial"/>
                <a:cs typeface="Arial"/>
              </a:rPr>
              <a:t>e) Karta kredytowa: przy sprzedaży oferty projekt daje odpowiednią ilość pieniędzy albo zgłasza błąd karty kredytowej.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507275" y="1828800"/>
            <a:ext cx="4322524" cy="396323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 sz="5850">
                <a:latin typeface="Arial"/>
                <a:cs typeface="Arial"/>
              </a:rPr>
              <a:t>Przeglądanie i filtrowanie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5439601" cy="5546521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pl-PL" sz="2600">
                <a:latin typeface="Arial"/>
                <a:cs typeface="Arial"/>
              </a:rPr>
              <a:t>a) Zakres: lista z paginacją; filtr: tekst (tytuł/opis), tagi, typ, zakres ceny; sort: najnowsze/najtaniej.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600">
                <a:latin typeface="Arial"/>
                <a:cs typeface="Arial"/>
              </a:rPr>
              <a:t>b) Reguły: domyślnie 20 na stronę; łączenie filtrów logiczne AND; reset filtrów jednym kliknięciem.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600">
                <a:latin typeface="Arial"/>
                <a:cs typeface="Arial"/>
              </a:rPr>
              <a:t>c) Błędy: nietypowe znaki - bezpieczne zignorowanie (brak 500).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600">
                <a:latin typeface="Arial"/>
                <a:cs typeface="Arial"/>
              </a:rPr>
              <a:t>d) Kryteria: dla tego samego filtra wynik listy = wynik API (liczba i kolejność).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943600" y="1768678"/>
            <a:ext cx="3743635" cy="440352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 sz="5850">
                <a:latin typeface="Arial"/>
                <a:cs typeface="Arial"/>
              </a:rPr>
              <a:t>Szczegóły oferty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9071643" cy="5089321"/>
          </a:xfrm>
        </p:spPr>
        <p:txBody>
          <a:bodyPr/>
          <a:lstStyle/>
          <a:p>
            <a:pPr lvl="0">
              <a:lnSpc>
                <a:spcPct val="90000"/>
              </a:lnSpc>
              <a:buSzPct val="45000"/>
              <a:buFont typeface="StarSymbol"/>
              <a:buChar char="●"/>
            </a:pPr>
            <a:r>
              <a:rPr lang="pl-PL" sz="3000">
                <a:latin typeface="Arial"/>
                <a:cs typeface="Arial"/>
              </a:rPr>
              <a:t>a) Zakres: pełne dane + karuzela zdjęć + przycisk „Napisz do sprzedawcy”.</a:t>
            </a:r>
          </a:p>
          <a:p>
            <a:pPr lvl="0">
              <a:lnSpc>
                <a:spcPct val="90000"/>
              </a:lnSpc>
              <a:buSzPct val="45000"/>
              <a:buFont typeface="StarSymbol"/>
              <a:buChar char="●"/>
            </a:pPr>
            <a:r>
              <a:rPr lang="pl-PL" sz="3000">
                <a:latin typeface="Arial"/>
                <a:cs typeface="Arial"/>
              </a:rPr>
              <a:t>b) Reguły: jeśli oferta „zrealizowana”, pokaż banner i wyłącz przycisk czatu.</a:t>
            </a:r>
          </a:p>
          <a:p>
            <a:pPr lvl="0">
              <a:lnSpc>
                <a:spcPct val="90000"/>
              </a:lnSpc>
              <a:buSzPct val="45000"/>
              <a:buFont typeface="StarSymbol"/>
              <a:buChar char="●"/>
            </a:pPr>
            <a:r>
              <a:rPr lang="pl-PL" sz="3000">
                <a:latin typeface="Arial"/>
                <a:cs typeface="Arial"/>
              </a:rPr>
              <a:t>c) Błędy: usunięta oferta - komunikat i przekierowanie na listę.</a:t>
            </a:r>
          </a:p>
          <a:p>
            <a:pPr lvl="0">
              <a:lnSpc>
                <a:spcPct val="90000"/>
              </a:lnSpc>
              <a:buSzPct val="45000"/>
              <a:buFont typeface="StarSymbol"/>
              <a:buChar char="●"/>
            </a:pPr>
            <a:r>
              <a:rPr lang="pl-PL" sz="3000">
                <a:latin typeface="Arial"/>
                <a:cs typeface="Arial"/>
              </a:rPr>
              <a:t>d) Kryteria: klik „Napisz” otwiera/zakłada czat z autorem oferty.</a:t>
            </a:r>
          </a:p>
          <a:p>
            <a:pPr lvl="0">
              <a:lnSpc>
                <a:spcPct val="90000"/>
              </a:lnSpc>
              <a:buSzPct val="45000"/>
              <a:buFont typeface="StarSymbol"/>
              <a:buChar char="●"/>
            </a:pPr>
            <a:r>
              <a:rPr lang="pl-PL" sz="3000">
                <a:latin typeface="Arial"/>
                <a:cs typeface="Arial"/>
              </a:rPr>
              <a:t>e) Podatki: zgodnie z prawem podatkowym w Polsce, ceny mają uwzględniać VAT.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 sz="5850">
                <a:latin typeface="Arial"/>
                <a:cs typeface="Arial"/>
              </a:rPr>
              <a:t>Wiadomości 1:1 (tekst)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9071643" cy="5089321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pl-PL" sz="2800">
                <a:latin typeface="Arial"/>
                <a:cs typeface="Arial"/>
              </a:rPr>
              <a:t>a) Zakres: czat pomiędzy dwoma użytkownikami; lista wątków; wysyłanie i odbiór w czasie zbliżonym do rzeczywistego.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800">
                <a:latin typeface="Arial"/>
                <a:cs typeface="Arial"/>
              </a:rPr>
              <a:t>b) Reguły: wiadomość 1–1000 znaków; brak załączników w MVP; wysyłać mogą tylko zalogowani; autor oferty może zablokować rozmowę.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800">
                <a:latin typeface="Arial"/>
                <a:cs typeface="Arial"/>
              </a:rPr>
              <a:t>c) Błędy: próba wysyłki do zablokowanego/nieistniejącego wątku; utrata sieci – komunikat, późniejszy retry.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800">
                <a:latin typeface="Arial"/>
                <a:cs typeface="Arial"/>
              </a:rPr>
              <a:t>d) Kryteria: po wysłaniu nadawca widzi wiadomość w wątku, odbiorca widzi badge/licznik w ≤ 5 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 sz="4200">
                <a:latin typeface="Arial"/>
                <a:cs typeface="Arial"/>
              </a:rPr>
              <a:t>Oznaczenie oferty jako „zrealizowana”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pl-PL" sz="3200">
                <a:latin typeface="Arial"/>
                <a:cs typeface="Arial"/>
              </a:rPr>
              <a:t>a) Zakres: akcja dostępna autorowi; oferta znika z list aktywnych.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200">
                <a:latin typeface="Arial"/>
                <a:cs typeface="Arial"/>
              </a:rPr>
              <a:t>b) Reguły: można cofnąć (opcja „przywróć” przez 1 h); zrealizowana nie przyjmuje nowych wiadomości.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200">
                <a:latin typeface="Arial"/>
                <a:cs typeface="Arial"/>
              </a:rPr>
              <a:t>c) Błędy: próba oznaczenia cudzej oferty.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200">
                <a:latin typeface="Arial"/>
                <a:cs typeface="Arial"/>
              </a:rPr>
              <a:t>d) Kryteria: status „zrealizowana” widoczny na szczegółach; na liście już się nie pojawia.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 sz="5850">
                <a:latin typeface="Arial"/>
                <a:cs typeface="Arial"/>
              </a:rPr>
              <a:t>Recenzja sprzedawcy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9071643" cy="5089321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pl-PL" sz="3200">
                <a:latin typeface="Arial"/>
                <a:cs typeface="Arial"/>
              </a:rPr>
              <a:t>a) Zakres: ocena 1-5 + komentarz do 500 znaków; tylko po transakcji.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200">
                <a:latin typeface="Arial"/>
                <a:cs typeface="Arial"/>
              </a:rPr>
              <a:t>b) Reguły: 1 recenzja kupującego na transakcję; edycja 24 h od dodania; średnia sprzedawcy aktualizowana po zapisie.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200">
                <a:latin typeface="Arial"/>
                <a:cs typeface="Arial"/>
              </a:rPr>
              <a:t>c) Błędy: próba recenzji bez transakcji/po raz drugi; wulgaryzmy – prosty filtr (odrzucenie).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200">
                <a:latin typeface="Arial"/>
                <a:cs typeface="Arial"/>
              </a:rPr>
              <a:t>d) Kryteria: po akceptacji recenzja pojawia się na profilu sprzedawcy, średnia się zmienia.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 sz="5850">
                <a:latin typeface="Arial"/>
                <a:cs typeface="Arial"/>
              </a:rPr>
              <a:t>Transakcja (finalizacja)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9071643" cy="5089321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pl-PL" sz="2800">
                <a:latin typeface="Arial"/>
                <a:cs typeface="Arial"/>
              </a:rPr>
              <a:t>a) Zakres: zapis: oferta + kupujący + data (i ew. finalna cena + podatki); tworzy się przy oznaczeniu zrealizowania z wyborem kupującego z czatu.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800">
                <a:latin typeface="Arial"/>
                <a:cs typeface="Arial"/>
              </a:rPr>
              <a:t>b) Reguły: każdy listing max 1 transakcja aktywna; kupującym musi być uczestnik wątku.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800">
                <a:latin typeface="Arial"/>
                <a:cs typeface="Arial"/>
              </a:rPr>
              <a:t>c) Błędy: brak wskazanego kupującego; brak pieniędzy na karcie kredytowej; niewłaściwy podatek dla danej kategorii produktu; wskazany użytkownik nie ma wątku z autorem.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800">
                <a:latin typeface="Arial"/>
                <a:cs typeface="Arial"/>
              </a:rPr>
              <a:t>d) Kryteria: powstaje rekord transakcji, widoczny w historii obu stron.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>
                <a:latin typeface="Arial"/>
                <a:cs typeface="Arial"/>
              </a:rPr>
              <a:t>Zgłoszenie nadużycia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5896801" cy="5317921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pl-PL" sz="2600">
                <a:latin typeface="Arial"/>
                <a:cs typeface="Arial"/>
              </a:rPr>
              <a:t>a) Zakres: formularz z powodem (lista + opis) dla oferty/wiadomości/profilu.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600">
                <a:latin typeface="Arial"/>
                <a:cs typeface="Arial"/>
              </a:rPr>
              <a:t>b) Reguły: użytkownik może zgłosić daną treść max 1 raz/24 h; statusy: Nowe - W toku - Zamknięte.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600">
                <a:latin typeface="Arial"/>
                <a:cs typeface="Arial"/>
              </a:rPr>
              <a:t>c) Błędy: zgłoszenie własnej treści dozwolone (np. prośba o usunięcie); puste uzasadnienie blokowane.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600">
                <a:latin typeface="Arial"/>
                <a:cs typeface="Arial"/>
              </a:rPr>
              <a:t>d) Kryteria: po wysłaniu pojawia się na liście zgłoszeń admina ze statusem „Nowe”.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400800" y="1768678"/>
            <a:ext cx="3216603" cy="280332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 sz="5850">
                <a:latin typeface="Arial"/>
                <a:cs typeface="Arial"/>
              </a:rPr>
              <a:t>Panel administratora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4753801" cy="5317921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pl-PL" sz="2200">
                <a:latin typeface="Arial"/>
                <a:cs typeface="Arial"/>
              </a:rPr>
              <a:t>a) Zakres: lista zgłoszeń z filtrem po statusie/typie; podgląd treści; akcje: zmień status, usuń treść, zablokuj użytkownika, przywróć.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200">
                <a:latin typeface="Arial"/>
                <a:cs typeface="Arial"/>
              </a:rPr>
              <a:t>b) Reguły: operacje audytowane (kto, co, kiedy); odblokowanie przywraca dostęp do logowania.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200">
                <a:latin typeface="Arial"/>
                <a:cs typeface="Arial"/>
              </a:rPr>
              <a:t>c) Błędy: próba akcji bez uprawnień; konflikt wersji (ktoś już zamknął) - informacja i odświeżenie.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2200">
                <a:latin typeface="Arial"/>
                <a:cs typeface="Arial"/>
              </a:rPr>
              <a:t>d) Kryteria: zmiana statusu jest widoczna dla wszystkich adminów po odświeżeniu listy.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257800" y="1768678"/>
            <a:ext cx="4489923" cy="348912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 sz="3800">
                <a:latin typeface="Arial"/>
                <a:cs typeface="Arial"/>
              </a:rPr>
              <a:t>Powiadomienia w aplikacji (badge/licznik)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9071643" cy="5317921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pl-PL" sz="3600">
                <a:latin typeface="Arial"/>
                <a:cs typeface="Arial"/>
              </a:rPr>
              <a:t>a) Zakres: odznaki przy czacie i w menu; liczba nieprzeczytanych per wątek + suma.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600">
                <a:latin typeface="Arial"/>
                <a:cs typeface="Arial"/>
              </a:rPr>
              <a:t>b) Reguły: odczyt wątku zeruje licznik; aktualizacja w ≤ 5 s po nowej wiadomości.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600">
                <a:latin typeface="Arial"/>
                <a:cs typeface="Arial"/>
              </a:rPr>
              <a:t>c) Błędy: brak połączenia - stan licznika synchronizuje się po powrocie sieci.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600">
                <a:latin typeface="Arial"/>
                <a:cs typeface="Arial"/>
              </a:rPr>
              <a:t>d) Kryteria: spójność licznika między widokiem listy wątków a szczegółem.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 sz="5850">
                <a:latin typeface="Arial"/>
                <a:cs typeface="Arial"/>
              </a:rPr>
              <a:t>“Nice to have”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pl-PL" sz="3800">
                <a:latin typeface="Arial"/>
                <a:cs typeface="Arial"/>
              </a:rPr>
              <a:t>a) Wyróżnienie oferty: pole „wyróżnij” - badge + podbicie w sortowaniu na 7 dni.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800">
                <a:latin typeface="Arial"/>
                <a:cs typeface="Arial"/>
              </a:rPr>
              <a:t>b) Powiadomienie e-mail: wysyłka 1:1 przy pierwszej nieprzeczytanej wiadomości w ciągu 15 min (anty-spam).</a:t>
            </a:r>
          </a:p>
          <a:p>
            <a:pPr lvl="0">
              <a:buSzPct val="45000"/>
              <a:buFont typeface="StarSymbol"/>
              <a:buChar char="●"/>
            </a:pPr>
            <a:r>
              <a:rPr lang="pl-PL" sz="3800">
                <a:latin typeface="Arial"/>
                <a:cs typeface="Arial"/>
              </a:rPr>
              <a:t>c) Pełnotekstowe wyszukiwanie: indeks tytuł+opis+tagi; paginacja; sort wg trafności.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pl-PL" sz="5400">
                <a:latin typeface="Arial"/>
                <a:cs typeface="Arial"/>
              </a:rPr>
              <a:t>Wymagania niefunkcjonalne</a:t>
            </a:r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idx="4294967295"/>
          </p:nvPr>
        </p:nvSpPr>
        <p:spPr>
          <a:xfrm>
            <a:off x="503998" y="1768678"/>
            <a:ext cx="9071643" cy="5089321"/>
          </a:xfrm>
        </p:spPr>
        <p:txBody>
          <a:bodyPr>
            <a:noAutofit/>
          </a:bodyPr>
          <a:lstStyle/>
          <a:p>
            <a:pPr marL="342900" lvl="0" indent="-342900">
              <a:buSzPct val="45000"/>
              <a:buFont typeface="Arial"/>
              <a:buChar char="•"/>
            </a:pPr>
            <a:r>
              <a:rPr lang="pl-PL" sz="3200">
                <a:latin typeface="Arial"/>
                <a:cs typeface="Arial"/>
              </a:rPr>
              <a:t>Wydajność</a:t>
            </a:r>
            <a:br>
              <a:rPr lang="pl-PL" sz="3200">
                <a:latin typeface="Arial"/>
                <a:cs typeface="Arial"/>
              </a:rPr>
            </a:br>
            <a:r>
              <a:rPr lang="pl-PL" sz="3200">
                <a:latin typeface="Arial"/>
                <a:cs typeface="Arial"/>
              </a:rPr>
              <a:t>Pojemność (testowo)</a:t>
            </a:r>
            <a:br>
              <a:rPr lang="pl-PL" sz="3200">
                <a:latin typeface="Arial"/>
                <a:cs typeface="Arial"/>
              </a:rPr>
            </a:br>
            <a:r>
              <a:rPr lang="pl-PL" sz="3200">
                <a:latin typeface="Arial"/>
                <a:cs typeface="Arial"/>
              </a:rPr>
              <a:t>Użyteczność</a:t>
            </a:r>
            <a:br>
              <a:rPr lang="pl-PL" sz="3200">
                <a:latin typeface="Arial"/>
                <a:cs typeface="Arial"/>
              </a:rPr>
            </a:br>
            <a:r>
              <a:rPr lang="pl-PL" sz="3200">
                <a:latin typeface="Arial"/>
                <a:cs typeface="Arial"/>
              </a:rPr>
              <a:t>Dane i spójność</a:t>
            </a:r>
            <a:br>
              <a:rPr lang="pl-PL" sz="3200">
                <a:latin typeface="Arial"/>
                <a:cs typeface="Arial"/>
              </a:rPr>
            </a:br>
            <a:r>
              <a:rPr lang="pl-PL" sz="3200">
                <a:latin typeface="Arial"/>
                <a:cs typeface="Arial"/>
              </a:rPr>
              <a:t>Bezpieczeństwo</a:t>
            </a:r>
            <a:br>
              <a:rPr lang="pl-PL" sz="3200">
                <a:latin typeface="Arial"/>
                <a:cs typeface="Arial"/>
              </a:rPr>
            </a:br>
            <a:r>
              <a:rPr lang="pl-PL" sz="3200">
                <a:latin typeface="Arial"/>
                <a:cs typeface="Arial"/>
              </a:rPr>
              <a:t>Prywatność</a:t>
            </a:r>
            <a:br>
              <a:rPr lang="pl-PL" sz="3200">
                <a:latin typeface="Arial"/>
                <a:cs typeface="Arial"/>
              </a:rPr>
            </a:br>
            <a:r>
              <a:rPr lang="pl-PL" sz="3200">
                <a:latin typeface="Arial"/>
                <a:cs typeface="Arial"/>
              </a:rPr>
              <a:t>Stabilność</a:t>
            </a:r>
            <a:br>
              <a:rPr lang="pl-PL" sz="3200">
                <a:latin typeface="Arial"/>
                <a:cs typeface="Arial"/>
              </a:rPr>
            </a:br>
            <a:r>
              <a:rPr lang="pl-PL" sz="3200">
                <a:latin typeface="Arial"/>
                <a:cs typeface="Arial"/>
              </a:rPr>
              <a:t>Skalowalność</a:t>
            </a:r>
            <a:br>
              <a:rPr lang="pl-PL" sz="3200">
                <a:latin typeface="Arial"/>
                <a:cs typeface="Arial"/>
              </a:rPr>
            </a:br>
            <a:r>
              <a:rPr lang="pl-PL" sz="3200">
                <a:latin typeface="Arial"/>
                <a:cs typeface="Arial"/>
              </a:rPr>
              <a:t>Obserwowalność</a:t>
            </a:r>
            <a:br>
              <a:rPr lang="pl-PL" sz="3200">
                <a:latin typeface="Arial"/>
                <a:cs typeface="Arial"/>
              </a:rPr>
            </a:br>
            <a:r>
              <a:rPr lang="pl-PL" sz="3200">
                <a:latin typeface="Arial"/>
                <a:cs typeface="Arial"/>
              </a:rPr>
              <a:t>Kopie zapasowe</a:t>
            </a:r>
            <a:endParaRPr lang="pl-PL" sz="3200"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1258</Words>
  <Application>Microsoft Office PowerPoint</Application>
  <PresentationFormat>Widescreen</PresentationFormat>
  <Paragraphs>128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DejaVu Sans</vt:lpstr>
      <vt:lpstr>Liberation Sans</vt:lpstr>
      <vt:lpstr>Liberation Serif</vt:lpstr>
      <vt:lpstr>Lohit Devanagari</vt:lpstr>
      <vt:lpstr>Noto Sans CJK SC</vt:lpstr>
      <vt:lpstr>StarSymbol</vt:lpstr>
      <vt:lpstr>Default</vt:lpstr>
      <vt:lpstr>Projekt zespołowy</vt:lpstr>
      <vt:lpstr>Tytuł i informacje podstawowe (nazwa projektu, autorzy, data)</vt:lpstr>
      <vt:lpstr>Wymagania funkcjonalne (MVP)</vt:lpstr>
      <vt:lpstr>Rejestracja i logowanie</vt:lpstr>
      <vt:lpstr>Profil użytkownika</vt:lpstr>
      <vt:lpstr>Oferty (CRUD)</vt:lpstr>
      <vt:lpstr>Przeglądanie i filtrowanie</vt:lpstr>
      <vt:lpstr>Szczegóły oferty</vt:lpstr>
      <vt:lpstr>Wiadomości 1:1 (tekst)</vt:lpstr>
      <vt:lpstr>Oznaczenie oferty jako „zrealizowana”</vt:lpstr>
      <vt:lpstr>Recenzja sprzedawcy</vt:lpstr>
      <vt:lpstr>Transakcja (finalizacja)</vt:lpstr>
      <vt:lpstr>Zgłoszenie nadużycia</vt:lpstr>
      <vt:lpstr>Panel administratora</vt:lpstr>
      <vt:lpstr>Powiadomienia w aplikacji (badge/licznik)</vt:lpstr>
      <vt:lpstr>“Nice to have”</vt:lpstr>
      <vt:lpstr>Wymagania niefunkcjonalne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zespołowy</dc:title>
  <cp:lastModifiedBy>word</cp:lastModifiedBy>
  <cp:revision>3</cp:revision>
  <dcterms:created xsi:type="dcterms:W3CDTF">2025-12-03T14:12:27Z</dcterms:created>
  <dcterms:modified xsi:type="dcterms:W3CDTF">2026-05-13T14:17:58Z</dcterms:modified>
</cp:coreProperties>
</file>