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omments/modernComment_100_0.xml" ContentType="application/vnd.ms-powerpoint.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1"/>
  </p:notesMasterIdLst>
  <p:handoutMasterIdLst>
    <p:handoutMasterId r:id="rId82"/>
  </p:handoutMasterIdLst>
  <p:sldIdLst>
    <p:sldId id="256" r:id="rId2"/>
    <p:sldId id="273" r:id="rId3"/>
    <p:sldId id="272" r:id="rId4"/>
    <p:sldId id="274" r:id="rId5"/>
    <p:sldId id="275" r:id="rId6"/>
    <p:sldId id="27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sldSz cx="10080625" cy="7559675"/>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392EB41D-0A73-D1FE-84DC-FF567487172C}" name="Piotr Grochowski (115568)" initials="P(" userId="S::89135@student.pb.edu.pl::057522fb-e466-4ea8-b716-246cda3eb82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4355F9-6471-9F58-003B-AC5BD08F1640}" v="551" dt="2026-06-05T07:58:23.514"/>
  </p1510:revLst>
</p1510:revInfo>
</file>

<file path=ppt/tableStyles.xml><?xml version="1.0" encoding="utf-8"?>
<a:tblStyleLst xmlns:a="http://schemas.openxmlformats.org/drawingml/2006/main" def="{5C22544A-7EE6-4342-B048-85BDC9FD1C3A}">
  <a:tblStyle styleId="{5C22544A-7EE6-4342-B048-85BDC9FD1C3A}" styleName="Styl pośredni 2 — Ak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presProps" Target="presProps.xml"/><Relationship Id="rId88"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86"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microsoft.com/office/2015/10/relationships/revisionInfo" Target="revisionInfo.xml"/><Relationship Id="rId61" Type="http://schemas.openxmlformats.org/officeDocument/2006/relationships/slide" Target="slides/slide60.xml"/><Relationship Id="rId82" Type="http://schemas.openxmlformats.org/officeDocument/2006/relationships/handoutMaster" Target="handoutMasters/handoutMaster1.xml"/></Relationships>
</file>

<file path=ppt/comments/modernComment_100_0.xml><?xml version="1.0" encoding="utf-8"?>
<p188:cmLst xmlns:a="http://schemas.openxmlformats.org/drawingml/2006/main" xmlns:r="http://schemas.openxmlformats.org/officeDocument/2006/relationships" xmlns:p188="http://schemas.microsoft.com/office/powerpoint/2018/8/main">
  <p188:cm id="{393D6A89-63BB-4991-A5C2-A65984B43E2B}" authorId="{392EB41D-0A73-D1FE-84DC-FF567487172C}" created="2026-05-13T15:14:14.813">
    <pc:sldMkLst xmlns:pc="http://schemas.microsoft.com/office/powerpoint/2013/main/command">
      <pc:docMk/>
      <pc:sldMk cId="0" sldId="256"/>
    </pc:sldMkLst>
    <p188:txBody>
      <a:bodyPr/>
      <a:lstStyle/>
      <a:p>
        <a:r>
          <a:rPr lang="pl-PL"/>
          <a:t>Prezentacja projektu programistycznego:
1. Tytuł i informacje podstawowe (nazwa projektu, autorzy, data)
2. Cel i zakres projektu (jaki problem rozwiązuje, dla kogo jest przeznaczony, jaki efekt końcowy zostanie uzyskany, co obejmuje system, gdzie są granice projektu, itp.)
3. Wymagania funkcjonalne i niefunkcjonalne
4. Opis użytkowników oraz przypadków użycia wraz ze scenariuszami (bazowe, kluczowe, ważne)
5. Architektura systemu (ogólny schemat działania, podział na moduły, itp.)
 • Typ architektury: np. klient–serwer, aplikacja desktopowa / webowa / mobilna, monolit czy warstwowa
 • Podział na warstwy / moduły: np. warstwa prezentacji (UI), logika biznesowa, dostęp do danych - krótko opisać rolę każdej warstwy
 • Przepływ danych: jak dane przechodzą przez system, skąd pochodzą dane, gdzie trafiają, jak są przetwarzane, co wraca do użytkownika, itp.
 • Integracje / zależności: czy aplikacja korzysta z: API, zewnętrznych usług, bibliotek, czy stanowi część innego systemu
 • Środowisko działania: lokalnie, serwer, chmura
 • Diagram architektury: prosty schemat blokowy pokazujący komponenty tj. Użytkownik (opcjonalnie), Interfejs użytkownika (UI), Logika biznesowa (Backend / Services), Baza danych oraz połączenia i kierunki przepływu danych
 • Kluczowe decyzje projektowe: dlaczego wybrano taką architekturę, itp.?
6. Model danych (np. diagram bazy danych, główne tabele i relacje)
7. Wykorzystane technologie (języki programowania, frameworki, baza danych)
8. Implementacja (najważniejsze elementy działania, algorytmy, struktura aplikacji)
9. Interfejs użytkownika (wygląd aplikacji, przykładowe ekrany)
10. Demonstracja działania (opis krok po kroku jak działa aplikacja, pokaz)
11. Testowanie (jakie testy wykonano, przykładowe przypadki testowe, błędy)
12. Problemy i wyzwania napotkane podczas realizacji oraz ich rozwiązania
13. Możliwości dalszego rozwoju projektu
14. Podsumowanie i wnioski (czy cel został osiągnięty)</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Symbol zastępczy nagłówka 1"/>
          <p:cNvSpPr txBox="1">
            <a:spLocks noGrp="1"/>
          </p:cNvSpPr>
          <p:nvPr>
            <p:ph type="hdr" sz="quarter"/>
          </p:nvPr>
        </p:nvSpPr>
        <p:spPr>
          <a:xfrm>
            <a:off x="0" y="0"/>
            <a:ext cx="3276596" cy="536579"/>
          </a:xfrm>
          <a:prstGeom prst="rect">
            <a:avLst/>
          </a:prstGeom>
          <a:noFill/>
          <a:ln>
            <a:noFill/>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pl-PL" sz="1200" b="0" i="0" u="none" strike="noStrike" kern="1200" cap="none" spc="0" baseline="0">
              <a:solidFill>
                <a:srgbClr val="000000"/>
              </a:solidFill>
              <a:uFillTx/>
              <a:latin typeface="Calibri"/>
            </a:endParaRPr>
          </a:p>
        </p:txBody>
      </p:sp>
      <p:sp>
        <p:nvSpPr>
          <p:cNvPr id="3" name="Symbol zastępczy daty 2"/>
          <p:cNvSpPr txBox="1">
            <a:spLocks noGrp="1"/>
          </p:cNvSpPr>
          <p:nvPr>
            <p:ph type="dt" sz="quarter" idx="1"/>
          </p:nvPr>
        </p:nvSpPr>
        <p:spPr>
          <a:xfrm>
            <a:off x="4281485" y="0"/>
            <a:ext cx="3276596" cy="536579"/>
          </a:xfrm>
          <a:prstGeom prst="rect">
            <a:avLst/>
          </a:prstGeom>
          <a:noFill/>
          <a:ln>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2029D02C-69D0-4879-A53A-DF8004134DE3}"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4" name="Symbol zastępczy stopki 3"/>
          <p:cNvSpPr txBox="1">
            <a:spLocks noGrp="1"/>
          </p:cNvSpPr>
          <p:nvPr>
            <p:ph type="ftr" sz="quarter" idx="2"/>
          </p:nvPr>
        </p:nvSpPr>
        <p:spPr>
          <a:xfrm>
            <a:off x="0" y="10155234"/>
            <a:ext cx="3276596" cy="536579"/>
          </a:xfrm>
          <a:prstGeom prst="rect">
            <a:avLst/>
          </a:prstGeom>
          <a:noFill/>
          <a:ln>
            <a:noFill/>
          </a:ln>
        </p:spPr>
        <p:txBody>
          <a:bodyPr vert="horz" wrap="square" lIns="91440" tIns="45720" rIns="91440" bIns="45720" anchor="b"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pl-PL" sz="1200" b="0" i="0" u="none" strike="noStrike" kern="1200" cap="none" spc="0" baseline="0">
              <a:solidFill>
                <a:srgbClr val="000000"/>
              </a:solidFill>
              <a:uFillTx/>
              <a:latin typeface="Calibri"/>
            </a:endParaRPr>
          </a:p>
        </p:txBody>
      </p:sp>
      <p:sp>
        <p:nvSpPr>
          <p:cNvPr id="5" name="Symbol zastępczy numeru slajdu 4"/>
          <p:cNvSpPr txBox="1">
            <a:spLocks noGrp="1"/>
          </p:cNvSpPr>
          <p:nvPr>
            <p:ph type="sldNum" sz="quarter" idx="3"/>
          </p:nvPr>
        </p:nvSpPr>
        <p:spPr>
          <a:xfrm>
            <a:off x="4281485" y="10155234"/>
            <a:ext cx="3276596" cy="536579"/>
          </a:xfrm>
          <a:prstGeom prst="rect">
            <a:avLst/>
          </a:prstGeom>
          <a:noFill/>
          <a:ln>
            <a:noFill/>
          </a:ln>
        </p:spPr>
        <p:txBody>
          <a:bodyPr vert="horz" wrap="square" lIns="91440" tIns="45720" rIns="91440" bIns="45720" anchor="b"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9DB4BDB9-97A4-4BD2-9653-8E8069D6A974}" type="slidenum">
              <a:t>‹#›</a:t>
            </a:fld>
            <a:endParaRPr lang="pl-PL" sz="1200" b="0" i="0" u="none" strike="noStrike" kern="1200" cap="none" spc="0" baseline="0">
              <a:solidFill>
                <a:srgbClr val="000000"/>
              </a:solidFill>
              <a:uFillTx/>
              <a:latin typeface="Calibri"/>
            </a:endParaRPr>
          </a:p>
        </p:txBody>
      </p:sp>
      <p:sp>
        <p:nvSpPr>
          <p:cNvPr id="6" name="Symbol zastępczy nagłówka 5"/>
          <p:cNvSpPr txBox="1">
            <a:spLocks noGrp="1"/>
          </p:cNvSpPr>
          <p:nvPr>
            <p:ph type="hdr" sz="quarter" idx="10"/>
          </p:nvPr>
        </p:nvSpPr>
        <p:spPr>
          <a:xfrm>
            <a:off x="0" y="0"/>
            <a:ext cx="3280684" cy="534238"/>
          </a:xfrm>
          <a:prstGeom prst="rect">
            <a:avLst/>
          </a:prstGeom>
          <a:noFill/>
          <a:ln>
            <a:noFill/>
          </a:ln>
        </p:spPr>
        <p:txBody>
          <a:bodyPr vert="horz" wrap="square" lIns="90004" tIns="44997" rIns="90004" bIns="44997" anchor="t" anchorCtr="0" compatLnSpc="0">
            <a:noAutofit/>
          </a:bodyPr>
          <a:lstStyle/>
          <a:p>
            <a:pPr marL="0" marR="0" lvl="0" indent="0" algn="l" defTabSz="914400" rtl="0" fontAlgn="auto" hangingPunct="0">
              <a:lnSpc>
                <a:spcPct val="100000"/>
              </a:lnSpc>
              <a:spcBef>
                <a:spcPts val="0"/>
              </a:spcBef>
              <a:spcAft>
                <a:spcPts val="0"/>
              </a:spcAft>
              <a:buNone/>
              <a:tabLst/>
              <a:defRPr sz="1400" b="0" i="0" u="none" strike="noStrike" kern="0" cap="none" spc="0" baseline="0">
                <a:solidFill>
                  <a:srgbClr val="000000"/>
                </a:solidFill>
                <a:uFillTx/>
              </a:defRPr>
            </a:pPr>
            <a:endParaRPr lang="pl-PL" sz="1400" b="0" i="0" u="none" strike="noStrike" kern="1200" cap="none" spc="0" baseline="0">
              <a:solidFill>
                <a:srgbClr val="000000"/>
              </a:solidFill>
              <a:uFillTx/>
              <a:latin typeface="Liberation Sans" pitchFamily="18"/>
              <a:ea typeface="Noto Sans CJK SC" pitchFamily="2"/>
              <a:cs typeface="Lohit Devanagari" pitchFamily="2"/>
            </a:endParaRPr>
          </a:p>
        </p:txBody>
      </p:sp>
      <p:sp>
        <p:nvSpPr>
          <p:cNvPr id="7" name="Symbol zastępczy daty 6"/>
          <p:cNvSpPr txBox="1">
            <a:spLocks noGrp="1"/>
          </p:cNvSpPr>
          <p:nvPr>
            <p:ph type="dt" sz="quarter" idx="7"/>
          </p:nvPr>
        </p:nvSpPr>
        <p:spPr>
          <a:xfrm>
            <a:off x="4278962" y="0"/>
            <a:ext cx="3280684" cy="534238"/>
          </a:xfrm>
          <a:prstGeom prst="rect">
            <a:avLst/>
          </a:prstGeom>
          <a:noFill/>
          <a:ln>
            <a:noFill/>
          </a:ln>
        </p:spPr>
        <p:txBody>
          <a:bodyPr vert="horz" wrap="square" lIns="90004" tIns="44997" rIns="90004" bIns="44997" anchor="t" anchorCtr="0" compatLnSpc="0">
            <a:noAutofit/>
          </a:bodyPr>
          <a:lstStyle/>
          <a:p>
            <a:pPr marL="0" marR="0" lvl="0" indent="0" algn="r" defTabSz="914400" rtl="0" fontAlgn="auto" hangingPunct="0">
              <a:lnSpc>
                <a:spcPct val="100000"/>
              </a:lnSpc>
              <a:spcBef>
                <a:spcPts val="0"/>
              </a:spcBef>
              <a:spcAft>
                <a:spcPts val="0"/>
              </a:spcAft>
              <a:buNone/>
              <a:tabLst/>
              <a:defRPr sz="1400" b="0" i="0" u="none" strike="noStrike" kern="0" cap="none" spc="0" baseline="0">
                <a:solidFill>
                  <a:srgbClr val="000000"/>
                </a:solidFill>
                <a:uFillTx/>
              </a:defRPr>
            </a:pPr>
            <a:endParaRPr lang="pl-PL" sz="1400" b="0" i="0" u="none" strike="noStrike" kern="1200" cap="none" spc="0" baseline="0">
              <a:solidFill>
                <a:srgbClr val="000000"/>
              </a:solidFill>
              <a:uFillTx/>
              <a:latin typeface="Liberation Sans" pitchFamily="18"/>
              <a:ea typeface="Noto Sans CJK SC" pitchFamily="2"/>
              <a:cs typeface="Lohit Devanagari" pitchFamily="2"/>
            </a:endParaRPr>
          </a:p>
        </p:txBody>
      </p:sp>
      <p:sp>
        <p:nvSpPr>
          <p:cNvPr id="8" name="Symbol zastępczy stopki 7"/>
          <p:cNvSpPr txBox="1">
            <a:spLocks noGrp="1"/>
          </p:cNvSpPr>
          <p:nvPr>
            <p:ph type="ftr" sz="quarter" idx="9"/>
          </p:nvPr>
        </p:nvSpPr>
        <p:spPr>
          <a:xfrm>
            <a:off x="0" y="10157402"/>
            <a:ext cx="3280684" cy="534238"/>
          </a:xfrm>
          <a:prstGeom prst="rect">
            <a:avLst/>
          </a:prstGeom>
          <a:noFill/>
          <a:ln>
            <a:noFill/>
          </a:ln>
        </p:spPr>
        <p:txBody>
          <a:bodyPr vert="horz" wrap="square" lIns="90004" tIns="44997" rIns="90004" bIns="44997" anchor="b" anchorCtr="0" compatLnSpc="0">
            <a:noAutofit/>
          </a:bodyPr>
          <a:lstStyle/>
          <a:p>
            <a:pPr marL="0" marR="0" lvl="0" indent="0" algn="l" defTabSz="914400" rtl="0" fontAlgn="auto" hangingPunct="0">
              <a:lnSpc>
                <a:spcPct val="100000"/>
              </a:lnSpc>
              <a:spcBef>
                <a:spcPts val="0"/>
              </a:spcBef>
              <a:spcAft>
                <a:spcPts val="0"/>
              </a:spcAft>
              <a:buNone/>
              <a:tabLst/>
              <a:defRPr sz="1400" b="0" i="0" u="none" strike="noStrike" kern="0" cap="none" spc="0" baseline="0">
                <a:solidFill>
                  <a:srgbClr val="000000"/>
                </a:solidFill>
                <a:uFillTx/>
              </a:defRPr>
            </a:pPr>
            <a:endParaRPr lang="pl-PL" sz="1400" b="0" i="0" u="none" strike="noStrike" kern="1200" cap="none" spc="0" baseline="0">
              <a:solidFill>
                <a:srgbClr val="000000"/>
              </a:solidFill>
              <a:uFillTx/>
              <a:latin typeface="Liberation Sans" pitchFamily="18"/>
              <a:ea typeface="Noto Sans CJK SC" pitchFamily="2"/>
              <a:cs typeface="Lohit Devanagari" pitchFamily="2"/>
            </a:endParaRPr>
          </a:p>
        </p:txBody>
      </p:sp>
      <p:sp>
        <p:nvSpPr>
          <p:cNvPr id="9" name="Symbol zastępczy numeru slajdu 8"/>
          <p:cNvSpPr txBox="1">
            <a:spLocks noGrp="1"/>
          </p:cNvSpPr>
          <p:nvPr>
            <p:ph type="sldNum" sz="quarter" idx="8"/>
          </p:nvPr>
        </p:nvSpPr>
        <p:spPr>
          <a:xfrm>
            <a:off x="4278962" y="10157402"/>
            <a:ext cx="3280684" cy="534238"/>
          </a:xfrm>
          <a:prstGeom prst="rect">
            <a:avLst/>
          </a:prstGeom>
          <a:noFill/>
          <a:ln>
            <a:noFill/>
          </a:ln>
        </p:spPr>
        <p:txBody>
          <a:bodyPr vert="horz" wrap="square" lIns="90004" tIns="44997" rIns="90004" bIns="44997" anchor="b" anchorCtr="0" compatLnSpc="0">
            <a:noAutofit/>
          </a:bodyPr>
          <a:lstStyle/>
          <a:p>
            <a:pPr marL="0" marR="0" lvl="0" indent="0" algn="r" defTabSz="914400" rtl="0" fontAlgn="auto" hangingPunct="0">
              <a:lnSpc>
                <a:spcPct val="100000"/>
              </a:lnSpc>
              <a:spcBef>
                <a:spcPts val="0"/>
              </a:spcBef>
              <a:spcAft>
                <a:spcPts val="0"/>
              </a:spcAft>
              <a:buNone/>
              <a:tabLst/>
              <a:defRPr sz="1400" b="0" i="0" u="none" strike="noStrike" kern="0" cap="none" spc="0" baseline="0">
                <a:solidFill>
                  <a:srgbClr val="000000"/>
                </a:solidFill>
                <a:uFillTx/>
              </a:defRPr>
            </a:pPr>
            <a:fld id="{D13B803E-4C5B-49E3-BEFC-EFD3C3F912EF}" type="slidenum">
              <a:t>‹#›</a:t>
            </a:fld>
            <a:endParaRPr lang="pl-PL" sz="1400" b="0" i="0" u="none" strike="noStrike" kern="1200" cap="none" spc="0" baseline="0">
              <a:solidFill>
                <a:srgbClr val="000000"/>
              </a:solidFill>
              <a:uFillTx/>
              <a:latin typeface="Liberation Sans" pitchFamily="18"/>
              <a:ea typeface="Noto Sans CJK SC" pitchFamily="2"/>
              <a:cs typeface="Lohit Devanagari" pitchFamily="2"/>
            </a:endParaRPr>
          </a:p>
        </p:txBody>
      </p:sp>
      <p:sp>
        <p:nvSpPr>
          <p:cNvPr id="10" name="Symbol zastępczy nagłówka 1"/>
          <p:cNvSpPr txBox="1">
            <a:spLocks noGrp="1"/>
          </p:cNvSpPr>
          <p:nvPr>
            <p:ph type="hdr" sz="quarter" idx="10"/>
          </p:nvPr>
        </p:nvSpPr>
        <p:spPr>
          <a:xfrm>
            <a:off x="0" y="0"/>
            <a:ext cx="3276596" cy="536579"/>
          </a:xfrm>
          <a:prstGeom prst="rect">
            <a:avLst/>
          </a:prstGeom>
          <a:noFill/>
          <a:ln>
            <a:noFill/>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pl-PL" sz="1200" b="0" i="0" u="none" strike="noStrike" kern="1200" cap="none" spc="0" baseline="0">
              <a:solidFill>
                <a:srgbClr val="000000"/>
              </a:solidFill>
              <a:uFillTx/>
              <a:latin typeface="Calibri"/>
            </a:endParaRPr>
          </a:p>
        </p:txBody>
      </p:sp>
      <p:sp>
        <p:nvSpPr>
          <p:cNvPr id="11" name="Symbol zastępczy daty 2"/>
          <p:cNvSpPr txBox="1">
            <a:spLocks noGrp="1"/>
          </p:cNvSpPr>
          <p:nvPr>
            <p:ph type="dt" sz="quarter" idx="7"/>
          </p:nvPr>
        </p:nvSpPr>
        <p:spPr>
          <a:xfrm>
            <a:off x="4281485" y="0"/>
            <a:ext cx="3276596" cy="536579"/>
          </a:xfrm>
          <a:prstGeom prst="rect">
            <a:avLst/>
          </a:prstGeom>
          <a:noFill/>
          <a:ln>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3E6DC7D2-E233-46D3-8D41-80337727FE6A}"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12" name="Symbol zastępczy stopki 3"/>
          <p:cNvSpPr txBox="1">
            <a:spLocks noGrp="1"/>
          </p:cNvSpPr>
          <p:nvPr>
            <p:ph type="ftr" sz="quarter" idx="9"/>
          </p:nvPr>
        </p:nvSpPr>
        <p:spPr>
          <a:xfrm>
            <a:off x="0" y="10155234"/>
            <a:ext cx="3276596" cy="536579"/>
          </a:xfrm>
          <a:prstGeom prst="rect">
            <a:avLst/>
          </a:prstGeom>
          <a:noFill/>
          <a:ln>
            <a:noFill/>
          </a:ln>
        </p:spPr>
        <p:txBody>
          <a:bodyPr vert="horz" wrap="square" lIns="91440" tIns="45720" rIns="91440" bIns="45720" anchor="b"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pl-PL" sz="1200" b="0" i="0" u="none" strike="noStrike" kern="1200" cap="none" spc="0" baseline="0">
              <a:solidFill>
                <a:srgbClr val="000000"/>
              </a:solidFill>
              <a:uFillTx/>
              <a:latin typeface="Calibri"/>
            </a:endParaRPr>
          </a:p>
        </p:txBody>
      </p:sp>
      <p:sp>
        <p:nvSpPr>
          <p:cNvPr id="13" name="Symbol zastępczy numeru slajdu 4"/>
          <p:cNvSpPr txBox="1">
            <a:spLocks noGrp="1"/>
          </p:cNvSpPr>
          <p:nvPr>
            <p:ph type="sldNum" sz="quarter" idx="8"/>
          </p:nvPr>
        </p:nvSpPr>
        <p:spPr>
          <a:xfrm>
            <a:off x="4281485" y="10155234"/>
            <a:ext cx="3276596" cy="536579"/>
          </a:xfrm>
          <a:prstGeom prst="rect">
            <a:avLst/>
          </a:prstGeom>
          <a:noFill/>
          <a:ln>
            <a:noFill/>
          </a:ln>
        </p:spPr>
        <p:txBody>
          <a:bodyPr vert="horz" wrap="square" lIns="91440" tIns="45720" rIns="91440" bIns="45720" anchor="b"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6087DEF4-786F-4550-AB00-1B8A91D5EA7A}" type="slidenum">
              <a:t>‹#›</a:t>
            </a:fld>
            <a:endParaRPr lang="pl-PL" sz="1200" b="0" i="0" u="none" strike="noStrike" kern="1200" cap="none" spc="0" baseline="0">
              <a:solidFill>
                <a:srgbClr val="000000"/>
              </a:solidFill>
              <a:uFillTx/>
              <a:latin typeface="Calibri"/>
            </a:endParaRPr>
          </a:p>
        </p:txBody>
      </p:sp>
    </p:spTree>
    <p:extLst>
      <p:ext uri="{BB962C8B-B14F-4D97-AF65-F5344CB8AC3E}">
        <p14:creationId xmlns:p14="http://schemas.microsoft.com/office/powerpoint/2010/main" val="177928264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ymbol zastępczy nagłówka 1"/>
          <p:cNvSpPr txBox="1">
            <a:spLocks noGrp="1"/>
          </p:cNvSpPr>
          <p:nvPr>
            <p:ph type="hdr" sz="quarter"/>
          </p:nvPr>
        </p:nvSpPr>
        <p:spPr>
          <a:xfrm>
            <a:off x="0" y="0"/>
            <a:ext cx="3276596" cy="536579"/>
          </a:xfrm>
          <a:prstGeom prst="rect">
            <a:avLst/>
          </a:prstGeom>
          <a:noFill/>
          <a:ln>
            <a:noFill/>
          </a:ln>
        </p:spPr>
        <p:txBody>
          <a:bodyPr vert="horz" wrap="square" lIns="91440" tIns="45720" rIns="91440" bIns="45720" anchor="t" anchorCtr="0" compatLnSpc="1">
            <a:noAutofit/>
          </a:bodyPr>
          <a:lstStyle>
            <a:lvl1pPr marL="0" marR="0" lvl="0" indent="0" algn="l" defTabSz="914400" rtl="0" fontAlgn="auto" hangingPunct="1">
              <a:lnSpc>
                <a:spcPct val="100000"/>
              </a:lnSpc>
              <a:spcBef>
                <a:spcPts val="0"/>
              </a:spcBef>
              <a:spcAft>
                <a:spcPts val="0"/>
              </a:spcAft>
              <a:buNone/>
              <a:tabLst/>
              <a:defRPr lang="pl-PL" sz="1200" b="0" i="0" u="none" strike="noStrike" kern="1200" cap="none" spc="0" baseline="0">
                <a:solidFill>
                  <a:srgbClr val="000000"/>
                </a:solidFill>
                <a:uFillTx/>
                <a:latin typeface="Calibri"/>
              </a:defRPr>
            </a:lvl1pPr>
          </a:lstStyle>
          <a:p>
            <a:pPr lvl="0"/>
            <a:endParaRPr lang="pl-PL"/>
          </a:p>
        </p:txBody>
      </p:sp>
      <p:sp>
        <p:nvSpPr>
          <p:cNvPr id="3" name="Symbol zastępczy daty 2"/>
          <p:cNvSpPr txBox="1">
            <a:spLocks noGrp="1"/>
          </p:cNvSpPr>
          <p:nvPr>
            <p:ph type="dt" idx="1"/>
          </p:nvPr>
        </p:nvSpPr>
        <p:spPr>
          <a:xfrm>
            <a:off x="4281485" y="0"/>
            <a:ext cx="3276596" cy="536579"/>
          </a:xfrm>
          <a:prstGeom prst="rect">
            <a:avLst/>
          </a:prstGeom>
          <a:noFill/>
          <a:ln>
            <a:noFill/>
          </a:ln>
        </p:spPr>
        <p:txBody>
          <a:bodyPr vert="horz" wrap="square" lIns="91440" tIns="45720" rIns="91440" bIns="45720" anchor="t" anchorCtr="0" compatLnSpc="1">
            <a:noAutofit/>
          </a:bodyPr>
          <a:lstStyle>
            <a:lvl1pPr marL="0" marR="0" lvl="0" indent="0" algn="r" defTabSz="914400" rtl="0" fontAlgn="auto" hangingPunct="1">
              <a:lnSpc>
                <a:spcPct val="100000"/>
              </a:lnSpc>
              <a:spcBef>
                <a:spcPts val="0"/>
              </a:spcBef>
              <a:spcAft>
                <a:spcPts val="0"/>
              </a:spcAft>
              <a:buNone/>
              <a:tabLst/>
              <a:defRPr lang="pl-PL" sz="1200" b="0" i="0" u="none" strike="noStrike" kern="1200" cap="none" spc="0" baseline="0">
                <a:solidFill>
                  <a:srgbClr val="000000"/>
                </a:solidFill>
                <a:uFillTx/>
                <a:latin typeface="Calibri"/>
              </a:defRPr>
            </a:lvl1pPr>
          </a:lstStyle>
          <a:p>
            <a:pPr lvl="0"/>
            <a:fld id="{1DC9CDF4-A120-45C6-8700-259B80E4C432}" type="datetime1">
              <a:rPr lang="pl-PL"/>
              <a:pPr lvl="0"/>
              <a:t>05.06.2026</a:t>
            </a:fld>
            <a:endParaRPr lang="pl-PL"/>
          </a:p>
        </p:txBody>
      </p:sp>
      <p:sp>
        <p:nvSpPr>
          <p:cNvPr id="4" name="Symbol zastępczy obrazu slajdu 3"/>
          <p:cNvSpPr>
            <a:spLocks noGrp="1" noRot="1" noChangeAspect="1"/>
          </p:cNvSpPr>
          <p:nvPr>
            <p:ph type="sldImg" idx="2"/>
          </p:nvPr>
        </p:nvSpPr>
        <p:spPr>
          <a:xfrm>
            <a:off x="1374772" y="1336679"/>
            <a:ext cx="4810128" cy="3608386"/>
          </a:xfrm>
          <a:prstGeom prst="rect">
            <a:avLst/>
          </a:prstGeom>
          <a:noFill/>
          <a:ln w="12701">
            <a:solidFill>
              <a:srgbClr val="000000"/>
            </a:solidFill>
            <a:prstDash val="solid"/>
          </a:ln>
        </p:spPr>
      </p:sp>
      <p:sp>
        <p:nvSpPr>
          <p:cNvPr id="5" name="Symbol zastępczy notatek 4"/>
          <p:cNvSpPr txBox="1">
            <a:spLocks noGrp="1"/>
          </p:cNvSpPr>
          <p:nvPr>
            <p:ph type="body" sz="quarter" idx="3"/>
          </p:nvPr>
        </p:nvSpPr>
        <p:spPr>
          <a:xfrm>
            <a:off x="755651" y="5145091"/>
            <a:ext cx="6048371" cy="4210053"/>
          </a:xfrm>
          <a:prstGeom prst="rect">
            <a:avLst/>
          </a:prstGeom>
          <a:noFill/>
          <a:ln>
            <a:noFill/>
          </a:ln>
        </p:spPr>
        <p:txBody>
          <a:bodyPr vert="horz" wrap="square" lIns="91440" tIns="45720" rIns="91440" bIns="45720" anchor="t" anchorCtr="0" compatLnSpc="1">
            <a:no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6" name="Symbol zastępczy obrazu slajdu 7"/>
          <p:cNvSpPr>
            <a:spLocks noGrp="1" noRot="1" noChangeAspect="1"/>
          </p:cNvSpPr>
          <p:nvPr>
            <p:ph type="sldImg" sz="quarter" idx="4294967295"/>
          </p:nvPr>
        </p:nvSpPr>
        <p:spPr>
          <a:xfrm>
            <a:off x="215999" y="812517"/>
            <a:ext cx="7127281" cy="4008958"/>
          </a:xfrm>
          <a:prstGeom prst="rect">
            <a:avLst/>
          </a:prstGeom>
          <a:noFill/>
          <a:ln>
            <a:noFill/>
            <a:prstDash val="solid"/>
          </a:ln>
        </p:spPr>
      </p:sp>
      <p:sp>
        <p:nvSpPr>
          <p:cNvPr id="7" name="Symbol zastępczy notatek 8"/>
          <p:cNvSpPr txBox="1">
            <a:spLocks noGrp="1"/>
          </p:cNvSpPr>
          <p:nvPr>
            <p:ph type="body" sz="quarter" idx="4294967295"/>
          </p:nvPr>
        </p:nvSpPr>
        <p:spPr>
          <a:xfrm>
            <a:off x="755998" y="5078522"/>
            <a:ext cx="6047640" cy="4811042"/>
          </a:xfrm>
          <a:prstGeom prst="rect">
            <a:avLst/>
          </a:prstGeom>
          <a:noFill/>
          <a:ln>
            <a:noFill/>
          </a:ln>
        </p:spPr>
        <p:txBody>
          <a:bodyPr vert="horz" wrap="square" lIns="0" tIns="0" rIns="0" bIns="0" anchor="t" anchorCtr="0" compatLnSpc="1">
            <a:noAutofit/>
          </a:bodyPr>
          <a:lstStyle/>
          <a:p>
            <a:pPr lvl="0"/>
            <a:endParaRPr lang="pl-PL"/>
          </a:p>
        </p:txBody>
      </p:sp>
      <p:sp>
        <p:nvSpPr>
          <p:cNvPr id="8" name="Symbol zastępczy nagłówka 9"/>
          <p:cNvSpPr txBox="1">
            <a:spLocks noGrp="1"/>
          </p:cNvSpPr>
          <p:nvPr>
            <p:ph type="hdr" sz="quarter" idx="10"/>
          </p:nvPr>
        </p:nvSpPr>
        <p:spPr>
          <a:xfrm>
            <a:off x="0" y="0"/>
            <a:ext cx="3280684" cy="534238"/>
          </a:xfrm>
          <a:prstGeom prst="rect">
            <a:avLst/>
          </a:prstGeom>
          <a:noFill/>
          <a:ln>
            <a:noFill/>
          </a:ln>
        </p:spPr>
        <p:txBody>
          <a:bodyPr vert="horz" wrap="square" lIns="0" tIns="0" rIns="0" bIns="0" anchor="t" anchorCtr="0" compatLnSpc="1">
            <a:noAutofit/>
          </a:bodyPr>
          <a:lstStyle>
            <a:lvl1pPr marL="0" marR="0" lvl="0" indent="0" algn="l" defTabSz="914400" rtl="0" fontAlgn="auto" hangingPunct="0">
              <a:lnSpc>
                <a:spcPct val="100000"/>
              </a:lnSpc>
              <a:spcBef>
                <a:spcPts val="0"/>
              </a:spcBef>
              <a:spcAft>
                <a:spcPts val="0"/>
              </a:spcAft>
              <a:buNone/>
              <a:tabLst/>
              <a:defRPr lang="pl-PL" sz="1400" b="0" i="0" u="none" strike="noStrike" kern="1200" cap="none" spc="0" baseline="0">
                <a:solidFill>
                  <a:srgbClr val="000000"/>
                </a:solidFill>
                <a:uFillTx/>
                <a:latin typeface="Liberation Serif" pitchFamily="18"/>
                <a:ea typeface="DejaVu Sans" pitchFamily="2"/>
                <a:cs typeface="DejaVu Sans" pitchFamily="2"/>
              </a:defRPr>
            </a:lvl1pPr>
          </a:lstStyle>
          <a:p>
            <a:pPr lvl="0"/>
            <a:endParaRPr lang="pl-PL"/>
          </a:p>
        </p:txBody>
      </p:sp>
      <p:sp>
        <p:nvSpPr>
          <p:cNvPr id="9" name="Symbol zastępczy daty 10"/>
          <p:cNvSpPr txBox="1">
            <a:spLocks noGrp="1"/>
          </p:cNvSpPr>
          <p:nvPr>
            <p:ph type="dt" sz="quarter" idx="7"/>
          </p:nvPr>
        </p:nvSpPr>
        <p:spPr>
          <a:xfrm>
            <a:off x="4278962" y="0"/>
            <a:ext cx="3280684" cy="534238"/>
          </a:xfrm>
          <a:prstGeom prst="rect">
            <a:avLst/>
          </a:prstGeom>
          <a:noFill/>
          <a:ln>
            <a:noFill/>
          </a:ln>
        </p:spPr>
        <p:txBody>
          <a:bodyPr vert="horz" wrap="square" lIns="0" tIns="0" rIns="0" bIns="0" anchor="t" anchorCtr="0" compatLnSpc="1">
            <a:noAutofit/>
          </a:bodyPr>
          <a:lstStyle>
            <a:lvl1pPr marL="0" marR="0" lvl="0" indent="0" algn="r" defTabSz="914400" rtl="0" fontAlgn="auto" hangingPunct="0">
              <a:lnSpc>
                <a:spcPct val="100000"/>
              </a:lnSpc>
              <a:spcBef>
                <a:spcPts val="0"/>
              </a:spcBef>
              <a:spcAft>
                <a:spcPts val="0"/>
              </a:spcAft>
              <a:buNone/>
              <a:tabLst/>
              <a:defRPr lang="pl-PL" sz="1400" b="0" i="0" u="none" strike="noStrike" kern="1200" cap="none" spc="0" baseline="0">
                <a:solidFill>
                  <a:srgbClr val="000000"/>
                </a:solidFill>
                <a:uFillTx/>
                <a:latin typeface="Liberation Serif" pitchFamily="18"/>
                <a:ea typeface="DejaVu Sans" pitchFamily="2"/>
                <a:cs typeface="DejaVu Sans" pitchFamily="2"/>
              </a:defRPr>
            </a:lvl1pPr>
          </a:lstStyle>
          <a:p>
            <a:pPr lvl="0"/>
            <a:endParaRPr lang="pl-PL"/>
          </a:p>
        </p:txBody>
      </p:sp>
      <p:sp>
        <p:nvSpPr>
          <p:cNvPr id="10" name="Symbol zastępczy stopki 11"/>
          <p:cNvSpPr txBox="1">
            <a:spLocks noGrp="1"/>
          </p:cNvSpPr>
          <p:nvPr>
            <p:ph type="ftr" sz="quarter" idx="4"/>
          </p:nvPr>
        </p:nvSpPr>
        <p:spPr>
          <a:xfrm>
            <a:off x="0" y="10157402"/>
            <a:ext cx="3280684" cy="534238"/>
          </a:xfrm>
          <a:prstGeom prst="rect">
            <a:avLst/>
          </a:prstGeom>
          <a:noFill/>
          <a:ln>
            <a:noFill/>
          </a:ln>
        </p:spPr>
        <p:txBody>
          <a:bodyPr vert="horz" wrap="square" lIns="0" tIns="0" rIns="0" bIns="0" anchor="b" anchorCtr="0" compatLnSpc="1">
            <a:noAutofit/>
          </a:bodyPr>
          <a:lstStyle>
            <a:lvl1pPr marL="0" marR="0" lvl="0" indent="0" algn="l" defTabSz="914400" rtl="0" fontAlgn="auto" hangingPunct="0">
              <a:lnSpc>
                <a:spcPct val="100000"/>
              </a:lnSpc>
              <a:spcBef>
                <a:spcPts val="0"/>
              </a:spcBef>
              <a:spcAft>
                <a:spcPts val="0"/>
              </a:spcAft>
              <a:buNone/>
              <a:tabLst/>
              <a:defRPr lang="pl-PL" sz="1400" b="0" i="0" u="none" strike="noStrike" kern="1200" cap="none" spc="0" baseline="0">
                <a:solidFill>
                  <a:srgbClr val="000000"/>
                </a:solidFill>
                <a:uFillTx/>
                <a:latin typeface="Liberation Serif" pitchFamily="18"/>
                <a:ea typeface="DejaVu Sans" pitchFamily="2"/>
                <a:cs typeface="DejaVu Sans" pitchFamily="2"/>
              </a:defRPr>
            </a:lvl1pPr>
          </a:lstStyle>
          <a:p>
            <a:pPr lvl="0"/>
            <a:endParaRPr lang="pl-PL"/>
          </a:p>
        </p:txBody>
      </p:sp>
      <p:sp>
        <p:nvSpPr>
          <p:cNvPr id="11" name="Symbol zastępczy numeru slajdu 12"/>
          <p:cNvSpPr txBox="1">
            <a:spLocks noGrp="1"/>
          </p:cNvSpPr>
          <p:nvPr>
            <p:ph type="sldNum" sz="quarter" idx="5"/>
          </p:nvPr>
        </p:nvSpPr>
        <p:spPr>
          <a:xfrm>
            <a:off x="4278962" y="10157402"/>
            <a:ext cx="3280684" cy="534238"/>
          </a:xfrm>
          <a:prstGeom prst="rect">
            <a:avLst/>
          </a:prstGeom>
          <a:noFill/>
          <a:ln>
            <a:noFill/>
          </a:ln>
        </p:spPr>
        <p:txBody>
          <a:bodyPr vert="horz" wrap="square" lIns="0" tIns="0" rIns="0" bIns="0" anchor="b" anchorCtr="0" compatLnSpc="1">
            <a:noAutofit/>
          </a:bodyPr>
          <a:lstStyle>
            <a:lvl1pPr marL="0" marR="0" lvl="0" indent="0" algn="r" defTabSz="914400" rtl="0" fontAlgn="auto" hangingPunct="0">
              <a:lnSpc>
                <a:spcPct val="100000"/>
              </a:lnSpc>
              <a:spcBef>
                <a:spcPts val="0"/>
              </a:spcBef>
              <a:spcAft>
                <a:spcPts val="0"/>
              </a:spcAft>
              <a:buNone/>
              <a:tabLst/>
              <a:defRPr lang="pl-PL" sz="1400" b="0" i="0" u="none" strike="noStrike" kern="1200" cap="none" spc="0" baseline="0">
                <a:solidFill>
                  <a:srgbClr val="000000"/>
                </a:solidFill>
                <a:uFillTx/>
                <a:latin typeface="Liberation Serif" pitchFamily="18"/>
                <a:ea typeface="DejaVu Sans" pitchFamily="2"/>
                <a:cs typeface="DejaVu Sans" pitchFamily="2"/>
              </a:defRPr>
            </a:lvl1pPr>
          </a:lstStyle>
          <a:p>
            <a:pPr lvl="0"/>
            <a:fld id="{3F3FC994-B26C-417F-9388-90789E73AF2D}" type="slidenum">
              <a:t>‹#›</a:t>
            </a:fld>
            <a:endParaRPr lang="pl-PL"/>
          </a:p>
        </p:txBody>
      </p:sp>
      <p:sp>
        <p:nvSpPr>
          <p:cNvPr id="12" name="Symbol zastępczy stopki 5"/>
          <p:cNvSpPr txBox="1">
            <a:spLocks noGrp="1"/>
          </p:cNvSpPr>
          <p:nvPr>
            <p:ph type="ftr" sz="quarter" idx="9"/>
          </p:nvPr>
        </p:nvSpPr>
        <p:spPr>
          <a:xfrm>
            <a:off x="0" y="10155234"/>
            <a:ext cx="3276596" cy="536579"/>
          </a:xfrm>
          <a:prstGeom prst="rect">
            <a:avLst/>
          </a:prstGeom>
          <a:noFill/>
          <a:ln>
            <a:noFill/>
          </a:ln>
        </p:spPr>
        <p:txBody>
          <a:bodyPr vert="horz" wrap="square" lIns="91440" tIns="45720" rIns="91440" bIns="45720" anchor="b" anchorCtr="0" compatLnSpc="1">
            <a:noAutofit/>
          </a:bodyPr>
          <a:lstStyle>
            <a:lvl1pPr marL="0" marR="0" lvl="0" indent="0" algn="l" defTabSz="914400" rtl="0" fontAlgn="auto" hangingPunct="1">
              <a:lnSpc>
                <a:spcPct val="100000"/>
              </a:lnSpc>
              <a:spcBef>
                <a:spcPts val="0"/>
              </a:spcBef>
              <a:spcAft>
                <a:spcPts val="0"/>
              </a:spcAft>
              <a:buNone/>
              <a:tabLst/>
              <a:defRPr lang="pl-PL" sz="1200" b="0" i="0" u="none" strike="noStrike" kern="1200" cap="none" spc="0" baseline="0">
                <a:solidFill>
                  <a:srgbClr val="000000"/>
                </a:solidFill>
                <a:uFillTx/>
                <a:latin typeface="Calibri"/>
              </a:defRPr>
            </a:lvl1pPr>
          </a:lstStyle>
          <a:p>
            <a:pPr lvl="0"/>
            <a:endParaRPr lang="pl-PL"/>
          </a:p>
        </p:txBody>
      </p:sp>
      <p:sp>
        <p:nvSpPr>
          <p:cNvPr id="13" name="Symbol zastępczy numeru slajdu 6"/>
          <p:cNvSpPr txBox="1">
            <a:spLocks noGrp="1"/>
          </p:cNvSpPr>
          <p:nvPr>
            <p:ph type="sldNum" sz="quarter" idx="8"/>
          </p:nvPr>
        </p:nvSpPr>
        <p:spPr>
          <a:xfrm>
            <a:off x="4281485" y="10155234"/>
            <a:ext cx="3276596" cy="536579"/>
          </a:xfrm>
          <a:prstGeom prst="rect">
            <a:avLst/>
          </a:prstGeom>
          <a:noFill/>
          <a:ln>
            <a:noFill/>
          </a:ln>
        </p:spPr>
        <p:txBody>
          <a:bodyPr vert="horz" wrap="square" lIns="91440" tIns="45720" rIns="91440" bIns="45720" anchor="b" anchorCtr="0" compatLnSpc="1">
            <a:noAutofit/>
          </a:bodyPr>
          <a:lstStyle>
            <a:lvl1pPr marL="0" marR="0" lvl="0" indent="0" algn="r" defTabSz="914400" rtl="0" fontAlgn="auto" hangingPunct="1">
              <a:lnSpc>
                <a:spcPct val="100000"/>
              </a:lnSpc>
              <a:spcBef>
                <a:spcPts val="0"/>
              </a:spcBef>
              <a:spcAft>
                <a:spcPts val="0"/>
              </a:spcAft>
              <a:buNone/>
              <a:tabLst/>
              <a:defRPr lang="pl-PL" sz="1200" b="0" i="0" u="none" strike="noStrike" kern="1200" cap="none" spc="0" baseline="0">
                <a:solidFill>
                  <a:srgbClr val="000000"/>
                </a:solidFill>
                <a:uFillTx/>
                <a:latin typeface="Calibri"/>
              </a:defRPr>
            </a:lvl1pPr>
          </a:lstStyle>
          <a:p>
            <a:pPr lvl="0"/>
            <a:fld id="{13444A9F-C0AC-45D8-BB54-F516DFEC5FD2}" type="slidenum">
              <a:t>‹#›</a:t>
            </a:fld>
            <a:endParaRPr lang="pl-PL"/>
          </a:p>
        </p:txBody>
      </p:sp>
      <p:sp>
        <p:nvSpPr>
          <p:cNvPr id="14" name="Symbol zastępczy nagłówka 1"/>
          <p:cNvSpPr txBox="1">
            <a:spLocks noGrp="1"/>
          </p:cNvSpPr>
          <p:nvPr>
            <p:ph type="hdr" sz="quarter" idx="10"/>
          </p:nvPr>
        </p:nvSpPr>
        <p:spPr>
          <a:xfrm>
            <a:off x="0" y="0"/>
            <a:ext cx="3276596" cy="536579"/>
          </a:xfrm>
          <a:prstGeom prst="rect">
            <a:avLst/>
          </a:prstGeom>
          <a:noFill/>
          <a:ln>
            <a:noFill/>
          </a:ln>
        </p:spPr>
        <p:txBody>
          <a:bodyPr vert="horz" wrap="square" lIns="91440" tIns="45720" rIns="91440" bIns="45720" anchor="t" anchorCtr="0" compatLnSpc="1">
            <a:noAutofit/>
          </a:bodyPr>
          <a:lstStyle>
            <a:lvl1pPr marL="0" marR="0" lvl="0" indent="0" algn="l" defTabSz="914400" rtl="0" fontAlgn="auto" hangingPunct="1">
              <a:lnSpc>
                <a:spcPct val="100000"/>
              </a:lnSpc>
              <a:spcBef>
                <a:spcPts val="0"/>
              </a:spcBef>
              <a:spcAft>
                <a:spcPts val="0"/>
              </a:spcAft>
              <a:buNone/>
              <a:tabLst/>
              <a:defRPr lang="pl-PL" sz="1200" b="0" i="0" u="none" strike="noStrike" kern="1200" cap="none" spc="0" baseline="0">
                <a:solidFill>
                  <a:srgbClr val="000000"/>
                </a:solidFill>
                <a:uFillTx/>
                <a:latin typeface="Calibri"/>
              </a:defRPr>
            </a:lvl1pPr>
          </a:lstStyle>
          <a:p>
            <a:pPr lvl="0"/>
            <a:endParaRPr lang="pl-PL"/>
          </a:p>
        </p:txBody>
      </p:sp>
      <p:sp>
        <p:nvSpPr>
          <p:cNvPr id="15" name="Symbol zastępczy daty 2"/>
          <p:cNvSpPr txBox="1">
            <a:spLocks noGrp="1"/>
          </p:cNvSpPr>
          <p:nvPr>
            <p:ph type="dt" sz="quarter" idx="7"/>
          </p:nvPr>
        </p:nvSpPr>
        <p:spPr>
          <a:xfrm>
            <a:off x="4281485" y="0"/>
            <a:ext cx="3276596" cy="536579"/>
          </a:xfrm>
          <a:prstGeom prst="rect">
            <a:avLst/>
          </a:prstGeom>
          <a:noFill/>
          <a:ln>
            <a:noFill/>
          </a:ln>
        </p:spPr>
        <p:txBody>
          <a:bodyPr vert="horz" wrap="square" lIns="91440" tIns="45720" rIns="91440" bIns="45720" anchor="t" anchorCtr="0" compatLnSpc="1">
            <a:noAutofit/>
          </a:bodyPr>
          <a:lstStyle>
            <a:lvl1pPr marL="0" marR="0" lvl="0" indent="0" algn="r" defTabSz="914400" rtl="0" fontAlgn="auto" hangingPunct="1">
              <a:lnSpc>
                <a:spcPct val="100000"/>
              </a:lnSpc>
              <a:spcBef>
                <a:spcPts val="0"/>
              </a:spcBef>
              <a:spcAft>
                <a:spcPts val="0"/>
              </a:spcAft>
              <a:buNone/>
              <a:tabLst/>
              <a:defRPr lang="pl-PL" sz="1200" b="0" i="0" u="none" strike="noStrike" kern="1200" cap="none" spc="0" baseline="0">
                <a:solidFill>
                  <a:srgbClr val="000000"/>
                </a:solidFill>
                <a:uFillTx/>
                <a:latin typeface="Calibri"/>
              </a:defRPr>
            </a:lvl1pPr>
          </a:lstStyle>
          <a:p>
            <a:pPr lvl="0"/>
            <a:fld id="{B061FFBB-6A51-42BB-8E19-2186BBF8EF83}" type="datetime1">
              <a:rPr lang="pl-PL"/>
              <a:pPr lvl="0"/>
              <a:t>05.06.2026</a:t>
            </a:fld>
            <a:endParaRPr lang="pl-PL"/>
          </a:p>
        </p:txBody>
      </p:sp>
      <p:sp>
        <p:nvSpPr>
          <p:cNvPr id="16" name="Symbol zastępczy obrazu slajdu 3"/>
          <p:cNvSpPr>
            <a:spLocks noGrp="1" noRot="1" noChangeAspect="1"/>
          </p:cNvSpPr>
          <p:nvPr>
            <p:ph type="sldImg" sz="quarter" idx="4294967295"/>
          </p:nvPr>
        </p:nvSpPr>
        <p:spPr>
          <a:xfrm>
            <a:off x="1374772" y="1336679"/>
            <a:ext cx="4810128" cy="3608386"/>
          </a:xfrm>
          <a:prstGeom prst="rect">
            <a:avLst/>
          </a:prstGeom>
          <a:noFill/>
          <a:ln w="12701">
            <a:solidFill>
              <a:srgbClr val="000000"/>
            </a:solidFill>
            <a:prstDash val="solid"/>
          </a:ln>
        </p:spPr>
      </p:sp>
      <p:sp>
        <p:nvSpPr>
          <p:cNvPr id="17" name="Symbol zastępczy notatek 4"/>
          <p:cNvSpPr txBox="1">
            <a:spLocks noGrp="1"/>
          </p:cNvSpPr>
          <p:nvPr>
            <p:ph type="body" sz="quarter" idx="4294967295"/>
          </p:nvPr>
        </p:nvSpPr>
        <p:spPr>
          <a:xfrm>
            <a:off x="755651" y="5145091"/>
            <a:ext cx="6048371" cy="4210053"/>
          </a:xfrm>
          <a:prstGeom prst="rect">
            <a:avLst/>
          </a:prstGeom>
          <a:noFill/>
          <a:ln>
            <a:noFill/>
          </a:ln>
        </p:spPr>
        <p:txBody>
          <a:bodyPr vert="horz" wrap="square" lIns="91440" tIns="45720" rIns="91440" bIns="45720" anchor="t" anchorCtr="0" compatLnSpc="1">
            <a:no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18" name="Symbol zastępczy stopki 5"/>
          <p:cNvSpPr txBox="1">
            <a:spLocks noGrp="1"/>
          </p:cNvSpPr>
          <p:nvPr>
            <p:ph type="ftr" sz="quarter" idx="9"/>
          </p:nvPr>
        </p:nvSpPr>
        <p:spPr>
          <a:xfrm>
            <a:off x="0" y="10155234"/>
            <a:ext cx="3276596" cy="536579"/>
          </a:xfrm>
          <a:prstGeom prst="rect">
            <a:avLst/>
          </a:prstGeom>
          <a:noFill/>
          <a:ln>
            <a:noFill/>
          </a:ln>
        </p:spPr>
        <p:txBody>
          <a:bodyPr vert="horz" wrap="square" lIns="91440" tIns="45720" rIns="91440" bIns="45720" anchor="b" anchorCtr="0" compatLnSpc="1">
            <a:noAutofit/>
          </a:bodyPr>
          <a:lstStyle>
            <a:lvl1pPr marL="0" marR="0" lvl="0" indent="0" algn="l" defTabSz="914400" rtl="0" fontAlgn="auto" hangingPunct="1">
              <a:lnSpc>
                <a:spcPct val="100000"/>
              </a:lnSpc>
              <a:spcBef>
                <a:spcPts val="0"/>
              </a:spcBef>
              <a:spcAft>
                <a:spcPts val="0"/>
              </a:spcAft>
              <a:buNone/>
              <a:tabLst/>
              <a:defRPr lang="pl-PL" sz="1200" b="0" i="0" u="none" strike="noStrike" kern="1200" cap="none" spc="0" baseline="0">
                <a:solidFill>
                  <a:srgbClr val="000000"/>
                </a:solidFill>
                <a:uFillTx/>
                <a:latin typeface="Calibri"/>
              </a:defRPr>
            </a:lvl1pPr>
          </a:lstStyle>
          <a:p>
            <a:pPr lvl="0"/>
            <a:endParaRPr lang="pl-PL"/>
          </a:p>
        </p:txBody>
      </p:sp>
      <p:sp>
        <p:nvSpPr>
          <p:cNvPr id="19" name="Symbol zastępczy numeru slajdu 6"/>
          <p:cNvSpPr txBox="1">
            <a:spLocks noGrp="1"/>
          </p:cNvSpPr>
          <p:nvPr>
            <p:ph type="sldNum" sz="quarter" idx="8"/>
          </p:nvPr>
        </p:nvSpPr>
        <p:spPr>
          <a:xfrm>
            <a:off x="4281485" y="10155234"/>
            <a:ext cx="3276596" cy="536579"/>
          </a:xfrm>
          <a:prstGeom prst="rect">
            <a:avLst/>
          </a:prstGeom>
          <a:noFill/>
          <a:ln>
            <a:noFill/>
          </a:ln>
        </p:spPr>
        <p:txBody>
          <a:bodyPr vert="horz" wrap="square" lIns="91440" tIns="45720" rIns="91440" bIns="45720" anchor="b" anchorCtr="0" compatLnSpc="1">
            <a:noAutofit/>
          </a:bodyPr>
          <a:lstStyle>
            <a:lvl1pPr marL="0" marR="0" lvl="0" indent="0" algn="r" defTabSz="914400" rtl="0" fontAlgn="auto" hangingPunct="1">
              <a:lnSpc>
                <a:spcPct val="100000"/>
              </a:lnSpc>
              <a:spcBef>
                <a:spcPts val="0"/>
              </a:spcBef>
              <a:spcAft>
                <a:spcPts val="0"/>
              </a:spcAft>
              <a:buNone/>
              <a:tabLst/>
              <a:defRPr lang="pl-PL" sz="1200" b="0" i="0" u="none" strike="noStrike" kern="1200" cap="none" spc="0" baseline="0">
                <a:solidFill>
                  <a:srgbClr val="000000"/>
                </a:solidFill>
                <a:uFillTx/>
                <a:latin typeface="Calibri"/>
              </a:defRPr>
            </a:lvl1pPr>
          </a:lstStyle>
          <a:p>
            <a:pPr lvl="0"/>
            <a:fld id="{FC79A3C7-A5DD-4D09-9967-2C883F5AF8FC}" type="slidenum">
              <a:t>‹#›</a:t>
            </a:fld>
            <a:endParaRPr lang="pl-PL"/>
          </a:p>
        </p:txBody>
      </p:sp>
    </p:spTree>
    <p:extLst>
      <p:ext uri="{BB962C8B-B14F-4D97-AF65-F5344CB8AC3E}">
        <p14:creationId xmlns:p14="http://schemas.microsoft.com/office/powerpoint/2010/main" val="2009162767"/>
      </p:ext>
    </p:extLst>
  </p:cSld>
  <p:clrMap bg1="lt1" tx1="dk1" bg2="lt2" tx2="dk2" accent1="accent1" accent2="accent2" accent3="accent3" accent4="accent4" accent5="accent5" accent6="accent6" hlink="hlink" folHlink="folHlink"/>
  <p:notesStyle>
    <a:lvl1pPr marL="215999" marR="0" lvl="0" indent="-215999" defTabSz="914400" rtl="0" fontAlgn="auto" hangingPunct="0">
      <a:lnSpc>
        <a:spcPct val="100000"/>
      </a:lnSpc>
      <a:spcBef>
        <a:spcPts val="0"/>
      </a:spcBef>
      <a:spcAft>
        <a:spcPts val="0"/>
      </a:spcAft>
      <a:buNone/>
      <a:tabLst/>
      <a:defRPr lang="pl-PL" sz="2000" b="0" i="0" u="none" strike="noStrike" kern="1200" cap="none" spc="0" baseline="0">
        <a:solidFill>
          <a:srgbClr val="000000"/>
        </a:solidFill>
        <a:highlight>
          <a:scrgbClr r="0" g="0" b="0">
            <a:alpha val="0"/>
          </a:scrgbClr>
        </a:highlight>
        <a:uFillTx/>
        <a:latin typeface="Liberation Sans" pitchFamily="18"/>
      </a:defRPr>
    </a:lvl1pPr>
    <a:lvl2pPr marL="457200" marR="0" lvl="1" indent="0" algn="l" defTabSz="914400" rtl="0" fontAlgn="auto" hangingPunct="1">
      <a:lnSpc>
        <a:spcPct val="100000"/>
      </a:lnSpc>
      <a:spcBef>
        <a:spcPts val="0"/>
      </a:spcBef>
      <a:spcAft>
        <a:spcPts val="0"/>
      </a:spcAft>
      <a:buNone/>
      <a:tabLst/>
      <a:defRPr lang="pl-PL" sz="1200" b="0" i="0" u="none" strike="noStrike" kern="1200" cap="none" spc="0" baseline="0">
        <a:solidFill>
          <a:srgbClr val="000000"/>
        </a:solidFill>
        <a:uFillTx/>
        <a:latin typeface="Calibri"/>
      </a:defRPr>
    </a:lvl2pPr>
    <a:lvl3pPr marL="914400" marR="0" lvl="2" indent="0" algn="l" defTabSz="914400" rtl="0" fontAlgn="auto" hangingPunct="1">
      <a:lnSpc>
        <a:spcPct val="100000"/>
      </a:lnSpc>
      <a:spcBef>
        <a:spcPts val="0"/>
      </a:spcBef>
      <a:spcAft>
        <a:spcPts val="0"/>
      </a:spcAft>
      <a:buNone/>
      <a:tabLst/>
      <a:defRPr lang="pl-PL" sz="1200" b="0" i="0" u="none" strike="noStrike" kern="1200" cap="none" spc="0" baseline="0">
        <a:solidFill>
          <a:srgbClr val="000000"/>
        </a:solidFill>
        <a:uFillTx/>
        <a:latin typeface="Calibri"/>
      </a:defRPr>
    </a:lvl3pPr>
    <a:lvl4pPr marL="1371600" marR="0" lvl="3" indent="0" algn="l" defTabSz="914400" rtl="0" fontAlgn="auto" hangingPunct="1">
      <a:lnSpc>
        <a:spcPct val="100000"/>
      </a:lnSpc>
      <a:spcBef>
        <a:spcPts val="0"/>
      </a:spcBef>
      <a:spcAft>
        <a:spcPts val="0"/>
      </a:spcAft>
      <a:buNone/>
      <a:tabLst/>
      <a:defRPr lang="pl-PL" sz="1200" b="0" i="0" u="none" strike="noStrike" kern="1200" cap="none" spc="0" baseline="0">
        <a:solidFill>
          <a:srgbClr val="000000"/>
        </a:solidFill>
        <a:uFillTx/>
        <a:latin typeface="Calibri"/>
      </a:defRPr>
    </a:lvl4pPr>
    <a:lvl5pPr marL="1828800" marR="0" lvl="4" indent="0" algn="l" defTabSz="914400" rtl="0" fontAlgn="auto" hangingPunct="1">
      <a:lnSpc>
        <a:spcPct val="100000"/>
      </a:lnSpc>
      <a:spcBef>
        <a:spcPts val="0"/>
      </a:spcBef>
      <a:spcAft>
        <a:spcPts val="0"/>
      </a:spcAft>
      <a:buNone/>
      <a:tabLst/>
      <a:defRPr lang="pl-PL" sz="1200" b="0" i="0" u="none" strike="noStrike" kern="1200" cap="none" spc="0" baseline="0">
        <a:solidFill>
          <a:srgbClr val="000000"/>
        </a:solidFill>
        <a:uFillTx/>
        <a:latin typeface="Calibri"/>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0348DF44-4078-45D4-9A70-E60330D64C06}"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C3727674-65B6-4C0B-A75A-C1B4EC97029F}" type="slidenum">
              <a:t>1</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979F64CA-DCE8-47A1-AF21-F35CFCD2AAC9}" type="slidenum">
              <a:t>1</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p:cNvSpPr txBox="1">
            <a:spLocks noGrp="1"/>
          </p:cNvSpPr>
          <p:nvPr>
            <p:ph type="body" sz="quarter" idx="1"/>
          </p:nvPr>
        </p:nvSpPr>
        <p:spPr>
          <a:xfrm>
            <a:off x="755998" y="5078522"/>
            <a:ext cx="6047640" cy="4811042"/>
          </a:xfrm>
        </p:spPr>
        <p:txBody>
          <a:bodyPr lIns="0" tIns="0" rIns="0" bIns="0">
            <a:spAutoFit/>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627BD4F5-CECD-4169-868C-476901A7974C}"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7C8DB900-753A-49BC-8CB8-8613004FD7B5}" type="slidenum">
              <a:t>7</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83D4A1A9-6B6E-4544-8D66-B203679C7EFA}" type="slidenum">
              <a:t>7</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p:cNvSpPr txBox="1">
            <a:spLocks noGrp="1"/>
          </p:cNvSpPr>
          <p:nvPr>
            <p:ph type="body" sz="quarter" idx="1"/>
          </p:nvPr>
        </p:nvSpPr>
        <p:spPr>
          <a:xfrm>
            <a:off x="755998" y="5078522"/>
            <a:ext cx="6047640" cy="4811042"/>
          </a:xfrm>
        </p:spPr>
        <p:txBody>
          <a:bodyPr lIns="0" tIns="0" rIns="0" bIns="0"/>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811D13EE-4A6F-4170-BEA8-7E6E2AB6B6A5}"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9E37CF3-C09B-4488-96E9-839FE0DA1333}" type="slidenum">
              <a:t>8</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60EA4E86-1434-4766-A922-9F60F561821F}" type="slidenum">
              <a:t>8</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p:cNvSpPr txBox="1">
            <a:spLocks noGrp="1"/>
          </p:cNvSpPr>
          <p:nvPr>
            <p:ph type="body" sz="quarter" idx="1"/>
          </p:nvPr>
        </p:nvSpPr>
        <p:spPr>
          <a:xfrm>
            <a:off x="755998" y="5078522"/>
            <a:ext cx="6047640" cy="4811042"/>
          </a:xfrm>
        </p:spPr>
        <p:txBody>
          <a:bodyPr lIns="0" tIns="0" rIns="0" bIns="0"/>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1F8D1284-BA26-4581-8B0B-77358DDFB173}"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85D58BC4-565F-4584-993D-6CD325F2B5B2}" type="slidenum">
              <a:t>9</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6CC34144-7A4F-41F6-B5E8-54F2CDD90EE1}" type="slidenum">
              <a:t>9</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p:cNvSpPr txBox="1">
            <a:spLocks noGrp="1"/>
          </p:cNvSpPr>
          <p:nvPr>
            <p:ph type="body" sz="quarter" idx="1"/>
          </p:nvPr>
        </p:nvSpPr>
        <p:spPr>
          <a:xfrm>
            <a:off x="755998" y="5078522"/>
            <a:ext cx="6047640" cy="4811042"/>
          </a:xfrm>
        </p:spPr>
        <p:txBody>
          <a:bodyPr lIns="0" tIns="0" rIns="0" bIns="0"/>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3FA883ED-B2E1-4D93-9F69-281F998D159D}"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DD651D7D-8C1F-4EFE-B0EE-836F10134F51}" type="slidenum">
              <a:t>10</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55CE757E-96CA-43DC-8414-9D9F1749CD43}" type="slidenum">
              <a:t>10</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p:cNvSpPr txBox="1">
            <a:spLocks noGrp="1"/>
          </p:cNvSpPr>
          <p:nvPr>
            <p:ph type="body" sz="quarter" idx="1"/>
          </p:nvPr>
        </p:nvSpPr>
        <p:spPr>
          <a:xfrm>
            <a:off x="755998" y="5078522"/>
            <a:ext cx="6047640" cy="4811042"/>
          </a:xfrm>
        </p:spPr>
        <p:txBody>
          <a:bodyPr lIns="0" tIns="0" rIns="0" bIns="0"/>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A7F71D4E-60AF-4BBC-A9F6-9341CA99B629}"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0552F04-8AFB-4A5C-8561-A15CDADBCFBF}" type="slidenum">
              <a:t>11</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AED0E9AA-AC77-4C07-8EA6-0C9D2F57FBAF}" type="slidenum">
              <a:t>11</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p:cNvSpPr txBox="1">
            <a:spLocks noGrp="1"/>
          </p:cNvSpPr>
          <p:nvPr>
            <p:ph type="body" sz="quarter" idx="1"/>
          </p:nvPr>
        </p:nvSpPr>
        <p:spPr>
          <a:xfrm>
            <a:off x="755998" y="5078522"/>
            <a:ext cx="6047640" cy="4811042"/>
          </a:xfrm>
        </p:spPr>
        <p:txBody>
          <a:bodyPr lIns="0" tIns="0" rIns="0" bIns="0"/>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F09C485-AABB-4729-8E32-3CC7D485F985}"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5B8F6495-6E93-4A88-BDB6-E14ED8E8EA10}" type="slidenum">
              <a:t>12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5D689A9-0EBF-4E11-8D22-FE0BE721D69B}" type="slidenum">
              <a:t>12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p:cNvSpPr txBox="1">
            <a:spLocks noGrp="1"/>
          </p:cNvSpPr>
          <p:nvPr>
            <p:ph type="body" sz="quarter" idx="1"/>
          </p:nvPr>
        </p:nvSpPr>
        <p:spPr>
          <a:xfrm>
            <a:off x="755998" y="5078522"/>
            <a:ext cx="6047640" cy="4811042"/>
          </a:xfrm>
        </p:spPr>
        <p:txBody>
          <a:bodyPr lIns="0" tIns="0" rIns="0" bIns="0"/>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86FE5246-2C12-4AAD-BFFC-5D41081AC1A6}"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981E04CC-AB46-43C3-990D-9096799733FA}" type="slidenum">
              <a:t>13</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B86146A4-EBB6-4005-A5E3-A225C6F1C94E}" type="slidenum">
              <a:t>13</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p:cNvSpPr txBox="1">
            <a:spLocks noGrp="1"/>
          </p:cNvSpPr>
          <p:nvPr>
            <p:ph type="body" sz="quarter" idx="1"/>
          </p:nvPr>
        </p:nvSpPr>
        <p:spPr>
          <a:xfrm>
            <a:off x="755998" y="5078522"/>
            <a:ext cx="6047640" cy="4811042"/>
          </a:xfrm>
        </p:spPr>
        <p:txBody>
          <a:bodyPr lIns="0" tIns="0" rIns="0" bIns="0"/>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71C91605-5061-4A11-8ED4-1AAC358688E5}"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37398A24-7E8A-47A7-AB2E-C2C77A9C05AE}" type="slidenum">
              <a:t>14</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51865E76-782A-4E0D-8B6D-858BA7F7E8C6}" type="slidenum">
              <a:t>14</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p:cNvSpPr txBox="1">
            <a:spLocks noGrp="1"/>
          </p:cNvSpPr>
          <p:nvPr>
            <p:ph type="body" sz="quarter" idx="1"/>
          </p:nvPr>
        </p:nvSpPr>
        <p:spPr>
          <a:xfrm>
            <a:off x="755998" y="5078522"/>
            <a:ext cx="6047640" cy="4811042"/>
          </a:xfrm>
        </p:spPr>
        <p:txBody>
          <a:bodyPr lIns="0" tIns="0" rIns="0" bIns="0"/>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C2FF66BA-75FF-4420-B8A1-513F81737D87}"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C5FA9FE9-15B8-44E4-8B0E-0DF0C5E18EA9}" type="slidenum">
              <a:t>15</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B3D9DD8E-6F3A-4CCD-877B-3FD2A72C71E7}" type="slidenum">
              <a:t>15</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p:cNvSpPr txBox="1">
            <a:spLocks noGrp="1"/>
          </p:cNvSpPr>
          <p:nvPr>
            <p:ph type="body" sz="quarter" idx="1"/>
          </p:nvPr>
        </p:nvSpPr>
        <p:spPr>
          <a:xfrm>
            <a:off x="755998" y="5078522"/>
            <a:ext cx="6047640" cy="4811042"/>
          </a:xfrm>
        </p:spPr>
        <p:txBody>
          <a:bodyPr lIns="0" tIns="0" rIns="0" bIns="0"/>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AAFE7F87-43D9-4C6D-B0F4-373E5118955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A43881D3-4120-430A-A931-BE73F27F4B11}" type="slidenum">
              <a:t>16</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D3D26E6F-81C1-4E02-BF0E-5653BCBCB097}" type="slidenum">
              <a:t>16</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p:cNvSpPr txBox="1">
            <a:spLocks noGrp="1"/>
          </p:cNvSpPr>
          <p:nvPr>
            <p:ph type="body" sz="quarter" idx="1"/>
          </p:nvPr>
        </p:nvSpPr>
        <p:spPr>
          <a:xfrm>
            <a:off x="755998" y="5078522"/>
            <a:ext cx="6047640" cy="4811042"/>
          </a:xfrm>
        </p:spPr>
        <p:txBody>
          <a:bodyPr lIns="0" tIns="0" rIns="0" bIns="0"/>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3D6BF25A-CD7E-452E-876E-481B057D093E}"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2F77B28-36E8-4B4B-884D-E112AD4DDAF7}" type="slidenum">
              <a:t>17</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6661A3AD-FBA8-4253-804A-07F6CBA7B343}" type="slidenum">
              <a:t>17</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p:cNvSpPr txBox="1">
            <a:spLocks noGrp="1"/>
          </p:cNvSpPr>
          <p:nvPr>
            <p:ph type="body" sz="quarter" idx="1"/>
          </p:nvPr>
        </p:nvSpPr>
        <p:spPr>
          <a:xfrm>
            <a:off x="755998" y="5078522"/>
            <a:ext cx="6047640" cy="4811042"/>
          </a:xfrm>
        </p:spPr>
        <p:txBody>
          <a:bodyPr lIns="0" tIns="0" rIns="0" bIns="0"/>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1E8B868-485B-444A-8B43-78E35E4194C3}"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C7AB6659-9561-400A-8755-AF5C99BD5CDA}" type="slidenum">
              <a:t>18</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98DFB0A-5EF6-4415-AFFB-095E632AC9B9}" type="slidenum">
              <a:t>18</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p:cNvSpPr txBox="1">
            <a:spLocks noGrp="1"/>
          </p:cNvSpPr>
          <p:nvPr>
            <p:ph type="body" sz="quarter" idx="1"/>
          </p:nvPr>
        </p:nvSpPr>
        <p:spPr>
          <a:xfrm>
            <a:off x="755998" y="5078522"/>
            <a:ext cx="6047640" cy="4811042"/>
          </a:xfrm>
        </p:spPr>
        <p:txBody>
          <a:bodyPr lIns="0" tIns="0" rIns="0" bIns="0"/>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9C2097D0-75FE-4F73-BDB4-A8E6D8D7AC52}"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88FE14AE-0CD5-4B92-A391-90A61ADFF42A}" type="slidenum">
              <a:t>19</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4D6BBD9-24D2-4E14-9087-87E6E519BD7A}" type="slidenum">
              <a:t>19</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p:cNvSpPr txBox="1">
            <a:spLocks noGrp="1"/>
          </p:cNvSpPr>
          <p:nvPr>
            <p:ph type="body" sz="quarter" idx="1"/>
          </p:nvPr>
        </p:nvSpPr>
        <p:spPr>
          <a:xfrm>
            <a:off x="755998" y="5078522"/>
            <a:ext cx="6047640" cy="4811042"/>
          </a:xfrm>
        </p:spPr>
        <p:txBody>
          <a:bodyPr lIns="0" tIns="0" rIns="0" bIns="0"/>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20</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20</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p:cNvSpPr txBox="1">
            <a:spLocks noGrp="1"/>
          </p:cNvSpPr>
          <p:nvPr>
            <p:ph type="body" sz="quarter" idx="1"/>
          </p:nvPr>
        </p:nvSpPr>
        <p:spPr>
          <a:xfrm>
            <a:off x="755998" y="5078522"/>
            <a:ext cx="6047640" cy="4811042"/>
          </a:xfrm>
        </p:spPr>
        <p:txBody>
          <a:bodyPr lIns="0" tIns="0" rIns="0" bIns="0"/>
          <a:lstStyle/>
          <a:p>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daty 2"/>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13542186-846B-4C5D-956C-479D0DDBF09E}"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A9A995DF-58F0-4567-84E4-26AD2F770DAE}" type="slidenum">
              <a:t>21</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709D29DA-AADC-4F75-BDDC-E1C20248AC19}" type="slidenum">
              <a:t>21</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p:cNvSpPr txBox="1">
            <a:spLocks noGrp="1"/>
          </p:cNvSpPr>
          <p:nvPr>
            <p:ph type="body" sz="quarter" idx="1"/>
          </p:nvPr>
        </p:nvSpPr>
        <p:spPr>
          <a:xfrm>
            <a:off x="755998" y="5078522"/>
            <a:ext cx="6047640" cy="4811042"/>
          </a:xfrm>
        </p:spPr>
        <p:txBody>
          <a:bodyPr lIns="0" tIns="0" rIns="0" bIns="0"/>
          <a:lstStyle/>
          <a:p>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03B01-56DE-F0A1-E76D-0C81F35C6028}"/>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5E3F620D-D375-3BA7-5AF9-BB4C1C61387E}"/>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9DAB3A62-FC6C-9166-DCF0-D4D16AED614F}"/>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22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B618F88C-AAEF-D5AD-17D1-75CB563D18B3}"/>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22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4CF286D1-053E-A1EC-1D8C-6FE7EB82E042}"/>
              </a:ext>
            </a:extLst>
          </p:cNvPr>
          <p:cNvSpPr>
            <a:spLocks noGrp="1" noRot="1" noChangeAspect="1"/>
          </p:cNvSpPr>
          <p:nvPr>
            <p:ph type="sldImg"/>
          </p:nvPr>
        </p:nvSpPr>
        <p:spPr>
          <a:xfrm>
            <a:off x="1106488" y="812801"/>
            <a:ext cx="5346697" cy="4008436"/>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976FE4D4-08E1-DE67-AC14-CA76DFE6DEC4}"/>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28484120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B880C-BB7B-30F4-9506-23EABF8C9E99}"/>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0E550039-626B-47D5-CA15-A57194AE3E65}"/>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6FD9655F-1D91-C401-E11D-60F905068FC1}"/>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23</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E47D0DE0-4103-B138-886D-7E062452703C}"/>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23</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D80A54F1-E4E2-CFA2-2477-33966926CF2D}"/>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BEA3DCAA-575F-D0E0-16B0-2A22A01461EC}"/>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5791753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7C2A7-A39C-78F2-091E-E1D00B734FB7}"/>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50A09A84-AAC4-DB57-8516-DE30468401FE}"/>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3735D7BB-78A0-0325-2758-6671ED675D3A}"/>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24</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30463CB6-C7D8-572B-62B4-F7AB40D10736}"/>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24</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81A90F42-1B3D-B486-C6B1-085AB34ADBAF}"/>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04FD3AB0-0129-ADF1-D288-849D367B2A85}"/>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26027276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73E95-99ED-EFE0-8856-4037DA048E8B}"/>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3A916D23-C318-D79A-B3EA-30B6739D359D}"/>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EAFB1B3B-F813-6D04-CA73-F23FC8731851}"/>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25</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CBB15C42-701D-B664-9B54-685E2DE59F9F}"/>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25</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CBDC1C6D-557E-004A-31C8-CC94B30FC1F3}"/>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9947A215-CBC6-F8E0-BD88-7DE152505030}"/>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02969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FE445-055A-54CF-6B85-2B26B22F35DD}"/>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ED7AD213-58C2-FD14-EDB9-620215862F4E}"/>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F6F79444-94F7-D876-C34D-1EC2F9E41A32}"/>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26</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C119FE69-1DFC-DCF1-E87E-1F89931E16E4}"/>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26</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F599C1BA-061F-7A5C-C0D7-3DDC633EF33D}"/>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BEB59952-F664-0D27-9D2D-1AEC3B5E3023}"/>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6903762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63276-27D7-1506-C67E-114E17B9E08E}"/>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B21775B0-F1A5-D3A5-FC74-3CE157B15B91}"/>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1F6BFB37-D4B3-3A67-6332-352D5A0C723C}"/>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27</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48EE55BC-C128-9842-B48C-8563B3A8F89E}"/>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27</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1FEC6DDE-E34F-9B3E-89E5-E7F5147A7B42}"/>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245E67CA-BD43-6AF6-74A6-7980E64C1EDD}"/>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712659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22924-32A3-4CC3-099B-5FC8D7F98938}"/>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D328F3D7-6734-FFAB-3E1D-14FB8DE177FA}"/>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CDBCA583-BAC3-9FC1-20CE-BAC45778DC42}"/>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28</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4D2EFF6B-8A10-F72E-3212-A0BCCBFA13D7}"/>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28</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46A35E44-2110-1A11-D8D3-BCEDFB1BB0B5}"/>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6FFE4FD1-D013-82C6-A64E-BA9A5CD8A5F3}"/>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265719285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B91B3-2097-78CA-8625-5C2EA7080044}"/>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3A3A831D-7E81-CC18-CB33-368483860D4B}"/>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538A096E-C2E4-7BDA-0A06-1FA6C4BF3EAA}"/>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29</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05B58723-329F-A434-E8FA-2C819FE2E621}"/>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29</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9C37D706-EC5F-3AB0-21E8-1DFE86014528}"/>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03FB0F39-007D-879B-EC0A-E48BC6B71003}"/>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408316058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89654-2A3A-3123-2C57-6DC5DA6E3C1F}"/>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05799128-4A98-8C01-F682-2C4B61FD9849}"/>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E145ADCB-2090-4DD0-46F9-DF2F0DE5A8B4}"/>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30</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FA82A2A3-1A53-32AA-ECB1-A54F63B2E57E}"/>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30</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971550E6-4B40-985A-942D-DA265D633B39}"/>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914A1A5D-C35A-914B-BFF4-5297FD7CBEBC}"/>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28478575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582FB-A68C-9846-9CD8-3C5A980C6391}"/>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E6D701B3-B267-79CA-BBFB-91AAB7774E50}"/>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369D69EA-C65A-A875-58FD-4C8101BAE60E}"/>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31</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BC7AB97F-0C93-9971-4B21-94417B991C7C}"/>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31</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F772F92F-75D1-1325-B424-7168174EA02D}"/>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1573ACF4-6EFE-C31E-104A-EADCD6B39DD6}"/>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354890203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0898B-83E8-717F-5AB9-916A9FC50B44}"/>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72C6EF41-131A-C79C-ECAA-E17E8397A9DB}"/>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98DA3B44-FCC3-C81F-65FE-484FF3229447}"/>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32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E0378AB1-6EB2-F8FA-E096-2A3480B73A4A}"/>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32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BC4B4AC1-3372-9FBB-A2B8-51CADB2E663B}"/>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351DE71A-A061-7F04-C3E5-00B038736E16}"/>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295496502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561E9-2379-18CD-385F-89139D35EAC5}"/>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781CD9C6-3063-F64D-31F3-C6036D0CA06F}"/>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090338FA-1752-570E-E8FB-77C762691763}"/>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33</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E272CB3F-CB02-C96D-6099-3F79E8B75A7A}"/>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33</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40CCFAEA-9EE5-C893-763A-22C2A3CE41EB}"/>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C9137C50-C4F4-F7E1-47CF-0838A4611B1E}"/>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351435328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1F5DD-0758-E701-5F9A-F8AA9723794F}"/>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08D39A88-E840-829C-5053-042F724A4901}"/>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EAF881A3-5EB7-E380-BAD9-2D3960664130}"/>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34</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9A4591BC-D1FA-3A77-E80C-FF16BCE528AE}"/>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34</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10DBDA1F-6C03-E913-F725-EE786D64DC6E}"/>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4F09D199-B2B2-5EF0-0585-C68987FE91E0}"/>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30355858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749F8-AEEA-DDC9-D73F-5F1B726B2825}"/>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245285E0-99CB-E067-5189-34C7ED8BE1F1}"/>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46920279-5FB1-FA35-F046-1BC42DE463AE}"/>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35</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DC937545-7CB5-5FD2-F2D3-4D9D86477C9E}"/>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35</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D1DBDB42-94B1-9E6F-FFC5-4B90EB63F3A0}"/>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66D4E232-EAF9-4550-EF95-8C7563F984F1}"/>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9979421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DCF3B-4FC7-5D36-D456-F4D90B1D5BE1}"/>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6037BD63-01D7-659A-A291-745E9BFA9BF1}"/>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16F881B7-FDCA-8A99-2698-F9DE41D87033}"/>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36</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6C506CCF-2E15-0E54-9725-D21376E905C5}"/>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36</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C2F22963-2D84-79D3-1D85-236DA073A1A9}"/>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32454280-49FB-D59A-33B0-7F2A7DF0AB4C}"/>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8244739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F9EA8-59FA-E07B-565D-F599668AC3F2}"/>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668DE9B0-1731-9DAD-7AAA-32968CAA2E87}"/>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9F9538E8-6D49-DA36-3FCD-7FB8816CA6AA}"/>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37</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D46185CA-E5C2-8322-B22D-3A795466DB1C}"/>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37</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738FE2FB-9DF5-C875-E694-ACBE1306AB41}"/>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A31409F8-E5AA-27A6-84E9-671C2BB5C30F}"/>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30813413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BC2EE-489E-CB90-A49D-752D43BE2AFF}"/>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606025DB-EE4B-9B87-A893-4257D150E313}"/>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F2B5792B-F9FA-29E7-7C5B-EEDC1B4833D5}"/>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38</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18382D8A-55B9-5739-73BB-B518436EBBC9}"/>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38</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FE89F1C0-0BB1-F44E-1E50-DA85A9F89655}"/>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1F120B60-87BC-73AE-F9D0-F660CFF58415}"/>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426814112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7AD90-97DC-15A4-ED63-845C471D5EDB}"/>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1BA59E96-3B80-DABE-2B29-706376FE6D11}"/>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A786AE3B-2F96-2ACD-F3F4-28B470A0091A}"/>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39</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8328ECEE-A733-BBA8-2686-67AE53F8FC50}"/>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39</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C978E6B8-537C-624D-9A7B-FB7B24F58377}"/>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2289DDF8-85FC-795D-FC96-91190D1C7B61}"/>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3927388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335B8-CCB8-CADC-758F-846316C6AC7B}"/>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70CC142E-C6F5-9272-DA1B-8CE089F2931B}"/>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FF54C886-DACA-9FAF-3621-16CC46DCC1B8}"/>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40</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6E143083-3086-CC37-FA49-69DA0FCB21FC}"/>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40</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46FBA718-D204-6082-010A-86AB806E1FF2}"/>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346562F6-0520-D69C-94C5-38BF1F80BBAE}"/>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7669081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95498-1A78-5CB6-29EE-394BD9613069}"/>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6C014158-3467-F4B6-0799-CE6E2853B125}"/>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07A55C14-B913-0D3F-2CD8-CAA2984ED4CC}"/>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41</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BE4D4549-C120-4439-ACB6-6626620CD7A3}"/>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41</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CAD0E706-89F9-D5DC-4892-3D5769E6CC46}"/>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6577F035-F0D6-CC66-5465-5B606DD7369F}"/>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4625740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82E9E-E475-BEB5-92B0-33EB7588016C}"/>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82EAF240-7A4F-1F01-5B88-59C742549EF8}"/>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380C1038-2552-E7EE-323F-CDC226F795E1}"/>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42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E30BCB1F-FA7F-EE80-1323-71768ED0F589}"/>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42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9D0704C6-17D2-EC0E-10B5-77DE60CC1C82}"/>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4F075B9C-09F7-0FDC-023A-5CD6F756F9FB}"/>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40797174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BD0EF-C448-1FCF-C8EB-388607419835}"/>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4B0D708B-EED9-79D3-A9AE-A5899F5A1361}"/>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137629F1-C785-B922-DD0B-613B1A3127CE}"/>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43</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ABCABD66-88C3-04ED-75C9-404C4C5CF644}"/>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43</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5D3C8DFD-DA69-95C0-A735-08C0B14EDCE7}"/>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6CEBC0A3-892B-2B9E-39D8-133AE3ED6E10}"/>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96042070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B3FFF-E347-36E5-A2C9-421E96B06449}"/>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64DC81D4-215C-D282-6307-F9521F057721}"/>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F8234DB6-DDD2-3E69-AD9F-9268FC9C0F3C}"/>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44</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672F7C73-0552-3239-4AAD-2696C856909A}"/>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44</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34367756-1EA0-FAAC-7883-51CA97AD2BC3}"/>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654C5E70-30DC-3B58-9F37-68F405C1E98E}"/>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409946308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7A22A2-4A0A-8E1B-D564-7E9A1D658E9C}"/>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774B2495-04C7-8652-DD3F-AD34427B711F}"/>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47969E70-DDE8-5B75-2044-7A22DC025908}"/>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45</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2EC84A88-57AD-5806-63E2-B3BF72E13F45}"/>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45</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6F751963-70FF-91BD-8F68-ABFEA575E0B7}"/>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C55E26B5-2F08-9DB1-FDE5-6C838ACB1409}"/>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2962793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8FC2C-ECDB-C861-AEFF-4D901921AFC6}"/>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B1743513-B100-0556-182D-7C8339DF33C8}"/>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7F42CF27-F471-201E-4E94-6AD03D9864A7}"/>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46</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1813AE88-859E-A9A1-0C87-3AF4DEEAE143}"/>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46</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3596C43B-E5D5-3F8B-F048-59BCDA17E8EA}"/>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EAE00C8B-3556-4872-8CF3-A37355A18236}"/>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298757968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0C86C-F9E6-03B4-F590-F9F056EB95D9}"/>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6524565A-E656-EF71-91C0-B8E2AB2091CC}"/>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6553FE85-4E5E-DFDD-5FA7-35CD58C5EB96}"/>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47</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0BA567AF-493F-52EA-7DFD-15768AEA5C12}"/>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47</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C96B9E68-FE7C-DFCC-4292-BA91D90E87B5}"/>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DA1B631E-2269-8991-2F2E-61959085D617}"/>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41420422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9CE67-74C6-E1CD-467C-76EBBCEC1F10}"/>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084B73E1-4F28-FE46-6102-E53312C54BB3}"/>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470DE0F4-0C54-CC48-0341-AD61F2448886}"/>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48</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1071E553-F29C-060B-D3D2-295A994C47A4}"/>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48</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E8D64077-754D-0811-70B9-1C464732FFAE}"/>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8BEC6B42-9AB4-5E36-F3AA-25BA6C3BF099}"/>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42457405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AC742-EFE6-AD83-08C8-4A65862E2BEB}"/>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62D1DA4B-D024-E5E7-45E7-98F5A542A00E}"/>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9E540F74-895E-9E38-8582-9BB7BE95DD14}"/>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49</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FEAFB1A3-C1C3-C8A1-A158-84AE707404C5}"/>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49</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2224E6DE-E725-970A-2514-E4378CA51448}"/>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B647AE36-4F13-8A5B-136E-1B3C80FCD4E9}"/>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315012560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70BDA-9CB0-670A-CC56-1A133543A394}"/>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EEC8E076-9B2F-CC35-2D71-469ADA991D5A}"/>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9B85FD5A-A9C8-7C57-5825-06398BCDBA98}"/>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50</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F74FD0F3-68D4-1EE3-66B7-EC14446EC705}"/>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50</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663F8474-AB89-097D-AB7C-C30CB5B4B020}"/>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BE0CCFEA-E320-9F24-C824-013F12562C69}"/>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3250627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BAF91-D112-0401-955E-189991625175}"/>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A352BFC0-A58F-DAE5-4136-58B11A1404B9}"/>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D463F262-7774-FB30-D122-0CEFFFAEB94C}"/>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51</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7EC4EF96-BA62-C8E9-3EBA-BB477E5C8B8E}"/>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51</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75F0C88C-DD54-E254-6166-2A971E37A04D}"/>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0D5FB5BD-4DC7-174A-F088-4CA3CCFDEED1}"/>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394351974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14A50-5882-AFB8-3B33-11BE4E9DDE97}"/>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3001C56F-7B4C-465B-DA52-D0DC9AD10146}"/>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3C368841-8B7E-06DB-BDC6-6BB4A4567204}"/>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52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D7A312B3-18ED-59EC-09CA-FA25A370D2A7}"/>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52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CC165432-D83B-9DB8-EAEF-BCF8628F8F25}"/>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F72FFEAC-5567-689D-F9E2-30DE08306FF7}"/>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05660798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5EC57-9BD2-A853-8A5E-CE77978C5D12}"/>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4EBAC93C-B83A-37FF-C235-E545E2D76DFF}"/>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58DBA359-2971-0397-8D09-4569185422E4}"/>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53</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018ECF2B-91C3-64E7-A002-14BA99E001A5}"/>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53</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CEADE0DE-E332-5BCA-F3C9-90C120E3BC6E}"/>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55BE4AB6-2B8B-681C-F140-9E83EFE47E69}"/>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202958018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E6D1B-3FE8-F728-8FE1-9CDB24FEE94C}"/>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C5898E6D-24C0-9846-76EF-669025A8D027}"/>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0DD8C1DE-7E63-5D44-E3E1-D67717D7D57A}"/>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54</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85087594-F082-65B9-E2FE-13CB0E944B35}"/>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54</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A6CF1058-31AE-CC84-B33C-2B0289308881}"/>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07E2C115-6F04-85A7-593C-E3B020195A6C}"/>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88460233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957C9-C3C9-726F-F1F5-296DEC248FF3}"/>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CA782A8E-DBD5-45D9-4A8E-4C6EA0E2A8A6}"/>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5757D709-6A71-0550-6EEE-0466E11A4CDC}"/>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55</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54D11698-1205-84C8-998E-20FD4534F893}"/>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55</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FFB032B7-EADE-EDB8-B40A-0A97B1252C89}"/>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ED7B4887-ADE4-A422-C97E-671A1DBEAE6C}"/>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362794723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7E252-0F1C-2679-F672-E8F880F66674}"/>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7954F297-0D36-416B-85B5-C6062E993ED6}"/>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915BB89E-0E31-98C1-AD84-5B49F9C8FAA9}"/>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56</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EFF5DA5D-9BE1-96DE-313F-E1B9E655AA4B}"/>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56</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E0EEDC57-047D-44EE-8B54-A65436B0D7C7}"/>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71D18F61-0A7D-1078-1428-ED835568B02B}"/>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31658224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A15A0-10B8-A6CF-A126-0EAFBFE902CA}"/>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CD63CB95-063E-1B7C-8B80-D4319F16032E}"/>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14ADBA16-B83A-ADD7-9186-32BCE265EEC8}"/>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57</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9436FC73-C408-70C7-525C-62AA13136603}"/>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57</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B81C4CD2-960B-79F9-72A3-A8ED01C02E14}"/>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E11AE49B-EB3D-AEF0-BA17-A2E4D54E8FBA}"/>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60118291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4235-3F70-2CDC-A68A-1F9E164BCBA5}"/>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2F8C1AAA-BDE0-4298-D723-41E11F2F5AFF}"/>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17AE4271-EF07-4C73-D449-131A10088F5E}"/>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58</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5AA1A80F-D023-61C9-1BD1-CB299A074DBD}"/>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58</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1563BA66-CBC4-B0A3-6AE6-2185B97DC86E}"/>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7A58937C-B85F-BFFF-AF37-6E7F8F7CECBC}"/>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76625143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0CF9F-05FE-DEFF-73A9-A740660C84B5}"/>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BCCBBC9C-3EF9-40D2-7B04-E85D34585A16}"/>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4D2049FE-A113-865F-4C77-9C7C63F65EC0}"/>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59</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C1917ADF-C715-BF5A-EAFC-08E6EE6FC356}"/>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59</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03A29F24-31E0-64A7-6F3A-97BCAB23A8FC}"/>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B239A07E-7948-6EE4-0EE1-A911AE924361}"/>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300128594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CC3ED8-93D6-2651-2067-A998A0D3A54E}"/>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B1561A52-30CA-CFFC-2D84-69AC259EE044}"/>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60724D2B-61AD-D8F1-B66C-A792223BA849}"/>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60</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DFDD6700-AAF0-F500-37C1-C6DEA664E469}"/>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60</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2602CC7C-9C1D-BB08-4861-B2D113A90C91}"/>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20B007B0-3A67-823C-FE8C-CBB1E865A163}"/>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234909168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2D4B6-8B53-14B0-2A89-D5277292815D}"/>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DCD20C24-82DF-DFD5-79A1-C9713B44D178}"/>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DE2D53CD-C274-1E5C-AFE6-8AF14D230F53}"/>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61</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F672E75E-5214-D2DE-F219-3D918729A886}"/>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61</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590EBA59-53EF-D743-60BC-4550E289DCF2}"/>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D4D5EE0E-1B1E-CEA2-32C1-3E8A9D082AE5}"/>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35128201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9608C-BF9F-951F-C376-A9C247F864F2}"/>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18D01B3D-9151-4351-4CCF-9DA7CB97B1D8}"/>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57BC91A2-5392-D24D-61BA-69E45D2257EB}"/>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62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FB1C06DD-6810-9682-3D0E-94A449A9BB09}"/>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62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3B518AB4-AAAD-7AC7-6331-6664750C5345}"/>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4FCD7B33-83CE-8283-E9A3-2056B9799856}"/>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234658844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A050C-E5DA-7F6E-4DBA-0E2EBA7FCD3C}"/>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D3BB1F2D-4866-7E8D-0D21-4BD62F87EBF6}"/>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B23F379D-BC1D-427E-9E6A-34327C9C1F1F}"/>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63</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3C5AD242-4F1B-9A85-CD37-8CF8A70AC186}"/>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63</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A0506052-AFD4-C8AF-93D1-2ED978575327}"/>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921AD549-A5B4-A8D5-2F24-F7192EB82A67}"/>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3763405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694C7-9976-5C21-57BB-B26B8880C0F5}"/>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278893BC-32A0-2CA4-7A26-6A6F7498916B}"/>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FB012D81-0CF6-9501-0140-12D1A51E7D78}"/>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64</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7C2C739A-F0EB-E29C-1A9C-B785579688C3}"/>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64</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F8EECFE5-E67D-BF9B-C6CE-6686DD4F1E07}"/>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406A8523-03FE-4D98-F2E2-619A38E555DF}"/>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16466664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AE963-12C2-7E55-E87B-00539912DA28}"/>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953FD6E3-05AD-F893-9662-B7B636B301B9}"/>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2BD5AFE2-49F1-ABF9-B400-95765B12FA2C}"/>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65</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934BA058-9B8A-656E-D36B-A600BE59E5A6}"/>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65</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BA1CCD45-ADD8-930F-2B88-9A1A5B3C3CA8}"/>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E8FF3613-6C8A-B44F-7932-A08467F68FED}"/>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221596945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15C02-297C-A129-BF2D-5A6914107B3D}"/>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5A0CAE36-48F5-1A85-0BFB-F46E2D3535E2}"/>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EAD52227-AE6E-184F-3C78-22093265D962}"/>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66</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A698CE7E-6628-1E26-BF76-7A554DFDD570}"/>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66</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FDFAF013-1715-1674-BBD9-D0701BFE80B1}"/>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33C204D8-3034-FAC5-02AF-B9CC0E2C1F86}"/>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282809260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0ADFE-FBD0-C67C-1063-5B99DA7DCD38}"/>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1FD95AD7-36A0-57C0-49B7-045FA5D48A4B}"/>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16E4BBC1-32C3-539C-64AA-2AA57C89DFF0}"/>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67</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7CE990D0-64E3-D192-B2F7-A93FD5D35D17}"/>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67</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DDE9B049-1D7E-4269-2095-834F7F88F1DD}"/>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2A10345A-EED7-2D17-9C1F-A9B5433E6F6A}"/>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96923201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4AF22-F506-C8EC-84B0-FBD1D5DD2386}"/>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BFC52A35-D21D-931D-0E33-46FDF50703E7}"/>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1B5079CB-0E29-EA1B-132B-E537436E7747}"/>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68</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ABC920B2-B696-33FD-410A-52BF11127444}"/>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68</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16BB67D5-8407-8313-CA16-932C0FA4CCD1}"/>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A702F53B-BBD8-4935-1E5C-52FC34525862}"/>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5536513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E6B6A-4024-CA96-26DF-922D1C4C66F5}"/>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D4BA0A23-6AC8-ECA2-7E01-C4B780644435}"/>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0A3B4630-6A26-A372-CA95-205717E96550}"/>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69</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EAF57835-EA48-1E1F-46FC-0D243A17017E}"/>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69</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90D030D3-3C25-7F6F-464B-8D49B44A7ED0}"/>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8D8F8DB7-A7EB-827C-950B-8E130078E50B}"/>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284391781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13C7A-8136-C191-D378-02EA4B251EDC}"/>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249E73D1-BEFD-9151-D315-FFA93CB353EF}"/>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79CBD684-8D58-30BB-42DE-5AF08ABD004F}"/>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70</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861D53EE-7B07-9CEE-7C8F-6F8C12EABEC4}"/>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70</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1A47E9C3-1979-3287-0294-8B94DA54F8E5}"/>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5577BD9A-90FE-F49D-B932-6ABC1D7A6B4B}"/>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20993663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9AF65-5D8E-6555-5032-4721E208EC4F}"/>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2B25CA0A-0F6A-A55A-D410-4F7EFC68DAC8}"/>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1910E25F-2496-776D-3B13-FBBF77CC94A2}"/>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71</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5F746FB5-52C0-1517-A659-E3473A7354C5}"/>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71</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16FA31FD-987E-B549-934C-63B009917427}"/>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637813EA-BFBD-35EA-D8F8-F17AB1BB6D11}"/>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72136951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64CAF-46E9-9447-16ED-3C145BE366FD}"/>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2292ACBC-058F-3043-7CAA-0D8D83718B69}"/>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9CDA37CB-00C1-8CA4-F2C8-990378AE2278}"/>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72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E1906EC3-2F3A-F14D-CAC3-421F842AF8B1}"/>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72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306533D0-E2E7-FFB7-FC34-7E0DF5B2B785}"/>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5E9DF868-B9B5-3BE3-5AFA-048AEC7AADF4}"/>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174856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A7FFD-10A4-F8B0-1C2F-2D2124E3BFB0}"/>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2437A496-1C6B-6DE3-A34C-0A590E032E00}"/>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3F08B0BC-AE47-77B2-8E5E-63B6F1EF2AF1}"/>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73</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6E76163E-CCE8-6575-46D1-4CE15D1E4048}"/>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73</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A10934E5-2288-4AC2-C345-CFC41A1B42B2}"/>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A65D1F7F-CE00-B7DE-8B0C-59EDA59F02FA}"/>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4234981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22D9C-CB6D-DFB6-AFF6-77B86C6416E3}"/>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D3642745-CC7A-CFE5-D936-E5C114681C14}"/>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A3872DD3-11A6-5F8D-7695-44DE27C01895}"/>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74</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D93AF13F-0810-6CAC-C468-74F5D1DF47CE}"/>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74</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FDC59850-93AA-D11A-8893-F9F5F0F7360F}"/>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D39CC2EE-5F3B-27A3-D909-B38333B03557}"/>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68793965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BBC1A-1739-6AF2-5CC3-5B5376750C80}"/>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CCBF619A-9DB6-CBE3-1E4F-57317330FC64}"/>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B489A766-B35E-60F3-4604-D6346CAAB4C6}"/>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72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9A4145DE-7018-65A5-BDEC-4BA300A72842}"/>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72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C866F872-E7CE-8682-3C6E-0F750B80941B}"/>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8446C6D0-A645-FD0B-6AB6-CEEBB04B4AF7}"/>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1873179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A9FAF-D77B-A65F-E35F-D49AADED2721}"/>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12779FEF-44CF-42AE-0AFF-CAD8A2CB498A}"/>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0DA25CC9-2F19-716E-F4C3-7AA43DC012FA}"/>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76</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BE57DA60-709D-4764-F538-9CC8F10FA85F}"/>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76</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A771B42B-30DA-84CA-EA56-0BE70A6BB560}"/>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721D9208-A6B1-FEB9-88C4-5624CD5916D3}"/>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350662342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F2AA9-2782-DD88-560A-84A98A2B65F5}"/>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37F93E88-A02B-2BC2-C2D2-45162449BE53}"/>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39285ED3-E241-0102-3DCC-6A8AB57EA020}"/>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77</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ACC8B628-F7AE-AF01-A931-FA0E51D56A08}"/>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77</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FC7B5318-0901-0A55-CCF2-3F1647994C40}"/>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EA5EEBC9-0409-57C2-ED9B-5D05FA72FA55}"/>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405582698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D5FA0-5111-16C4-D6A0-FF7ED95FE8D4}"/>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FDE9BC11-F818-0C35-5F9F-46E9EF5B8010}"/>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5544F0A0-6D8F-8763-8299-210ADF75478E}"/>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72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57F006F7-A3DE-7D43-12DE-FC505DB1ABB6}"/>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72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1956331A-0185-7685-67A3-839734BD4EDE}"/>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2B2A8AF7-C6C0-5E68-C6FE-441DCDBFEACD}"/>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275104817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51D53-F432-FA5C-4282-E11CB0D590AD}"/>
            </a:ext>
          </a:extLst>
        </p:cNvPr>
        <p:cNvGrpSpPr/>
        <p:nvPr/>
      </p:nvGrpSpPr>
      <p:grpSpPr>
        <a:xfrm>
          <a:off x="0" y="0"/>
          <a:ext cx="0" cy="0"/>
          <a:chOff x="0" y="0"/>
          <a:chExt cx="0" cy="0"/>
        </a:xfrm>
      </p:grpSpPr>
      <p:sp>
        <p:nvSpPr>
          <p:cNvPr id="2" name="Symbol zastępczy daty 2">
            <a:extLst>
              <a:ext uri="{FF2B5EF4-FFF2-40B4-BE49-F238E27FC236}">
                <a16:creationId xmlns:a16="http://schemas.microsoft.com/office/drawing/2014/main" id="{EEF0FA0B-0639-8C1F-46F6-A5589DC1F312}"/>
              </a:ext>
            </a:extLst>
          </p:cNvPr>
          <p:cNvSpPr txBox="1"/>
          <p:nvPr/>
        </p:nvSpPr>
        <p:spPr>
          <a:xfrm>
            <a:off x="4281485" y="0"/>
            <a:ext cx="3276596" cy="536579"/>
          </a:xfrm>
          <a:prstGeom prst="rect">
            <a:avLst/>
          </a:prstGeom>
          <a:noFill/>
          <a:ln cap="flat">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0C83D9-BEBF-4176-AA6B-21C3082E8A94}" type="datetime1">
              <a:rPr lang="pl-PL" sz="1200" b="0" i="0" u="none" strike="noStrike" kern="1200" cap="none" spc="0" baseline="0">
                <a:solidFill>
                  <a:srgbClr val="000000"/>
                </a:solidFill>
                <a:uFillTx/>
                <a:latin typeface="Calibri"/>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05.06.2026</a:t>
            </a:fld>
            <a:endParaRPr lang="pl-PL" sz="1200" b="0" i="0" u="none" strike="noStrike" kern="1200" cap="none" spc="0" baseline="0">
              <a:solidFill>
                <a:srgbClr val="000000"/>
              </a:solidFill>
              <a:uFillTx/>
              <a:latin typeface="Calibri"/>
            </a:endParaRPr>
          </a:p>
        </p:txBody>
      </p:sp>
      <p:sp>
        <p:nvSpPr>
          <p:cNvPr id="3" name="Symbol zastępczy numeru slajdu 12">
            <a:extLst>
              <a:ext uri="{FF2B5EF4-FFF2-40B4-BE49-F238E27FC236}">
                <a16:creationId xmlns:a16="http://schemas.microsoft.com/office/drawing/2014/main" id="{E1DFDC0C-70C0-CB52-BCFF-C781DEE3DC4B}"/>
              </a:ext>
            </a:extLst>
          </p:cNvPr>
          <p:cNvSpPr txBox="1"/>
          <p:nvPr/>
        </p:nvSpPr>
        <p:spPr>
          <a:xfrm>
            <a:off x="4278962" y="10157402"/>
            <a:ext cx="3280684" cy="534238"/>
          </a:xfrm>
          <a:prstGeom prst="rect">
            <a:avLst/>
          </a:prstGeom>
          <a:noFill/>
          <a:ln cap="flat">
            <a:noFill/>
          </a:ln>
        </p:spPr>
        <p:txBody>
          <a:bodyPr vert="horz" wrap="square" lIns="0" tIns="0" rIns="0" bIns="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18F66426-FF48-46EC-8EB6-28BA781FB6B7}" type="slidenum">
              <a:t>72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4" name="Symbol zastępczy numeru slajdu 6">
            <a:extLst>
              <a:ext uri="{FF2B5EF4-FFF2-40B4-BE49-F238E27FC236}">
                <a16:creationId xmlns:a16="http://schemas.microsoft.com/office/drawing/2014/main" id="{D861C5B7-8891-2E79-04C1-59892288A852}"/>
              </a:ext>
            </a:extLst>
          </p:cNvPr>
          <p:cNvSpPr txBox="1"/>
          <p:nvPr/>
        </p:nvSpPr>
        <p:spPr>
          <a:xfrm>
            <a:off x="4278962" y="10157402"/>
            <a:ext cx="3280684" cy="534238"/>
          </a:xfrm>
          <a:prstGeom prst="rect">
            <a:avLst/>
          </a:prstGeom>
          <a:noFill/>
          <a:ln cap="flat">
            <a:noFill/>
          </a:ln>
        </p:spPr>
        <p:txBody>
          <a:bodyPr vert="horz" wrap="square" lIns="91440" tIns="45720" rIns="91440" bIns="45720" anchor="b" anchorCtr="0" compatLnSpc="1">
            <a:noAutofit/>
          </a:bodyPr>
          <a:lstStyle/>
          <a:p>
            <a:pPr marL="0" marR="0" lvl="0" indent="0" algn="r" defTabSz="914400" rtl="0" fontAlgn="auto" hangingPunct="0">
              <a:lnSpc>
                <a:spcPct val="100000"/>
              </a:lnSpc>
              <a:spcBef>
                <a:spcPts val="0"/>
              </a:spcBef>
              <a:spcAft>
                <a:spcPts val="0"/>
              </a:spcAft>
              <a:buNone/>
              <a:tabLst/>
              <a:defRPr sz="1800" b="0" i="0" u="none" strike="noStrike" kern="0" cap="none" spc="0" baseline="0">
                <a:solidFill>
                  <a:srgbClr val="000000"/>
                </a:solidFill>
                <a:uFillTx/>
              </a:defRPr>
            </a:pPr>
            <a:fld id="{48A19359-A242-4F60-99EA-36C89EBC5616}" type="slidenum">
              <a:t>72</a:t>
            </a:fld>
            <a:endParaRPr lang="pl-PL" sz="1400" b="0" i="0" u="none" strike="noStrike" kern="1200" cap="none" spc="0" baseline="0">
              <a:solidFill>
                <a:srgbClr val="000000"/>
              </a:solidFill>
              <a:uFillTx/>
              <a:latin typeface="Liberation Serif" pitchFamily="18"/>
              <a:ea typeface="DejaVu Sans" pitchFamily="2"/>
              <a:cs typeface="DejaVu Sans" pitchFamily="2"/>
            </a:endParaRPr>
          </a:p>
        </p:txBody>
      </p:sp>
      <p:sp>
        <p:nvSpPr>
          <p:cNvPr id="5" name="Symbol zastępczy obrazu slajdu 1">
            <a:extLst>
              <a:ext uri="{FF2B5EF4-FFF2-40B4-BE49-F238E27FC236}">
                <a16:creationId xmlns:a16="http://schemas.microsoft.com/office/drawing/2014/main" id="{B87F562C-8498-DC66-E525-4E16124304C2}"/>
              </a:ext>
            </a:extLst>
          </p:cNvPr>
          <p:cNvSpPr>
            <a:spLocks noGrp="1" noRot="1" noChangeAspect="1"/>
          </p:cNvSpPr>
          <p:nvPr>
            <p:ph type="sldImg"/>
          </p:nvPr>
        </p:nvSpPr>
        <p:spPr>
          <a:xfrm>
            <a:off x="1106488" y="812800"/>
            <a:ext cx="5346700" cy="4008438"/>
          </a:xfrm>
          <a:solidFill>
            <a:srgbClr val="729FCF"/>
          </a:solidFill>
          <a:ln w="25402">
            <a:solidFill>
              <a:srgbClr val="3465A4"/>
            </a:solidFill>
            <a:prstDash val="solid"/>
          </a:ln>
        </p:spPr>
      </p:sp>
      <p:sp>
        <p:nvSpPr>
          <p:cNvPr id="6" name="Symbol zastępczy notatek 2">
            <a:extLst>
              <a:ext uri="{FF2B5EF4-FFF2-40B4-BE49-F238E27FC236}">
                <a16:creationId xmlns:a16="http://schemas.microsoft.com/office/drawing/2014/main" id="{E908F27D-81F1-0C83-68A7-0C806A9A1FEB}"/>
              </a:ext>
            </a:extLst>
          </p:cNvPr>
          <p:cNvSpPr txBox="1">
            <a:spLocks noGrp="1"/>
          </p:cNvSpPr>
          <p:nvPr>
            <p:ph type="body" sz="quarter" idx="1"/>
          </p:nvPr>
        </p:nvSpPr>
        <p:spPr>
          <a:xfrm>
            <a:off x="755998" y="5078522"/>
            <a:ext cx="6047640" cy="4811042"/>
          </a:xfrm>
        </p:spPr>
        <p:txBody>
          <a:bodyPr lIns="0" tIns="0" rIns="0" bIns="0"/>
          <a:lstStyle/>
          <a:p>
            <a:endParaRPr lang="en-US"/>
          </a:p>
        </p:txBody>
      </p:sp>
    </p:spTree>
    <p:extLst>
      <p:ext uri="{BB962C8B-B14F-4D97-AF65-F5344CB8AC3E}">
        <p14:creationId xmlns:p14="http://schemas.microsoft.com/office/powerpoint/2010/main" val="27678691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ajd tytułowy">
    <p:spTree>
      <p:nvGrpSpPr>
        <p:cNvPr id="1" name=""/>
        <p:cNvGrpSpPr/>
        <p:nvPr/>
      </p:nvGrpSpPr>
      <p:grpSpPr>
        <a:xfrm>
          <a:off x="0" y="0"/>
          <a:ext cx="0" cy="0"/>
          <a:chOff x="0" y="0"/>
          <a:chExt cx="0" cy="0"/>
        </a:xfrm>
      </p:grpSpPr>
      <p:sp>
        <p:nvSpPr>
          <p:cNvPr id="2" name="Tytuł 1"/>
          <p:cNvSpPr txBox="1">
            <a:spLocks noGrp="1"/>
          </p:cNvSpPr>
          <p:nvPr>
            <p:ph type="ctrTitle"/>
          </p:nvPr>
        </p:nvSpPr>
        <p:spPr>
          <a:xfrm>
            <a:off x="1260472" y="1236661"/>
            <a:ext cx="7559673" cy="2632072"/>
          </a:xfrm>
        </p:spPr>
        <p:txBody>
          <a:bodyPr anchor="b"/>
          <a:lstStyle>
            <a:lvl1pPr>
              <a:defRPr sz="6000"/>
            </a:lvl1pPr>
          </a:lstStyle>
          <a:p>
            <a:pPr lvl="0"/>
            <a:r>
              <a:rPr lang="pl-PL"/>
              <a:t>Kliknij, aby edytować styl</a:t>
            </a:r>
          </a:p>
        </p:txBody>
      </p:sp>
      <p:sp>
        <p:nvSpPr>
          <p:cNvPr id="3" name="Podtytuł 2"/>
          <p:cNvSpPr txBox="1">
            <a:spLocks noGrp="1"/>
          </p:cNvSpPr>
          <p:nvPr>
            <p:ph type="subTitle" idx="1"/>
          </p:nvPr>
        </p:nvSpPr>
        <p:spPr>
          <a:xfrm>
            <a:off x="1260472" y="3970333"/>
            <a:ext cx="7559673" cy="1825627"/>
          </a:xfrm>
        </p:spPr>
        <p:txBody>
          <a:bodyPr anchorCtr="1"/>
          <a:lstStyle>
            <a:lvl1pPr algn="ctr">
              <a:defRPr sz="2400"/>
            </a:lvl1pPr>
          </a:lstStyle>
          <a:p>
            <a:pPr lvl="0"/>
            <a:r>
              <a:rPr lang="pl-PL"/>
              <a:t>Kliknij, aby edytować styl wzorca podtytułu</a:t>
            </a:r>
          </a:p>
        </p:txBody>
      </p:sp>
      <p:sp>
        <p:nvSpPr>
          <p:cNvPr id="4" name="Symbol zastępczy daty 3"/>
          <p:cNvSpPr txBox="1">
            <a:spLocks noGrp="1"/>
          </p:cNvSpPr>
          <p:nvPr>
            <p:ph type="dt" sz="half" idx="7"/>
          </p:nvPr>
        </p:nvSpPr>
        <p:spPr/>
        <p:txBody>
          <a:bodyPr/>
          <a:lstStyle>
            <a:lvl1pPr>
              <a:defRPr/>
            </a:lvl1pPr>
          </a:lstStyle>
          <a:p>
            <a:pPr lvl="0"/>
            <a:endParaRPr lang="pl-PL"/>
          </a:p>
        </p:txBody>
      </p:sp>
      <p:sp>
        <p:nvSpPr>
          <p:cNvPr id="5" name="Symbol zastępczy stopki 4"/>
          <p:cNvSpPr txBox="1">
            <a:spLocks noGrp="1"/>
          </p:cNvSpPr>
          <p:nvPr>
            <p:ph type="ftr" sz="quarter" idx="9"/>
          </p:nvPr>
        </p:nvSpPr>
        <p:spPr/>
        <p:txBody>
          <a:bodyPr/>
          <a:lstStyle>
            <a:lvl1pPr>
              <a:defRPr/>
            </a:lvl1pPr>
          </a:lstStyle>
          <a:p>
            <a:pPr lvl="0"/>
            <a:endParaRPr lang="pl-PL"/>
          </a:p>
        </p:txBody>
      </p:sp>
      <p:sp>
        <p:nvSpPr>
          <p:cNvPr id="6" name="Symbol zastępczy numeru slajdu 5"/>
          <p:cNvSpPr txBox="1">
            <a:spLocks noGrp="1"/>
          </p:cNvSpPr>
          <p:nvPr>
            <p:ph type="sldNum" sz="quarter" idx="8"/>
          </p:nvPr>
        </p:nvSpPr>
        <p:spPr/>
        <p:txBody>
          <a:bodyPr/>
          <a:lstStyle>
            <a:lvl1pPr>
              <a:defRPr/>
            </a:lvl1pPr>
          </a:lstStyle>
          <a:p>
            <a:pPr lvl="0"/>
            <a:fld id="{AE7AFE5F-044C-434A-8415-DAC00A6A4664}" type="slidenum">
              <a:t>‹#›</a:t>
            </a:fld>
            <a:endParaRPr lang="pl-PL"/>
          </a:p>
        </p:txBody>
      </p:sp>
    </p:spTree>
    <p:extLst>
      <p:ext uri="{BB962C8B-B14F-4D97-AF65-F5344CB8AC3E}">
        <p14:creationId xmlns:p14="http://schemas.microsoft.com/office/powerpoint/2010/main" val="33491496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ytuł 1"/>
          <p:cNvSpPr txBox="1">
            <a:spLocks noGrp="1"/>
          </p:cNvSpPr>
          <p:nvPr>
            <p:ph type="title"/>
          </p:nvPr>
        </p:nvSpPr>
        <p:spPr/>
        <p:txBody>
          <a:bodyPr/>
          <a:lstStyle>
            <a:lvl1pPr>
              <a:defRPr/>
            </a:lvl1pPr>
          </a:lstStyle>
          <a:p>
            <a:pPr lvl="0"/>
            <a:r>
              <a:rPr lang="pl-PL"/>
              <a:t>Kliknij, aby edytować styl</a:t>
            </a:r>
          </a:p>
        </p:txBody>
      </p:sp>
      <p:sp>
        <p:nvSpPr>
          <p:cNvPr id="3" name="Symbol zastępczy zawartości 2"/>
          <p:cNvSpPr txBox="1">
            <a:spLocks noGrp="1"/>
          </p:cNvSpPr>
          <p:nvPr>
            <p:ph idx="1"/>
          </p:nvPr>
        </p:nvSpPr>
        <p:spPr/>
        <p:txBody>
          <a:bodyPr/>
          <a:lstStyle>
            <a:lvl1pPr>
              <a:defRPr/>
            </a:lvl1pPr>
            <a:lvl2pPr>
              <a:defRPr/>
            </a:lvl2pPr>
            <a:lvl3pPr>
              <a:defRPr/>
            </a:lvl3pPr>
            <a:lvl4pPr>
              <a:defRPr/>
            </a:lvl4pPr>
            <a:lvl5pPr>
              <a:defRPr/>
            </a:lvl5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p:cNvSpPr txBox="1">
            <a:spLocks noGrp="1"/>
          </p:cNvSpPr>
          <p:nvPr>
            <p:ph type="dt" sz="half" idx="7"/>
          </p:nvPr>
        </p:nvSpPr>
        <p:spPr/>
        <p:txBody>
          <a:bodyPr/>
          <a:lstStyle>
            <a:lvl1pPr>
              <a:defRPr/>
            </a:lvl1pPr>
          </a:lstStyle>
          <a:p>
            <a:pPr lvl="0"/>
            <a:endParaRPr lang="pl-PL"/>
          </a:p>
        </p:txBody>
      </p:sp>
      <p:sp>
        <p:nvSpPr>
          <p:cNvPr id="5" name="Symbol zastępczy stopki 4"/>
          <p:cNvSpPr txBox="1">
            <a:spLocks noGrp="1"/>
          </p:cNvSpPr>
          <p:nvPr>
            <p:ph type="ftr" sz="quarter" idx="9"/>
          </p:nvPr>
        </p:nvSpPr>
        <p:spPr/>
        <p:txBody>
          <a:bodyPr/>
          <a:lstStyle>
            <a:lvl1pPr>
              <a:defRPr/>
            </a:lvl1pPr>
          </a:lstStyle>
          <a:p>
            <a:pPr lvl="0"/>
            <a:endParaRPr lang="pl-PL"/>
          </a:p>
        </p:txBody>
      </p:sp>
      <p:sp>
        <p:nvSpPr>
          <p:cNvPr id="6" name="Symbol zastępczy numeru slajdu 5"/>
          <p:cNvSpPr txBox="1">
            <a:spLocks noGrp="1"/>
          </p:cNvSpPr>
          <p:nvPr>
            <p:ph type="sldNum" sz="quarter" idx="8"/>
          </p:nvPr>
        </p:nvSpPr>
        <p:spPr/>
        <p:txBody>
          <a:bodyPr/>
          <a:lstStyle>
            <a:lvl1pPr>
              <a:defRPr/>
            </a:lvl1pPr>
          </a:lstStyle>
          <a:p>
            <a:pPr lvl="0"/>
            <a:fld id="{7CE1390B-D65C-40CB-AB65-D7E7DB2835B8}" type="slidenum">
              <a:t>‹#›</a:t>
            </a:fld>
            <a:endParaRPr lang="pl-PL"/>
          </a:p>
        </p:txBody>
      </p:sp>
    </p:spTree>
    <p:extLst>
      <p:ext uri="{BB962C8B-B14F-4D97-AF65-F5344CB8AC3E}">
        <p14:creationId xmlns:p14="http://schemas.microsoft.com/office/powerpoint/2010/main" val="3300099980"/>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ytuł 1"/>
          <p:cNvSpPr txBox="1">
            <a:spLocks noGrp="1"/>
          </p:cNvSpPr>
          <p:nvPr>
            <p:ph type="title"/>
          </p:nvPr>
        </p:nvSpPr>
        <p:spPr>
          <a:xfrm>
            <a:off x="687391" y="1884358"/>
            <a:ext cx="8694736" cy="3144841"/>
          </a:xfrm>
        </p:spPr>
        <p:txBody>
          <a:bodyPr anchor="b"/>
          <a:lstStyle>
            <a:lvl1pPr>
              <a:defRPr sz="6000"/>
            </a:lvl1pPr>
          </a:lstStyle>
          <a:p>
            <a:pPr lvl="0"/>
            <a:r>
              <a:rPr lang="pl-PL"/>
              <a:t>Kliknij, aby edytować styl</a:t>
            </a:r>
          </a:p>
        </p:txBody>
      </p:sp>
      <p:sp>
        <p:nvSpPr>
          <p:cNvPr id="3" name="Symbol zastępczy tekstu 2"/>
          <p:cNvSpPr txBox="1">
            <a:spLocks noGrp="1"/>
          </p:cNvSpPr>
          <p:nvPr>
            <p:ph type="body" idx="1"/>
          </p:nvPr>
        </p:nvSpPr>
        <p:spPr>
          <a:xfrm>
            <a:off x="687391" y="5059366"/>
            <a:ext cx="8694736" cy="1652585"/>
          </a:xfrm>
        </p:spPr>
        <p:txBody>
          <a:bodyPr/>
          <a:lstStyle>
            <a:lvl1pPr>
              <a:defRPr sz="2400">
                <a:solidFill>
                  <a:srgbClr val="898989"/>
                </a:solidFill>
              </a:defRPr>
            </a:lvl1pPr>
          </a:lstStyle>
          <a:p>
            <a:pPr lvl="0"/>
            <a:r>
              <a:rPr lang="pl-PL"/>
              <a:t>Kliknij, aby edytować style wzorca tekstu</a:t>
            </a:r>
          </a:p>
        </p:txBody>
      </p:sp>
      <p:sp>
        <p:nvSpPr>
          <p:cNvPr id="4" name="Symbol zastępczy daty 3"/>
          <p:cNvSpPr txBox="1">
            <a:spLocks noGrp="1"/>
          </p:cNvSpPr>
          <p:nvPr>
            <p:ph type="dt" sz="half" idx="7"/>
          </p:nvPr>
        </p:nvSpPr>
        <p:spPr/>
        <p:txBody>
          <a:bodyPr/>
          <a:lstStyle>
            <a:lvl1pPr>
              <a:defRPr/>
            </a:lvl1pPr>
          </a:lstStyle>
          <a:p>
            <a:pPr lvl="0"/>
            <a:endParaRPr lang="pl-PL"/>
          </a:p>
        </p:txBody>
      </p:sp>
      <p:sp>
        <p:nvSpPr>
          <p:cNvPr id="5" name="Symbol zastępczy stopki 4"/>
          <p:cNvSpPr txBox="1">
            <a:spLocks noGrp="1"/>
          </p:cNvSpPr>
          <p:nvPr>
            <p:ph type="ftr" sz="quarter" idx="9"/>
          </p:nvPr>
        </p:nvSpPr>
        <p:spPr/>
        <p:txBody>
          <a:bodyPr/>
          <a:lstStyle>
            <a:lvl1pPr>
              <a:defRPr/>
            </a:lvl1pPr>
          </a:lstStyle>
          <a:p>
            <a:pPr lvl="0"/>
            <a:endParaRPr lang="pl-PL"/>
          </a:p>
        </p:txBody>
      </p:sp>
      <p:sp>
        <p:nvSpPr>
          <p:cNvPr id="6" name="Symbol zastępczy numeru slajdu 5"/>
          <p:cNvSpPr txBox="1">
            <a:spLocks noGrp="1"/>
          </p:cNvSpPr>
          <p:nvPr>
            <p:ph type="sldNum" sz="quarter" idx="8"/>
          </p:nvPr>
        </p:nvSpPr>
        <p:spPr/>
        <p:txBody>
          <a:bodyPr/>
          <a:lstStyle>
            <a:lvl1pPr>
              <a:defRPr/>
            </a:lvl1pPr>
          </a:lstStyle>
          <a:p>
            <a:pPr lvl="0"/>
            <a:fld id="{E447D3B7-DC24-4045-B782-CBF73C9CD6AE}" type="slidenum">
              <a:t>‹#›</a:t>
            </a:fld>
            <a:endParaRPr lang="pl-PL"/>
          </a:p>
        </p:txBody>
      </p:sp>
    </p:spTree>
    <p:extLst>
      <p:ext uri="{BB962C8B-B14F-4D97-AF65-F5344CB8AC3E}">
        <p14:creationId xmlns:p14="http://schemas.microsoft.com/office/powerpoint/2010/main" val="1646412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ytuł 1"/>
          <p:cNvSpPr txBox="1">
            <a:spLocks noGrp="1"/>
          </p:cNvSpPr>
          <p:nvPr>
            <p:ph type="title"/>
          </p:nvPr>
        </p:nvSpPr>
        <p:spPr/>
        <p:txBody>
          <a:bodyPr/>
          <a:lstStyle>
            <a:lvl1pPr>
              <a:defRPr/>
            </a:lvl1pPr>
          </a:lstStyle>
          <a:p>
            <a:pPr lvl="0"/>
            <a:r>
              <a:rPr lang="pl-PL"/>
              <a:t>Kliknij, aby edytować styl</a:t>
            </a:r>
          </a:p>
        </p:txBody>
      </p:sp>
      <p:sp>
        <p:nvSpPr>
          <p:cNvPr id="3" name="Symbol zastępczy zawartości 2"/>
          <p:cNvSpPr txBox="1">
            <a:spLocks noGrp="1"/>
          </p:cNvSpPr>
          <p:nvPr>
            <p:ph idx="1"/>
          </p:nvPr>
        </p:nvSpPr>
        <p:spPr>
          <a:xfrm>
            <a:off x="503240" y="1768477"/>
            <a:ext cx="4459291" cy="4384676"/>
          </a:xfrm>
        </p:spPr>
        <p:txBody>
          <a:bodyPr/>
          <a:lstStyle>
            <a:lvl1pPr>
              <a:defRPr/>
            </a:lvl1pPr>
            <a:lvl2pPr>
              <a:defRPr/>
            </a:lvl2pPr>
            <a:lvl3pPr>
              <a:defRPr/>
            </a:lvl3pPr>
            <a:lvl4pPr>
              <a:defRPr/>
            </a:lvl4pPr>
            <a:lvl5pPr>
              <a:defRPr/>
            </a:lvl5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zawartości 3"/>
          <p:cNvSpPr txBox="1">
            <a:spLocks noGrp="1"/>
          </p:cNvSpPr>
          <p:nvPr>
            <p:ph idx="2"/>
          </p:nvPr>
        </p:nvSpPr>
        <p:spPr>
          <a:xfrm>
            <a:off x="5114925" y="1768477"/>
            <a:ext cx="4460872" cy="4384676"/>
          </a:xfrm>
        </p:spPr>
        <p:txBody>
          <a:bodyPr/>
          <a:lstStyle>
            <a:lvl1pPr>
              <a:defRPr/>
            </a:lvl1pPr>
            <a:lvl2pPr>
              <a:defRPr/>
            </a:lvl2pPr>
            <a:lvl3pPr>
              <a:defRPr/>
            </a:lvl3pPr>
            <a:lvl4pPr>
              <a:defRPr/>
            </a:lvl4pPr>
            <a:lvl5pPr>
              <a:defRPr/>
            </a:lvl5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5" name="Symbol zastępczy daty 4"/>
          <p:cNvSpPr txBox="1">
            <a:spLocks noGrp="1"/>
          </p:cNvSpPr>
          <p:nvPr>
            <p:ph type="dt" sz="half" idx="7"/>
          </p:nvPr>
        </p:nvSpPr>
        <p:spPr/>
        <p:txBody>
          <a:bodyPr/>
          <a:lstStyle>
            <a:lvl1pPr>
              <a:defRPr/>
            </a:lvl1pPr>
          </a:lstStyle>
          <a:p>
            <a:pPr lvl="0"/>
            <a:endParaRPr lang="pl-PL"/>
          </a:p>
        </p:txBody>
      </p:sp>
      <p:sp>
        <p:nvSpPr>
          <p:cNvPr id="6" name="Symbol zastępczy stopki 5"/>
          <p:cNvSpPr txBox="1">
            <a:spLocks noGrp="1"/>
          </p:cNvSpPr>
          <p:nvPr>
            <p:ph type="ftr" sz="quarter" idx="9"/>
          </p:nvPr>
        </p:nvSpPr>
        <p:spPr/>
        <p:txBody>
          <a:bodyPr/>
          <a:lstStyle>
            <a:lvl1pPr>
              <a:defRPr/>
            </a:lvl1pPr>
          </a:lstStyle>
          <a:p>
            <a:pPr lvl="0"/>
            <a:endParaRPr lang="pl-PL"/>
          </a:p>
        </p:txBody>
      </p:sp>
      <p:sp>
        <p:nvSpPr>
          <p:cNvPr id="7" name="Symbol zastępczy numeru slajdu 6"/>
          <p:cNvSpPr txBox="1">
            <a:spLocks noGrp="1"/>
          </p:cNvSpPr>
          <p:nvPr>
            <p:ph type="sldNum" sz="quarter" idx="8"/>
          </p:nvPr>
        </p:nvSpPr>
        <p:spPr/>
        <p:txBody>
          <a:bodyPr/>
          <a:lstStyle>
            <a:lvl1pPr>
              <a:defRPr/>
            </a:lvl1pPr>
          </a:lstStyle>
          <a:p>
            <a:pPr lvl="0"/>
            <a:fld id="{07CA28E0-9FB4-48C8-8F1B-A1F9983263C8}" type="slidenum">
              <a:t>‹#›</a:t>
            </a:fld>
            <a:endParaRPr lang="pl-PL"/>
          </a:p>
        </p:txBody>
      </p:sp>
    </p:spTree>
    <p:extLst>
      <p:ext uri="{BB962C8B-B14F-4D97-AF65-F5344CB8AC3E}">
        <p14:creationId xmlns:p14="http://schemas.microsoft.com/office/powerpoint/2010/main" val="31779977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ytuł 1"/>
          <p:cNvSpPr txBox="1">
            <a:spLocks noGrp="1"/>
          </p:cNvSpPr>
          <p:nvPr>
            <p:ph type="title"/>
          </p:nvPr>
        </p:nvSpPr>
        <p:spPr>
          <a:xfrm>
            <a:off x="693736" y="403222"/>
            <a:ext cx="8694736" cy="1460497"/>
          </a:xfrm>
        </p:spPr>
        <p:txBody>
          <a:bodyPr/>
          <a:lstStyle>
            <a:lvl1pPr>
              <a:defRPr/>
            </a:lvl1pPr>
          </a:lstStyle>
          <a:p>
            <a:pPr lvl="0"/>
            <a:r>
              <a:rPr lang="pl-PL"/>
              <a:t>Kliknij, aby edytować styl</a:t>
            </a:r>
          </a:p>
        </p:txBody>
      </p:sp>
      <p:sp>
        <p:nvSpPr>
          <p:cNvPr id="3" name="Symbol zastępczy tekstu 2"/>
          <p:cNvSpPr txBox="1">
            <a:spLocks noGrp="1"/>
          </p:cNvSpPr>
          <p:nvPr>
            <p:ph type="body" idx="1"/>
          </p:nvPr>
        </p:nvSpPr>
        <p:spPr>
          <a:xfrm>
            <a:off x="693736" y="1852610"/>
            <a:ext cx="4265611" cy="908054"/>
          </a:xfrm>
        </p:spPr>
        <p:txBody>
          <a:bodyPr anchor="b"/>
          <a:lstStyle>
            <a:lvl1pPr>
              <a:defRPr sz="2400" b="1"/>
            </a:lvl1pPr>
          </a:lstStyle>
          <a:p>
            <a:pPr lvl="0"/>
            <a:r>
              <a:rPr lang="pl-PL"/>
              <a:t>Kliknij, aby edytować style wzorca tekstu</a:t>
            </a:r>
          </a:p>
        </p:txBody>
      </p:sp>
      <p:sp>
        <p:nvSpPr>
          <p:cNvPr id="4" name="Symbol zastępczy zawartości 3"/>
          <p:cNvSpPr txBox="1">
            <a:spLocks noGrp="1"/>
          </p:cNvSpPr>
          <p:nvPr>
            <p:ph idx="2"/>
          </p:nvPr>
        </p:nvSpPr>
        <p:spPr>
          <a:xfrm>
            <a:off x="693736" y="2760665"/>
            <a:ext cx="4265611" cy="4062414"/>
          </a:xfrm>
        </p:spPr>
        <p:txBody>
          <a:bodyPr/>
          <a:lstStyle>
            <a:lvl1pPr>
              <a:defRPr/>
            </a:lvl1pPr>
            <a:lvl2pPr>
              <a:defRPr/>
            </a:lvl2pPr>
            <a:lvl3pPr>
              <a:defRPr/>
            </a:lvl3pPr>
            <a:lvl4pPr>
              <a:defRPr/>
            </a:lvl4pPr>
            <a:lvl5pPr>
              <a:defRPr/>
            </a:lvl5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5" name="Symbol zastępczy tekstu 4"/>
          <p:cNvSpPr txBox="1">
            <a:spLocks noGrp="1"/>
          </p:cNvSpPr>
          <p:nvPr>
            <p:ph type="body" idx="3"/>
          </p:nvPr>
        </p:nvSpPr>
        <p:spPr>
          <a:xfrm>
            <a:off x="5103815" y="1852610"/>
            <a:ext cx="4284658" cy="908054"/>
          </a:xfrm>
        </p:spPr>
        <p:txBody>
          <a:bodyPr anchor="b"/>
          <a:lstStyle>
            <a:lvl1pPr>
              <a:defRPr sz="2400" b="1"/>
            </a:lvl1pPr>
          </a:lstStyle>
          <a:p>
            <a:pPr lvl="0"/>
            <a:r>
              <a:rPr lang="pl-PL"/>
              <a:t>Kliknij, aby edytować style wzorca tekstu</a:t>
            </a:r>
          </a:p>
        </p:txBody>
      </p:sp>
      <p:sp>
        <p:nvSpPr>
          <p:cNvPr id="6" name="Symbol zastępczy zawartości 5"/>
          <p:cNvSpPr txBox="1">
            <a:spLocks noGrp="1"/>
          </p:cNvSpPr>
          <p:nvPr>
            <p:ph idx="4"/>
          </p:nvPr>
        </p:nvSpPr>
        <p:spPr>
          <a:xfrm>
            <a:off x="5103815" y="2760665"/>
            <a:ext cx="4284658" cy="4062414"/>
          </a:xfrm>
        </p:spPr>
        <p:txBody>
          <a:bodyPr/>
          <a:lstStyle>
            <a:lvl1pPr>
              <a:defRPr/>
            </a:lvl1pPr>
            <a:lvl2pPr>
              <a:defRPr/>
            </a:lvl2pPr>
            <a:lvl3pPr>
              <a:defRPr/>
            </a:lvl3pPr>
            <a:lvl4pPr>
              <a:defRPr/>
            </a:lvl4pPr>
            <a:lvl5pPr>
              <a:defRPr/>
            </a:lvl5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7" name="Symbol zastępczy daty 6"/>
          <p:cNvSpPr txBox="1">
            <a:spLocks noGrp="1"/>
          </p:cNvSpPr>
          <p:nvPr>
            <p:ph type="dt" sz="half" idx="7"/>
          </p:nvPr>
        </p:nvSpPr>
        <p:spPr/>
        <p:txBody>
          <a:bodyPr/>
          <a:lstStyle>
            <a:lvl1pPr>
              <a:defRPr/>
            </a:lvl1pPr>
          </a:lstStyle>
          <a:p>
            <a:pPr lvl="0"/>
            <a:endParaRPr lang="pl-PL"/>
          </a:p>
        </p:txBody>
      </p:sp>
      <p:sp>
        <p:nvSpPr>
          <p:cNvPr id="8" name="Symbol zastępczy stopki 7"/>
          <p:cNvSpPr txBox="1">
            <a:spLocks noGrp="1"/>
          </p:cNvSpPr>
          <p:nvPr>
            <p:ph type="ftr" sz="quarter" idx="9"/>
          </p:nvPr>
        </p:nvSpPr>
        <p:spPr/>
        <p:txBody>
          <a:bodyPr/>
          <a:lstStyle>
            <a:lvl1pPr>
              <a:defRPr/>
            </a:lvl1pPr>
          </a:lstStyle>
          <a:p>
            <a:pPr lvl="0"/>
            <a:endParaRPr lang="pl-PL"/>
          </a:p>
        </p:txBody>
      </p:sp>
      <p:sp>
        <p:nvSpPr>
          <p:cNvPr id="9" name="Symbol zastępczy numeru slajdu 8"/>
          <p:cNvSpPr txBox="1">
            <a:spLocks noGrp="1"/>
          </p:cNvSpPr>
          <p:nvPr>
            <p:ph type="sldNum" sz="quarter" idx="8"/>
          </p:nvPr>
        </p:nvSpPr>
        <p:spPr/>
        <p:txBody>
          <a:bodyPr/>
          <a:lstStyle>
            <a:lvl1pPr>
              <a:defRPr/>
            </a:lvl1pPr>
          </a:lstStyle>
          <a:p>
            <a:pPr lvl="0"/>
            <a:fld id="{359D6B7F-2133-41CC-8473-A2046F58E2D6}" type="slidenum">
              <a:t>‹#›</a:t>
            </a:fld>
            <a:endParaRPr lang="pl-PL"/>
          </a:p>
        </p:txBody>
      </p:sp>
    </p:spTree>
    <p:extLst>
      <p:ext uri="{BB962C8B-B14F-4D97-AF65-F5344CB8AC3E}">
        <p14:creationId xmlns:p14="http://schemas.microsoft.com/office/powerpoint/2010/main" val="41020531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ytuł 1"/>
          <p:cNvSpPr txBox="1">
            <a:spLocks noGrp="1"/>
          </p:cNvSpPr>
          <p:nvPr>
            <p:ph type="title"/>
          </p:nvPr>
        </p:nvSpPr>
        <p:spPr/>
        <p:txBody>
          <a:bodyPr/>
          <a:lstStyle>
            <a:lvl1pPr>
              <a:defRPr/>
            </a:lvl1pPr>
          </a:lstStyle>
          <a:p>
            <a:pPr lvl="0"/>
            <a:r>
              <a:rPr lang="pl-PL"/>
              <a:t>Kliknij, aby edytować styl</a:t>
            </a:r>
          </a:p>
        </p:txBody>
      </p:sp>
      <p:sp>
        <p:nvSpPr>
          <p:cNvPr id="3" name="Symbol zastępczy daty 2"/>
          <p:cNvSpPr txBox="1">
            <a:spLocks noGrp="1"/>
          </p:cNvSpPr>
          <p:nvPr>
            <p:ph type="dt" sz="half" idx="7"/>
          </p:nvPr>
        </p:nvSpPr>
        <p:spPr/>
        <p:txBody>
          <a:bodyPr/>
          <a:lstStyle>
            <a:lvl1pPr>
              <a:defRPr/>
            </a:lvl1pPr>
          </a:lstStyle>
          <a:p>
            <a:pPr lvl="0"/>
            <a:endParaRPr lang="pl-PL"/>
          </a:p>
        </p:txBody>
      </p:sp>
      <p:sp>
        <p:nvSpPr>
          <p:cNvPr id="4" name="Symbol zastępczy stopki 3"/>
          <p:cNvSpPr txBox="1">
            <a:spLocks noGrp="1"/>
          </p:cNvSpPr>
          <p:nvPr>
            <p:ph type="ftr" sz="quarter" idx="9"/>
          </p:nvPr>
        </p:nvSpPr>
        <p:spPr/>
        <p:txBody>
          <a:bodyPr/>
          <a:lstStyle>
            <a:lvl1pPr>
              <a:defRPr/>
            </a:lvl1pPr>
          </a:lstStyle>
          <a:p>
            <a:pPr lvl="0"/>
            <a:endParaRPr lang="pl-PL"/>
          </a:p>
        </p:txBody>
      </p:sp>
      <p:sp>
        <p:nvSpPr>
          <p:cNvPr id="5" name="Symbol zastępczy numeru slajdu 4"/>
          <p:cNvSpPr txBox="1">
            <a:spLocks noGrp="1"/>
          </p:cNvSpPr>
          <p:nvPr>
            <p:ph type="sldNum" sz="quarter" idx="8"/>
          </p:nvPr>
        </p:nvSpPr>
        <p:spPr/>
        <p:txBody>
          <a:bodyPr/>
          <a:lstStyle>
            <a:lvl1pPr>
              <a:defRPr/>
            </a:lvl1pPr>
          </a:lstStyle>
          <a:p>
            <a:pPr lvl="0"/>
            <a:fld id="{B33B3330-47D9-4218-8E09-BA4C698C78B9}" type="slidenum">
              <a:t>‹#›</a:t>
            </a:fld>
            <a:endParaRPr lang="pl-PL"/>
          </a:p>
        </p:txBody>
      </p:sp>
    </p:spTree>
    <p:extLst>
      <p:ext uri="{BB962C8B-B14F-4D97-AF65-F5344CB8AC3E}">
        <p14:creationId xmlns:p14="http://schemas.microsoft.com/office/powerpoint/2010/main" val="29338636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Symbol zastępczy daty 1"/>
          <p:cNvSpPr txBox="1">
            <a:spLocks noGrp="1"/>
          </p:cNvSpPr>
          <p:nvPr>
            <p:ph type="dt" sz="half" idx="7"/>
          </p:nvPr>
        </p:nvSpPr>
        <p:spPr/>
        <p:txBody>
          <a:bodyPr/>
          <a:lstStyle>
            <a:lvl1pPr>
              <a:defRPr/>
            </a:lvl1pPr>
          </a:lstStyle>
          <a:p>
            <a:pPr lvl="0"/>
            <a:endParaRPr lang="pl-PL"/>
          </a:p>
        </p:txBody>
      </p:sp>
      <p:sp>
        <p:nvSpPr>
          <p:cNvPr id="3" name="Symbol zastępczy stopki 2"/>
          <p:cNvSpPr txBox="1">
            <a:spLocks noGrp="1"/>
          </p:cNvSpPr>
          <p:nvPr>
            <p:ph type="ftr" sz="quarter" idx="9"/>
          </p:nvPr>
        </p:nvSpPr>
        <p:spPr/>
        <p:txBody>
          <a:bodyPr/>
          <a:lstStyle>
            <a:lvl1pPr>
              <a:defRPr/>
            </a:lvl1pPr>
          </a:lstStyle>
          <a:p>
            <a:pPr lvl="0"/>
            <a:endParaRPr lang="pl-PL"/>
          </a:p>
        </p:txBody>
      </p:sp>
      <p:sp>
        <p:nvSpPr>
          <p:cNvPr id="4" name="Symbol zastępczy numeru slajdu 3"/>
          <p:cNvSpPr txBox="1">
            <a:spLocks noGrp="1"/>
          </p:cNvSpPr>
          <p:nvPr>
            <p:ph type="sldNum" sz="quarter" idx="8"/>
          </p:nvPr>
        </p:nvSpPr>
        <p:spPr/>
        <p:txBody>
          <a:bodyPr/>
          <a:lstStyle>
            <a:lvl1pPr>
              <a:defRPr/>
            </a:lvl1pPr>
          </a:lstStyle>
          <a:p>
            <a:pPr lvl="0"/>
            <a:fld id="{2BCAD5DC-AFA5-4200-ADBB-3C13A7F6D7FD}" type="slidenum">
              <a:t>‹#›</a:t>
            </a:fld>
            <a:endParaRPr lang="pl-PL"/>
          </a:p>
        </p:txBody>
      </p:sp>
    </p:spTree>
    <p:extLst>
      <p:ext uri="{BB962C8B-B14F-4D97-AF65-F5344CB8AC3E}">
        <p14:creationId xmlns:p14="http://schemas.microsoft.com/office/powerpoint/2010/main" val="207596506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ytuł 1"/>
          <p:cNvSpPr txBox="1">
            <a:spLocks noGrp="1"/>
          </p:cNvSpPr>
          <p:nvPr>
            <p:ph type="title"/>
          </p:nvPr>
        </p:nvSpPr>
        <p:spPr>
          <a:xfrm>
            <a:off x="693736" y="503240"/>
            <a:ext cx="3251204" cy="1765304"/>
          </a:xfrm>
        </p:spPr>
        <p:txBody>
          <a:bodyPr anchor="b"/>
          <a:lstStyle>
            <a:lvl1pPr>
              <a:defRPr sz="3200"/>
            </a:lvl1pPr>
          </a:lstStyle>
          <a:p>
            <a:pPr lvl="0"/>
            <a:r>
              <a:rPr lang="pl-PL"/>
              <a:t>Kliknij, aby edytować styl</a:t>
            </a:r>
          </a:p>
        </p:txBody>
      </p:sp>
      <p:sp>
        <p:nvSpPr>
          <p:cNvPr id="3" name="Symbol zastępczy zawartości 2"/>
          <p:cNvSpPr txBox="1">
            <a:spLocks noGrp="1"/>
          </p:cNvSpPr>
          <p:nvPr>
            <p:ph idx="1"/>
          </p:nvPr>
        </p:nvSpPr>
        <p:spPr>
          <a:xfrm>
            <a:off x="4286249" y="1089022"/>
            <a:ext cx="5102223" cy="5372100"/>
          </a:xfrm>
        </p:spPr>
        <p:txBody>
          <a:bodyPr/>
          <a:lstStyle>
            <a:lvl1pPr>
              <a:defRPr sz="3200"/>
            </a:lvl1pPr>
            <a:lvl2pPr>
              <a:defRPr sz="2800"/>
            </a:lvl2pPr>
            <a:lvl3pPr>
              <a:defRPr sz="2400"/>
            </a:lvl3pPr>
            <a:lvl4pPr>
              <a:defRPr sz="2000"/>
            </a:lvl4pPr>
            <a:lvl5pPr>
              <a:defRPr sz="2000"/>
            </a:lvl5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tekstu 3"/>
          <p:cNvSpPr txBox="1">
            <a:spLocks noGrp="1"/>
          </p:cNvSpPr>
          <p:nvPr>
            <p:ph type="body" idx="2"/>
          </p:nvPr>
        </p:nvSpPr>
        <p:spPr>
          <a:xfrm>
            <a:off x="693736" y="2268534"/>
            <a:ext cx="3251204" cy="4200525"/>
          </a:xfrm>
        </p:spPr>
        <p:txBody>
          <a:bodyPr/>
          <a:lstStyle>
            <a:lvl1pPr>
              <a:defRPr sz="1600"/>
            </a:lvl1pPr>
          </a:lstStyle>
          <a:p>
            <a:pPr lvl="0"/>
            <a:r>
              <a:rPr lang="pl-PL"/>
              <a:t>Kliknij, aby edytować style wzorca tekstu</a:t>
            </a:r>
          </a:p>
        </p:txBody>
      </p:sp>
      <p:sp>
        <p:nvSpPr>
          <p:cNvPr id="5" name="Symbol zastępczy daty 4"/>
          <p:cNvSpPr txBox="1">
            <a:spLocks noGrp="1"/>
          </p:cNvSpPr>
          <p:nvPr>
            <p:ph type="dt" sz="half" idx="7"/>
          </p:nvPr>
        </p:nvSpPr>
        <p:spPr/>
        <p:txBody>
          <a:bodyPr/>
          <a:lstStyle>
            <a:lvl1pPr>
              <a:defRPr/>
            </a:lvl1pPr>
          </a:lstStyle>
          <a:p>
            <a:pPr lvl="0"/>
            <a:endParaRPr lang="pl-PL"/>
          </a:p>
        </p:txBody>
      </p:sp>
      <p:sp>
        <p:nvSpPr>
          <p:cNvPr id="6" name="Symbol zastępczy stopki 5"/>
          <p:cNvSpPr txBox="1">
            <a:spLocks noGrp="1"/>
          </p:cNvSpPr>
          <p:nvPr>
            <p:ph type="ftr" sz="quarter" idx="9"/>
          </p:nvPr>
        </p:nvSpPr>
        <p:spPr/>
        <p:txBody>
          <a:bodyPr/>
          <a:lstStyle>
            <a:lvl1pPr>
              <a:defRPr/>
            </a:lvl1pPr>
          </a:lstStyle>
          <a:p>
            <a:pPr lvl="0"/>
            <a:endParaRPr lang="pl-PL"/>
          </a:p>
        </p:txBody>
      </p:sp>
      <p:sp>
        <p:nvSpPr>
          <p:cNvPr id="7" name="Symbol zastępczy numeru slajdu 6"/>
          <p:cNvSpPr txBox="1">
            <a:spLocks noGrp="1"/>
          </p:cNvSpPr>
          <p:nvPr>
            <p:ph type="sldNum" sz="quarter" idx="8"/>
          </p:nvPr>
        </p:nvSpPr>
        <p:spPr/>
        <p:txBody>
          <a:bodyPr/>
          <a:lstStyle>
            <a:lvl1pPr>
              <a:defRPr/>
            </a:lvl1pPr>
          </a:lstStyle>
          <a:p>
            <a:pPr lvl="0"/>
            <a:fld id="{78BE578D-C945-437B-8FF0-043BBC46A506}" type="slidenum">
              <a:t>‹#›</a:t>
            </a:fld>
            <a:endParaRPr lang="pl-PL"/>
          </a:p>
        </p:txBody>
      </p:sp>
    </p:spTree>
    <p:extLst>
      <p:ext uri="{BB962C8B-B14F-4D97-AF65-F5344CB8AC3E}">
        <p14:creationId xmlns:p14="http://schemas.microsoft.com/office/powerpoint/2010/main" val="25423017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ytuł 1"/>
          <p:cNvSpPr txBox="1">
            <a:spLocks noGrp="1"/>
          </p:cNvSpPr>
          <p:nvPr>
            <p:ph type="title"/>
          </p:nvPr>
        </p:nvSpPr>
        <p:spPr>
          <a:xfrm>
            <a:off x="693736" y="503240"/>
            <a:ext cx="3251204" cy="1765304"/>
          </a:xfrm>
        </p:spPr>
        <p:txBody>
          <a:bodyPr anchor="b"/>
          <a:lstStyle>
            <a:lvl1pPr>
              <a:defRPr sz="3200"/>
            </a:lvl1pPr>
          </a:lstStyle>
          <a:p>
            <a:pPr lvl="0"/>
            <a:r>
              <a:rPr lang="pl-PL"/>
              <a:t>Kliknij, aby edytować styl</a:t>
            </a:r>
          </a:p>
        </p:txBody>
      </p:sp>
      <p:sp>
        <p:nvSpPr>
          <p:cNvPr id="3" name="Symbol zastępczy obrazu 2"/>
          <p:cNvSpPr txBox="1">
            <a:spLocks noGrp="1"/>
          </p:cNvSpPr>
          <p:nvPr>
            <p:ph type="pic" idx="1"/>
          </p:nvPr>
        </p:nvSpPr>
        <p:spPr>
          <a:xfrm>
            <a:off x="4286249" y="1089022"/>
            <a:ext cx="5102223" cy="5372100"/>
          </a:xfrm>
        </p:spPr>
        <p:txBody>
          <a:bodyPr/>
          <a:lstStyle>
            <a:lvl1pPr>
              <a:defRPr sz="3200"/>
            </a:lvl1pPr>
          </a:lstStyle>
          <a:p>
            <a:pPr lvl="0"/>
            <a:endParaRPr lang="pl-PL"/>
          </a:p>
        </p:txBody>
      </p:sp>
      <p:sp>
        <p:nvSpPr>
          <p:cNvPr id="4" name="Symbol zastępczy tekstu 3"/>
          <p:cNvSpPr txBox="1">
            <a:spLocks noGrp="1"/>
          </p:cNvSpPr>
          <p:nvPr>
            <p:ph type="body" idx="2"/>
          </p:nvPr>
        </p:nvSpPr>
        <p:spPr>
          <a:xfrm>
            <a:off x="693736" y="2268534"/>
            <a:ext cx="3251204" cy="4200525"/>
          </a:xfrm>
        </p:spPr>
        <p:txBody>
          <a:bodyPr/>
          <a:lstStyle>
            <a:lvl1pPr>
              <a:defRPr sz="1600"/>
            </a:lvl1pPr>
          </a:lstStyle>
          <a:p>
            <a:pPr lvl="0"/>
            <a:r>
              <a:rPr lang="pl-PL"/>
              <a:t>Kliknij, aby edytować style wzorca tekstu</a:t>
            </a:r>
          </a:p>
        </p:txBody>
      </p:sp>
      <p:sp>
        <p:nvSpPr>
          <p:cNvPr id="5" name="Symbol zastępczy daty 4"/>
          <p:cNvSpPr txBox="1">
            <a:spLocks noGrp="1"/>
          </p:cNvSpPr>
          <p:nvPr>
            <p:ph type="dt" sz="half" idx="7"/>
          </p:nvPr>
        </p:nvSpPr>
        <p:spPr/>
        <p:txBody>
          <a:bodyPr/>
          <a:lstStyle>
            <a:lvl1pPr>
              <a:defRPr/>
            </a:lvl1pPr>
          </a:lstStyle>
          <a:p>
            <a:pPr lvl="0"/>
            <a:endParaRPr lang="pl-PL"/>
          </a:p>
        </p:txBody>
      </p:sp>
      <p:sp>
        <p:nvSpPr>
          <p:cNvPr id="6" name="Symbol zastępczy stopki 5"/>
          <p:cNvSpPr txBox="1">
            <a:spLocks noGrp="1"/>
          </p:cNvSpPr>
          <p:nvPr>
            <p:ph type="ftr" sz="quarter" idx="9"/>
          </p:nvPr>
        </p:nvSpPr>
        <p:spPr/>
        <p:txBody>
          <a:bodyPr/>
          <a:lstStyle>
            <a:lvl1pPr>
              <a:defRPr/>
            </a:lvl1pPr>
          </a:lstStyle>
          <a:p>
            <a:pPr lvl="0"/>
            <a:endParaRPr lang="pl-PL"/>
          </a:p>
        </p:txBody>
      </p:sp>
      <p:sp>
        <p:nvSpPr>
          <p:cNvPr id="7" name="Symbol zastępczy numeru slajdu 6"/>
          <p:cNvSpPr txBox="1">
            <a:spLocks noGrp="1"/>
          </p:cNvSpPr>
          <p:nvPr>
            <p:ph type="sldNum" sz="quarter" idx="8"/>
          </p:nvPr>
        </p:nvSpPr>
        <p:spPr/>
        <p:txBody>
          <a:bodyPr/>
          <a:lstStyle>
            <a:lvl1pPr>
              <a:defRPr/>
            </a:lvl1pPr>
          </a:lstStyle>
          <a:p>
            <a:pPr lvl="0"/>
            <a:fld id="{DA728E6F-B0BD-41D8-87D6-E9CF651E30FD}" type="slidenum">
              <a:t>‹#›</a:t>
            </a:fld>
            <a:endParaRPr lang="pl-PL"/>
          </a:p>
        </p:txBody>
      </p:sp>
    </p:spTree>
    <p:extLst>
      <p:ext uri="{BB962C8B-B14F-4D97-AF65-F5344CB8AC3E}">
        <p14:creationId xmlns:p14="http://schemas.microsoft.com/office/powerpoint/2010/main" val="18631655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ytuł 1"/>
          <p:cNvSpPr txBox="1">
            <a:spLocks noGrp="1"/>
          </p:cNvSpPr>
          <p:nvPr>
            <p:ph type="title"/>
          </p:nvPr>
        </p:nvSpPr>
        <p:spPr/>
        <p:txBody>
          <a:bodyPr/>
          <a:lstStyle>
            <a:lvl1pPr>
              <a:defRPr/>
            </a:lvl1pPr>
          </a:lstStyle>
          <a:p>
            <a:pPr lvl="0"/>
            <a:r>
              <a:rPr lang="pl-PL"/>
              <a:t>Kliknij, aby edytować styl</a:t>
            </a:r>
          </a:p>
        </p:txBody>
      </p:sp>
      <p:sp>
        <p:nvSpPr>
          <p:cNvPr id="3" name="Symbol zastępczy tytułu pionowego 2"/>
          <p:cNvSpPr txBox="1">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p:cNvSpPr txBox="1">
            <a:spLocks noGrp="1"/>
          </p:cNvSpPr>
          <p:nvPr>
            <p:ph type="dt" sz="half" idx="7"/>
          </p:nvPr>
        </p:nvSpPr>
        <p:spPr/>
        <p:txBody>
          <a:bodyPr/>
          <a:lstStyle>
            <a:lvl1pPr>
              <a:defRPr/>
            </a:lvl1pPr>
          </a:lstStyle>
          <a:p>
            <a:pPr lvl="0"/>
            <a:endParaRPr lang="pl-PL"/>
          </a:p>
        </p:txBody>
      </p:sp>
      <p:sp>
        <p:nvSpPr>
          <p:cNvPr id="5" name="Symbol zastępczy stopki 4"/>
          <p:cNvSpPr txBox="1">
            <a:spLocks noGrp="1"/>
          </p:cNvSpPr>
          <p:nvPr>
            <p:ph type="ftr" sz="quarter" idx="9"/>
          </p:nvPr>
        </p:nvSpPr>
        <p:spPr/>
        <p:txBody>
          <a:bodyPr/>
          <a:lstStyle>
            <a:lvl1pPr>
              <a:defRPr/>
            </a:lvl1pPr>
          </a:lstStyle>
          <a:p>
            <a:pPr lvl="0"/>
            <a:endParaRPr lang="pl-PL"/>
          </a:p>
        </p:txBody>
      </p:sp>
      <p:sp>
        <p:nvSpPr>
          <p:cNvPr id="6" name="Symbol zastępczy numeru slajdu 5"/>
          <p:cNvSpPr txBox="1">
            <a:spLocks noGrp="1"/>
          </p:cNvSpPr>
          <p:nvPr>
            <p:ph type="sldNum" sz="quarter" idx="8"/>
          </p:nvPr>
        </p:nvSpPr>
        <p:spPr/>
        <p:txBody>
          <a:bodyPr/>
          <a:lstStyle>
            <a:lvl1pPr>
              <a:defRPr/>
            </a:lvl1pPr>
          </a:lstStyle>
          <a:p>
            <a:pPr lvl="0"/>
            <a:fld id="{341E74E8-CDEC-4E40-A4F7-41760C39E6B2}" type="slidenum">
              <a:t>‹#›</a:t>
            </a:fld>
            <a:endParaRPr lang="pl-PL"/>
          </a:p>
        </p:txBody>
      </p:sp>
    </p:spTree>
    <p:extLst>
      <p:ext uri="{BB962C8B-B14F-4D97-AF65-F5344CB8AC3E}">
        <p14:creationId xmlns:p14="http://schemas.microsoft.com/office/powerpoint/2010/main" val="19895975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Tytuł pionowy 1"/>
          <p:cNvSpPr txBox="1">
            <a:spLocks noGrp="1"/>
          </p:cNvSpPr>
          <p:nvPr>
            <p:ph type="title" orient="vert"/>
          </p:nvPr>
        </p:nvSpPr>
        <p:spPr>
          <a:xfrm>
            <a:off x="7308854" y="301623"/>
            <a:ext cx="2266953" cy="5851529"/>
          </a:xfrm>
        </p:spPr>
        <p:txBody>
          <a:bodyPr vert="eaVert"/>
          <a:lstStyle>
            <a:lvl1pPr>
              <a:defRPr/>
            </a:lvl1pPr>
          </a:lstStyle>
          <a:p>
            <a:pPr lvl="0"/>
            <a:r>
              <a:rPr lang="pl-PL"/>
              <a:t>Kliknij, aby edytować styl</a:t>
            </a:r>
          </a:p>
        </p:txBody>
      </p:sp>
      <p:sp>
        <p:nvSpPr>
          <p:cNvPr id="3" name="Symbol zastępczy tytułu pionowego 2"/>
          <p:cNvSpPr txBox="1">
            <a:spLocks noGrp="1"/>
          </p:cNvSpPr>
          <p:nvPr>
            <p:ph type="body" orient="vert" idx="1"/>
          </p:nvPr>
        </p:nvSpPr>
        <p:spPr>
          <a:xfrm>
            <a:off x="503240" y="301623"/>
            <a:ext cx="6653210" cy="5851529"/>
          </a:xfrm>
        </p:spPr>
        <p:txBody>
          <a:bodyPr vert="eaVert"/>
          <a:lstStyle>
            <a:lvl1pPr>
              <a:defRPr/>
            </a:lvl1pPr>
            <a:lvl2pPr>
              <a:defRPr/>
            </a:lvl2pPr>
            <a:lvl3pPr>
              <a:defRPr/>
            </a:lvl3pPr>
            <a:lvl4pPr>
              <a:defRPr/>
            </a:lvl4pPr>
            <a:lvl5pPr>
              <a:defRPr/>
            </a:lvl5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p:cNvSpPr txBox="1">
            <a:spLocks noGrp="1"/>
          </p:cNvSpPr>
          <p:nvPr>
            <p:ph type="dt" sz="half" idx="7"/>
          </p:nvPr>
        </p:nvSpPr>
        <p:spPr/>
        <p:txBody>
          <a:bodyPr/>
          <a:lstStyle>
            <a:lvl1pPr>
              <a:defRPr/>
            </a:lvl1pPr>
          </a:lstStyle>
          <a:p>
            <a:pPr lvl="0"/>
            <a:endParaRPr lang="pl-PL"/>
          </a:p>
        </p:txBody>
      </p:sp>
      <p:sp>
        <p:nvSpPr>
          <p:cNvPr id="5" name="Symbol zastępczy stopki 4"/>
          <p:cNvSpPr txBox="1">
            <a:spLocks noGrp="1"/>
          </p:cNvSpPr>
          <p:nvPr>
            <p:ph type="ftr" sz="quarter" idx="9"/>
          </p:nvPr>
        </p:nvSpPr>
        <p:spPr/>
        <p:txBody>
          <a:bodyPr/>
          <a:lstStyle>
            <a:lvl1pPr>
              <a:defRPr/>
            </a:lvl1pPr>
          </a:lstStyle>
          <a:p>
            <a:pPr lvl="0"/>
            <a:endParaRPr lang="pl-PL"/>
          </a:p>
        </p:txBody>
      </p:sp>
      <p:sp>
        <p:nvSpPr>
          <p:cNvPr id="6" name="Symbol zastępczy numeru slajdu 5"/>
          <p:cNvSpPr txBox="1">
            <a:spLocks noGrp="1"/>
          </p:cNvSpPr>
          <p:nvPr>
            <p:ph type="sldNum" sz="quarter" idx="8"/>
          </p:nvPr>
        </p:nvSpPr>
        <p:spPr/>
        <p:txBody>
          <a:bodyPr/>
          <a:lstStyle>
            <a:lvl1pPr>
              <a:defRPr/>
            </a:lvl1pPr>
          </a:lstStyle>
          <a:p>
            <a:pPr lvl="0"/>
            <a:fld id="{B4A66CCF-85EF-4421-9694-8F697391672B}" type="slidenum">
              <a:t>‹#›</a:t>
            </a:fld>
            <a:endParaRPr lang="pl-PL"/>
          </a:p>
        </p:txBody>
      </p:sp>
    </p:spTree>
    <p:extLst>
      <p:ext uri="{BB962C8B-B14F-4D97-AF65-F5344CB8AC3E}">
        <p14:creationId xmlns:p14="http://schemas.microsoft.com/office/powerpoint/2010/main" val="1000148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Symbol zastępczy tytułu 1"/>
          <p:cNvSpPr txBox="1">
            <a:spLocks noGrp="1"/>
          </p:cNvSpPr>
          <p:nvPr>
            <p:ph type="title"/>
          </p:nvPr>
        </p:nvSpPr>
        <p:spPr>
          <a:xfrm>
            <a:off x="503998" y="301322"/>
            <a:ext cx="9071643" cy="1261798"/>
          </a:xfrm>
          <a:prstGeom prst="rect">
            <a:avLst/>
          </a:prstGeom>
          <a:noFill/>
          <a:ln>
            <a:noFill/>
          </a:ln>
        </p:spPr>
        <p:txBody>
          <a:bodyPr vert="horz" wrap="square" lIns="0" tIns="0" rIns="0" bIns="0" anchor="ctr" anchorCtr="1" compatLnSpc="1">
            <a:noAutofit/>
          </a:bodyPr>
          <a:lstStyle/>
          <a:p>
            <a:pPr lvl="0"/>
            <a:endParaRPr lang="pl-PL"/>
          </a:p>
        </p:txBody>
      </p:sp>
      <p:sp>
        <p:nvSpPr>
          <p:cNvPr id="3" name="Symbol zastępczy tekstu 2"/>
          <p:cNvSpPr txBox="1">
            <a:spLocks noGrp="1"/>
          </p:cNvSpPr>
          <p:nvPr>
            <p:ph type="body" idx="1"/>
          </p:nvPr>
        </p:nvSpPr>
        <p:spPr>
          <a:xfrm>
            <a:off x="503998" y="1768678"/>
            <a:ext cx="9071643" cy="4384438"/>
          </a:xfrm>
          <a:prstGeom prst="rect">
            <a:avLst/>
          </a:prstGeom>
          <a:noFill/>
          <a:ln>
            <a:noFill/>
          </a:ln>
        </p:spPr>
        <p:txBody>
          <a:bodyPr vert="horz" wrap="square" lIns="0" tIns="0" rIns="0" bIns="0" anchor="t" anchorCtr="0" compatLnSpc="1">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p:cNvSpPr txBox="1">
            <a:spLocks noGrp="1"/>
          </p:cNvSpPr>
          <p:nvPr>
            <p:ph type="dt" sz="half" idx="2"/>
          </p:nvPr>
        </p:nvSpPr>
        <p:spPr>
          <a:xfrm>
            <a:off x="503998" y="6886803"/>
            <a:ext cx="2348279" cy="520915"/>
          </a:xfrm>
          <a:prstGeom prst="rect">
            <a:avLst/>
          </a:prstGeom>
          <a:noFill/>
          <a:ln>
            <a:noFill/>
          </a:ln>
        </p:spPr>
        <p:txBody>
          <a:bodyPr vert="horz" wrap="square" lIns="0" tIns="0" rIns="0" bIns="0" anchor="t" anchorCtr="0" compatLnSpc="1">
            <a:noAutofit/>
          </a:bodyPr>
          <a:lstStyle>
            <a:lvl1pPr marL="0" marR="0" lvl="0" indent="0" algn="l" defTabSz="914400" rtl="0" fontAlgn="auto" hangingPunct="0">
              <a:lnSpc>
                <a:spcPct val="100000"/>
              </a:lnSpc>
              <a:spcBef>
                <a:spcPts val="0"/>
              </a:spcBef>
              <a:spcAft>
                <a:spcPts val="0"/>
              </a:spcAft>
              <a:buNone/>
              <a:tabLst/>
              <a:defRPr lang="pl-PL" sz="1400" b="0" i="0" u="none" strike="noStrike" kern="1200" cap="none" spc="0" baseline="0">
                <a:solidFill>
                  <a:srgbClr val="000000"/>
                </a:solidFill>
                <a:uFillTx/>
                <a:latin typeface="Liberation Serif" pitchFamily="18"/>
                <a:ea typeface="DejaVu Sans" pitchFamily="2"/>
                <a:cs typeface="DejaVu Sans" pitchFamily="2"/>
              </a:defRPr>
            </a:lvl1pPr>
          </a:lstStyle>
          <a:p>
            <a:pPr lvl="0"/>
            <a:endParaRPr lang="pl-PL"/>
          </a:p>
        </p:txBody>
      </p:sp>
      <p:sp>
        <p:nvSpPr>
          <p:cNvPr id="5" name="Symbol zastępczy stopki 4"/>
          <p:cNvSpPr txBox="1">
            <a:spLocks noGrp="1"/>
          </p:cNvSpPr>
          <p:nvPr>
            <p:ph type="ftr" sz="quarter" idx="3"/>
          </p:nvPr>
        </p:nvSpPr>
        <p:spPr>
          <a:xfrm>
            <a:off x="3447361" y="6886803"/>
            <a:ext cx="3194995" cy="520915"/>
          </a:xfrm>
          <a:prstGeom prst="rect">
            <a:avLst/>
          </a:prstGeom>
          <a:noFill/>
          <a:ln>
            <a:noFill/>
          </a:ln>
        </p:spPr>
        <p:txBody>
          <a:bodyPr vert="horz" wrap="square" lIns="0" tIns="0" rIns="0" bIns="0" anchor="t" anchorCtr="1" compatLnSpc="1">
            <a:noAutofit/>
          </a:bodyPr>
          <a:lstStyle>
            <a:lvl1pPr marL="0" marR="0" lvl="0" indent="0" algn="ctr" defTabSz="914400" rtl="0" fontAlgn="auto" hangingPunct="0">
              <a:lnSpc>
                <a:spcPct val="100000"/>
              </a:lnSpc>
              <a:spcBef>
                <a:spcPts val="0"/>
              </a:spcBef>
              <a:spcAft>
                <a:spcPts val="0"/>
              </a:spcAft>
              <a:buNone/>
              <a:tabLst/>
              <a:defRPr lang="pl-PL" sz="1400" b="0" i="0" u="none" strike="noStrike" kern="1200" cap="none" spc="0" baseline="0">
                <a:solidFill>
                  <a:srgbClr val="000000"/>
                </a:solidFill>
                <a:uFillTx/>
                <a:latin typeface="Liberation Serif" pitchFamily="18"/>
                <a:ea typeface="DejaVu Sans" pitchFamily="2"/>
                <a:cs typeface="DejaVu Sans" pitchFamily="2"/>
              </a:defRPr>
            </a:lvl1pPr>
          </a:lstStyle>
          <a:p>
            <a:pPr lvl="0"/>
            <a:endParaRPr lang="pl-PL"/>
          </a:p>
        </p:txBody>
      </p:sp>
      <p:sp>
        <p:nvSpPr>
          <p:cNvPr id="6" name="Symbol zastępczy numeru slajdu 5"/>
          <p:cNvSpPr txBox="1">
            <a:spLocks noGrp="1"/>
          </p:cNvSpPr>
          <p:nvPr>
            <p:ph type="sldNum" sz="quarter" idx="4"/>
          </p:nvPr>
        </p:nvSpPr>
        <p:spPr>
          <a:xfrm>
            <a:off x="7227362" y="6886803"/>
            <a:ext cx="2348279" cy="520915"/>
          </a:xfrm>
          <a:prstGeom prst="rect">
            <a:avLst/>
          </a:prstGeom>
          <a:noFill/>
          <a:ln>
            <a:noFill/>
          </a:ln>
        </p:spPr>
        <p:txBody>
          <a:bodyPr vert="horz" wrap="square" lIns="0" tIns="0" rIns="0" bIns="0" anchor="t" anchorCtr="0" compatLnSpc="1">
            <a:noAutofit/>
          </a:bodyPr>
          <a:lstStyle>
            <a:lvl1pPr marL="0" marR="0" lvl="0" indent="0" algn="r" defTabSz="914400" rtl="0" fontAlgn="auto" hangingPunct="0">
              <a:lnSpc>
                <a:spcPct val="100000"/>
              </a:lnSpc>
              <a:spcBef>
                <a:spcPts val="0"/>
              </a:spcBef>
              <a:spcAft>
                <a:spcPts val="0"/>
              </a:spcAft>
              <a:buNone/>
              <a:tabLst/>
              <a:defRPr lang="pl-PL" sz="1400" b="0" i="0" u="none" strike="noStrike" kern="1200" cap="none" spc="0" baseline="0">
                <a:solidFill>
                  <a:srgbClr val="000000"/>
                </a:solidFill>
                <a:uFillTx/>
                <a:latin typeface="Liberation Serif" pitchFamily="18"/>
                <a:ea typeface="DejaVu Sans" pitchFamily="2"/>
                <a:cs typeface="DejaVu Sans" pitchFamily="2"/>
              </a:defRPr>
            </a:lvl1pPr>
          </a:lstStyle>
          <a:p>
            <a:pPr lvl="0"/>
            <a:fld id="{87099894-F482-4314-B8F2-4282726B0EC7}" type="slidenum">
              <a:t>‹#›</a:t>
            </a:fld>
            <a:endParaRPr lang="pl-PL"/>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marL="0" marR="0" lvl="0" indent="0" algn="ctr" defTabSz="914400" rtl="0" fontAlgn="auto" hangingPunct="0">
        <a:lnSpc>
          <a:spcPct val="100000"/>
        </a:lnSpc>
        <a:spcBef>
          <a:spcPts val="0"/>
        </a:spcBef>
        <a:spcAft>
          <a:spcPts val="0"/>
        </a:spcAft>
        <a:buNone/>
        <a:tabLst/>
        <a:defRPr lang="pl-PL" sz="5860" b="0" i="0" u="none" strike="noStrike" kern="1200" cap="none" spc="0" baseline="0">
          <a:solidFill>
            <a:srgbClr val="000000"/>
          </a:solidFill>
          <a:highlight>
            <a:scrgbClr r="0" g="0" b="0">
              <a:alpha val="0"/>
            </a:scrgbClr>
          </a:highlight>
          <a:uFillTx/>
          <a:latin typeface="Liberation Sans" pitchFamily="18"/>
        </a:defRPr>
      </a:lvl1pPr>
    </p:titleStyle>
    <p:bodyStyle>
      <a:lvl1pPr marL="0" marR="0" lvl="0" indent="0" defTabSz="914400" rtl="0" fontAlgn="auto" hangingPunct="0">
        <a:lnSpc>
          <a:spcPct val="100000"/>
        </a:lnSpc>
        <a:spcBef>
          <a:spcPts val="1890"/>
        </a:spcBef>
        <a:spcAft>
          <a:spcPts val="0"/>
        </a:spcAft>
        <a:buNone/>
        <a:tabLst/>
        <a:defRPr lang="pl-PL" sz="4270" b="0" i="0" u="none" strike="noStrike" kern="1200" cap="none" spc="0" baseline="0">
          <a:solidFill>
            <a:srgbClr val="000000"/>
          </a:solidFill>
          <a:highlight>
            <a:scrgbClr r="0" g="0" b="0">
              <a:alpha val="0"/>
            </a:scrgbClr>
          </a:highlight>
          <a:uFillTx/>
          <a:latin typeface="Liberation Sans" pitchFamily="18"/>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pl-PL" sz="2400" b="0" i="0" u="none" strike="noStrike" kern="1200" cap="none" spc="0" baseline="0">
          <a:solidFill>
            <a:srgbClr val="000000"/>
          </a:solidFill>
          <a:uFillTx/>
          <a:latin typeface="Calibri"/>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pl-PL" sz="2000" b="0" i="0" u="none" strike="noStrike" kern="1200" cap="none" spc="0" baseline="0">
          <a:solidFill>
            <a:srgbClr val="000000"/>
          </a:solidFill>
          <a:uFillTx/>
          <a:latin typeface="Calibri"/>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pl-PL" sz="1800" b="0" i="0" u="none" strike="noStrike" kern="1200" cap="none" spc="0" baseline="0">
          <a:solidFill>
            <a:srgbClr val="000000"/>
          </a:solidFill>
          <a:uFillTx/>
          <a:latin typeface="Calibri"/>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pl-PL" sz="1800" b="0" i="0" u="none" strike="noStrike" kern="1200" cap="none" spc="0" baseline="0">
          <a:solidFill>
            <a:srgbClr val="000000"/>
          </a:solidFill>
          <a:uFillTx/>
          <a:latin typeface="Calibri"/>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0.xm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ytuł 1"/>
          <p:cNvSpPr txBox="1">
            <a:spLocks noGrp="1"/>
          </p:cNvSpPr>
          <p:nvPr>
            <p:ph type="title" idx="4294967295"/>
          </p:nvPr>
        </p:nvSpPr>
        <p:spPr>
          <a:xfrm>
            <a:off x="503998" y="482099"/>
            <a:ext cx="9071643" cy="900245"/>
          </a:xfrm>
        </p:spPr>
        <p:txBody>
          <a:bodyPr>
            <a:spAutoFit/>
          </a:bodyPr>
          <a:lstStyle/>
          <a:p>
            <a:pPr lvl="0"/>
            <a:r>
              <a:rPr lang="pl-PL" sz="5850">
                <a:latin typeface="Arial"/>
                <a:cs typeface="Arial"/>
              </a:rPr>
              <a:t>Projekt zespołowy</a:t>
            </a:r>
          </a:p>
        </p:txBody>
      </p:sp>
      <p:sp>
        <p:nvSpPr>
          <p:cNvPr id="3" name="Podtytuł 2"/>
          <p:cNvSpPr txBox="1">
            <a:spLocks noGrp="1"/>
          </p:cNvSpPr>
          <p:nvPr>
            <p:ph type="subTitle" idx="4294967295"/>
          </p:nvPr>
        </p:nvSpPr>
        <p:spPr>
          <a:xfrm>
            <a:off x="503998" y="1934705"/>
            <a:ext cx="9071643" cy="4052392"/>
          </a:xfrm>
        </p:spPr>
        <p:txBody>
          <a:bodyPr anchor="ctr">
            <a:spAutoFit/>
          </a:bodyPr>
          <a:lstStyle/>
          <a:p>
            <a:pPr lvl="0" algn="l">
              <a:buSzPct val="45000"/>
              <a:buFont typeface="StarSymbol"/>
              <a:buChar char="●"/>
            </a:pPr>
            <a:r>
              <a:rPr lang="pl-PL" sz="4000">
                <a:latin typeface="Arial"/>
                <a:cs typeface="Arial"/>
              </a:rPr>
              <a:t>wi115568 (Piotr Grochowski)</a:t>
            </a:r>
          </a:p>
          <a:p>
            <a:pPr lvl="0" algn="l">
              <a:buSzPct val="45000"/>
              <a:buFont typeface="StarSymbol"/>
              <a:buChar char="●"/>
            </a:pPr>
            <a:r>
              <a:rPr lang="pl-PL" sz="4000">
                <a:latin typeface="Arial"/>
                <a:cs typeface="Arial"/>
              </a:rPr>
              <a:t>wi115647 (Michał Sołowiej)</a:t>
            </a:r>
          </a:p>
          <a:p>
            <a:pPr lvl="0" algn="l">
              <a:buSzPct val="45000"/>
              <a:buFont typeface="StarSymbol"/>
              <a:buChar char="●"/>
            </a:pPr>
            <a:r>
              <a:rPr lang="pl-PL" sz="4000">
                <a:latin typeface="Arial"/>
                <a:cs typeface="Arial"/>
              </a:rPr>
              <a:t>wi115710 (Jakub Brzozowski)</a:t>
            </a:r>
          </a:p>
          <a:p>
            <a:pPr lvl="0" algn="l">
              <a:buSzPct val="45000"/>
              <a:buFont typeface="StarSymbol"/>
              <a:buChar char="●"/>
            </a:pPr>
            <a:r>
              <a:rPr lang="pl-PL" sz="4000">
                <a:latin typeface="Arial"/>
                <a:cs typeface="Arial"/>
              </a:rPr>
              <a:t>wi115742 (Dominik Cegłowski)</a:t>
            </a:r>
          </a:p>
          <a:p>
            <a:pPr lvl="0" algn="l">
              <a:buSzPct val="45000"/>
              <a:buFont typeface="StarSymbol"/>
              <a:buChar char="●"/>
            </a:pPr>
            <a:r>
              <a:rPr lang="pl-PL" sz="4000">
                <a:latin typeface="Arial"/>
                <a:cs typeface="Arial"/>
              </a:rPr>
              <a:t>wi115744 (Kornel Jacek Świerzbiński)</a:t>
            </a:r>
          </a:p>
        </p:txBody>
      </p:sp>
    </p:spTree>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2BCD55BB-AA0B-F416-FFE4-03289C5CC2F2}"/>
              </a:ext>
            </a:extLst>
          </p:cNvPr>
          <p:cNvSpPr>
            <a:spLocks noGrp="1"/>
          </p:cNvSpPr>
          <p:nvPr>
            <p:ph type="title"/>
          </p:nvPr>
        </p:nvSpPr>
        <p:spPr/>
        <p:txBody>
          <a:bodyPr/>
          <a:lstStyle/>
          <a:p>
            <a:r>
              <a:rPr lang="pl-PL" sz="5850">
                <a:latin typeface="Arial"/>
                <a:cs typeface="Arial"/>
              </a:rPr>
              <a:t>Prezentacja projektu programistycznego</a:t>
            </a:r>
          </a:p>
        </p:txBody>
      </p:sp>
      <p:sp>
        <p:nvSpPr>
          <p:cNvPr id="3" name="Symbol zastępczy zawartości 2">
            <a:extLst>
              <a:ext uri="{FF2B5EF4-FFF2-40B4-BE49-F238E27FC236}">
                <a16:creationId xmlns:a16="http://schemas.microsoft.com/office/drawing/2014/main" id="{654388E7-78DB-C8F6-9F5B-3BD61E355F92}"/>
              </a:ext>
            </a:extLst>
          </p:cNvPr>
          <p:cNvSpPr>
            <a:spLocks noGrp="1"/>
          </p:cNvSpPr>
          <p:nvPr>
            <p:ph idx="1"/>
          </p:nvPr>
        </p:nvSpPr>
        <p:spPr>
          <a:xfrm>
            <a:off x="503998" y="2038185"/>
            <a:ext cx="9071643" cy="4384438"/>
          </a:xfrm>
        </p:spPr>
        <p:txBody>
          <a:bodyPr>
            <a:normAutofit fontScale="25000" lnSpcReduction="20000"/>
          </a:bodyPr>
          <a:lstStyle/>
          <a:p>
            <a:pPr algn="l">
              <a:spcBef>
                <a:spcPts val="0"/>
              </a:spcBef>
            </a:pPr>
            <a:r>
              <a:rPr lang="pl-PL" sz="5900">
                <a:latin typeface="Arial"/>
                <a:ea typeface="Arial Unicode MS"/>
                <a:cs typeface="Arial"/>
              </a:rPr>
              <a:t>1. Tytuł i informacje podstawowe (nazwa projektu, autorzy, data)</a:t>
            </a:r>
            <a:endParaRPr lang="pl-PL" sz="4250">
              <a:latin typeface="Arial"/>
              <a:ea typeface="Arial Unicode MS"/>
              <a:cs typeface="Arial"/>
            </a:endParaRPr>
          </a:p>
          <a:p>
            <a:pPr algn="l">
              <a:spcBef>
                <a:spcPts val="0"/>
              </a:spcBef>
            </a:pPr>
            <a:r>
              <a:rPr lang="pl-PL" sz="5900">
                <a:latin typeface="Arial"/>
                <a:ea typeface="Arial Unicode MS"/>
                <a:cs typeface="Arial"/>
              </a:rPr>
              <a:t>2. Cel i zakres projektu (jaki problem rozwiązuje, dla kogo jest przeznaczony, jaki efekt końcowy zostanie uzyskany, co obejmuje system, gdzie są granice projektu, itp.)</a:t>
            </a:r>
          </a:p>
          <a:p>
            <a:pPr algn="l">
              <a:spcBef>
                <a:spcPts val="0"/>
              </a:spcBef>
            </a:pPr>
            <a:r>
              <a:rPr lang="pl-PL" sz="5900">
                <a:latin typeface="Arial"/>
                <a:ea typeface="Arial Unicode MS"/>
                <a:cs typeface="Arial"/>
              </a:rPr>
              <a:t>3. Wymagania funkcjonalne i niefunkcjonalne</a:t>
            </a:r>
          </a:p>
          <a:p>
            <a:pPr algn="l">
              <a:spcBef>
                <a:spcPts val="0"/>
              </a:spcBef>
            </a:pPr>
            <a:r>
              <a:rPr lang="pl-PL" sz="5900">
                <a:latin typeface="Arial"/>
                <a:ea typeface="Arial Unicode MS"/>
                <a:cs typeface="Arial"/>
              </a:rPr>
              <a:t>4. Opis użytkowników oraz przypadków użycia wraz ze scenariuszami (bazowe, kluczowe, ważne)</a:t>
            </a:r>
          </a:p>
          <a:p>
            <a:pPr algn="l">
              <a:spcBef>
                <a:spcPts val="0"/>
              </a:spcBef>
            </a:pPr>
            <a:r>
              <a:rPr lang="pl-PL" sz="5900">
                <a:latin typeface="Arial"/>
                <a:ea typeface="Arial Unicode MS"/>
                <a:cs typeface="Arial"/>
              </a:rPr>
              <a:t>5. Architektura systemu (ogólny schemat działania, podział na moduły, itp.)</a:t>
            </a:r>
          </a:p>
          <a:p>
            <a:pPr algn="l">
              <a:spcBef>
                <a:spcPts val="0"/>
              </a:spcBef>
            </a:pPr>
            <a:r>
              <a:rPr lang="pl-PL" sz="5900">
                <a:latin typeface="Arial"/>
                <a:ea typeface="Arial Unicode MS"/>
                <a:cs typeface="Arial"/>
              </a:rPr>
              <a:t> • Typ architektury: np. klient–serwer, aplikacja desktopowa / webowa / mobilna, monolit czy warstwowa</a:t>
            </a:r>
          </a:p>
          <a:p>
            <a:pPr algn="l">
              <a:spcBef>
                <a:spcPts val="0"/>
              </a:spcBef>
            </a:pPr>
            <a:r>
              <a:rPr lang="pl-PL" sz="5900">
                <a:latin typeface="Arial"/>
                <a:ea typeface="Arial Unicode MS"/>
                <a:cs typeface="Arial"/>
              </a:rPr>
              <a:t> • Podział na warstwy / moduły: np. warstwa prezentacji (UI), logika biznesowa, dostęp do danych - krótko opisać rolę każdej warstwy</a:t>
            </a:r>
          </a:p>
          <a:p>
            <a:pPr algn="l">
              <a:spcBef>
                <a:spcPts val="0"/>
              </a:spcBef>
            </a:pPr>
            <a:r>
              <a:rPr lang="pl-PL" sz="5900">
                <a:latin typeface="Arial"/>
                <a:ea typeface="Arial Unicode MS"/>
                <a:cs typeface="Arial"/>
              </a:rPr>
              <a:t> • Przepływ danych: jak dane przechodzą przez system, skąd pochodzą dane, gdzie trafiają, jak są przetwarzane, co wraca do użytkownika, itp.</a:t>
            </a:r>
          </a:p>
          <a:p>
            <a:pPr algn="l">
              <a:spcBef>
                <a:spcPts val="0"/>
              </a:spcBef>
            </a:pPr>
            <a:r>
              <a:rPr lang="pl-PL" sz="5900">
                <a:latin typeface="Arial"/>
                <a:ea typeface="Arial Unicode MS"/>
                <a:cs typeface="Arial"/>
              </a:rPr>
              <a:t> • Integracje / zależności: czy aplikacja korzysta z: API, zewnętrznych usług, bibliotek, czy stanowi część innego systemu</a:t>
            </a:r>
          </a:p>
          <a:p>
            <a:pPr algn="l">
              <a:spcBef>
                <a:spcPts val="0"/>
              </a:spcBef>
            </a:pPr>
            <a:r>
              <a:rPr lang="pl-PL" sz="5900">
                <a:latin typeface="Arial"/>
                <a:ea typeface="Arial Unicode MS"/>
                <a:cs typeface="Arial"/>
              </a:rPr>
              <a:t> • Środowisko działania: lokalnie, serwer, chmura</a:t>
            </a:r>
          </a:p>
          <a:p>
            <a:pPr algn="l">
              <a:spcBef>
                <a:spcPts val="0"/>
              </a:spcBef>
            </a:pPr>
            <a:r>
              <a:rPr lang="pl-PL" sz="5900">
                <a:latin typeface="Arial"/>
                <a:ea typeface="Arial Unicode MS"/>
                <a:cs typeface="Arial"/>
              </a:rPr>
              <a:t> • Diagram architektury: prosty schemat blokowy pokazujący komponenty tj. Użytkownik (opcjonalnie), Interfejs użytkownika (UI), Logika biznesowa (Backend / Services), Baza danych oraz połączenia i kierunki przepływu danych</a:t>
            </a:r>
          </a:p>
          <a:p>
            <a:pPr algn="l">
              <a:spcBef>
                <a:spcPts val="0"/>
              </a:spcBef>
            </a:pPr>
            <a:r>
              <a:rPr lang="pl-PL" sz="5900">
                <a:latin typeface="Arial"/>
                <a:ea typeface="Arial Unicode MS"/>
                <a:cs typeface="Arial"/>
              </a:rPr>
              <a:t> • Kluczowe decyzje projektowe: dlaczego wybrano taką architekturę, itp.?</a:t>
            </a:r>
          </a:p>
          <a:p>
            <a:pPr algn="l">
              <a:spcBef>
                <a:spcPts val="0"/>
              </a:spcBef>
            </a:pPr>
            <a:r>
              <a:rPr lang="pl-PL" sz="5900">
                <a:latin typeface="Arial"/>
                <a:ea typeface="Arial Unicode MS"/>
                <a:cs typeface="Arial"/>
              </a:rPr>
              <a:t>6. Model danych (np. diagram bazy danych, główne tabele i relacje)</a:t>
            </a:r>
          </a:p>
          <a:p>
            <a:pPr algn="l">
              <a:spcBef>
                <a:spcPts val="0"/>
              </a:spcBef>
            </a:pPr>
            <a:r>
              <a:rPr lang="pl-PL" sz="5900">
                <a:latin typeface="Arial"/>
                <a:ea typeface="Arial Unicode MS"/>
                <a:cs typeface="Arial"/>
              </a:rPr>
              <a:t>7. Wykorzystane technologie (języki programowania, frameworki, baza danych)</a:t>
            </a:r>
          </a:p>
          <a:p>
            <a:pPr algn="l">
              <a:spcBef>
                <a:spcPts val="0"/>
              </a:spcBef>
            </a:pPr>
            <a:r>
              <a:rPr lang="pl-PL" sz="5900">
                <a:latin typeface="Arial"/>
                <a:ea typeface="Arial Unicode MS"/>
                <a:cs typeface="Arial"/>
              </a:rPr>
              <a:t>8. Implementacja (najważniejsze elementy działania, algorytmy, struktura aplikacji)</a:t>
            </a:r>
          </a:p>
          <a:p>
            <a:pPr algn="l">
              <a:spcBef>
                <a:spcPts val="0"/>
              </a:spcBef>
            </a:pPr>
            <a:r>
              <a:rPr lang="pl-PL" sz="5900">
                <a:latin typeface="Arial"/>
                <a:ea typeface="Arial Unicode MS"/>
                <a:cs typeface="Arial"/>
              </a:rPr>
              <a:t>9. Interfejs użytkownika (wygląd aplikacji, przykładowe ekrany)</a:t>
            </a:r>
          </a:p>
          <a:p>
            <a:pPr algn="l">
              <a:spcBef>
                <a:spcPts val="0"/>
              </a:spcBef>
            </a:pPr>
            <a:r>
              <a:rPr lang="pl-PL" sz="5900">
                <a:latin typeface="Arial"/>
                <a:ea typeface="Arial Unicode MS"/>
                <a:cs typeface="Arial"/>
              </a:rPr>
              <a:t>10. Demonstracja działania (opis krok po kroku jak działa aplikacja, pokaz)</a:t>
            </a:r>
          </a:p>
          <a:p>
            <a:pPr algn="l">
              <a:spcBef>
                <a:spcPts val="0"/>
              </a:spcBef>
            </a:pPr>
            <a:r>
              <a:rPr lang="pl-PL" sz="5900">
                <a:latin typeface="Arial"/>
                <a:ea typeface="Arial Unicode MS"/>
                <a:cs typeface="Arial"/>
              </a:rPr>
              <a:t>11. Testowanie (jakie testy wykonano, przykładowe przypadki testowe, błędy)</a:t>
            </a:r>
          </a:p>
          <a:p>
            <a:pPr algn="l">
              <a:spcBef>
                <a:spcPts val="0"/>
              </a:spcBef>
            </a:pPr>
            <a:r>
              <a:rPr lang="pl-PL" sz="5900">
                <a:latin typeface="Arial"/>
                <a:ea typeface="Arial Unicode MS"/>
                <a:cs typeface="Arial"/>
              </a:rPr>
              <a:t>12. Problemy i wyzwania napotkane podczas realizacji oraz ich rozwiązania</a:t>
            </a:r>
          </a:p>
          <a:p>
            <a:pPr algn="l">
              <a:spcBef>
                <a:spcPts val="0"/>
              </a:spcBef>
            </a:pPr>
            <a:r>
              <a:rPr lang="pl-PL" sz="5900">
                <a:latin typeface="Arial"/>
                <a:ea typeface="Arial Unicode MS"/>
                <a:cs typeface="Arial"/>
              </a:rPr>
              <a:t>13. Możliwości dalszego rozwoju projektu</a:t>
            </a:r>
          </a:p>
          <a:p>
            <a:pPr algn="l">
              <a:spcBef>
                <a:spcPts val="0"/>
              </a:spcBef>
            </a:pPr>
            <a:r>
              <a:rPr lang="pl-PL" sz="5900">
                <a:latin typeface="Arial"/>
                <a:ea typeface="Arial Unicode MS"/>
                <a:cs typeface="Arial"/>
              </a:rPr>
              <a:t>14. Podsumowanie i wnioski (czy cel został osiągnięty)</a:t>
            </a:r>
          </a:p>
          <a:p>
            <a:pPr algn="l">
              <a:spcBef>
                <a:spcPts val="1889"/>
              </a:spcBef>
            </a:pPr>
            <a:endParaRPr lang="pl-PL" sz="4250">
              <a:latin typeface="Arial"/>
              <a:ea typeface="Arial Unicode MS"/>
              <a:cs typeface="Arial"/>
            </a:endParaRPr>
          </a:p>
        </p:txBody>
      </p:sp>
    </p:spTree>
    <p:extLst>
      <p:ext uri="{BB962C8B-B14F-4D97-AF65-F5344CB8AC3E}">
        <p14:creationId xmlns:p14="http://schemas.microsoft.com/office/powerpoint/2010/main" val="38638494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17">
    <p:spTree>
      <p:nvGrpSpPr>
        <p:cNvPr id="1" name=""/>
        <p:cNvGrpSpPr/>
        <p:nvPr/>
      </p:nvGrpSpPr>
      <p:grpSpPr>
        <a:xfrm>
          <a:off x="0" y="0"/>
          <a:ext cx="0" cy="0"/>
          <a:chOff x="0" y="0"/>
          <a:chExt cx="0" cy="0"/>
        </a:xfrm>
      </p:grpSpPr>
      <p:sp>
        <p:nvSpPr>
          <p:cNvPr id="2" name="Tytuł 1"/>
          <p:cNvSpPr txBox="1">
            <a:spLocks noGrp="1"/>
          </p:cNvSpPr>
          <p:nvPr>
            <p:ph type="title"/>
          </p:nvPr>
        </p:nvSpPr>
        <p:spPr/>
        <p:txBody>
          <a:bodyPr/>
          <a:lstStyle/>
          <a:p>
            <a:pPr lvl="0"/>
            <a:r>
              <a:rPr lang="pl-PL" sz="4000">
                <a:highlight>
                  <a:srgbClr val="FFFFFF"/>
                </a:highlight>
                <a:latin typeface="Arial"/>
                <a:cs typeface="Arial"/>
              </a:rPr>
              <a:t>Tytuł i informacje podstawowe (nazwa projektu, autorzy, data)</a:t>
            </a:r>
            <a:endParaRPr lang="pl-PL" sz="4000">
              <a:latin typeface="Arial"/>
              <a:cs typeface="Arial"/>
            </a:endParaRPr>
          </a:p>
        </p:txBody>
      </p:sp>
      <p:sp>
        <p:nvSpPr>
          <p:cNvPr id="3" name="Symbol zastępczy zawartości 2"/>
          <p:cNvSpPr txBox="1">
            <a:spLocks noGrp="1"/>
          </p:cNvSpPr>
          <p:nvPr>
            <p:ph idx="1"/>
          </p:nvPr>
        </p:nvSpPr>
        <p:spPr/>
        <p:txBody>
          <a:bodyPr>
            <a:normAutofit/>
          </a:bodyPr>
          <a:lstStyle/>
          <a:p>
            <a:pPr lvl="0"/>
            <a:r>
              <a:rPr lang="pl-PL" sz="3600">
                <a:latin typeface="Arial"/>
                <a:cs typeface="Arial"/>
              </a:rPr>
              <a:t>Nazwa projektu: TH2025GR3</a:t>
            </a:r>
          </a:p>
          <a:p>
            <a:pPr algn="l"/>
            <a:r>
              <a:rPr lang="pl-PL" sz="3600">
                <a:latin typeface="Arial"/>
                <a:cs typeface="Arial"/>
              </a:rPr>
              <a:t>Autorzy: wi89135 (Piotr Grochowski), wi89214 (Michał Sołowiej), wi89277 (Jakub Brzozowski), wi89309 (Dominik Cegłowski), wi89311 (Kornel Świerzbiński)</a:t>
            </a:r>
          </a:p>
          <a:p>
            <a:pPr lvl="0" algn="l"/>
            <a:r>
              <a:rPr lang="pl-PL" sz="3600">
                <a:latin typeface="Arial"/>
                <a:cs typeface="Arial"/>
              </a:rPr>
              <a:t>Data: 2025-10-01—2026-06-30</a:t>
            </a:r>
          </a:p>
          <a:p>
            <a:pPr algn="l">
              <a:spcBef>
                <a:spcPts val="1889"/>
              </a:spcBef>
            </a:pPr>
            <a:endParaRPr lang="pl-PL" sz="3600">
              <a:latin typeface="Arial"/>
              <a:cs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D30403D-E35F-B0CC-C3EA-04251C1384F7}"/>
              </a:ext>
            </a:extLst>
          </p:cNvPr>
          <p:cNvSpPr>
            <a:spLocks noGrp="1"/>
          </p:cNvSpPr>
          <p:nvPr>
            <p:ph type="title"/>
          </p:nvPr>
        </p:nvSpPr>
        <p:spPr/>
        <p:txBody>
          <a:bodyPr/>
          <a:lstStyle/>
          <a:p>
            <a:r>
              <a:rPr lang="pl-PL" sz="5400">
                <a:latin typeface="Arial"/>
                <a:ea typeface="Arial Unicode MS"/>
                <a:cs typeface="Arial"/>
              </a:rPr>
              <a:t>Cel i zakres projektu (1⁄3)</a:t>
            </a:r>
            <a:endParaRPr lang="pl-PL" sz="5400"/>
          </a:p>
        </p:txBody>
      </p:sp>
      <p:sp>
        <p:nvSpPr>
          <p:cNvPr id="3" name="Symbol zastępczy zawartości 2">
            <a:extLst>
              <a:ext uri="{FF2B5EF4-FFF2-40B4-BE49-F238E27FC236}">
                <a16:creationId xmlns:a16="http://schemas.microsoft.com/office/drawing/2014/main" id="{C04AE88B-4290-F931-913C-FF4237FE0294}"/>
              </a:ext>
            </a:extLst>
          </p:cNvPr>
          <p:cNvSpPr>
            <a:spLocks noGrp="1"/>
          </p:cNvSpPr>
          <p:nvPr>
            <p:ph idx="1"/>
          </p:nvPr>
        </p:nvSpPr>
        <p:spPr/>
        <p:txBody>
          <a:bodyPr>
            <a:normAutofit/>
          </a:bodyPr>
          <a:lstStyle/>
          <a:p>
            <a:pPr>
              <a:spcBef>
                <a:spcPts val="1889"/>
              </a:spcBef>
            </a:pPr>
            <a:r>
              <a:rPr lang="pl-PL" sz="2400">
                <a:latin typeface="Arial"/>
                <a:ea typeface="Arial Unicode MS"/>
                <a:cs typeface="Arial"/>
              </a:rPr>
              <a:t>Jaki problem rozwiązuje: Projekt rozwiązuje 4 punkty ECTS w V semestrze i 4 punkty ECTS w VI semestrze.</a:t>
            </a:r>
            <a:endParaRPr lang="pl-PL" sz="2000">
              <a:latin typeface="Liberation Sans"/>
              <a:ea typeface="Arial Unicode MS"/>
              <a:cs typeface="Arial"/>
            </a:endParaRPr>
          </a:p>
          <a:p>
            <a:pPr>
              <a:spcBef>
                <a:spcPts val="1889"/>
              </a:spcBef>
            </a:pPr>
            <a:r>
              <a:rPr lang="pl-PL" sz="2400">
                <a:latin typeface="Arial"/>
                <a:ea typeface="Arial Unicode MS"/>
                <a:cs typeface="Arial"/>
              </a:rPr>
              <a:t>Dla kogo jest przeznaczony: Projekt jest przeznaczony dla V i VI semestru (druga połowa przedostatniego roku i pierwsza połowa ostatniego roku studiów). </a:t>
            </a:r>
            <a:endParaRPr lang="pl-PL" sz="2000">
              <a:ea typeface="Arial Unicode MS"/>
              <a:cs typeface="Arial"/>
            </a:endParaRPr>
          </a:p>
          <a:p>
            <a:pPr algn="l">
              <a:spcBef>
                <a:spcPts val="1889"/>
              </a:spcBef>
            </a:pPr>
            <a:r>
              <a:rPr lang="pl-PL" sz="2400">
                <a:latin typeface="Arial"/>
                <a:cs typeface="Arial"/>
              </a:rPr>
              <a:t>Jaki efekt końcowy </a:t>
            </a:r>
            <a:br>
              <a:rPr lang="pl-PL" sz="2400">
                <a:latin typeface="Arial"/>
                <a:cs typeface="Arial"/>
              </a:rPr>
            </a:br>
            <a:r>
              <a:rPr lang="pl-PL" sz="2400">
                <a:latin typeface="Arial"/>
                <a:cs typeface="Arial"/>
              </a:rPr>
              <a:t>zostanie uzyskany: </a:t>
            </a:r>
            <a:endParaRPr lang="pl-PL" sz="4250"/>
          </a:p>
          <a:p>
            <a:pPr algn="l">
              <a:spcBef>
                <a:spcPts val="1889"/>
              </a:spcBef>
            </a:pPr>
            <a:endParaRPr lang="pl-PL" sz="2400">
              <a:latin typeface="Arial"/>
              <a:cs typeface="Arial"/>
            </a:endParaRPr>
          </a:p>
        </p:txBody>
      </p:sp>
      <p:sp>
        <p:nvSpPr>
          <p:cNvPr id="4" name="pole tekstowe 3">
            <a:extLst>
              <a:ext uri="{FF2B5EF4-FFF2-40B4-BE49-F238E27FC236}">
                <a16:creationId xmlns:a16="http://schemas.microsoft.com/office/drawing/2014/main" id="{F768FD4E-F795-1E2D-35DE-50C5AC2BA9C0}"/>
              </a:ext>
            </a:extLst>
          </p:cNvPr>
          <p:cNvSpPr txBox="1"/>
          <p:nvPr/>
        </p:nvSpPr>
        <p:spPr>
          <a:xfrm>
            <a:off x="3146162" y="3957251"/>
            <a:ext cx="7014331" cy="372409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pl-PL" sz="1400" b="1">
                <a:solidFill>
                  <a:srgbClr val="1D2125"/>
                </a:solidFill>
                <a:highlight>
                  <a:srgbClr val="FFFFFF"/>
                </a:highlight>
              </a:rPr>
              <a:t>Efekty uczenia</a:t>
            </a:r>
            <a:endParaRPr lang="pl-PL" sz="1400"/>
          </a:p>
          <a:p>
            <a:r>
              <a:rPr lang="pl-PL" sz="1400" b="1">
                <a:solidFill>
                  <a:srgbClr val="1D2125"/>
                </a:solidFill>
                <a:highlight>
                  <a:srgbClr val="FFFFFF"/>
                </a:highlight>
              </a:rPr>
              <a:t>Semestr 1</a:t>
            </a:r>
            <a:endParaRPr lang="pl-PL" sz="1400"/>
          </a:p>
          <a:p>
            <a:pPr marL="285750" indent="-285750">
              <a:buFont typeface="Arial"/>
              <a:buChar char="•"/>
            </a:pPr>
            <a:r>
              <a:rPr lang="pl-PL" sz="1000" b="1">
                <a:solidFill>
                  <a:srgbClr val="1D2125"/>
                </a:solidFill>
                <a:highlight>
                  <a:srgbClr val="FFFFFF"/>
                </a:highlight>
                <a:ea typeface="+mn-lt"/>
                <a:cs typeface="+mn-lt"/>
              </a:rPr>
              <a:t>EU1 </a:t>
            </a:r>
            <a:r>
              <a:rPr lang="pl-PL" sz="1000">
                <a:solidFill>
                  <a:srgbClr val="1D2125"/>
                </a:solidFill>
                <a:highlight>
                  <a:srgbClr val="FFFFFF"/>
                </a:highlight>
                <a:ea typeface="+mn-lt"/>
                <a:cs typeface="+mn-lt"/>
              </a:rPr>
              <a:t>-</a:t>
            </a:r>
            <a:r>
              <a:rPr lang="pl-PL" sz="1000" b="1">
                <a:solidFill>
                  <a:srgbClr val="1D2125"/>
                </a:solidFill>
                <a:highlight>
                  <a:srgbClr val="FFFFFF"/>
                </a:highlight>
                <a:ea typeface="+mn-lt"/>
                <a:cs typeface="+mn-lt"/>
              </a:rPr>
              <a:t> </a:t>
            </a:r>
            <a:r>
              <a:rPr lang="pl-PL" sz="1000">
                <a:solidFill>
                  <a:srgbClr val="1D2125"/>
                </a:solidFill>
                <a:highlight>
                  <a:srgbClr val="FFFFFF"/>
                </a:highlight>
                <a:ea typeface="+mn-lt"/>
                <a:cs typeface="+mn-lt"/>
              </a:rPr>
              <a:t> Dokonuje analizy wymagań i przygotowuje specyfikację systemu informatycznego - aplikacji desktopowej/internetowe/mobilnej (lub jego</a:t>
            </a:r>
            <a:br>
              <a:rPr lang="pl-PL" sz="1000">
                <a:solidFill>
                  <a:srgbClr val="1D2125"/>
                </a:solidFill>
                <a:highlight>
                  <a:srgbClr val="FFFFFF"/>
                </a:highlight>
                <a:ea typeface="+mn-lt"/>
                <a:cs typeface="+mn-lt"/>
              </a:rPr>
            </a:br>
            <a:r>
              <a:rPr lang="pl-PL" sz="1000">
                <a:solidFill>
                  <a:srgbClr val="1D2125"/>
                </a:solidFill>
                <a:highlight>
                  <a:srgbClr val="FFFFFF"/>
                </a:highlight>
                <a:ea typeface="+mn-lt"/>
                <a:cs typeface="+mn-lt"/>
              </a:rPr>
              <a:t>części) we współpracy z końcowymi użytkownikami</a:t>
            </a:r>
            <a:endParaRPr lang="pl-PL" sz="1400"/>
          </a:p>
          <a:p>
            <a:pPr marL="285750" indent="-285750">
              <a:buFont typeface="Arial"/>
              <a:buChar char="•"/>
            </a:pPr>
            <a:r>
              <a:rPr lang="pl-PL" sz="1000" b="1">
                <a:solidFill>
                  <a:srgbClr val="1D2125"/>
                </a:solidFill>
                <a:highlight>
                  <a:srgbClr val="FFFFFF"/>
                </a:highlight>
                <a:ea typeface="+mn-lt"/>
                <a:cs typeface="+mn-lt"/>
              </a:rPr>
              <a:t>EU2</a:t>
            </a:r>
            <a:r>
              <a:rPr lang="pl-PL" sz="1000">
                <a:solidFill>
                  <a:srgbClr val="1D2125"/>
                </a:solidFill>
                <a:highlight>
                  <a:srgbClr val="FFFFFF"/>
                </a:highlight>
                <a:ea typeface="+mn-lt"/>
                <a:cs typeface="+mn-lt"/>
              </a:rPr>
              <a:t> - Pracując w zespole, terminowo realizuje zadania projektowe.</a:t>
            </a:r>
            <a:endParaRPr lang="pl-PL" sz="1400"/>
          </a:p>
          <a:p>
            <a:pPr marL="285750" indent="-285750">
              <a:buFont typeface="Arial"/>
              <a:buChar char="•"/>
            </a:pPr>
            <a:r>
              <a:rPr lang="pl-PL" sz="1000" b="1">
                <a:solidFill>
                  <a:srgbClr val="1D2125"/>
                </a:solidFill>
                <a:highlight>
                  <a:srgbClr val="FFFFFF"/>
                </a:highlight>
                <a:ea typeface="+mn-lt"/>
                <a:cs typeface="+mn-lt"/>
              </a:rPr>
              <a:t>EU3 </a:t>
            </a:r>
            <a:r>
              <a:rPr lang="pl-PL" sz="1000">
                <a:solidFill>
                  <a:srgbClr val="1D2125"/>
                </a:solidFill>
                <a:highlight>
                  <a:srgbClr val="FFFFFF"/>
                </a:highlight>
                <a:ea typeface="+mn-lt"/>
                <a:cs typeface="+mn-lt"/>
              </a:rPr>
              <a:t>- Kieruje pracą zespołu projektowego korzystając z nowoczesnych metodyk i narzędzi.</a:t>
            </a:r>
            <a:endParaRPr lang="pl-PL" sz="1400"/>
          </a:p>
          <a:p>
            <a:pPr marL="285750" indent="-285750">
              <a:buFont typeface="Arial"/>
              <a:buChar char="•"/>
            </a:pPr>
            <a:r>
              <a:rPr lang="pl-PL" sz="1000" b="1">
                <a:solidFill>
                  <a:srgbClr val="1D2125"/>
                </a:solidFill>
                <a:highlight>
                  <a:srgbClr val="FFFFFF"/>
                </a:highlight>
                <a:ea typeface="+mn-lt"/>
                <a:cs typeface="+mn-lt"/>
              </a:rPr>
              <a:t>EU4</a:t>
            </a:r>
            <a:r>
              <a:rPr lang="pl-PL" sz="1000">
                <a:solidFill>
                  <a:srgbClr val="1D2125"/>
                </a:solidFill>
                <a:highlight>
                  <a:srgbClr val="FFFFFF"/>
                </a:highlight>
                <a:ea typeface="+mn-lt"/>
                <a:cs typeface="+mn-lt"/>
              </a:rPr>
              <a:t> - Przygotowuje harmonogram realizacji zadań projektowych z uwzględnieniem szacowanych nakładów i monitoruje jego</a:t>
            </a:r>
            <a:br>
              <a:rPr lang="pl-PL" sz="1000">
                <a:solidFill>
                  <a:srgbClr val="1D2125"/>
                </a:solidFill>
                <a:highlight>
                  <a:srgbClr val="FFFFFF"/>
                </a:highlight>
                <a:ea typeface="+mn-lt"/>
                <a:cs typeface="+mn-lt"/>
              </a:rPr>
            </a:br>
            <a:r>
              <a:rPr lang="pl-PL" sz="1000">
                <a:solidFill>
                  <a:srgbClr val="1D2125"/>
                </a:solidFill>
                <a:highlight>
                  <a:srgbClr val="FFFFFF"/>
                </a:highlight>
                <a:ea typeface="+mn-lt"/>
                <a:cs typeface="+mn-lt"/>
              </a:rPr>
              <a:t>    wykonanie</a:t>
            </a:r>
            <a:endParaRPr lang="pl-PL" sz="1400"/>
          </a:p>
          <a:p>
            <a:pPr marL="285750" indent="-285750">
              <a:buFont typeface="Arial"/>
              <a:buChar char="•"/>
            </a:pPr>
            <a:r>
              <a:rPr lang="pl-PL" sz="1000" b="1">
                <a:solidFill>
                  <a:srgbClr val="1D2125"/>
                </a:solidFill>
                <a:highlight>
                  <a:srgbClr val="FFFFFF"/>
                </a:highlight>
                <a:ea typeface="+mn-lt"/>
                <a:cs typeface="+mn-lt"/>
              </a:rPr>
              <a:t>EU5</a:t>
            </a:r>
            <a:r>
              <a:rPr lang="pl-PL" sz="1000">
                <a:solidFill>
                  <a:srgbClr val="1D2125"/>
                </a:solidFill>
                <a:highlight>
                  <a:srgbClr val="FFFFFF"/>
                </a:highlight>
                <a:ea typeface="+mn-lt"/>
                <a:cs typeface="+mn-lt"/>
              </a:rPr>
              <a:t> - Prezentuje realizowane zadania </a:t>
            </a:r>
            <a:endParaRPr lang="pl-PL" sz="1400"/>
          </a:p>
          <a:p>
            <a:pPr marL="285750" indent="-285750">
              <a:buFont typeface="Arial"/>
              <a:buChar char="•"/>
            </a:pPr>
            <a:r>
              <a:rPr lang="pl-PL" sz="1000" b="1">
                <a:solidFill>
                  <a:srgbClr val="1D2125"/>
                </a:solidFill>
                <a:highlight>
                  <a:srgbClr val="FFFFFF"/>
                </a:highlight>
                <a:ea typeface="+mn-lt"/>
                <a:cs typeface="+mn-lt"/>
              </a:rPr>
              <a:t>EU6</a:t>
            </a:r>
            <a:r>
              <a:rPr lang="pl-PL" sz="1000">
                <a:solidFill>
                  <a:srgbClr val="1D2125"/>
                </a:solidFill>
                <a:highlight>
                  <a:srgbClr val="FFFFFF"/>
                </a:highlight>
                <a:ea typeface="+mn-lt"/>
                <a:cs typeface="+mn-lt"/>
              </a:rPr>
              <a:t> - Dokumentuje zrealizowane zadania </a:t>
            </a:r>
            <a:endParaRPr lang="pl-PL" sz="1400"/>
          </a:p>
          <a:p>
            <a:r>
              <a:rPr lang="pl-PL" sz="1400" b="1">
                <a:solidFill>
                  <a:srgbClr val="1D2125"/>
                </a:solidFill>
                <a:highlight>
                  <a:srgbClr val="FFFFFF"/>
                </a:highlight>
              </a:rPr>
              <a:t>Semestr 2</a:t>
            </a:r>
            <a:endParaRPr lang="pl-PL" sz="1400"/>
          </a:p>
          <a:p>
            <a:pPr marL="285750" indent="-285750">
              <a:buFont typeface="Arial"/>
              <a:buChar char="•"/>
            </a:pPr>
            <a:r>
              <a:rPr lang="pl-PL" sz="1000" b="1">
                <a:solidFill>
                  <a:srgbClr val="1D2125"/>
                </a:solidFill>
                <a:highlight>
                  <a:srgbClr val="FFFFFF"/>
                </a:highlight>
                <a:ea typeface="+mn-lt"/>
                <a:cs typeface="+mn-lt"/>
              </a:rPr>
              <a:t>EU1 </a:t>
            </a:r>
            <a:r>
              <a:rPr lang="pl-PL" sz="1000">
                <a:solidFill>
                  <a:srgbClr val="1D2125"/>
                </a:solidFill>
                <a:highlight>
                  <a:srgbClr val="FFFFFF"/>
                </a:highlight>
                <a:ea typeface="+mn-lt"/>
                <a:cs typeface="+mn-lt"/>
              </a:rPr>
              <a:t>-</a:t>
            </a:r>
            <a:r>
              <a:rPr lang="pl-PL" sz="1000" b="1">
                <a:solidFill>
                  <a:srgbClr val="1D2125"/>
                </a:solidFill>
                <a:highlight>
                  <a:srgbClr val="FFFFFF"/>
                </a:highlight>
                <a:ea typeface="+mn-lt"/>
                <a:cs typeface="+mn-lt"/>
              </a:rPr>
              <a:t> </a:t>
            </a:r>
            <a:r>
              <a:rPr lang="pl-PL" sz="1000">
                <a:solidFill>
                  <a:srgbClr val="1D2125"/>
                </a:solidFill>
                <a:highlight>
                  <a:srgbClr val="FFFFFF"/>
                </a:highlight>
                <a:ea typeface="+mn-lt"/>
                <a:cs typeface="+mn-lt"/>
              </a:rPr>
              <a:t>Pracując w zespole, terminowo realizuje zadania projektowe dotyczące tworzonej aplikacji desktopowej/internetowej/mobilnej</a:t>
            </a:r>
            <a:endParaRPr lang="pl-PL" sz="1400"/>
          </a:p>
          <a:p>
            <a:pPr marL="285750" indent="-285750">
              <a:buFont typeface="Arial"/>
              <a:buChar char="•"/>
            </a:pPr>
            <a:r>
              <a:rPr lang="pl-PL" sz="1000" b="1">
                <a:solidFill>
                  <a:srgbClr val="1D2125"/>
                </a:solidFill>
                <a:highlight>
                  <a:srgbClr val="FFFFFF"/>
                </a:highlight>
                <a:ea typeface="+mn-lt"/>
                <a:cs typeface="+mn-lt"/>
              </a:rPr>
              <a:t>EU2</a:t>
            </a:r>
            <a:r>
              <a:rPr lang="pl-PL" sz="1000">
                <a:solidFill>
                  <a:srgbClr val="1D2125"/>
                </a:solidFill>
                <a:highlight>
                  <a:srgbClr val="FFFFFF"/>
                </a:highlight>
                <a:ea typeface="+mn-lt"/>
                <a:cs typeface="+mn-lt"/>
              </a:rPr>
              <a:t> - Kieruje pracą zespołu projektowego korzystając z nowoczesnych metodyk i narzędzi.</a:t>
            </a:r>
            <a:endParaRPr lang="pl-PL" sz="1400"/>
          </a:p>
          <a:p>
            <a:pPr marL="285750" indent="-285750">
              <a:buFont typeface="Arial"/>
              <a:buChar char="•"/>
            </a:pPr>
            <a:r>
              <a:rPr lang="pl-PL" sz="1000" b="1">
                <a:solidFill>
                  <a:srgbClr val="1D2125"/>
                </a:solidFill>
                <a:highlight>
                  <a:srgbClr val="FFFFFF"/>
                </a:highlight>
                <a:ea typeface="+mn-lt"/>
                <a:cs typeface="+mn-lt"/>
              </a:rPr>
              <a:t>EU3 </a:t>
            </a:r>
            <a:r>
              <a:rPr lang="pl-PL" sz="1000">
                <a:solidFill>
                  <a:srgbClr val="1D2125"/>
                </a:solidFill>
                <a:highlight>
                  <a:srgbClr val="FFFFFF"/>
                </a:highlight>
                <a:ea typeface="+mn-lt"/>
                <a:cs typeface="+mn-lt"/>
              </a:rPr>
              <a:t>- Monitoruje wykonanie harmonogramu zadań projektowych i modyfikuje go w razie potrzeby</a:t>
            </a:r>
            <a:endParaRPr lang="pl-PL" sz="1400"/>
          </a:p>
          <a:p>
            <a:pPr marL="285750" indent="-285750">
              <a:buFont typeface="Arial"/>
              <a:buChar char="•"/>
            </a:pPr>
            <a:r>
              <a:rPr lang="pl-PL" sz="1000" b="1">
                <a:solidFill>
                  <a:srgbClr val="1D2125"/>
                </a:solidFill>
                <a:highlight>
                  <a:srgbClr val="FFFFFF"/>
                </a:highlight>
                <a:ea typeface="+mn-lt"/>
                <a:cs typeface="+mn-lt"/>
              </a:rPr>
              <a:t>EU4</a:t>
            </a:r>
            <a:r>
              <a:rPr lang="pl-PL" sz="1000">
                <a:solidFill>
                  <a:srgbClr val="1D2125"/>
                </a:solidFill>
                <a:highlight>
                  <a:srgbClr val="FFFFFF"/>
                </a:highlight>
                <a:ea typeface="+mn-lt"/>
                <a:cs typeface="+mn-lt"/>
              </a:rPr>
              <a:t> - Prezentuje realizowane zadania </a:t>
            </a:r>
            <a:endParaRPr lang="pl-PL" sz="1400"/>
          </a:p>
          <a:p>
            <a:pPr marL="285750" indent="-285750">
              <a:buFont typeface="Arial"/>
              <a:buChar char="•"/>
            </a:pPr>
            <a:r>
              <a:rPr lang="pl-PL" sz="1000" b="1">
                <a:solidFill>
                  <a:srgbClr val="1D2125"/>
                </a:solidFill>
                <a:highlight>
                  <a:srgbClr val="FFFFFF"/>
                </a:highlight>
                <a:ea typeface="+mn-lt"/>
                <a:cs typeface="+mn-lt"/>
              </a:rPr>
              <a:t>EU5</a:t>
            </a:r>
            <a:r>
              <a:rPr lang="pl-PL" sz="1000">
                <a:solidFill>
                  <a:srgbClr val="1D2125"/>
                </a:solidFill>
                <a:highlight>
                  <a:srgbClr val="FFFFFF"/>
                </a:highlight>
                <a:ea typeface="+mn-lt"/>
                <a:cs typeface="+mn-lt"/>
              </a:rPr>
              <a:t> - Dokumentuje zrealizowane zadania</a:t>
            </a:r>
            <a:endParaRPr lang="pl-PL" sz="1400"/>
          </a:p>
          <a:p>
            <a:pPr marL="285750" indent="-285750">
              <a:buFont typeface="Arial"/>
              <a:buChar char="•"/>
            </a:pPr>
            <a:r>
              <a:rPr lang="pl-PL" sz="1000" b="1">
                <a:solidFill>
                  <a:srgbClr val="1D2125"/>
                </a:solidFill>
                <a:highlight>
                  <a:srgbClr val="FFFFFF"/>
                </a:highlight>
                <a:ea typeface="+mn-lt"/>
                <a:cs typeface="+mn-lt"/>
              </a:rPr>
              <a:t>EU6</a:t>
            </a:r>
            <a:r>
              <a:rPr lang="pl-PL" sz="1000">
                <a:solidFill>
                  <a:srgbClr val="1D2125"/>
                </a:solidFill>
                <a:highlight>
                  <a:srgbClr val="FFFFFF"/>
                </a:highlight>
                <a:ea typeface="+mn-lt"/>
                <a:cs typeface="+mn-lt"/>
              </a:rPr>
              <a:t> - Testuje i wdraża wytworzone rozwiązania z użyciem technik odpowiednich do aplikacji desktopowych/internetowych/mobilnych</a:t>
            </a:r>
            <a:endParaRPr lang="pl-PL" sz="1400"/>
          </a:p>
          <a:p>
            <a:pPr marL="285750" indent="-285750">
              <a:buFont typeface="Arial"/>
              <a:buChar char="•"/>
            </a:pPr>
            <a:r>
              <a:rPr lang="pl-PL" sz="1000" b="1">
                <a:solidFill>
                  <a:srgbClr val="1D2125"/>
                </a:solidFill>
                <a:highlight>
                  <a:srgbClr val="FFFFFF"/>
                </a:highlight>
                <a:ea typeface="+mn-lt"/>
                <a:cs typeface="+mn-lt"/>
              </a:rPr>
              <a:t>EU7</a:t>
            </a:r>
            <a:r>
              <a:rPr lang="pl-PL" sz="1000">
                <a:solidFill>
                  <a:srgbClr val="1D2125"/>
                </a:solidFill>
                <a:highlight>
                  <a:srgbClr val="FFFFFF"/>
                </a:highlight>
                <a:ea typeface="+mn-lt"/>
                <a:cs typeface="+mn-lt"/>
              </a:rPr>
              <a:t> -  Dokonuje wstępnej analizy możliwości wykorzystania (w tym komercjalizacji) przedsięwzięcia</a:t>
            </a:r>
            <a:endParaRPr lang="pl-PL" sz="1400"/>
          </a:p>
          <a:p>
            <a:pPr algn="l"/>
            <a:endParaRPr lang="pl-PL" sz="1400">
              <a:ea typeface="Calibri"/>
              <a:cs typeface="Calibri"/>
            </a:endParaRPr>
          </a:p>
        </p:txBody>
      </p:sp>
    </p:spTree>
    <p:extLst>
      <p:ext uri="{BB962C8B-B14F-4D97-AF65-F5344CB8AC3E}">
        <p14:creationId xmlns:p14="http://schemas.microsoft.com/office/powerpoint/2010/main" val="26973362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897AB-D688-099A-B99F-F736D448CDE3}"/>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ACB35C06-A058-ABD0-FDE7-3143CBB2B0A5}"/>
              </a:ext>
            </a:extLst>
          </p:cNvPr>
          <p:cNvSpPr>
            <a:spLocks noGrp="1"/>
          </p:cNvSpPr>
          <p:nvPr>
            <p:ph type="title"/>
          </p:nvPr>
        </p:nvSpPr>
        <p:spPr/>
        <p:txBody>
          <a:bodyPr/>
          <a:lstStyle/>
          <a:p>
            <a:r>
              <a:rPr lang="pl-PL" sz="5400">
                <a:latin typeface="Arial"/>
                <a:ea typeface="Arial Unicode MS"/>
                <a:cs typeface="Arial"/>
              </a:rPr>
              <a:t>Cel i zakres projektu (2⁄3)</a:t>
            </a:r>
            <a:endParaRPr lang="pl-PL" sz="5400"/>
          </a:p>
        </p:txBody>
      </p:sp>
      <p:sp>
        <p:nvSpPr>
          <p:cNvPr id="3" name="Symbol zastępczy zawartości 2">
            <a:extLst>
              <a:ext uri="{FF2B5EF4-FFF2-40B4-BE49-F238E27FC236}">
                <a16:creationId xmlns:a16="http://schemas.microsoft.com/office/drawing/2014/main" id="{81B0B183-CD4C-E20C-980C-7806204A7BD7}"/>
              </a:ext>
            </a:extLst>
          </p:cNvPr>
          <p:cNvSpPr>
            <a:spLocks noGrp="1"/>
          </p:cNvSpPr>
          <p:nvPr>
            <p:ph idx="1"/>
          </p:nvPr>
        </p:nvSpPr>
        <p:spPr>
          <a:xfrm>
            <a:off x="503998" y="1667478"/>
            <a:ext cx="9071643" cy="4485638"/>
          </a:xfrm>
        </p:spPr>
        <p:txBody>
          <a:bodyPr vert="horz" wrap="square" lIns="0" tIns="0" rIns="0" bIns="0" anchor="t" anchorCtr="0" compatLnSpc="1">
            <a:noAutofit/>
          </a:bodyPr>
          <a:lstStyle/>
          <a:p>
            <a:pPr>
              <a:spcBef>
                <a:spcPts val="1889"/>
              </a:spcBef>
            </a:pPr>
            <a:r>
              <a:rPr lang="pl-PL" sz="2400">
                <a:latin typeface="Arial"/>
                <a:ea typeface="Arial Unicode MS"/>
                <a:cs typeface="Arial"/>
              </a:rPr>
              <a:t>Co </a:t>
            </a:r>
            <a:r>
              <a:rPr lang="pl-PL" sz="2400">
                <a:latin typeface="Arial"/>
                <a:cs typeface="Arial"/>
              </a:rPr>
              <a:t>obejmuje system:</a:t>
            </a:r>
            <a:endParaRPr lang="pl-PL" sz="2400">
              <a:latin typeface="Arial"/>
              <a:ea typeface="Arial Unicode MS"/>
              <a:cs typeface="Arial"/>
            </a:endParaRPr>
          </a:p>
          <a:p>
            <a:pPr algn="l">
              <a:spcBef>
                <a:spcPts val="1889"/>
              </a:spcBef>
            </a:pPr>
            <a:r>
              <a:rPr lang="pl-PL" sz="1400">
                <a:latin typeface="Arial"/>
                <a:cs typeface="Arial"/>
              </a:rPr>
              <a:t>System </a:t>
            </a:r>
            <a:r>
              <a:rPr lang="pl-PL" sz="1400" b="1">
                <a:latin typeface="Arial"/>
                <a:cs typeface="Arial"/>
              </a:rPr>
              <a:t>HandlujZTym</a:t>
            </a:r>
            <a:r>
              <a:rPr lang="pl-PL" sz="1400">
                <a:latin typeface="Arial"/>
                <a:cs typeface="Arial"/>
              </a:rPr>
              <a:t> to internetowa platforma ogłoszeń i wymiany dóbr skierowana do użytkowników indywidualnych. Obejmuje:</a:t>
            </a:r>
          </a:p>
          <a:p>
            <a:pPr algn="l">
              <a:spcBef>
                <a:spcPts val="1889"/>
              </a:spcBef>
            </a:pPr>
            <a:r>
              <a:rPr lang="pl-PL" sz="1400" b="1">
                <a:latin typeface="Arial"/>
                <a:cs typeface="Arial"/>
              </a:rPr>
              <a:t>• Zarządzanie ogłoszeniami</a:t>
            </a:r>
            <a:r>
              <a:rPr lang="pl-PL" sz="1400">
                <a:latin typeface="Arial"/>
                <a:cs typeface="Arial"/>
              </a:rPr>
              <a:t> — wystawianie ofert sprzedaży oraz wymiany z opisem, zdjęciami, tagami kategorii, lokalizacją i opcjami dostawy; możliwość ograniczenia widoczności ogłoszenia do konkretnej wymiany (ogłoszenia prywatne)</a:t>
            </a:r>
            <a:br>
              <a:rPr lang="pl-PL" sz="1400">
                <a:latin typeface="Arial"/>
                <a:cs typeface="Arial"/>
              </a:rPr>
            </a:br>
            <a:r>
              <a:rPr lang="pl-PL" sz="1400" b="1">
                <a:latin typeface="Arial"/>
                <a:cs typeface="Arial"/>
              </a:rPr>
              <a:t>• Przeglądanie i wyszukiwanie</a:t>
            </a:r>
            <a:r>
              <a:rPr lang="pl-PL" sz="1400">
                <a:latin typeface="Arial"/>
                <a:cs typeface="Arial"/>
              </a:rPr>
              <a:t> — filtrowanie po typie (sprzedaż/wymiana), cenie, lokalizacji i tagach; sortowanie po dacie, popularności i cenie; pełnotekstowe wyszukiwanie po tytule i opisie</a:t>
            </a:r>
            <a:br>
              <a:rPr lang="pl-PL" sz="1400">
                <a:latin typeface="Arial"/>
                <a:cs typeface="Arial"/>
              </a:rPr>
            </a:br>
            <a:r>
              <a:rPr lang="pl-PL" sz="1400" b="1">
                <a:latin typeface="Arial"/>
                <a:cs typeface="Arial"/>
              </a:rPr>
              <a:t>• Transakcje sprzedaży</a:t>
            </a:r>
            <a:r>
              <a:rPr lang="pl-PL" sz="1400">
                <a:latin typeface="Arial"/>
                <a:cs typeface="Arial"/>
              </a:rPr>
              <a:t> — koszyk i składanie zamówień, obsługa płatności online przez bramkę PayU (przekierowanie, powiadomienia webhook, statusy zamówień)</a:t>
            </a:r>
            <a:br>
              <a:rPr lang="pl-PL" sz="1400">
                <a:latin typeface="Arial"/>
                <a:cs typeface="Arial"/>
              </a:rPr>
            </a:br>
            <a:r>
              <a:rPr lang="pl-PL" sz="1400" b="1">
                <a:latin typeface="Arial"/>
                <a:cs typeface="Arial"/>
              </a:rPr>
              <a:t>• Propozycje wymiany</a:t>
            </a:r>
            <a:r>
              <a:rPr lang="pl-PL" sz="1400">
                <a:latin typeface="Arial"/>
                <a:cs typeface="Arial"/>
              </a:rPr>
              <a:t> — wielostronne negocjacje przedmiotami, kontrpropozycje, historia zmian, możliwość dołączenia gotówki do oferty</a:t>
            </a:r>
            <a:br>
              <a:rPr lang="pl-PL" sz="1400">
                <a:latin typeface="Arial"/>
                <a:cs typeface="Arial"/>
              </a:rPr>
            </a:br>
            <a:r>
              <a:rPr lang="pl-PL" sz="1400" b="1">
                <a:latin typeface="Arial"/>
                <a:cs typeface="Arial"/>
              </a:rPr>
              <a:t>• Profil użytkownika</a:t>
            </a:r>
            <a:r>
              <a:rPr lang="pl-PL" sz="1400">
                <a:latin typeface="Arial"/>
                <a:cs typeface="Arial"/>
              </a:rPr>
              <a:t> — rejestracja, logowanie, zarządzanie danymi osobowymi i adresem (geokodowanie), historia zakupów i sprzedaży</a:t>
            </a:r>
            <a:br>
              <a:rPr lang="pl-PL" sz="1400">
                <a:latin typeface="Arial"/>
                <a:cs typeface="Arial"/>
              </a:rPr>
            </a:br>
            <a:r>
              <a:rPr lang="pl-PL" sz="1400" b="1">
                <a:latin typeface="Arial"/>
                <a:cs typeface="Arial"/>
              </a:rPr>
              <a:t>• Recenzje sprzedawców</a:t>
            </a:r>
            <a:r>
              <a:rPr lang="pl-PL" sz="1400">
                <a:latin typeface="Arial"/>
                <a:cs typeface="Arial"/>
              </a:rPr>
              <a:t> — oceny i opisy po zakończonej transakcji, głosowanie na przydatność recenzji</a:t>
            </a:r>
            <a:br>
              <a:rPr lang="pl-PL" sz="1400">
                <a:latin typeface="Arial"/>
                <a:cs typeface="Arial"/>
              </a:rPr>
            </a:br>
            <a:r>
              <a:rPr lang="pl-PL" sz="1400" b="1">
                <a:latin typeface="Arial"/>
                <a:cs typeface="Arial"/>
              </a:rPr>
              <a:t>• Wiadomości</a:t>
            </a:r>
            <a:r>
              <a:rPr lang="pl-PL" sz="1400">
                <a:latin typeface="Arial"/>
                <a:cs typeface="Arial"/>
              </a:rPr>
              <a:t> — komunikacja bezpośrednia między kupującym a sprzedającym w kontekście ogłoszenia lub propozycji wymiany</a:t>
            </a:r>
            <a:br>
              <a:rPr lang="pl-PL" sz="1400">
                <a:latin typeface="Arial"/>
                <a:cs typeface="Arial"/>
              </a:rPr>
            </a:br>
            <a:r>
              <a:rPr lang="pl-PL" sz="1400" b="1">
                <a:latin typeface="Arial"/>
                <a:cs typeface="Arial"/>
              </a:rPr>
              <a:t>• System kart płatniczych dla sprzedawców</a:t>
            </a:r>
            <a:r>
              <a:rPr lang="pl-PL" sz="1400">
                <a:latin typeface="Arial"/>
                <a:cs typeface="Arial"/>
              </a:rPr>
              <a:t> — tokenizacja karty przez PayU, automatyczne pobieranie opłaty 0,50 PLN za wystawienie ogłoszenia, automatyczna wypłata 95% wartości sprzedaży po zapłacie</a:t>
            </a:r>
            <a:br>
              <a:rPr lang="pl-PL" sz="1400">
                <a:latin typeface="Arial"/>
                <a:cs typeface="Arial"/>
              </a:rPr>
            </a:br>
            <a:r>
              <a:rPr lang="pl-PL" sz="1400" b="1">
                <a:latin typeface="Arial"/>
                <a:cs typeface="Arial"/>
              </a:rPr>
              <a:t>• Zgłoszenia i wsparcie</a:t>
            </a:r>
            <a:r>
              <a:rPr lang="pl-PL" sz="1400">
                <a:latin typeface="Arial"/>
                <a:cs typeface="Arial"/>
              </a:rPr>
              <a:t> — ticketing dla użytkowników (raporty naruszeń, pytania, błędy)</a:t>
            </a:r>
            <a:br>
              <a:rPr lang="pl-PL" sz="1400">
                <a:latin typeface="Arial"/>
                <a:cs typeface="Arial"/>
              </a:rPr>
            </a:br>
            <a:r>
              <a:rPr lang="pl-PL" sz="1400" b="1">
                <a:latin typeface="Arial"/>
                <a:cs typeface="Arial"/>
              </a:rPr>
              <a:t>• Panel administracyjny</a:t>
            </a:r>
            <a:r>
              <a:rPr lang="pl-PL" sz="1400">
                <a:latin typeface="Arial"/>
                <a:cs typeface="Arial"/>
              </a:rPr>
              <a:t> — zarządzanie użytkownikami, ogłoszeniami (archiwizacja, wyróżnianie, przywracanie), podgląd zgłoszeń</a:t>
            </a:r>
            <a:endParaRPr lang="pl-PL" sz="1400">
              <a:cs typeface="Arial"/>
            </a:endParaRPr>
          </a:p>
          <a:p>
            <a:pPr>
              <a:spcBef>
                <a:spcPts val="1889"/>
              </a:spcBef>
            </a:pPr>
            <a:endParaRPr lang="pl-PL" sz="1400">
              <a:latin typeface="Arial"/>
              <a:ea typeface="Arial Unicode MS"/>
              <a:cs typeface="Arial"/>
            </a:endParaRPr>
          </a:p>
        </p:txBody>
      </p:sp>
    </p:spTree>
    <p:extLst>
      <p:ext uri="{BB962C8B-B14F-4D97-AF65-F5344CB8AC3E}">
        <p14:creationId xmlns:p14="http://schemas.microsoft.com/office/powerpoint/2010/main" val="5416303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862D7-C66A-2209-B8A9-AFF3090DC43C}"/>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6114F5DD-75A0-DA89-AB1C-6811182DBDBB}"/>
              </a:ext>
            </a:extLst>
          </p:cNvPr>
          <p:cNvSpPr>
            <a:spLocks noGrp="1"/>
          </p:cNvSpPr>
          <p:nvPr>
            <p:ph type="title"/>
          </p:nvPr>
        </p:nvSpPr>
        <p:spPr/>
        <p:txBody>
          <a:bodyPr/>
          <a:lstStyle/>
          <a:p>
            <a:r>
              <a:rPr lang="pl-PL" sz="5400">
                <a:latin typeface="Arial"/>
                <a:ea typeface="Arial Unicode MS"/>
                <a:cs typeface="Arial"/>
              </a:rPr>
              <a:t>Cel i zakres projektu (3⁄3)</a:t>
            </a:r>
            <a:endParaRPr lang="pl-PL" sz="5400"/>
          </a:p>
        </p:txBody>
      </p:sp>
      <p:sp>
        <p:nvSpPr>
          <p:cNvPr id="3" name="Symbol zastępczy zawartości 2">
            <a:extLst>
              <a:ext uri="{FF2B5EF4-FFF2-40B4-BE49-F238E27FC236}">
                <a16:creationId xmlns:a16="http://schemas.microsoft.com/office/drawing/2014/main" id="{45A0E935-BE24-A247-CC80-91A0C84E15D6}"/>
              </a:ext>
            </a:extLst>
          </p:cNvPr>
          <p:cNvSpPr>
            <a:spLocks noGrp="1"/>
          </p:cNvSpPr>
          <p:nvPr>
            <p:ph idx="1"/>
          </p:nvPr>
        </p:nvSpPr>
        <p:spPr>
          <a:xfrm>
            <a:off x="503998" y="1768678"/>
            <a:ext cx="9071643" cy="5264882"/>
          </a:xfrm>
        </p:spPr>
        <p:txBody>
          <a:bodyPr>
            <a:normAutofit lnSpcReduction="10000"/>
          </a:bodyPr>
          <a:lstStyle/>
          <a:p>
            <a:pPr>
              <a:spcBef>
                <a:spcPts val="1889"/>
              </a:spcBef>
            </a:pPr>
            <a:r>
              <a:rPr lang="pl-PL" sz="2400">
                <a:latin typeface="Arial"/>
                <a:cs typeface="Arial"/>
              </a:rPr>
              <a:t>Gdzie są granice projektu:</a:t>
            </a:r>
            <a:endParaRPr lang="en-US" sz="2400">
              <a:latin typeface="Arial"/>
              <a:ea typeface="Arial Unicode MS"/>
              <a:cs typeface="Arial"/>
            </a:endParaRPr>
          </a:p>
          <a:p>
            <a:pPr algn="l">
              <a:spcBef>
                <a:spcPts val="1889"/>
              </a:spcBef>
            </a:pPr>
            <a:r>
              <a:rPr lang="pl-PL" sz="2400">
                <a:latin typeface="Liberation Sans"/>
                <a:cs typeface="Arial"/>
              </a:rPr>
              <a:t>System </a:t>
            </a:r>
            <a:r>
              <a:rPr lang="pl-PL" sz="2400" b="1">
                <a:latin typeface="Liberation Sans"/>
                <a:cs typeface="Arial"/>
              </a:rPr>
              <a:t>nie obejmuje</a:t>
            </a:r>
            <a:r>
              <a:rPr lang="pl-PL" sz="2400">
                <a:latin typeface="Liberation Sans"/>
                <a:cs typeface="Arial"/>
              </a:rPr>
              <a:t>:</a:t>
            </a:r>
            <a:endParaRPr lang="pl-PL"/>
          </a:p>
          <a:p>
            <a:pPr algn="l">
              <a:spcBef>
                <a:spcPts val="1889"/>
              </a:spcBef>
            </a:pPr>
            <a:r>
              <a:rPr lang="pl-PL" sz="2400">
                <a:latin typeface="Liberation Sans"/>
                <a:cs typeface="Arial"/>
              </a:rPr>
              <a:t>• Fizycznej realizacji dostaw ani śledzenia przesyłek (dostawca zewnętrzny — platforma jedynie zbiera preferencje dostawy)</a:t>
            </a:r>
            <a:br>
              <a:rPr lang="pl-PL" sz="2400">
                <a:latin typeface="Liberation Sans"/>
                <a:cs typeface="Arial"/>
              </a:rPr>
            </a:br>
            <a:r>
              <a:rPr lang="pl-PL" sz="2400">
                <a:latin typeface="Liberation Sans"/>
                <a:cs typeface="Arial"/>
              </a:rPr>
              <a:t>• Negocjacji ceny w modelu aukcyjnym (brak licytacji — cena jest stała lub wynika z propozycji wymiany)</a:t>
            </a:r>
            <a:br>
              <a:rPr lang="pl-PL" sz="2400">
                <a:latin typeface="Liberation Sans"/>
                <a:cs typeface="Arial"/>
              </a:rPr>
            </a:br>
            <a:r>
              <a:rPr lang="pl-PL" sz="2400">
                <a:latin typeface="Liberation Sans"/>
                <a:cs typeface="Arial"/>
              </a:rPr>
              <a:t>• Wbudowanej weryfikacji tożsamości użytkowników (brak KYC/eID)</a:t>
            </a:r>
            <a:br>
              <a:rPr lang="pl-PL" sz="2400">
                <a:latin typeface="Liberation Sans"/>
                <a:cs typeface="Arial"/>
              </a:rPr>
            </a:br>
            <a:r>
              <a:rPr lang="pl-PL" sz="2400">
                <a:latin typeface="Liberation Sans"/>
                <a:cs typeface="Arial"/>
              </a:rPr>
              <a:t>• Obsługi sporów i reklamacji po transakcji (poza formularzem zgłoszeniowym)</a:t>
            </a:r>
            <a:br>
              <a:rPr lang="pl-PL" sz="2400">
                <a:latin typeface="Liberation Sans"/>
                <a:cs typeface="Arial"/>
              </a:rPr>
            </a:br>
            <a:r>
              <a:rPr lang="pl-PL" sz="2400">
                <a:latin typeface="Liberation Sans"/>
                <a:cs typeface="Arial"/>
              </a:rPr>
              <a:t>• Integracji z zewnętrznymi serwisami ogłoszeniowymi</a:t>
            </a:r>
            <a:br>
              <a:rPr lang="pl-PL" sz="2400">
                <a:latin typeface="Liberation Sans"/>
                <a:cs typeface="Arial"/>
              </a:rPr>
            </a:br>
            <a:r>
              <a:rPr lang="pl-PL" sz="2400">
                <a:latin typeface="Liberation Sans"/>
                <a:cs typeface="Arial"/>
              </a:rPr>
              <a:t>• Aplikacji mobilnej (system działa wyłącznie jako aplikacja webowa)</a:t>
            </a:r>
            <a:br>
              <a:rPr lang="pl-PL" sz="2400">
                <a:latin typeface="Liberation Sans"/>
                <a:cs typeface="Arial"/>
              </a:rPr>
            </a:br>
            <a:r>
              <a:rPr lang="pl-PL" sz="2400">
                <a:latin typeface="Liberation Sans"/>
                <a:cs typeface="Arial"/>
              </a:rPr>
              <a:t>• Przetwarzania faktur i rozliczeń podatkowych po stronie platformy</a:t>
            </a:r>
            <a:endParaRPr lang="pl-PL" sz="4250"/>
          </a:p>
          <a:p>
            <a:pPr>
              <a:spcBef>
                <a:spcPts val="1889"/>
              </a:spcBef>
            </a:pPr>
            <a:endParaRPr lang="pl-PL" sz="2400">
              <a:latin typeface="Arial"/>
              <a:cs typeface="Arial"/>
            </a:endParaRPr>
          </a:p>
          <a:p>
            <a:pPr>
              <a:spcBef>
                <a:spcPts val="1889"/>
              </a:spcBef>
            </a:pPr>
            <a:endParaRPr lang="pl-PL" sz="2400">
              <a:latin typeface="Arial"/>
              <a:ea typeface="Arial Unicode MS"/>
              <a:cs typeface="Arial"/>
            </a:endParaRPr>
          </a:p>
        </p:txBody>
      </p:sp>
    </p:spTree>
    <p:extLst>
      <p:ext uri="{BB962C8B-B14F-4D97-AF65-F5344CB8AC3E}">
        <p14:creationId xmlns:p14="http://schemas.microsoft.com/office/powerpoint/2010/main" val="2592682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ytuł 1"/>
          <p:cNvSpPr txBox="1">
            <a:spLocks noGrp="1"/>
          </p:cNvSpPr>
          <p:nvPr>
            <p:ph type="title" idx="4294967295"/>
          </p:nvPr>
        </p:nvSpPr>
        <p:spPr/>
        <p:txBody>
          <a:bodyPr/>
          <a:lstStyle/>
          <a:p>
            <a:pPr lvl="0"/>
            <a:r>
              <a:rPr lang="pl-PL" sz="4800">
                <a:latin typeface="Arial"/>
                <a:cs typeface="Arial"/>
              </a:rPr>
              <a:t>Wymagania funkcjonalne (MVP)</a:t>
            </a:r>
          </a:p>
        </p:txBody>
      </p:sp>
      <p:sp>
        <p:nvSpPr>
          <p:cNvPr id="3" name="Symbol zastępczy tekstu 2"/>
          <p:cNvSpPr txBox="1">
            <a:spLocks noGrp="1"/>
          </p:cNvSpPr>
          <p:nvPr>
            <p:ph type="body" idx="4294967295"/>
          </p:nvPr>
        </p:nvSpPr>
        <p:spPr>
          <a:xfrm>
            <a:off x="503998" y="1768678"/>
            <a:ext cx="9071643" cy="5089321"/>
          </a:xfrm>
        </p:spPr>
        <p:txBody>
          <a:bodyPr>
            <a:noAutofit/>
          </a:bodyPr>
          <a:lstStyle/>
          <a:p>
            <a:pPr lvl="0" algn="l">
              <a:spcBef>
                <a:spcPts val="1800"/>
              </a:spcBef>
            </a:pPr>
            <a:r>
              <a:rPr lang="pl-PL" sz="2400">
                <a:latin typeface="Arial"/>
                <a:cs typeface="Arial"/>
              </a:rPr>
              <a:t>1) Rejestracja i logowanie</a:t>
            </a:r>
            <a:br>
              <a:rPr lang="pl-PL" sz="2400">
                <a:latin typeface="Arial"/>
                <a:cs typeface="Arial"/>
              </a:rPr>
            </a:br>
            <a:r>
              <a:rPr lang="pl-PL" sz="2400">
                <a:latin typeface="Arial"/>
                <a:cs typeface="Arial"/>
              </a:rPr>
              <a:t>2) Profil użytkownika</a:t>
            </a:r>
            <a:br>
              <a:rPr lang="pl-PL" sz="2400">
                <a:latin typeface="Arial"/>
                <a:cs typeface="Arial"/>
              </a:rPr>
            </a:br>
            <a:r>
              <a:rPr lang="pl-PL" sz="2400">
                <a:latin typeface="Arial"/>
                <a:cs typeface="Arial"/>
              </a:rPr>
              <a:t>3) Oferty (CRUD)</a:t>
            </a:r>
            <a:br>
              <a:rPr lang="pl-PL" sz="2400">
                <a:latin typeface="Arial"/>
                <a:cs typeface="Arial"/>
              </a:rPr>
            </a:br>
            <a:r>
              <a:rPr lang="pl-PL" sz="2400">
                <a:latin typeface="Arial"/>
                <a:cs typeface="Arial"/>
              </a:rPr>
              <a:t>4) Przeglądanie i filtrowanie</a:t>
            </a:r>
            <a:br>
              <a:rPr lang="pl-PL" sz="2400">
                <a:latin typeface="Arial"/>
                <a:cs typeface="Arial"/>
              </a:rPr>
            </a:br>
            <a:r>
              <a:rPr lang="pl-PL" sz="2400">
                <a:latin typeface="Arial"/>
                <a:cs typeface="Arial"/>
              </a:rPr>
              <a:t>5) Szczegóły oferty</a:t>
            </a:r>
            <a:br>
              <a:rPr lang="pl-PL" sz="2400">
                <a:latin typeface="Arial"/>
                <a:cs typeface="Arial"/>
              </a:rPr>
            </a:br>
            <a:r>
              <a:rPr lang="pl-PL" sz="2400">
                <a:latin typeface="Arial"/>
                <a:cs typeface="Arial"/>
              </a:rPr>
              <a:t>6) Wiadomości 1:1 (tekst)</a:t>
            </a:r>
            <a:br>
              <a:rPr lang="pl-PL" sz="2400">
                <a:latin typeface="Arial"/>
                <a:cs typeface="Arial"/>
              </a:rPr>
            </a:br>
            <a:r>
              <a:rPr lang="pl-PL" sz="2400">
                <a:latin typeface="Arial"/>
                <a:cs typeface="Arial"/>
              </a:rPr>
              <a:t>7) Oznaczenie oferty jako „zrealizowana”</a:t>
            </a:r>
            <a:br>
              <a:rPr lang="pl-PL" sz="2400">
                <a:latin typeface="Arial"/>
                <a:cs typeface="Arial"/>
              </a:rPr>
            </a:br>
            <a:r>
              <a:rPr lang="pl-PL" sz="2400">
                <a:latin typeface="Arial"/>
                <a:cs typeface="Arial"/>
              </a:rPr>
              <a:t>8) Transakcja (finalizacja)</a:t>
            </a:r>
            <a:br>
              <a:rPr lang="pl-PL" sz="2400">
                <a:latin typeface="Arial"/>
                <a:cs typeface="Arial"/>
              </a:rPr>
            </a:br>
            <a:r>
              <a:rPr lang="pl-PL" sz="2400">
                <a:latin typeface="Arial"/>
                <a:cs typeface="Arial"/>
              </a:rPr>
              <a:t>9) Recenzja sprzedawcy</a:t>
            </a:r>
            <a:br>
              <a:rPr lang="pl-PL" sz="2400">
                <a:latin typeface="Arial"/>
                <a:cs typeface="Arial"/>
              </a:rPr>
            </a:br>
            <a:r>
              <a:rPr lang="pl-PL" sz="2400">
                <a:latin typeface="Arial"/>
                <a:cs typeface="Arial"/>
              </a:rPr>
              <a:t>10) Zgłoszenie nadużycia</a:t>
            </a:r>
            <a:br>
              <a:rPr lang="pl-PL" sz="2400">
                <a:latin typeface="Arial"/>
                <a:cs typeface="Arial"/>
              </a:rPr>
            </a:br>
            <a:r>
              <a:rPr lang="pl-PL" sz="2400">
                <a:latin typeface="Arial"/>
                <a:cs typeface="Arial"/>
              </a:rPr>
              <a:t>11) Panel administratora</a:t>
            </a:r>
            <a:br>
              <a:rPr lang="pl-PL" sz="2400">
                <a:latin typeface="Arial"/>
                <a:cs typeface="Arial"/>
              </a:rPr>
            </a:br>
            <a:r>
              <a:rPr lang="pl-PL" sz="2400">
                <a:latin typeface="Arial"/>
                <a:cs typeface="Arial"/>
              </a:rPr>
              <a:t>12) Powiadomienia w aplikacji (badge/licznik)</a:t>
            </a:r>
            <a:endParaRPr lang="pl-PL" sz="2400">
              <a:latin typeface="Liberation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ytuł 1"/>
          <p:cNvSpPr txBox="1">
            <a:spLocks noGrp="1"/>
          </p:cNvSpPr>
          <p:nvPr>
            <p:ph type="title" idx="4294967295"/>
          </p:nvPr>
        </p:nvSpPr>
        <p:spPr>
          <a:xfrm>
            <a:off x="503998" y="482099"/>
            <a:ext cx="9071643" cy="900245"/>
          </a:xfrm>
        </p:spPr>
        <p:txBody>
          <a:bodyPr>
            <a:spAutoFit/>
          </a:bodyPr>
          <a:lstStyle/>
          <a:p>
            <a:pPr lvl="0"/>
            <a:r>
              <a:rPr lang="pl-PL" sz="5850">
                <a:latin typeface="Arial"/>
                <a:cs typeface="Arial"/>
              </a:rPr>
              <a:t>Rejestracja i logowanie</a:t>
            </a:r>
          </a:p>
        </p:txBody>
      </p:sp>
      <p:sp>
        <p:nvSpPr>
          <p:cNvPr id="3" name="Symbol zastępczy tekstu 2"/>
          <p:cNvSpPr txBox="1">
            <a:spLocks noGrp="1"/>
          </p:cNvSpPr>
          <p:nvPr>
            <p:ph type="body" idx="4294967295"/>
          </p:nvPr>
        </p:nvSpPr>
        <p:spPr>
          <a:xfrm>
            <a:off x="503998" y="1768678"/>
            <a:ext cx="4753801" cy="4860721"/>
          </a:xfrm>
        </p:spPr>
        <p:txBody>
          <a:bodyPr>
            <a:noAutofit/>
          </a:bodyPr>
          <a:lstStyle/>
          <a:p>
            <a:pPr lvl="0">
              <a:buSzPct val="45000"/>
              <a:buFont typeface="StarSymbol"/>
              <a:buChar char="●"/>
            </a:pPr>
            <a:r>
              <a:rPr lang="pl-PL" sz="2400">
                <a:latin typeface="Arial"/>
                <a:cs typeface="Arial"/>
              </a:rPr>
              <a:t>a) Zakres: konto przez e-mail+hasło; reset hasła linkiem; wylogowanie.</a:t>
            </a:r>
          </a:p>
          <a:p>
            <a:pPr lvl="0">
              <a:buSzPct val="45000"/>
              <a:buFont typeface="StarSymbol"/>
              <a:buChar char="●"/>
            </a:pPr>
            <a:r>
              <a:rPr lang="pl-PL" sz="2400">
                <a:latin typeface="Arial"/>
                <a:cs typeface="Arial"/>
              </a:rPr>
              <a:t>b) Reguły: unikalny e-mail; hasło min. 8 znaków (litera, cyfra); link resetu ważny 30 min.</a:t>
            </a:r>
          </a:p>
          <a:p>
            <a:pPr lvl="0">
              <a:buSzPct val="45000"/>
              <a:buFont typeface="StarSymbol"/>
              <a:buChar char="●"/>
            </a:pPr>
            <a:r>
              <a:rPr lang="pl-PL" sz="2400">
                <a:latin typeface="Arial"/>
                <a:cs typeface="Arial"/>
              </a:rPr>
              <a:t>c) Błędy: istniejący e-mail, zły token resetu, limit 5 prób logowania/15 min.</a:t>
            </a:r>
          </a:p>
          <a:p>
            <a:pPr lvl="0">
              <a:buSzPct val="45000"/>
              <a:buFont typeface="StarSymbol"/>
              <a:buChar char="●"/>
            </a:pPr>
            <a:r>
              <a:rPr lang="pl-PL" sz="2400">
                <a:latin typeface="Arial"/>
                <a:cs typeface="Arial"/>
              </a:rPr>
              <a:t>d) Kryteria: po rejestracji użytkownik ląduje na profilu; po resecie może się zalogować nowym hasłem.</a:t>
            </a:r>
          </a:p>
        </p:txBody>
      </p:sp>
      <p:pic>
        <p:nvPicPr>
          <p:cNvPr id="4" name="Obraz 3"/>
          <p:cNvPicPr>
            <a:picLocks noChangeAspect="1"/>
          </p:cNvPicPr>
          <p:nvPr/>
        </p:nvPicPr>
        <p:blipFill>
          <a:blip r:embed="rId3">
            <a:lum/>
            <a:alphaModFix/>
          </a:blip>
          <a:srcRect/>
          <a:stretch>
            <a:fillRect/>
          </a:stretch>
        </p:blipFill>
        <p:spPr>
          <a:xfrm>
            <a:off x="5188680" y="1828800"/>
            <a:ext cx="4412519" cy="3429000"/>
          </a:xfrm>
          <a:prstGeom prst="rect">
            <a:avLst/>
          </a:prstGeom>
          <a:noFill/>
          <a:ln cap="flat">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ytuł 1"/>
          <p:cNvSpPr txBox="1">
            <a:spLocks noGrp="1"/>
          </p:cNvSpPr>
          <p:nvPr>
            <p:ph type="title" idx="4294967295"/>
          </p:nvPr>
        </p:nvSpPr>
        <p:spPr>
          <a:xfrm>
            <a:off x="503998" y="515154"/>
            <a:ext cx="9071643" cy="834115"/>
          </a:xfrm>
        </p:spPr>
        <p:txBody>
          <a:bodyPr/>
          <a:lstStyle/>
          <a:p>
            <a:pPr lvl="0"/>
            <a:r>
              <a:rPr lang="pl-PL" sz="5850">
                <a:latin typeface="Arial"/>
                <a:cs typeface="Arial"/>
              </a:rPr>
              <a:t>Profil użytkownika</a:t>
            </a:r>
          </a:p>
        </p:txBody>
      </p:sp>
      <p:sp>
        <p:nvSpPr>
          <p:cNvPr id="3" name="Symbol zastępczy tekstu 2"/>
          <p:cNvSpPr txBox="1">
            <a:spLocks noGrp="1"/>
          </p:cNvSpPr>
          <p:nvPr>
            <p:ph type="body" idx="4294967295"/>
          </p:nvPr>
        </p:nvSpPr>
        <p:spPr>
          <a:xfrm>
            <a:off x="503998" y="1768678"/>
            <a:ext cx="9071643" cy="5317921"/>
          </a:xfrm>
        </p:spPr>
        <p:txBody>
          <a:bodyPr>
            <a:noAutofit/>
          </a:bodyPr>
          <a:lstStyle/>
          <a:p>
            <a:pPr lvl="0">
              <a:buSzPct val="45000"/>
              <a:buFont typeface="StarSymbol"/>
              <a:buChar char="●"/>
            </a:pPr>
            <a:r>
              <a:rPr lang="pl-PL" sz="3600">
                <a:latin typeface="Arial"/>
                <a:cs typeface="Arial"/>
              </a:rPr>
              <a:t>a) Zakres: podgląd własnego i cudzych profili; edycja: avatar (1 obraz), opis (max 500 znaków).</a:t>
            </a:r>
          </a:p>
          <a:p>
            <a:pPr lvl="0">
              <a:buSzPct val="45000"/>
              <a:buFont typeface="StarSymbol"/>
              <a:buChar char="●"/>
            </a:pPr>
            <a:r>
              <a:rPr lang="pl-PL" sz="3600">
                <a:latin typeface="Arial"/>
                <a:cs typeface="Arial"/>
              </a:rPr>
              <a:t>b) Reguły: formaty PNG/JPG, plik ≤ 2 MB; opis bez HTML (sanityzacja).</a:t>
            </a:r>
          </a:p>
          <a:p>
            <a:pPr lvl="0">
              <a:buSzPct val="45000"/>
              <a:buFont typeface="StarSymbol"/>
              <a:buChar char="●"/>
            </a:pPr>
            <a:r>
              <a:rPr lang="pl-PL" sz="3600">
                <a:latin typeface="Arial"/>
                <a:cs typeface="Arial"/>
              </a:rPr>
              <a:t>c) Błędy: zbyt duży/nieobsługiwany plik; pusty opis nie jest błędem.</a:t>
            </a:r>
          </a:p>
          <a:p>
            <a:pPr lvl="0">
              <a:buSzPct val="45000"/>
              <a:buFont typeface="StarSymbol"/>
              <a:buChar char="●"/>
            </a:pPr>
            <a:r>
              <a:rPr lang="pl-PL" sz="3600">
                <a:latin typeface="Arial"/>
                <a:cs typeface="Arial"/>
              </a:rPr>
              <a:t>d) Kryteria: zmiana avatara odświeża się na liście ofert i w czacie.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page5">
    <p:spTree>
      <p:nvGrpSpPr>
        <p:cNvPr id="1" name=""/>
        <p:cNvGrpSpPr/>
        <p:nvPr/>
      </p:nvGrpSpPr>
      <p:grpSpPr>
        <a:xfrm>
          <a:off x="0" y="0"/>
          <a:ext cx="0" cy="0"/>
          <a:chOff x="0" y="0"/>
          <a:chExt cx="0" cy="0"/>
        </a:xfrm>
      </p:grpSpPr>
      <p:sp>
        <p:nvSpPr>
          <p:cNvPr id="2" name="Tytuł 1"/>
          <p:cNvSpPr txBox="1">
            <a:spLocks noGrp="1"/>
          </p:cNvSpPr>
          <p:nvPr>
            <p:ph type="title" idx="4294967295"/>
          </p:nvPr>
        </p:nvSpPr>
        <p:spPr>
          <a:xfrm>
            <a:off x="503998" y="482099"/>
            <a:ext cx="9071643" cy="900245"/>
          </a:xfrm>
        </p:spPr>
        <p:txBody>
          <a:bodyPr>
            <a:spAutoFit/>
          </a:bodyPr>
          <a:lstStyle/>
          <a:p>
            <a:pPr lvl="0"/>
            <a:r>
              <a:rPr lang="pl-PL" sz="5850">
                <a:latin typeface="Arial"/>
                <a:cs typeface="Arial"/>
              </a:rPr>
              <a:t>Oferty (CRUD)</a:t>
            </a:r>
          </a:p>
        </p:txBody>
      </p:sp>
      <p:sp>
        <p:nvSpPr>
          <p:cNvPr id="3" name="Symbol zastępczy tekstu 2"/>
          <p:cNvSpPr txBox="1">
            <a:spLocks noGrp="1"/>
          </p:cNvSpPr>
          <p:nvPr>
            <p:ph type="body" idx="4294967295"/>
          </p:nvPr>
        </p:nvSpPr>
        <p:spPr>
          <a:xfrm>
            <a:off x="503998" y="1768678"/>
            <a:ext cx="4753801" cy="5546521"/>
          </a:xfrm>
        </p:spPr>
        <p:txBody>
          <a:bodyPr>
            <a:noAutofit/>
          </a:bodyPr>
          <a:lstStyle/>
          <a:p>
            <a:pPr lvl="0">
              <a:spcBef>
                <a:spcPts val="1440"/>
              </a:spcBef>
              <a:buSzPct val="45000"/>
              <a:buFont typeface="StarSymbol"/>
              <a:buChar char="●"/>
            </a:pPr>
            <a:r>
              <a:rPr lang="pl-PL" sz="2000">
                <a:latin typeface="Arial"/>
                <a:cs typeface="Arial"/>
              </a:rPr>
              <a:t>a) Zakres: dodaj/edytuj/usuń; pola: tytuł, opis, 1-5 zdjęć, tagi, opcjonalna cena, typ: „oddaję/sprzedam”.</a:t>
            </a:r>
          </a:p>
          <a:p>
            <a:pPr lvl="0">
              <a:spcBef>
                <a:spcPts val="1440"/>
              </a:spcBef>
              <a:buSzPct val="45000"/>
              <a:buFont typeface="StarSymbol"/>
              <a:buChar char="●"/>
            </a:pPr>
            <a:r>
              <a:rPr lang="pl-PL" sz="2000">
                <a:latin typeface="Arial"/>
                <a:cs typeface="Arial"/>
              </a:rPr>
              <a:t>b) Reguły: tytuł 10-80 znaków; opis do 2000; cena &gt; 0 tylko przy „sprzedam”; max 10 tagów.</a:t>
            </a:r>
          </a:p>
          <a:p>
            <a:pPr lvl="0">
              <a:spcBef>
                <a:spcPts val="1440"/>
              </a:spcBef>
              <a:buSzPct val="45000"/>
              <a:buFont typeface="StarSymbol"/>
              <a:buChar char="●"/>
            </a:pPr>
            <a:r>
              <a:rPr lang="pl-PL" sz="2000">
                <a:latin typeface="Arial"/>
                <a:cs typeface="Arial"/>
              </a:rPr>
              <a:t>c) Błędy: brak tytułu; cena przy „oddaję”; więcej niż 5 zdjęć / &gt; 2 MB / zły MIME.</a:t>
            </a:r>
          </a:p>
          <a:p>
            <a:pPr lvl="0">
              <a:spcBef>
                <a:spcPts val="1440"/>
              </a:spcBef>
              <a:buSzPct val="45000"/>
              <a:buFont typeface="StarSymbol"/>
              <a:buChar char="●"/>
            </a:pPr>
            <a:r>
              <a:rPr lang="pl-PL" sz="2000">
                <a:latin typeface="Arial"/>
                <a:cs typeface="Arial"/>
              </a:rPr>
              <a:t>d) Kryteria: poprawne utworzenie pokazuje ofertę na liście i w profilu autora.</a:t>
            </a:r>
          </a:p>
          <a:p>
            <a:pPr lvl="0">
              <a:spcBef>
                <a:spcPts val="1440"/>
              </a:spcBef>
              <a:buSzPct val="45000"/>
              <a:buFont typeface="StarSymbol"/>
              <a:buChar char="●"/>
            </a:pPr>
            <a:r>
              <a:rPr lang="pl-PL" sz="2000">
                <a:latin typeface="Arial"/>
                <a:cs typeface="Arial"/>
              </a:rPr>
              <a:t>e) Karta kredytowa: przy sprzedaży oferty projekt daje odpowiednią ilość pieniędzy albo zgłasza błąd karty kredytowej.</a:t>
            </a:r>
          </a:p>
        </p:txBody>
      </p:sp>
      <p:pic>
        <p:nvPicPr>
          <p:cNvPr id="4" name="Obraz 3"/>
          <p:cNvPicPr>
            <a:picLocks noChangeAspect="1"/>
          </p:cNvPicPr>
          <p:nvPr/>
        </p:nvPicPr>
        <p:blipFill>
          <a:blip r:embed="rId3">
            <a:lum/>
            <a:alphaModFix/>
          </a:blip>
          <a:srcRect/>
          <a:stretch>
            <a:fillRect/>
          </a:stretch>
        </p:blipFill>
        <p:spPr>
          <a:xfrm>
            <a:off x="5507275" y="1828800"/>
            <a:ext cx="4322524" cy="3963238"/>
          </a:xfrm>
          <a:prstGeom prst="rect">
            <a:avLst/>
          </a:prstGeom>
          <a:noFill/>
          <a:ln cap="flat">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page6">
    <p:spTree>
      <p:nvGrpSpPr>
        <p:cNvPr id="1" name=""/>
        <p:cNvGrpSpPr/>
        <p:nvPr/>
      </p:nvGrpSpPr>
      <p:grpSpPr>
        <a:xfrm>
          <a:off x="0" y="0"/>
          <a:ext cx="0" cy="0"/>
          <a:chOff x="0" y="0"/>
          <a:chExt cx="0" cy="0"/>
        </a:xfrm>
      </p:grpSpPr>
      <p:sp>
        <p:nvSpPr>
          <p:cNvPr id="2" name="Tytuł 1"/>
          <p:cNvSpPr txBox="1">
            <a:spLocks noGrp="1"/>
          </p:cNvSpPr>
          <p:nvPr>
            <p:ph type="title" idx="4294967295"/>
          </p:nvPr>
        </p:nvSpPr>
        <p:spPr/>
        <p:txBody>
          <a:bodyPr/>
          <a:lstStyle/>
          <a:p>
            <a:pPr lvl="0"/>
            <a:r>
              <a:rPr lang="pl-PL" sz="5850">
                <a:latin typeface="Arial"/>
                <a:cs typeface="Arial"/>
              </a:rPr>
              <a:t>Przeglądanie i filtrowanie</a:t>
            </a:r>
          </a:p>
        </p:txBody>
      </p:sp>
      <p:sp>
        <p:nvSpPr>
          <p:cNvPr id="3" name="Symbol zastępczy tekstu 2"/>
          <p:cNvSpPr txBox="1">
            <a:spLocks noGrp="1"/>
          </p:cNvSpPr>
          <p:nvPr>
            <p:ph type="body" idx="4294967295"/>
          </p:nvPr>
        </p:nvSpPr>
        <p:spPr>
          <a:xfrm>
            <a:off x="503998" y="1768678"/>
            <a:ext cx="5439601" cy="5546521"/>
          </a:xfrm>
        </p:spPr>
        <p:txBody>
          <a:bodyPr>
            <a:noAutofit/>
          </a:bodyPr>
          <a:lstStyle/>
          <a:p>
            <a:pPr lvl="0">
              <a:buSzPct val="45000"/>
              <a:buFont typeface="StarSymbol"/>
              <a:buChar char="●"/>
            </a:pPr>
            <a:r>
              <a:rPr lang="pl-PL" sz="2600">
                <a:latin typeface="Arial"/>
                <a:cs typeface="Arial"/>
              </a:rPr>
              <a:t>a) Zakres: lista z paginacją; filtr: tekst (tytuł/opis), tagi, typ, zakres ceny; sort: najnowsze/najtaniej.</a:t>
            </a:r>
          </a:p>
          <a:p>
            <a:pPr lvl="0">
              <a:buSzPct val="45000"/>
              <a:buFont typeface="StarSymbol"/>
              <a:buChar char="●"/>
            </a:pPr>
            <a:r>
              <a:rPr lang="pl-PL" sz="2600">
                <a:latin typeface="Arial"/>
                <a:cs typeface="Arial"/>
              </a:rPr>
              <a:t>b) Reguły: domyślnie 20 na stronę; łączenie filtrów logiczne AND; reset filtrów jednym kliknięciem.</a:t>
            </a:r>
          </a:p>
          <a:p>
            <a:pPr lvl="0">
              <a:buSzPct val="45000"/>
              <a:buFont typeface="StarSymbol"/>
              <a:buChar char="●"/>
            </a:pPr>
            <a:r>
              <a:rPr lang="pl-PL" sz="2600">
                <a:latin typeface="Arial"/>
                <a:cs typeface="Arial"/>
              </a:rPr>
              <a:t>c) Błędy: nietypowe znaki - bezpieczne zignorowanie (brak 500).</a:t>
            </a:r>
          </a:p>
          <a:p>
            <a:pPr lvl="0">
              <a:buSzPct val="45000"/>
              <a:buFont typeface="StarSymbol"/>
              <a:buChar char="●"/>
            </a:pPr>
            <a:r>
              <a:rPr lang="pl-PL" sz="2600">
                <a:latin typeface="Arial"/>
                <a:cs typeface="Arial"/>
              </a:rPr>
              <a:t>d) Kryteria: dla tego samego filtra wynik listy = wynik API (liczba i kolejność).</a:t>
            </a:r>
          </a:p>
        </p:txBody>
      </p:sp>
      <p:pic>
        <p:nvPicPr>
          <p:cNvPr id="4" name="Obraz 3"/>
          <p:cNvPicPr>
            <a:picLocks noChangeAspect="1"/>
          </p:cNvPicPr>
          <p:nvPr/>
        </p:nvPicPr>
        <p:blipFill>
          <a:blip r:embed="rId3">
            <a:lum/>
            <a:alphaModFix/>
          </a:blip>
          <a:srcRect/>
          <a:stretch>
            <a:fillRect/>
          </a:stretch>
        </p:blipFill>
        <p:spPr>
          <a:xfrm>
            <a:off x="5943600" y="1768678"/>
            <a:ext cx="3743635" cy="4403521"/>
          </a:xfrm>
          <a:prstGeom prst="rect">
            <a:avLst/>
          </a:prstGeom>
          <a:noFill/>
          <a:ln cap="flat">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ytuł 1"/>
          <p:cNvSpPr txBox="1">
            <a:spLocks noGrp="1"/>
          </p:cNvSpPr>
          <p:nvPr>
            <p:ph type="title" idx="4294967295"/>
          </p:nvPr>
        </p:nvSpPr>
        <p:spPr/>
        <p:txBody>
          <a:bodyPr/>
          <a:lstStyle/>
          <a:p>
            <a:pPr lvl="0"/>
            <a:r>
              <a:rPr lang="pl-PL" sz="5850">
                <a:latin typeface="Arial"/>
                <a:cs typeface="Arial"/>
              </a:rPr>
              <a:t>Szczegóły oferty</a:t>
            </a:r>
          </a:p>
        </p:txBody>
      </p:sp>
      <p:sp>
        <p:nvSpPr>
          <p:cNvPr id="3" name="Symbol zastępczy tekstu 2"/>
          <p:cNvSpPr txBox="1">
            <a:spLocks noGrp="1"/>
          </p:cNvSpPr>
          <p:nvPr>
            <p:ph type="body" idx="4294967295"/>
          </p:nvPr>
        </p:nvSpPr>
        <p:spPr>
          <a:xfrm>
            <a:off x="503998" y="1768678"/>
            <a:ext cx="9071643" cy="5089321"/>
          </a:xfrm>
        </p:spPr>
        <p:txBody>
          <a:bodyPr/>
          <a:lstStyle/>
          <a:p>
            <a:pPr lvl="0">
              <a:lnSpc>
                <a:spcPct val="90000"/>
              </a:lnSpc>
              <a:buSzPct val="45000"/>
              <a:buFont typeface="StarSymbol"/>
              <a:buChar char="●"/>
            </a:pPr>
            <a:r>
              <a:rPr lang="pl-PL" sz="3000">
                <a:latin typeface="Arial"/>
                <a:cs typeface="Arial"/>
              </a:rPr>
              <a:t>a) Zakres: pełne dane + karuzela zdjęć + przycisk „Napisz do sprzedawcy”.</a:t>
            </a:r>
          </a:p>
          <a:p>
            <a:pPr lvl="0">
              <a:lnSpc>
                <a:spcPct val="90000"/>
              </a:lnSpc>
              <a:buSzPct val="45000"/>
              <a:buFont typeface="StarSymbol"/>
              <a:buChar char="●"/>
            </a:pPr>
            <a:r>
              <a:rPr lang="pl-PL" sz="3000">
                <a:latin typeface="Arial"/>
                <a:cs typeface="Arial"/>
              </a:rPr>
              <a:t>b) Reguły: jeśli oferta „zrealizowana”, pokaż banner i wyłącz przycisk czatu.</a:t>
            </a:r>
          </a:p>
          <a:p>
            <a:pPr lvl="0">
              <a:lnSpc>
                <a:spcPct val="90000"/>
              </a:lnSpc>
              <a:buSzPct val="45000"/>
              <a:buFont typeface="StarSymbol"/>
              <a:buChar char="●"/>
            </a:pPr>
            <a:r>
              <a:rPr lang="pl-PL" sz="3000">
                <a:latin typeface="Arial"/>
                <a:cs typeface="Arial"/>
              </a:rPr>
              <a:t>c) Błędy: usunięta oferta - komunikat i przekierowanie na listę.</a:t>
            </a:r>
          </a:p>
          <a:p>
            <a:pPr lvl="0">
              <a:lnSpc>
                <a:spcPct val="90000"/>
              </a:lnSpc>
              <a:buSzPct val="45000"/>
              <a:buFont typeface="StarSymbol"/>
              <a:buChar char="●"/>
            </a:pPr>
            <a:r>
              <a:rPr lang="pl-PL" sz="3000">
                <a:latin typeface="Arial"/>
                <a:cs typeface="Arial"/>
              </a:rPr>
              <a:t>d) Kryteria: klik „Napisz” otwiera/zakłada czat z autorem oferty.</a:t>
            </a:r>
          </a:p>
          <a:p>
            <a:pPr lvl="0">
              <a:lnSpc>
                <a:spcPct val="90000"/>
              </a:lnSpc>
              <a:buSzPct val="45000"/>
              <a:buFont typeface="StarSymbol"/>
              <a:buChar char="●"/>
            </a:pPr>
            <a:r>
              <a:rPr lang="pl-PL" sz="3000">
                <a:latin typeface="Arial"/>
                <a:cs typeface="Arial"/>
              </a:rPr>
              <a:t>e) Podatki: zgodnie z prawem podatkowym w Polsce, ceny mają uwzględniać VAT.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page8">
    <p:spTree>
      <p:nvGrpSpPr>
        <p:cNvPr id="1" name=""/>
        <p:cNvGrpSpPr/>
        <p:nvPr/>
      </p:nvGrpSpPr>
      <p:grpSpPr>
        <a:xfrm>
          <a:off x="0" y="0"/>
          <a:ext cx="0" cy="0"/>
          <a:chOff x="0" y="0"/>
          <a:chExt cx="0" cy="0"/>
        </a:xfrm>
      </p:grpSpPr>
      <p:sp>
        <p:nvSpPr>
          <p:cNvPr id="2" name="Tytuł 1"/>
          <p:cNvSpPr txBox="1">
            <a:spLocks noGrp="1"/>
          </p:cNvSpPr>
          <p:nvPr>
            <p:ph type="title" idx="4294967295"/>
          </p:nvPr>
        </p:nvSpPr>
        <p:spPr/>
        <p:txBody>
          <a:bodyPr/>
          <a:lstStyle/>
          <a:p>
            <a:pPr lvl="0"/>
            <a:r>
              <a:rPr lang="pl-PL" sz="5850">
                <a:latin typeface="Arial"/>
                <a:cs typeface="Arial"/>
              </a:rPr>
              <a:t>Wiadomości 1:1 (tekst)</a:t>
            </a:r>
          </a:p>
        </p:txBody>
      </p:sp>
      <p:sp>
        <p:nvSpPr>
          <p:cNvPr id="3" name="Symbol zastępczy tekstu 2"/>
          <p:cNvSpPr txBox="1">
            <a:spLocks noGrp="1"/>
          </p:cNvSpPr>
          <p:nvPr>
            <p:ph type="body" idx="4294967295"/>
          </p:nvPr>
        </p:nvSpPr>
        <p:spPr>
          <a:xfrm>
            <a:off x="503998" y="1768678"/>
            <a:ext cx="9071643" cy="5089321"/>
          </a:xfrm>
        </p:spPr>
        <p:txBody>
          <a:bodyPr>
            <a:noAutofit/>
          </a:bodyPr>
          <a:lstStyle/>
          <a:p>
            <a:pPr lvl="0">
              <a:buSzPct val="45000"/>
              <a:buFont typeface="StarSymbol"/>
              <a:buChar char="●"/>
            </a:pPr>
            <a:r>
              <a:rPr lang="pl-PL" sz="2800">
                <a:latin typeface="Arial"/>
                <a:cs typeface="Arial"/>
              </a:rPr>
              <a:t>a) Zakres: czat pomiędzy dwoma użytkownikami; lista wątków; wysyłanie i odbiór w czasie zbliżonym do rzeczywistego.</a:t>
            </a:r>
          </a:p>
          <a:p>
            <a:pPr lvl="0">
              <a:buSzPct val="45000"/>
              <a:buFont typeface="StarSymbol"/>
              <a:buChar char="●"/>
            </a:pPr>
            <a:r>
              <a:rPr lang="pl-PL" sz="2800">
                <a:latin typeface="Arial"/>
                <a:cs typeface="Arial"/>
              </a:rPr>
              <a:t>b) Reguły: wiadomość 1–1000 znaków; brak załączników w MVP; wysyłać mogą tylko zalogowani; autor oferty może zablokować rozmowę.</a:t>
            </a:r>
          </a:p>
          <a:p>
            <a:pPr lvl="0">
              <a:buSzPct val="45000"/>
              <a:buFont typeface="StarSymbol"/>
              <a:buChar char="●"/>
            </a:pPr>
            <a:r>
              <a:rPr lang="pl-PL" sz="2800">
                <a:latin typeface="Arial"/>
                <a:cs typeface="Arial"/>
              </a:rPr>
              <a:t>c) Błędy: próba wysyłki do zablokowanego/nieistniejącego wątku; utrata sieci – komunikat, późniejszy retry.</a:t>
            </a:r>
          </a:p>
          <a:p>
            <a:pPr lvl="0">
              <a:buSzPct val="45000"/>
              <a:buFont typeface="StarSymbol"/>
              <a:buChar char="●"/>
            </a:pPr>
            <a:r>
              <a:rPr lang="pl-PL" sz="2800">
                <a:latin typeface="Arial"/>
                <a:cs typeface="Arial"/>
              </a:rPr>
              <a:t>d) Kryteria: po wysłaniu nadawca widzi wiadomość w wątku, odbiorca widzi badge/licznik w ≤ 5 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page9">
    <p:spTree>
      <p:nvGrpSpPr>
        <p:cNvPr id="1" name=""/>
        <p:cNvGrpSpPr/>
        <p:nvPr/>
      </p:nvGrpSpPr>
      <p:grpSpPr>
        <a:xfrm>
          <a:off x="0" y="0"/>
          <a:ext cx="0" cy="0"/>
          <a:chOff x="0" y="0"/>
          <a:chExt cx="0" cy="0"/>
        </a:xfrm>
      </p:grpSpPr>
      <p:sp>
        <p:nvSpPr>
          <p:cNvPr id="2" name="Tytuł 1"/>
          <p:cNvSpPr txBox="1">
            <a:spLocks noGrp="1"/>
          </p:cNvSpPr>
          <p:nvPr>
            <p:ph type="title" idx="4294967295"/>
          </p:nvPr>
        </p:nvSpPr>
        <p:spPr/>
        <p:txBody>
          <a:bodyPr/>
          <a:lstStyle/>
          <a:p>
            <a:pPr lvl="0"/>
            <a:r>
              <a:rPr lang="pl-PL" sz="4200">
                <a:latin typeface="Arial"/>
                <a:cs typeface="Arial"/>
              </a:rPr>
              <a:t>Oznaczenie oferty jako „zrealizowana”</a:t>
            </a:r>
          </a:p>
        </p:txBody>
      </p:sp>
      <p:sp>
        <p:nvSpPr>
          <p:cNvPr id="3" name="Symbol zastępczy tekstu 2"/>
          <p:cNvSpPr txBox="1">
            <a:spLocks noGrp="1"/>
          </p:cNvSpPr>
          <p:nvPr>
            <p:ph type="body" idx="4294967295"/>
          </p:nvPr>
        </p:nvSpPr>
        <p:spPr/>
        <p:txBody>
          <a:bodyPr>
            <a:noAutofit/>
          </a:bodyPr>
          <a:lstStyle/>
          <a:p>
            <a:pPr lvl="0">
              <a:buSzPct val="45000"/>
              <a:buFont typeface="StarSymbol"/>
              <a:buChar char="●"/>
            </a:pPr>
            <a:r>
              <a:rPr lang="pl-PL" sz="3200">
                <a:latin typeface="Arial"/>
                <a:cs typeface="Arial"/>
              </a:rPr>
              <a:t>a) Zakres: akcja dostępna autorowi; oferta znika z list aktywnych.</a:t>
            </a:r>
          </a:p>
          <a:p>
            <a:pPr lvl="0">
              <a:buSzPct val="45000"/>
              <a:buFont typeface="StarSymbol"/>
              <a:buChar char="●"/>
            </a:pPr>
            <a:r>
              <a:rPr lang="pl-PL" sz="3200">
                <a:latin typeface="Arial"/>
                <a:cs typeface="Arial"/>
              </a:rPr>
              <a:t>b) Reguły: można cofnąć (opcja „przywróć” przez 1 h); zrealizowana nie przyjmuje nowych wiadomości.</a:t>
            </a:r>
          </a:p>
          <a:p>
            <a:pPr lvl="0">
              <a:buSzPct val="45000"/>
              <a:buFont typeface="StarSymbol"/>
              <a:buChar char="●"/>
            </a:pPr>
            <a:r>
              <a:rPr lang="pl-PL" sz="3200">
                <a:latin typeface="Arial"/>
                <a:cs typeface="Arial"/>
              </a:rPr>
              <a:t>c) Błędy: próba oznaczenia cudzej oferty.</a:t>
            </a:r>
          </a:p>
          <a:p>
            <a:pPr lvl="0">
              <a:buSzPct val="45000"/>
              <a:buFont typeface="StarSymbol"/>
              <a:buChar char="●"/>
            </a:pPr>
            <a:r>
              <a:rPr lang="pl-PL" sz="3200">
                <a:latin typeface="Arial"/>
                <a:cs typeface="Arial"/>
              </a:rPr>
              <a:t>d) Kryteria: status „zrealizowana” widoczny na szczegółach; na liście już się nie pojawia.</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ytuł 1"/>
          <p:cNvSpPr txBox="1">
            <a:spLocks noGrp="1"/>
          </p:cNvSpPr>
          <p:nvPr>
            <p:ph type="title" idx="4294967295"/>
          </p:nvPr>
        </p:nvSpPr>
        <p:spPr/>
        <p:txBody>
          <a:bodyPr/>
          <a:lstStyle/>
          <a:p>
            <a:pPr lvl="0"/>
            <a:r>
              <a:rPr lang="pl-PL" sz="5850">
                <a:latin typeface="Arial"/>
                <a:cs typeface="Arial"/>
              </a:rPr>
              <a:t>Recenzja sprzedawcy</a:t>
            </a:r>
          </a:p>
        </p:txBody>
      </p:sp>
      <p:sp>
        <p:nvSpPr>
          <p:cNvPr id="3" name="Symbol zastępczy tekstu 2"/>
          <p:cNvSpPr txBox="1">
            <a:spLocks noGrp="1"/>
          </p:cNvSpPr>
          <p:nvPr>
            <p:ph type="body" idx="4294967295"/>
          </p:nvPr>
        </p:nvSpPr>
        <p:spPr>
          <a:xfrm>
            <a:off x="503998" y="1768678"/>
            <a:ext cx="9071643" cy="5089321"/>
          </a:xfrm>
        </p:spPr>
        <p:txBody>
          <a:bodyPr>
            <a:noAutofit/>
          </a:bodyPr>
          <a:lstStyle/>
          <a:p>
            <a:pPr lvl="0">
              <a:buSzPct val="45000"/>
              <a:buFont typeface="StarSymbol"/>
              <a:buChar char="●"/>
            </a:pPr>
            <a:r>
              <a:rPr lang="pl-PL" sz="3200">
                <a:latin typeface="Arial"/>
                <a:cs typeface="Arial"/>
              </a:rPr>
              <a:t>a) Zakres: ocena 1-5 + komentarz do 500 znaków; tylko po transakcji.</a:t>
            </a:r>
          </a:p>
          <a:p>
            <a:pPr lvl="0">
              <a:buSzPct val="45000"/>
              <a:buFont typeface="StarSymbol"/>
              <a:buChar char="●"/>
            </a:pPr>
            <a:r>
              <a:rPr lang="pl-PL" sz="3200">
                <a:latin typeface="Arial"/>
                <a:cs typeface="Arial"/>
              </a:rPr>
              <a:t>b) Reguły: 1 recenzja kupującego na transakcję; edycja 24 h od dodania; średnia sprzedawcy aktualizowana po zapisie.</a:t>
            </a:r>
          </a:p>
          <a:p>
            <a:pPr lvl="0">
              <a:buSzPct val="45000"/>
              <a:buFont typeface="StarSymbol"/>
              <a:buChar char="●"/>
            </a:pPr>
            <a:r>
              <a:rPr lang="pl-PL" sz="3200">
                <a:latin typeface="Arial"/>
                <a:cs typeface="Arial"/>
              </a:rPr>
              <a:t>c) Błędy: próba recenzji bez transakcji/po raz drugi; wulgaryzmy – prosty filtr (odrzucenie).</a:t>
            </a:r>
          </a:p>
          <a:p>
            <a:pPr lvl="0">
              <a:buSzPct val="45000"/>
              <a:buFont typeface="StarSymbol"/>
              <a:buChar char="●"/>
            </a:pPr>
            <a:r>
              <a:rPr lang="pl-PL" sz="3200">
                <a:latin typeface="Arial"/>
                <a:cs typeface="Arial"/>
              </a:rPr>
              <a:t>d) Kryteria: po akceptacji recenzja pojawia się na profilu sprzedawcy, średnia się zmienia.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page11">
    <p:spTree>
      <p:nvGrpSpPr>
        <p:cNvPr id="1" name=""/>
        <p:cNvGrpSpPr/>
        <p:nvPr/>
      </p:nvGrpSpPr>
      <p:grpSpPr>
        <a:xfrm>
          <a:off x="0" y="0"/>
          <a:ext cx="0" cy="0"/>
          <a:chOff x="0" y="0"/>
          <a:chExt cx="0" cy="0"/>
        </a:xfrm>
      </p:grpSpPr>
      <p:sp>
        <p:nvSpPr>
          <p:cNvPr id="2" name="Tytuł 1"/>
          <p:cNvSpPr txBox="1">
            <a:spLocks noGrp="1"/>
          </p:cNvSpPr>
          <p:nvPr>
            <p:ph type="title" idx="4294967295"/>
          </p:nvPr>
        </p:nvSpPr>
        <p:spPr/>
        <p:txBody>
          <a:bodyPr/>
          <a:lstStyle/>
          <a:p>
            <a:pPr lvl="0"/>
            <a:r>
              <a:rPr lang="pl-PL" sz="5850">
                <a:latin typeface="Arial"/>
                <a:cs typeface="Arial"/>
              </a:rPr>
              <a:t>Transakcja (finalizacja)</a:t>
            </a:r>
          </a:p>
        </p:txBody>
      </p:sp>
      <p:sp>
        <p:nvSpPr>
          <p:cNvPr id="3" name="Symbol zastępczy tekstu 2"/>
          <p:cNvSpPr txBox="1">
            <a:spLocks noGrp="1"/>
          </p:cNvSpPr>
          <p:nvPr>
            <p:ph type="body" idx="4294967295"/>
          </p:nvPr>
        </p:nvSpPr>
        <p:spPr>
          <a:xfrm>
            <a:off x="503998" y="1768678"/>
            <a:ext cx="9071643" cy="5089321"/>
          </a:xfrm>
        </p:spPr>
        <p:txBody>
          <a:bodyPr>
            <a:noAutofit/>
          </a:bodyPr>
          <a:lstStyle/>
          <a:p>
            <a:pPr lvl="0">
              <a:buSzPct val="45000"/>
              <a:buFont typeface="StarSymbol"/>
              <a:buChar char="●"/>
            </a:pPr>
            <a:r>
              <a:rPr lang="pl-PL" sz="2800">
                <a:latin typeface="Arial"/>
                <a:cs typeface="Arial"/>
              </a:rPr>
              <a:t>a) Zakres: zapis: oferta + kupujący + data (i ew. finalna cena + podatki); tworzy się przy oznaczeniu zrealizowania z wyborem kupującego z czatu.</a:t>
            </a:r>
          </a:p>
          <a:p>
            <a:pPr lvl="0">
              <a:buSzPct val="45000"/>
              <a:buFont typeface="StarSymbol"/>
              <a:buChar char="●"/>
            </a:pPr>
            <a:r>
              <a:rPr lang="pl-PL" sz="2800">
                <a:latin typeface="Arial"/>
                <a:cs typeface="Arial"/>
              </a:rPr>
              <a:t>b) Reguły: każdy listing max 1 transakcja aktywna; kupującym musi być uczestnik wątku.</a:t>
            </a:r>
          </a:p>
          <a:p>
            <a:pPr lvl="0">
              <a:buSzPct val="45000"/>
              <a:buFont typeface="StarSymbol"/>
              <a:buChar char="●"/>
            </a:pPr>
            <a:r>
              <a:rPr lang="pl-PL" sz="2800">
                <a:latin typeface="Arial"/>
                <a:cs typeface="Arial"/>
              </a:rPr>
              <a:t>c) Błędy: brak wskazanego kupującego; brak pieniędzy na karcie kredytowej; niewłaściwy podatek dla danej kategorii produktu; wskazany użytkownik nie ma wątku z autorem.</a:t>
            </a:r>
          </a:p>
          <a:p>
            <a:pPr lvl="0">
              <a:buSzPct val="45000"/>
              <a:buFont typeface="StarSymbol"/>
              <a:buChar char="●"/>
            </a:pPr>
            <a:r>
              <a:rPr lang="pl-PL" sz="2800">
                <a:latin typeface="Arial"/>
                <a:cs typeface="Arial"/>
              </a:rPr>
              <a:t>d) Kryteria: powstaje rekord transakcji, widoczny w historii obu stron.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age12">
    <p:spTree>
      <p:nvGrpSpPr>
        <p:cNvPr id="1" name=""/>
        <p:cNvGrpSpPr/>
        <p:nvPr/>
      </p:nvGrpSpPr>
      <p:grpSpPr>
        <a:xfrm>
          <a:off x="0" y="0"/>
          <a:ext cx="0" cy="0"/>
          <a:chOff x="0" y="0"/>
          <a:chExt cx="0" cy="0"/>
        </a:xfrm>
      </p:grpSpPr>
      <p:sp>
        <p:nvSpPr>
          <p:cNvPr id="2" name="Tytuł 1"/>
          <p:cNvSpPr txBox="1">
            <a:spLocks noGrp="1"/>
          </p:cNvSpPr>
          <p:nvPr>
            <p:ph type="title" idx="4294967295"/>
          </p:nvPr>
        </p:nvSpPr>
        <p:spPr/>
        <p:txBody>
          <a:bodyPr/>
          <a:lstStyle/>
          <a:p>
            <a:pPr lvl="0"/>
            <a:r>
              <a:rPr lang="pl-PL">
                <a:latin typeface="Arial"/>
                <a:cs typeface="Arial"/>
              </a:rPr>
              <a:t>Zgłoszenie nadużycia</a:t>
            </a:r>
          </a:p>
        </p:txBody>
      </p:sp>
      <p:sp>
        <p:nvSpPr>
          <p:cNvPr id="3" name="Symbol zastępczy tekstu 2"/>
          <p:cNvSpPr txBox="1">
            <a:spLocks noGrp="1"/>
          </p:cNvSpPr>
          <p:nvPr>
            <p:ph type="body" idx="4294967295"/>
          </p:nvPr>
        </p:nvSpPr>
        <p:spPr>
          <a:xfrm>
            <a:off x="503998" y="1768678"/>
            <a:ext cx="5896801" cy="5317921"/>
          </a:xfrm>
        </p:spPr>
        <p:txBody>
          <a:bodyPr>
            <a:noAutofit/>
          </a:bodyPr>
          <a:lstStyle/>
          <a:p>
            <a:pPr lvl="0">
              <a:buSzPct val="45000"/>
              <a:buFont typeface="StarSymbol"/>
              <a:buChar char="●"/>
            </a:pPr>
            <a:r>
              <a:rPr lang="pl-PL" sz="2600">
                <a:latin typeface="Arial"/>
                <a:cs typeface="Arial"/>
              </a:rPr>
              <a:t>a) Zakres: formularz z powodem (lista + opis) dla oferty/wiadomości/profilu.</a:t>
            </a:r>
          </a:p>
          <a:p>
            <a:pPr lvl="0">
              <a:buSzPct val="45000"/>
              <a:buFont typeface="StarSymbol"/>
              <a:buChar char="●"/>
            </a:pPr>
            <a:r>
              <a:rPr lang="pl-PL" sz="2600">
                <a:latin typeface="Arial"/>
                <a:cs typeface="Arial"/>
              </a:rPr>
              <a:t>b) Reguły: użytkownik może zgłosić daną treść max 1 raz/24 h; statusy: Nowe - W toku - Zamknięte.</a:t>
            </a:r>
          </a:p>
          <a:p>
            <a:pPr lvl="0">
              <a:buSzPct val="45000"/>
              <a:buFont typeface="StarSymbol"/>
              <a:buChar char="●"/>
            </a:pPr>
            <a:r>
              <a:rPr lang="pl-PL" sz="2600">
                <a:latin typeface="Arial"/>
                <a:cs typeface="Arial"/>
              </a:rPr>
              <a:t>c) Błędy: zgłoszenie własnej treści dozwolone (np. prośba o usunięcie); puste uzasadnienie blokowane.</a:t>
            </a:r>
          </a:p>
          <a:p>
            <a:pPr lvl="0">
              <a:buSzPct val="45000"/>
              <a:buFont typeface="StarSymbol"/>
              <a:buChar char="●"/>
            </a:pPr>
            <a:r>
              <a:rPr lang="pl-PL" sz="2600">
                <a:latin typeface="Arial"/>
                <a:cs typeface="Arial"/>
              </a:rPr>
              <a:t>d) Kryteria: po wysłaniu pojawia się na liście zgłoszeń admina ze statusem „Nowe”.</a:t>
            </a:r>
          </a:p>
        </p:txBody>
      </p:sp>
      <p:pic>
        <p:nvPicPr>
          <p:cNvPr id="4" name="Obraz 3"/>
          <p:cNvPicPr>
            <a:picLocks noChangeAspect="1"/>
          </p:cNvPicPr>
          <p:nvPr/>
        </p:nvPicPr>
        <p:blipFill>
          <a:blip r:embed="rId3">
            <a:lum/>
            <a:alphaModFix/>
          </a:blip>
          <a:srcRect/>
          <a:stretch>
            <a:fillRect/>
          </a:stretch>
        </p:blipFill>
        <p:spPr>
          <a:xfrm>
            <a:off x="6400800" y="1768678"/>
            <a:ext cx="3216603" cy="2803321"/>
          </a:xfrm>
          <a:prstGeom prst="rect">
            <a:avLst/>
          </a:prstGeom>
          <a:noFill/>
          <a:ln cap="flat">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page13">
    <p:spTree>
      <p:nvGrpSpPr>
        <p:cNvPr id="1" name=""/>
        <p:cNvGrpSpPr/>
        <p:nvPr/>
      </p:nvGrpSpPr>
      <p:grpSpPr>
        <a:xfrm>
          <a:off x="0" y="0"/>
          <a:ext cx="0" cy="0"/>
          <a:chOff x="0" y="0"/>
          <a:chExt cx="0" cy="0"/>
        </a:xfrm>
      </p:grpSpPr>
      <p:sp>
        <p:nvSpPr>
          <p:cNvPr id="2" name="Tytuł 1"/>
          <p:cNvSpPr txBox="1">
            <a:spLocks noGrp="1"/>
          </p:cNvSpPr>
          <p:nvPr>
            <p:ph type="title" idx="4294967295"/>
          </p:nvPr>
        </p:nvSpPr>
        <p:spPr/>
        <p:txBody>
          <a:bodyPr/>
          <a:lstStyle/>
          <a:p>
            <a:pPr lvl="0"/>
            <a:r>
              <a:rPr lang="pl-PL" sz="5850">
                <a:latin typeface="Arial"/>
                <a:cs typeface="Arial"/>
              </a:rPr>
              <a:t>Panel administratora</a:t>
            </a:r>
          </a:p>
        </p:txBody>
      </p:sp>
      <p:sp>
        <p:nvSpPr>
          <p:cNvPr id="3" name="Symbol zastępczy tekstu 2"/>
          <p:cNvSpPr txBox="1">
            <a:spLocks noGrp="1"/>
          </p:cNvSpPr>
          <p:nvPr>
            <p:ph type="body" idx="4294967295"/>
          </p:nvPr>
        </p:nvSpPr>
        <p:spPr>
          <a:xfrm>
            <a:off x="503998" y="1768678"/>
            <a:ext cx="4753801" cy="5317921"/>
          </a:xfrm>
        </p:spPr>
        <p:txBody>
          <a:bodyPr>
            <a:noAutofit/>
          </a:bodyPr>
          <a:lstStyle/>
          <a:p>
            <a:pPr lvl="0">
              <a:buSzPct val="45000"/>
              <a:buFont typeface="StarSymbol"/>
              <a:buChar char="●"/>
            </a:pPr>
            <a:r>
              <a:rPr lang="pl-PL" sz="2200">
                <a:latin typeface="Arial"/>
                <a:cs typeface="Arial"/>
              </a:rPr>
              <a:t>a) Zakres: lista zgłoszeń z filtrem po statusie/typie; podgląd treści; akcje: zmień status, usuń treść, zablokuj użytkownika, przywróć.</a:t>
            </a:r>
          </a:p>
          <a:p>
            <a:pPr lvl="0">
              <a:buSzPct val="45000"/>
              <a:buFont typeface="StarSymbol"/>
              <a:buChar char="●"/>
            </a:pPr>
            <a:r>
              <a:rPr lang="pl-PL" sz="2200">
                <a:latin typeface="Arial"/>
                <a:cs typeface="Arial"/>
              </a:rPr>
              <a:t>b) Reguły: operacje audytowane (kto, co, kiedy); odblokowanie przywraca dostęp do logowania.</a:t>
            </a:r>
          </a:p>
          <a:p>
            <a:pPr lvl="0">
              <a:buSzPct val="45000"/>
              <a:buFont typeface="StarSymbol"/>
              <a:buChar char="●"/>
            </a:pPr>
            <a:r>
              <a:rPr lang="pl-PL" sz="2200">
                <a:latin typeface="Arial"/>
                <a:cs typeface="Arial"/>
              </a:rPr>
              <a:t>c) Błędy: próba akcji bez uprawnień; konflikt wersji (ktoś już zamknął) - informacja i odświeżenie.</a:t>
            </a:r>
          </a:p>
          <a:p>
            <a:pPr lvl="0">
              <a:buSzPct val="45000"/>
              <a:buFont typeface="StarSymbol"/>
              <a:buChar char="●"/>
            </a:pPr>
            <a:r>
              <a:rPr lang="pl-PL" sz="2200">
                <a:latin typeface="Arial"/>
                <a:cs typeface="Arial"/>
              </a:rPr>
              <a:t>d) Kryteria: zmiana statusu jest widoczna dla wszystkich adminów po odświeżeniu listy.</a:t>
            </a:r>
          </a:p>
        </p:txBody>
      </p:sp>
      <p:pic>
        <p:nvPicPr>
          <p:cNvPr id="4" name="Obraz 3"/>
          <p:cNvPicPr>
            <a:picLocks noChangeAspect="1"/>
          </p:cNvPicPr>
          <p:nvPr/>
        </p:nvPicPr>
        <p:blipFill>
          <a:blip r:embed="rId3">
            <a:lum/>
            <a:alphaModFix/>
          </a:blip>
          <a:srcRect/>
          <a:stretch>
            <a:fillRect/>
          </a:stretch>
        </p:blipFill>
        <p:spPr>
          <a:xfrm>
            <a:off x="5257800" y="1768678"/>
            <a:ext cx="4489923" cy="3489121"/>
          </a:xfrm>
          <a:prstGeom prst="rect">
            <a:avLst/>
          </a:prstGeom>
          <a:noFill/>
          <a:ln cap="flat">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page14">
    <p:spTree>
      <p:nvGrpSpPr>
        <p:cNvPr id="1" name=""/>
        <p:cNvGrpSpPr/>
        <p:nvPr/>
      </p:nvGrpSpPr>
      <p:grpSpPr>
        <a:xfrm>
          <a:off x="0" y="0"/>
          <a:ext cx="0" cy="0"/>
          <a:chOff x="0" y="0"/>
          <a:chExt cx="0" cy="0"/>
        </a:xfrm>
      </p:grpSpPr>
      <p:sp>
        <p:nvSpPr>
          <p:cNvPr id="2" name="Tytuł 1"/>
          <p:cNvSpPr txBox="1">
            <a:spLocks noGrp="1"/>
          </p:cNvSpPr>
          <p:nvPr>
            <p:ph type="title" idx="4294967295"/>
          </p:nvPr>
        </p:nvSpPr>
        <p:spPr/>
        <p:txBody>
          <a:bodyPr/>
          <a:lstStyle/>
          <a:p>
            <a:pPr lvl="0"/>
            <a:r>
              <a:rPr lang="pl-PL" sz="3800">
                <a:latin typeface="Arial"/>
                <a:cs typeface="Arial"/>
              </a:rPr>
              <a:t>Powiadomienia w aplikacji (badge/licznik)</a:t>
            </a:r>
          </a:p>
        </p:txBody>
      </p:sp>
      <p:sp>
        <p:nvSpPr>
          <p:cNvPr id="3" name="Symbol zastępczy tekstu 2"/>
          <p:cNvSpPr txBox="1">
            <a:spLocks noGrp="1"/>
          </p:cNvSpPr>
          <p:nvPr>
            <p:ph type="body" idx="4294967295"/>
          </p:nvPr>
        </p:nvSpPr>
        <p:spPr>
          <a:xfrm>
            <a:off x="503998" y="1768678"/>
            <a:ext cx="9071643" cy="5317921"/>
          </a:xfrm>
        </p:spPr>
        <p:txBody>
          <a:bodyPr>
            <a:noAutofit/>
          </a:bodyPr>
          <a:lstStyle/>
          <a:p>
            <a:pPr lvl="0">
              <a:buSzPct val="45000"/>
              <a:buFont typeface="StarSymbol"/>
              <a:buChar char="●"/>
            </a:pPr>
            <a:r>
              <a:rPr lang="pl-PL" sz="3600">
                <a:latin typeface="Arial"/>
                <a:cs typeface="Arial"/>
              </a:rPr>
              <a:t>a) Zakres: odznaki przy czacie i w menu; liczba nieprzeczytanych per wątek + suma.</a:t>
            </a:r>
          </a:p>
          <a:p>
            <a:pPr lvl="0">
              <a:buSzPct val="45000"/>
              <a:buFont typeface="StarSymbol"/>
              <a:buChar char="●"/>
            </a:pPr>
            <a:r>
              <a:rPr lang="pl-PL" sz="3600">
                <a:latin typeface="Arial"/>
                <a:cs typeface="Arial"/>
              </a:rPr>
              <a:t>b) Reguły: odczyt wątku zeruje licznik; aktualizacja w ≤ 5 s po nowej wiadomości.</a:t>
            </a:r>
          </a:p>
          <a:p>
            <a:pPr lvl="0">
              <a:buSzPct val="45000"/>
              <a:buFont typeface="StarSymbol"/>
              <a:buChar char="●"/>
            </a:pPr>
            <a:r>
              <a:rPr lang="pl-PL" sz="3600">
                <a:latin typeface="Arial"/>
                <a:cs typeface="Arial"/>
              </a:rPr>
              <a:t>c) Błędy: brak połączenia - stan licznika synchronizuje się po powrocie sieci.</a:t>
            </a:r>
          </a:p>
          <a:p>
            <a:pPr lvl="0">
              <a:buSzPct val="45000"/>
              <a:buFont typeface="StarSymbol"/>
              <a:buChar char="●"/>
            </a:pPr>
            <a:r>
              <a:rPr lang="pl-PL" sz="3600">
                <a:latin typeface="Arial"/>
                <a:cs typeface="Arial"/>
              </a:rPr>
              <a:t>d) Kryteria: spójność licznika między widokiem listy wątków a szczegółem.</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page15">
    <p:spTree>
      <p:nvGrpSpPr>
        <p:cNvPr id="1" name=""/>
        <p:cNvGrpSpPr/>
        <p:nvPr/>
      </p:nvGrpSpPr>
      <p:grpSpPr>
        <a:xfrm>
          <a:off x="0" y="0"/>
          <a:ext cx="0" cy="0"/>
          <a:chOff x="0" y="0"/>
          <a:chExt cx="0" cy="0"/>
        </a:xfrm>
      </p:grpSpPr>
      <p:sp>
        <p:nvSpPr>
          <p:cNvPr id="2" name="Tytuł 1"/>
          <p:cNvSpPr txBox="1">
            <a:spLocks noGrp="1"/>
          </p:cNvSpPr>
          <p:nvPr>
            <p:ph type="title" idx="4294967295"/>
          </p:nvPr>
        </p:nvSpPr>
        <p:spPr/>
        <p:txBody>
          <a:bodyPr/>
          <a:lstStyle/>
          <a:p>
            <a:pPr lvl="0"/>
            <a:r>
              <a:rPr lang="pl-PL" sz="5850">
                <a:latin typeface="Arial"/>
                <a:cs typeface="Arial"/>
              </a:rPr>
              <a:t>“Nice to have”</a:t>
            </a:r>
          </a:p>
        </p:txBody>
      </p:sp>
      <p:sp>
        <p:nvSpPr>
          <p:cNvPr id="3" name="Symbol zastępczy tekstu 2"/>
          <p:cNvSpPr txBox="1">
            <a:spLocks noGrp="1"/>
          </p:cNvSpPr>
          <p:nvPr>
            <p:ph type="body" idx="4294967295"/>
          </p:nvPr>
        </p:nvSpPr>
        <p:spPr/>
        <p:txBody>
          <a:bodyPr>
            <a:noAutofit/>
          </a:bodyPr>
          <a:lstStyle/>
          <a:p>
            <a:pPr lvl="0">
              <a:buSzPct val="45000"/>
              <a:buFont typeface="StarSymbol"/>
              <a:buChar char="●"/>
            </a:pPr>
            <a:r>
              <a:rPr lang="pl-PL" sz="3800">
                <a:latin typeface="Arial"/>
                <a:cs typeface="Arial"/>
              </a:rPr>
              <a:t>a) Wyróżnienie oferty: pole „wyróżnij” - badge + podbicie w sortowaniu na 7 dni.</a:t>
            </a:r>
          </a:p>
          <a:p>
            <a:pPr lvl="0">
              <a:buSzPct val="45000"/>
              <a:buFont typeface="StarSymbol"/>
              <a:buChar char="●"/>
            </a:pPr>
            <a:r>
              <a:rPr lang="pl-PL" sz="3800">
                <a:latin typeface="Arial"/>
                <a:cs typeface="Arial"/>
              </a:rPr>
              <a:t>b) Powiadomienie e-mail: wysyłka 1:1 przy pierwszej nieprzeczytanej wiadomości w ciągu 15 min (anty-spam).</a:t>
            </a:r>
          </a:p>
          <a:p>
            <a:pPr lvl="0">
              <a:buSzPct val="45000"/>
              <a:buFont typeface="StarSymbol"/>
              <a:buChar char="●"/>
            </a:pPr>
            <a:r>
              <a:rPr lang="pl-PL" sz="3800">
                <a:latin typeface="Arial"/>
                <a:cs typeface="Arial"/>
              </a:rPr>
              <a:t>c) Pełnotekstowe wyszukiwanie: indeks tytuł+opis+tagi; paginacja; sort wg trafności.</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ytuł 1"/>
          <p:cNvSpPr txBox="1">
            <a:spLocks noGrp="1"/>
          </p:cNvSpPr>
          <p:nvPr>
            <p:ph type="title" idx="4294967295"/>
          </p:nvPr>
        </p:nvSpPr>
        <p:spPr/>
        <p:txBody>
          <a:bodyPr/>
          <a:lstStyle/>
          <a:p>
            <a:pPr lvl="0"/>
            <a:r>
              <a:rPr lang="pl-PL" sz="5400">
                <a:latin typeface="Arial"/>
                <a:cs typeface="Arial"/>
              </a:rPr>
              <a:t>Wymagania niefunkcjonalne</a:t>
            </a:r>
          </a:p>
        </p:txBody>
      </p:sp>
      <p:sp>
        <p:nvSpPr>
          <p:cNvPr id="3" name="Symbol zastępczy tekstu 2"/>
          <p:cNvSpPr txBox="1">
            <a:spLocks noGrp="1"/>
          </p:cNvSpPr>
          <p:nvPr>
            <p:ph type="body" idx="4294967295"/>
          </p:nvPr>
        </p:nvSpPr>
        <p:spPr>
          <a:xfrm>
            <a:off x="503998" y="1768678"/>
            <a:ext cx="9071643" cy="5089321"/>
          </a:xfrm>
        </p:spPr>
        <p:txBody>
          <a:bodyPr>
            <a:noAutofit/>
          </a:bodyPr>
          <a:lstStyle/>
          <a:p>
            <a:pPr marL="342900" lvl="0" indent="-342900">
              <a:buSzPct val="45000"/>
              <a:buFont typeface="Arial"/>
              <a:buChar char="•"/>
            </a:pPr>
            <a:r>
              <a:rPr lang="pl-PL" sz="3200">
                <a:latin typeface="Arial"/>
                <a:cs typeface="Arial"/>
              </a:rPr>
              <a:t>Wydajność</a:t>
            </a:r>
            <a:br>
              <a:rPr lang="pl-PL" sz="3200">
                <a:latin typeface="Arial"/>
                <a:cs typeface="Arial"/>
              </a:rPr>
            </a:br>
            <a:r>
              <a:rPr lang="pl-PL" sz="3200">
                <a:latin typeface="Arial"/>
                <a:cs typeface="Arial"/>
              </a:rPr>
              <a:t>Pojemność (testowo)</a:t>
            </a:r>
            <a:br>
              <a:rPr lang="pl-PL" sz="3200">
                <a:latin typeface="Arial"/>
                <a:cs typeface="Arial"/>
              </a:rPr>
            </a:br>
            <a:r>
              <a:rPr lang="pl-PL" sz="3200">
                <a:latin typeface="Arial"/>
                <a:cs typeface="Arial"/>
              </a:rPr>
              <a:t>Użyteczność</a:t>
            </a:r>
            <a:br>
              <a:rPr lang="pl-PL" sz="3200">
                <a:latin typeface="Arial"/>
                <a:cs typeface="Arial"/>
              </a:rPr>
            </a:br>
            <a:r>
              <a:rPr lang="pl-PL" sz="3200">
                <a:latin typeface="Arial"/>
                <a:cs typeface="Arial"/>
              </a:rPr>
              <a:t>Dane i spójność</a:t>
            </a:r>
            <a:br>
              <a:rPr lang="pl-PL" sz="3200">
                <a:latin typeface="Arial"/>
                <a:cs typeface="Arial"/>
              </a:rPr>
            </a:br>
            <a:r>
              <a:rPr lang="pl-PL" sz="3200">
                <a:latin typeface="Arial"/>
                <a:cs typeface="Arial"/>
              </a:rPr>
              <a:t>Bezpieczeństwo</a:t>
            </a:r>
            <a:br>
              <a:rPr lang="pl-PL" sz="3200">
                <a:latin typeface="Arial"/>
                <a:cs typeface="Arial"/>
              </a:rPr>
            </a:br>
            <a:r>
              <a:rPr lang="pl-PL" sz="3200">
                <a:latin typeface="Arial"/>
                <a:cs typeface="Arial"/>
              </a:rPr>
              <a:t>Prywatność</a:t>
            </a:r>
            <a:br>
              <a:rPr lang="pl-PL" sz="3200">
                <a:latin typeface="Arial"/>
                <a:cs typeface="Arial"/>
              </a:rPr>
            </a:br>
            <a:r>
              <a:rPr lang="pl-PL" sz="3200">
                <a:latin typeface="Arial"/>
                <a:cs typeface="Arial"/>
              </a:rPr>
              <a:t>Stabilność</a:t>
            </a:r>
            <a:br>
              <a:rPr lang="pl-PL" sz="3200">
                <a:latin typeface="Arial"/>
                <a:cs typeface="Arial"/>
              </a:rPr>
            </a:br>
            <a:r>
              <a:rPr lang="pl-PL" sz="3200">
                <a:latin typeface="Arial"/>
                <a:cs typeface="Arial"/>
              </a:rPr>
              <a:t>Skalowalność</a:t>
            </a:r>
            <a:br>
              <a:rPr lang="pl-PL" sz="3200">
                <a:latin typeface="Arial"/>
                <a:cs typeface="Arial"/>
              </a:rPr>
            </a:br>
            <a:r>
              <a:rPr lang="pl-PL" sz="3200">
                <a:latin typeface="Arial"/>
                <a:cs typeface="Arial"/>
              </a:rPr>
              <a:t>Obserwowalność</a:t>
            </a:r>
            <a:br>
              <a:rPr lang="pl-PL" sz="3200">
                <a:latin typeface="Arial"/>
                <a:cs typeface="Arial"/>
              </a:rPr>
            </a:br>
            <a:r>
              <a:rPr lang="pl-PL" sz="3200">
                <a:latin typeface="Arial"/>
                <a:cs typeface="Arial"/>
              </a:rPr>
              <a:t>Kopie zapasowe</a:t>
            </a:r>
            <a:endParaRPr lang="pl-PL" sz="3200">
              <a:cs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71417-92A6-B645-AE07-9E32FAC35D8D}"/>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FC1F0EE4-8534-8511-F11D-963BB9EBD9E9}"/>
              </a:ext>
            </a:extLst>
          </p:cNvPr>
          <p:cNvSpPr txBox="1">
            <a:spLocks noGrp="1"/>
          </p:cNvSpPr>
          <p:nvPr>
            <p:ph type="title" idx="4294967295"/>
          </p:nvPr>
        </p:nvSpPr>
        <p:spPr/>
        <p:txBody>
          <a:bodyPr/>
          <a:lstStyle/>
          <a:p>
            <a:pPr lvl="0"/>
            <a:r>
              <a:rPr lang="pl-PL" sz="5850">
                <a:latin typeface="Arial"/>
                <a:cs typeface="Arial"/>
              </a:rPr>
              <a:t>Wydajność</a:t>
            </a:r>
            <a:endParaRPr lang="pl-PL"/>
          </a:p>
        </p:txBody>
      </p:sp>
      <p:sp>
        <p:nvSpPr>
          <p:cNvPr id="3" name="Symbol zastępczy tekstu 2">
            <a:extLst>
              <a:ext uri="{FF2B5EF4-FFF2-40B4-BE49-F238E27FC236}">
                <a16:creationId xmlns:a16="http://schemas.microsoft.com/office/drawing/2014/main" id="{C9CBBEF7-51F7-241C-7485-C0079E1DFC62}"/>
              </a:ext>
            </a:extLst>
          </p:cNvPr>
          <p:cNvSpPr txBox="1">
            <a:spLocks noGrp="1"/>
          </p:cNvSpPr>
          <p:nvPr>
            <p:ph type="body" idx="4294967295"/>
          </p:nvPr>
        </p:nvSpPr>
        <p:spPr/>
        <p:txBody>
          <a:bodyPr>
            <a:noAutofit/>
          </a:bodyPr>
          <a:lstStyle/>
          <a:p>
            <a:pPr algn="l">
              <a:spcBef>
                <a:spcPts val="1889"/>
              </a:spcBef>
              <a:buSzPct val="45000"/>
            </a:pPr>
            <a:r>
              <a:rPr lang="pl-PL" sz="2000">
                <a:latin typeface="Liberation Sans"/>
                <a:cs typeface="Arial"/>
              </a:rPr>
              <a:t>System powinien odpowiadać na żądania typowych stron (strona główna, lista ogłoszeń, szczegóły oferty) w czasie nieprzekraczającym </a:t>
            </a:r>
            <a:r>
              <a:rPr lang="pl-PL" sz="2000" b="1">
                <a:latin typeface="Liberation Sans"/>
                <a:cs typeface="Arial"/>
              </a:rPr>
              <a:t>1 sekundy</a:t>
            </a:r>
            <a:r>
              <a:rPr lang="pl-PL" sz="2000">
                <a:latin typeface="Liberation Sans"/>
                <a:cs typeface="Arial"/>
              </a:rPr>
              <a:t> przy normalnym obciążeniu. Strony wymagające złożonych zapytań (wyszukiwanie pełnotekstowe, filtrowanie) — poniżej </a:t>
            </a:r>
            <a:r>
              <a:rPr lang="pl-PL" sz="2000" b="1">
                <a:latin typeface="Liberation Sans"/>
                <a:cs typeface="Arial"/>
              </a:rPr>
              <a:t>2 sekund</a:t>
            </a:r>
            <a:r>
              <a:rPr lang="pl-PL" sz="2000">
                <a:latin typeface="Liberation Sans"/>
                <a:cs typeface="Arial"/>
              </a:rPr>
              <a:t>. Osiągalne dzięki:</a:t>
            </a:r>
            <a:endParaRPr lang="pl-PL" sz="2000"/>
          </a:p>
          <a:p>
            <a:pPr algn="l">
              <a:spcBef>
                <a:spcPts val="1889"/>
              </a:spcBef>
            </a:pPr>
            <a:r>
              <a:rPr lang="pl-PL" sz="2000">
                <a:latin typeface="Liberation Sans"/>
                <a:cs typeface="Arial"/>
              </a:rPr>
              <a:t>• indeksom B-tree na kolumnach sortujących (</a:t>
            </a:r>
            <a:r>
              <a:rPr lang="pl-PL" sz="2000">
                <a:latin typeface="Courier New"/>
                <a:cs typeface="Courier New"/>
              </a:rPr>
              <a:t>CreatedAt</a:t>
            </a:r>
            <a:r>
              <a:rPr lang="pl-PL" sz="2000">
                <a:latin typeface="Liberation Sans"/>
                <a:cs typeface="Arial"/>
              </a:rPr>
              <a:t>, </a:t>
            </a:r>
            <a:r>
              <a:rPr lang="pl-PL" sz="2000">
                <a:latin typeface="Courier New"/>
                <a:cs typeface="Courier New"/>
              </a:rPr>
              <a:t>Price</a:t>
            </a:r>
            <a:r>
              <a:rPr lang="pl-PL" sz="2000">
                <a:latin typeface="Liberation Sans"/>
                <a:cs typeface="Arial"/>
              </a:rPr>
              <a:t>, </a:t>
            </a:r>
            <a:r>
              <a:rPr lang="pl-PL" sz="2000">
                <a:latin typeface="Courier New"/>
                <a:cs typeface="Courier New"/>
              </a:rPr>
              <a:t>ViewCount</a:t>
            </a:r>
            <a:r>
              <a:rPr lang="pl-PL" sz="2000">
                <a:latin typeface="Liberation Sans"/>
                <a:cs typeface="Arial"/>
              </a:rPr>
              <a:t>, </a:t>
            </a:r>
            <a:r>
              <a:rPr lang="pl-PL" sz="2000">
                <a:latin typeface="Courier New"/>
                <a:cs typeface="Courier New"/>
              </a:rPr>
              <a:t>UpdatedAt</a:t>
            </a:r>
            <a:r>
              <a:rPr lang="pl-PL" sz="2000">
                <a:latin typeface="Liberation Sans"/>
                <a:cs typeface="Arial"/>
              </a:rPr>
              <a:t>) i filtrujących (</a:t>
            </a:r>
            <a:r>
              <a:rPr lang="pl-PL" sz="2000">
                <a:latin typeface="Courier New"/>
                <a:cs typeface="Courier New"/>
              </a:rPr>
              <a:t>Type</a:t>
            </a:r>
            <a:r>
              <a:rPr lang="pl-PL" sz="2000">
                <a:latin typeface="Liberation Sans"/>
                <a:cs typeface="Arial"/>
              </a:rPr>
              <a:t>, </a:t>
            </a:r>
            <a:r>
              <a:rPr lang="pl-PL" sz="2000">
                <a:latin typeface="Courier New"/>
                <a:cs typeface="Courier New"/>
              </a:rPr>
              <a:t>Status</a:t>
            </a:r>
            <a:r>
              <a:rPr lang="pl-PL" sz="2000">
                <a:latin typeface="Liberation Sans"/>
                <a:cs typeface="Arial"/>
              </a:rPr>
              <a:t>, </a:t>
            </a:r>
            <a:r>
              <a:rPr lang="pl-PL" sz="2000">
                <a:latin typeface="Courier New"/>
                <a:cs typeface="Courier New"/>
              </a:rPr>
              <a:t>IsRead</a:t>
            </a:r>
            <a:r>
              <a:rPr lang="pl-PL" sz="2000">
                <a:latin typeface="Liberation Sans"/>
                <a:cs typeface="Arial"/>
              </a:rPr>
              <a:t>)</a:t>
            </a:r>
            <a:br>
              <a:rPr lang="pl-PL" sz="2000">
                <a:latin typeface="Liberation Sans"/>
                <a:cs typeface="Arial"/>
              </a:rPr>
            </a:br>
            <a:r>
              <a:rPr lang="pl-PL" sz="2000">
                <a:latin typeface="Liberation Sans"/>
                <a:cs typeface="Arial"/>
              </a:rPr>
              <a:t>• indeksom częściowym dla najczęstszego przypadku przeglądania (</a:t>
            </a:r>
            <a:r>
              <a:rPr lang="pl-PL" sz="2000">
                <a:latin typeface="Courier New"/>
                <a:cs typeface="Courier New"/>
              </a:rPr>
              <a:t>IsArchived=false AND IsSold=false AND IsPrivate=false AND StockQuantity&gt;0</a:t>
            </a:r>
            <a:r>
              <a:rPr lang="pl-PL" sz="2000">
                <a:latin typeface="Liberation Sans"/>
                <a:cs typeface="Arial"/>
              </a:rPr>
              <a:t>)</a:t>
            </a:r>
            <a:br>
              <a:rPr lang="pl-PL" sz="2000">
                <a:latin typeface="Liberation Sans"/>
                <a:cs typeface="Arial"/>
              </a:rPr>
            </a:br>
            <a:r>
              <a:rPr lang="pl-PL" sz="2000">
                <a:latin typeface="Liberation Sans"/>
                <a:cs typeface="Arial"/>
              </a:rPr>
              <a:t>• indeksom GIN trigram (</a:t>
            </a:r>
            <a:r>
              <a:rPr lang="pl-PL" sz="2000">
                <a:latin typeface="Courier New"/>
                <a:cs typeface="Courier New"/>
              </a:rPr>
              <a:t>pg_trgm</a:t>
            </a:r>
            <a:r>
              <a:rPr lang="pl-PL" sz="2000">
                <a:latin typeface="Liberation Sans"/>
                <a:cs typeface="Arial"/>
              </a:rPr>
              <a:t>) na </a:t>
            </a:r>
            <a:r>
              <a:rPr lang="pl-PL" sz="2000">
                <a:latin typeface="Courier New"/>
                <a:cs typeface="Courier New"/>
              </a:rPr>
              <a:t>Title</a:t>
            </a:r>
            <a:r>
              <a:rPr lang="pl-PL" sz="2000">
                <a:latin typeface="Liberation Sans"/>
                <a:cs typeface="Arial"/>
              </a:rPr>
              <a:t> i </a:t>
            </a:r>
            <a:r>
              <a:rPr lang="pl-PL" sz="2000">
                <a:latin typeface="Courier New"/>
                <a:cs typeface="Courier New"/>
              </a:rPr>
              <a:t>Description</a:t>
            </a:r>
            <a:r>
              <a:rPr lang="pl-PL" sz="2000">
                <a:latin typeface="Liberation Sans"/>
                <a:cs typeface="Arial"/>
              </a:rPr>
              <a:t> przyspieszającym zapytania </a:t>
            </a:r>
            <a:r>
              <a:rPr lang="pl-PL" sz="2000">
                <a:latin typeface="Courier New"/>
                <a:cs typeface="Courier New"/>
              </a:rPr>
              <a:t>ILIKE</a:t>
            </a:r>
            <a:br>
              <a:rPr lang="pl-PL" sz="2000">
                <a:latin typeface="Courier New"/>
                <a:cs typeface="Courier New"/>
              </a:rPr>
            </a:br>
            <a:r>
              <a:rPr lang="pl-PL" sz="2000">
                <a:latin typeface="Liberation Sans"/>
                <a:cs typeface="Arial"/>
              </a:rPr>
              <a:t>• indeksom złożonym na </a:t>
            </a:r>
            <a:r>
              <a:rPr lang="pl-PL" sz="2000">
                <a:latin typeface="Courier New"/>
                <a:cs typeface="Courier New"/>
              </a:rPr>
              <a:t>(UserId, IsRead)</a:t>
            </a:r>
            <a:r>
              <a:rPr lang="pl-PL" sz="2000">
                <a:latin typeface="Liberation Sans"/>
                <a:cs typeface="Arial"/>
              </a:rPr>
              <a:t> w tabeli powiadomień, zapytanych przy każdym renderowaniu strony</a:t>
            </a:r>
            <a:br>
              <a:rPr lang="pl-PL" sz="2000">
                <a:latin typeface="Liberation Sans"/>
                <a:cs typeface="Arial"/>
              </a:rPr>
            </a:br>
            <a:r>
              <a:rPr lang="pl-PL" sz="2000">
                <a:latin typeface="Liberation Sans"/>
                <a:cs typeface="Arial"/>
              </a:rPr>
              <a:t>• minimalizacji N+1 poprzez </a:t>
            </a:r>
            <a:r>
              <a:rPr lang="pl-PL" sz="2000">
                <a:latin typeface="Courier New"/>
                <a:cs typeface="Courier New"/>
              </a:rPr>
              <a:t>Include</a:t>
            </a:r>
            <a:r>
              <a:rPr lang="pl-PL" sz="2000">
                <a:latin typeface="Liberation Sans"/>
                <a:cs typeface="Arial"/>
              </a:rPr>
              <a:t>/</a:t>
            </a:r>
            <a:r>
              <a:rPr lang="pl-PL" sz="2000">
                <a:latin typeface="Courier New"/>
                <a:cs typeface="Courier New"/>
              </a:rPr>
              <a:t>ThenInclude</a:t>
            </a:r>
            <a:r>
              <a:rPr lang="pl-PL" sz="2000">
                <a:latin typeface="Liberation Sans"/>
                <a:cs typeface="Arial"/>
              </a:rPr>
              <a:t> w Entity Framework Core</a:t>
            </a:r>
            <a:endParaRPr lang="pl-PL" sz="2000"/>
          </a:p>
          <a:p>
            <a:pPr lvl="0">
              <a:spcBef>
                <a:spcPts val="1889"/>
              </a:spcBef>
              <a:buSzPct val="45000"/>
              <a:buFont typeface="StarSymbol"/>
              <a:buChar char="●"/>
            </a:pPr>
            <a:endParaRPr lang="pl-PL" sz="2000">
              <a:latin typeface="Arial"/>
              <a:cs typeface="Arial"/>
            </a:endParaRPr>
          </a:p>
        </p:txBody>
      </p:sp>
    </p:spTree>
    <p:extLst>
      <p:ext uri="{BB962C8B-B14F-4D97-AF65-F5344CB8AC3E}">
        <p14:creationId xmlns:p14="http://schemas.microsoft.com/office/powerpoint/2010/main" val="4044265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63979-5577-34C7-6577-18733EDB348D}"/>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66B04399-13BA-AFD2-E220-088B87523F3B}"/>
              </a:ext>
            </a:extLst>
          </p:cNvPr>
          <p:cNvSpPr txBox="1">
            <a:spLocks noGrp="1"/>
          </p:cNvSpPr>
          <p:nvPr>
            <p:ph type="title" idx="4294967295"/>
          </p:nvPr>
        </p:nvSpPr>
        <p:spPr/>
        <p:txBody>
          <a:bodyPr/>
          <a:lstStyle/>
          <a:p>
            <a:r>
              <a:rPr lang="pl-PL" sz="5850">
                <a:latin typeface="Arial"/>
                <a:cs typeface="Arial"/>
              </a:rPr>
              <a:t>Pojemność (testowo)</a:t>
            </a:r>
            <a:endParaRPr lang="pl-PL"/>
          </a:p>
        </p:txBody>
      </p:sp>
      <p:sp>
        <p:nvSpPr>
          <p:cNvPr id="3" name="Symbol zastępczy tekstu 2">
            <a:extLst>
              <a:ext uri="{FF2B5EF4-FFF2-40B4-BE49-F238E27FC236}">
                <a16:creationId xmlns:a16="http://schemas.microsoft.com/office/drawing/2014/main" id="{5C9C1188-179C-3E30-F552-9FF48E6C4D28}"/>
              </a:ext>
            </a:extLst>
          </p:cNvPr>
          <p:cNvSpPr txBox="1">
            <a:spLocks noGrp="1"/>
          </p:cNvSpPr>
          <p:nvPr>
            <p:ph type="body" idx="4294967295"/>
          </p:nvPr>
        </p:nvSpPr>
        <p:spPr>
          <a:xfrm>
            <a:off x="503998" y="1768678"/>
            <a:ext cx="9071643" cy="5285122"/>
          </a:xfrm>
        </p:spPr>
        <p:txBody>
          <a:bodyPr>
            <a:noAutofit/>
          </a:bodyPr>
          <a:lstStyle/>
          <a:p>
            <a:pPr algn="l">
              <a:spcBef>
                <a:spcPts val="1889"/>
              </a:spcBef>
            </a:pPr>
            <a:r>
              <a:rPr lang="pl-PL" sz="2300">
                <a:latin typeface="Arial"/>
                <a:cs typeface="Arial"/>
              </a:rPr>
              <a:t>W środowisku deweloperskim (Replit PostgreSQL) system obsługuje:</a:t>
            </a:r>
          </a:p>
          <a:p>
            <a:pPr marL="285750" indent="-285750" algn="l">
              <a:spcBef>
                <a:spcPts val="1889"/>
              </a:spcBef>
              <a:buFont typeface="Arial"/>
              <a:buChar char="•"/>
            </a:pPr>
            <a:r>
              <a:rPr lang="pl-PL" sz="2300">
                <a:latin typeface="Arial"/>
                <a:cs typeface="Arial"/>
              </a:rPr>
              <a:t>do </a:t>
            </a:r>
            <a:r>
              <a:rPr lang="pl-PL" sz="2300" b="1">
                <a:latin typeface="Arial"/>
                <a:cs typeface="Arial"/>
              </a:rPr>
              <a:t>1 000 aktywnych ogłoszeń</a:t>
            </a:r>
            <a:r>
              <a:rPr lang="pl-PL" sz="2300">
                <a:latin typeface="Arial"/>
                <a:cs typeface="Arial"/>
              </a:rPr>
              <a:t> bez zauważalnego spadku wydajności</a:t>
            </a:r>
          </a:p>
          <a:p>
            <a:pPr marL="285750" indent="-285750" algn="l">
              <a:spcBef>
                <a:spcPts val="1889"/>
              </a:spcBef>
              <a:buFont typeface="Arial"/>
              <a:buChar char="•"/>
            </a:pPr>
            <a:r>
              <a:rPr lang="pl-PL" sz="2300">
                <a:latin typeface="Arial"/>
                <a:cs typeface="Arial"/>
              </a:rPr>
              <a:t>do </a:t>
            </a:r>
            <a:r>
              <a:rPr lang="pl-PL" sz="2300" b="1">
                <a:latin typeface="Arial"/>
                <a:cs typeface="Arial"/>
              </a:rPr>
              <a:t>500 zarejestrowanych użytkowników</a:t>
            </a:r>
            <a:endParaRPr lang="pl-PL" sz="2300">
              <a:latin typeface="Arial"/>
              <a:cs typeface="Arial"/>
            </a:endParaRPr>
          </a:p>
          <a:p>
            <a:pPr marL="285750" indent="-285750" algn="l">
              <a:spcBef>
                <a:spcPts val="1889"/>
              </a:spcBef>
              <a:buFont typeface="Arial"/>
              <a:buChar char="•"/>
            </a:pPr>
            <a:r>
              <a:rPr lang="pl-PL" sz="2300">
                <a:latin typeface="Arial"/>
                <a:cs typeface="Arial"/>
              </a:rPr>
              <a:t>pliki zdjęć ogłoszeń przechowywane na dysku serwera (katalog </a:t>
            </a:r>
            <a:r>
              <a:rPr lang="pl-PL" sz="2300">
                <a:latin typeface="Courier New"/>
                <a:cs typeface="Courier New"/>
              </a:rPr>
              <a:t>uploads/</a:t>
            </a:r>
            <a:r>
              <a:rPr lang="pl-PL" sz="2300">
                <a:latin typeface="Arial"/>
                <a:cs typeface="Arial"/>
              </a:rPr>
              <a:t>), limit rozmiaru pojedynczego pliku: </a:t>
            </a:r>
            <a:r>
              <a:rPr lang="pl-PL" sz="2300" b="1">
                <a:latin typeface="Arial"/>
                <a:cs typeface="Arial"/>
              </a:rPr>
              <a:t>5 MB</a:t>
            </a:r>
            <a:r>
              <a:rPr lang="pl-PL" sz="2300">
                <a:latin typeface="Arial"/>
                <a:cs typeface="Arial"/>
              </a:rPr>
              <a:t>, obsługiwane formaty: JPEG, PNG, WebP</a:t>
            </a:r>
          </a:p>
          <a:p>
            <a:pPr marL="285750" indent="-285750" algn="l">
              <a:spcBef>
                <a:spcPts val="1889"/>
              </a:spcBef>
              <a:buFont typeface="Arial"/>
              <a:buChar char="•"/>
            </a:pPr>
            <a:r>
              <a:rPr lang="pl-PL" sz="2300">
                <a:latin typeface="Arial"/>
                <a:cs typeface="Arial"/>
              </a:rPr>
              <a:t>maksymalnie </a:t>
            </a:r>
            <a:r>
              <a:rPr lang="pl-PL" sz="2300" b="1">
                <a:latin typeface="Arial"/>
                <a:cs typeface="Arial"/>
              </a:rPr>
              <a:t>10 zdjęć</a:t>
            </a:r>
            <a:r>
              <a:rPr lang="pl-PL" sz="2300">
                <a:latin typeface="Arial"/>
                <a:cs typeface="Arial"/>
              </a:rPr>
              <a:t> na ogłoszenie i </a:t>
            </a:r>
            <a:r>
              <a:rPr lang="pl-PL" sz="2300" b="1">
                <a:latin typeface="Arial"/>
                <a:cs typeface="Arial"/>
              </a:rPr>
              <a:t>5 zdjęć</a:t>
            </a:r>
            <a:r>
              <a:rPr lang="pl-PL" sz="2300">
                <a:latin typeface="Arial"/>
                <a:cs typeface="Arial"/>
              </a:rPr>
              <a:t> na recenzję</a:t>
            </a:r>
          </a:p>
          <a:p>
            <a:pPr algn="l">
              <a:spcBef>
                <a:spcPts val="1889"/>
              </a:spcBef>
            </a:pPr>
            <a:r>
              <a:rPr lang="pl-PL" sz="2300">
                <a:latin typeface="Arial"/>
                <a:cs typeface="Arial"/>
              </a:rPr>
              <a:t>Środowisko produkcyjne (Docker + PostgreSQL 16) projektowane na skalę rzędu </a:t>
            </a:r>
            <a:r>
              <a:rPr lang="pl-PL" sz="2300" b="1">
                <a:latin typeface="Arial"/>
                <a:cs typeface="Arial"/>
              </a:rPr>
              <a:t>50 000 ogłoszeń</a:t>
            </a:r>
            <a:r>
              <a:rPr lang="pl-PL" sz="2300">
                <a:latin typeface="Arial"/>
                <a:cs typeface="Arial"/>
              </a:rPr>
              <a:t> i </a:t>
            </a:r>
            <a:r>
              <a:rPr lang="pl-PL" sz="2300" b="1">
                <a:latin typeface="Arial"/>
                <a:cs typeface="Arial"/>
              </a:rPr>
              <a:t>10 000 użytkowników</a:t>
            </a:r>
            <a:r>
              <a:rPr lang="pl-PL" sz="2300">
                <a:latin typeface="Arial"/>
                <a:cs typeface="Arial"/>
              </a:rPr>
              <a:t> przy odpowiednim zasobie serwera.</a:t>
            </a:r>
          </a:p>
          <a:p>
            <a:pPr lvl="0" algn="l">
              <a:spcBef>
                <a:spcPts val="1889"/>
              </a:spcBef>
            </a:pPr>
            <a:endParaRPr lang="pl-PL" sz="2300">
              <a:latin typeface="Arial"/>
              <a:cs typeface="Arial"/>
            </a:endParaRPr>
          </a:p>
        </p:txBody>
      </p:sp>
    </p:spTree>
    <p:extLst>
      <p:ext uri="{BB962C8B-B14F-4D97-AF65-F5344CB8AC3E}">
        <p14:creationId xmlns:p14="http://schemas.microsoft.com/office/powerpoint/2010/main" val="627247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E14A9-F573-D562-A740-529618636CD6}"/>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CA57DAEC-E4D2-3432-4DA7-DC46FC1A3DAB}"/>
              </a:ext>
            </a:extLst>
          </p:cNvPr>
          <p:cNvSpPr txBox="1">
            <a:spLocks noGrp="1"/>
          </p:cNvSpPr>
          <p:nvPr>
            <p:ph type="title" idx="4294967295"/>
          </p:nvPr>
        </p:nvSpPr>
        <p:spPr/>
        <p:txBody>
          <a:bodyPr/>
          <a:lstStyle/>
          <a:p>
            <a:r>
              <a:rPr lang="pl-PL" sz="5850">
                <a:latin typeface="Arial"/>
                <a:cs typeface="Arial"/>
              </a:rPr>
              <a:t>Użyteczność</a:t>
            </a:r>
            <a:endParaRPr lang="pl-PL"/>
          </a:p>
        </p:txBody>
      </p:sp>
      <p:sp>
        <p:nvSpPr>
          <p:cNvPr id="3" name="Symbol zastępczy tekstu 2">
            <a:extLst>
              <a:ext uri="{FF2B5EF4-FFF2-40B4-BE49-F238E27FC236}">
                <a16:creationId xmlns:a16="http://schemas.microsoft.com/office/drawing/2014/main" id="{13755219-034C-DDCD-724F-FF6DAD917EAE}"/>
              </a:ext>
            </a:extLst>
          </p:cNvPr>
          <p:cNvSpPr txBox="1">
            <a:spLocks noGrp="1"/>
          </p:cNvSpPr>
          <p:nvPr>
            <p:ph type="body" idx="4294967295"/>
          </p:nvPr>
        </p:nvSpPr>
        <p:spPr>
          <a:xfrm>
            <a:off x="503998" y="1768678"/>
            <a:ext cx="9071643" cy="5285122"/>
          </a:xfrm>
        </p:spPr>
        <p:txBody>
          <a:bodyPr>
            <a:noAutofit/>
          </a:bodyPr>
          <a:lstStyle/>
          <a:p>
            <a:pPr marL="285750" indent="-285750" algn="l">
              <a:spcBef>
                <a:spcPts val="1889"/>
              </a:spcBef>
              <a:buFont typeface="Arial"/>
              <a:buChar char="•"/>
            </a:pPr>
            <a:r>
              <a:rPr lang="pl-PL" sz="2200">
                <a:latin typeface="Arial"/>
                <a:cs typeface="Arial"/>
              </a:rPr>
              <a:t>Interfejs w języku polskim, responsywny (Bootstrap 5), działający na urządzeniach mobilnych i desktopowych</a:t>
            </a:r>
          </a:p>
          <a:p>
            <a:pPr marL="285750" indent="-285750" algn="l">
              <a:spcBef>
                <a:spcPts val="1889"/>
              </a:spcBef>
              <a:buFont typeface="Arial"/>
              <a:buChar char="•"/>
            </a:pPr>
            <a:r>
              <a:rPr lang="pl-PL" sz="2200">
                <a:latin typeface="Arial"/>
                <a:cs typeface="Arial"/>
              </a:rPr>
              <a:t>Kluczowe przepływy (przeglądanie → szczegóły → zakup / propozycja wymiany) osiągalne w nie więcej niż </a:t>
            </a:r>
            <a:r>
              <a:rPr lang="pl-PL" sz="2200" b="1">
                <a:latin typeface="Arial"/>
                <a:cs typeface="Arial"/>
              </a:rPr>
              <a:t>3 kliknięciach</a:t>
            </a:r>
            <a:r>
              <a:rPr lang="pl-PL" sz="2200">
                <a:latin typeface="Arial"/>
                <a:cs typeface="Arial"/>
              </a:rPr>
              <a:t> od strony głównej</a:t>
            </a:r>
          </a:p>
          <a:p>
            <a:pPr marL="285750" indent="-285750" algn="l">
              <a:spcBef>
                <a:spcPts val="1889"/>
              </a:spcBef>
              <a:buFont typeface="Arial"/>
              <a:buChar char="•"/>
            </a:pPr>
            <a:r>
              <a:rPr lang="pl-PL" sz="2200">
                <a:latin typeface="Arial"/>
                <a:cs typeface="Arial"/>
              </a:rPr>
              <a:t>Komunikaty błędów walidacji formularzy wyświetlane inline przy polach, bez utraty wprowadzonych danych</a:t>
            </a:r>
          </a:p>
          <a:p>
            <a:pPr marL="285750" indent="-285750" algn="l">
              <a:spcBef>
                <a:spcPts val="1889"/>
              </a:spcBef>
              <a:buFont typeface="Arial"/>
              <a:buChar char="•"/>
            </a:pPr>
            <a:r>
              <a:rPr lang="pl-PL" sz="2200">
                <a:latin typeface="Arial"/>
                <a:cs typeface="Arial"/>
              </a:rPr>
              <a:t>Powiadomienia o zdarzeniach (nowa wiadomość, zmiana statusu zamówienia, nowa propozycja wymiany) widoczne w nagłówku przy każdym odświeżeniu strony</a:t>
            </a:r>
          </a:p>
          <a:p>
            <a:pPr marL="285750" indent="-285750" algn="l">
              <a:spcBef>
                <a:spcPts val="1889"/>
              </a:spcBef>
              <a:buFont typeface="Arial"/>
              <a:buChar char="•"/>
            </a:pPr>
            <a:r>
              <a:rPr lang="pl-PL" sz="2200">
                <a:latin typeface="Arial"/>
                <a:cs typeface="Arial"/>
              </a:rPr>
              <a:t>Strony szczegółów ogłoszenia zawierają wszystkie informacje potrzebne do podjęcia decyzji bez wychodzenia poza widok (opis, zdjęcia, lokalizacja, opcje dostawy, ocena sprzedawcy)</a:t>
            </a:r>
          </a:p>
          <a:p>
            <a:pPr algn="l">
              <a:spcBef>
                <a:spcPts val="1889"/>
              </a:spcBef>
            </a:pPr>
            <a:endParaRPr lang="pl-PL" sz="2200">
              <a:latin typeface="Arial"/>
              <a:cs typeface="Arial"/>
            </a:endParaRPr>
          </a:p>
        </p:txBody>
      </p:sp>
    </p:spTree>
    <p:extLst>
      <p:ext uri="{BB962C8B-B14F-4D97-AF65-F5344CB8AC3E}">
        <p14:creationId xmlns:p14="http://schemas.microsoft.com/office/powerpoint/2010/main" val="38010967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AC34F-02FA-2415-E8CC-93C7122F6365}"/>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C5842A51-798F-DC92-88E8-73EA763F2A96}"/>
              </a:ext>
            </a:extLst>
          </p:cNvPr>
          <p:cNvSpPr txBox="1">
            <a:spLocks noGrp="1"/>
          </p:cNvSpPr>
          <p:nvPr>
            <p:ph type="title" idx="4294967295"/>
          </p:nvPr>
        </p:nvSpPr>
        <p:spPr/>
        <p:txBody>
          <a:bodyPr/>
          <a:lstStyle/>
          <a:p>
            <a:r>
              <a:rPr lang="pl-PL" sz="5850">
                <a:latin typeface="Arial"/>
                <a:cs typeface="Arial"/>
              </a:rPr>
              <a:t>Dane i spójność</a:t>
            </a:r>
            <a:endParaRPr lang="pl-PL"/>
          </a:p>
        </p:txBody>
      </p:sp>
      <p:sp>
        <p:nvSpPr>
          <p:cNvPr id="3" name="Symbol zastępczy tekstu 2">
            <a:extLst>
              <a:ext uri="{FF2B5EF4-FFF2-40B4-BE49-F238E27FC236}">
                <a16:creationId xmlns:a16="http://schemas.microsoft.com/office/drawing/2014/main" id="{1F60542F-A4DD-C9E7-5370-9B8837840A27}"/>
              </a:ext>
            </a:extLst>
          </p:cNvPr>
          <p:cNvSpPr txBox="1">
            <a:spLocks noGrp="1"/>
          </p:cNvSpPr>
          <p:nvPr>
            <p:ph type="body" idx="4294967295"/>
          </p:nvPr>
        </p:nvSpPr>
        <p:spPr>
          <a:xfrm>
            <a:off x="503998" y="1768678"/>
            <a:ext cx="9071643" cy="5285122"/>
          </a:xfrm>
        </p:spPr>
        <p:txBody>
          <a:bodyPr>
            <a:noAutofit/>
          </a:bodyPr>
          <a:lstStyle/>
          <a:p>
            <a:pPr algn="l">
              <a:spcBef>
                <a:spcPts val="1889"/>
              </a:spcBef>
              <a:buFont typeface="Arial"/>
              <a:buChar char="•"/>
            </a:pPr>
            <a:r>
              <a:rPr lang="pl-PL" sz="2200">
                <a:latin typeface="Arial"/>
                <a:cs typeface="Arial"/>
              </a:rPr>
              <a:t>Schemat bazy danych zarządzany przez </a:t>
            </a:r>
            <a:r>
              <a:rPr lang="pl-PL" sz="2200" b="1">
                <a:latin typeface="Arial"/>
                <a:cs typeface="Arial"/>
              </a:rPr>
              <a:t>Entity Framework Core Migrations</a:t>
            </a:r>
            <a:r>
              <a:rPr lang="pl-PL" sz="2200">
                <a:latin typeface="Arial"/>
                <a:cs typeface="Arial"/>
              </a:rPr>
              <a:t> z ręcznie pisanymi skryptami SQL (</a:t>
            </a:r>
            <a:r>
              <a:rPr lang="pl-PL" sz="2200">
                <a:latin typeface="Courier New"/>
                <a:cs typeface="Courier New"/>
              </a:rPr>
              <a:t>IF NOT EXISTS</a:t>
            </a:r>
            <a:r>
              <a:rPr lang="pl-PL" sz="2200">
                <a:latin typeface="Arial"/>
                <a:cs typeface="Arial"/>
              </a:rPr>
              <a:t>), gwarantującymi idempotentność migracji</a:t>
            </a:r>
          </a:p>
          <a:p>
            <a:pPr algn="l">
              <a:spcBef>
                <a:spcPts val="1889"/>
              </a:spcBef>
              <a:buFont typeface="Arial"/>
              <a:buChar char="•"/>
            </a:pPr>
            <a:r>
              <a:rPr lang="pl-PL" sz="2200">
                <a:latin typeface="Arial"/>
                <a:cs typeface="Arial"/>
              </a:rPr>
              <a:t>Relacje z kluczami obcymi i ograniczeniami </a:t>
            </a:r>
            <a:r>
              <a:rPr lang="pl-PL" sz="2200">
                <a:latin typeface="Courier New"/>
                <a:cs typeface="Courier New"/>
              </a:rPr>
              <a:t>ON DELETE CASCADE / RESTRICT</a:t>
            </a:r>
            <a:r>
              <a:rPr lang="pl-PL" sz="2200">
                <a:latin typeface="Arial"/>
                <a:cs typeface="Arial"/>
              </a:rPr>
              <a:t> egzekwują spójność referencyjną na poziomie bazy</a:t>
            </a:r>
            <a:endParaRPr lang="pl-PL" sz="4250">
              <a:latin typeface="Arial"/>
              <a:cs typeface="Arial"/>
            </a:endParaRPr>
          </a:p>
          <a:p>
            <a:pPr algn="l">
              <a:spcBef>
                <a:spcPts val="1889"/>
              </a:spcBef>
              <a:buFont typeface="Arial"/>
              <a:buChar char="•"/>
            </a:pPr>
            <a:r>
              <a:rPr lang="pl-PL" sz="2200">
                <a:latin typeface="Arial"/>
                <a:cs typeface="Arial"/>
              </a:rPr>
              <a:t>Stany zamówień i propozycji wymiany przechodzą wyłącznie przez zdefiniowane przejścia (</a:t>
            </a:r>
            <a:r>
              <a:rPr lang="pl-PL" sz="2200">
                <a:latin typeface="Courier New"/>
                <a:cs typeface="Courier New"/>
              </a:rPr>
              <a:t>Pending → Paid → Fulfilled</a:t>
            </a:r>
            <a:r>
              <a:rPr lang="pl-PL" sz="2200">
                <a:latin typeface="Arial"/>
                <a:cs typeface="Arial"/>
              </a:rPr>
              <a:t>; </a:t>
            </a:r>
            <a:r>
              <a:rPr lang="pl-PL" sz="2200">
                <a:latin typeface="Courier New"/>
                <a:cs typeface="Courier New"/>
              </a:rPr>
              <a:t>Pending → Accepted / Rejected / Cancelled</a:t>
            </a:r>
            <a:r>
              <a:rPr lang="pl-PL" sz="2200">
                <a:latin typeface="Arial"/>
                <a:cs typeface="Arial"/>
              </a:rPr>
              <a:t>), uniemożliwiając niespójne stany</a:t>
            </a:r>
            <a:endParaRPr lang="pl-PL" sz="4250">
              <a:latin typeface="Arial"/>
              <a:cs typeface="Arial"/>
            </a:endParaRPr>
          </a:p>
          <a:p>
            <a:pPr algn="l">
              <a:spcBef>
                <a:spcPts val="1889"/>
              </a:spcBef>
              <a:buFont typeface="Arial"/>
              <a:buChar char="•"/>
            </a:pPr>
            <a:r>
              <a:rPr lang="pl-PL" sz="2200">
                <a:latin typeface="Arial"/>
                <a:cs typeface="Arial"/>
              </a:rPr>
              <a:t>Operacje krytyczne (zmiana statusu zamówienia po webhookу PayU, wypłata środków) wykonywane w ramach transakcji </a:t>
            </a:r>
            <a:r>
              <a:rPr lang="pl-PL" sz="2200">
                <a:latin typeface="Courier New"/>
                <a:cs typeface="Courier New"/>
              </a:rPr>
              <a:t>SaveChangesAsync</a:t>
            </a:r>
            <a:endParaRPr lang="pl-PL" sz="4250">
              <a:latin typeface="Courier New"/>
              <a:cs typeface="Courier New"/>
            </a:endParaRPr>
          </a:p>
        </p:txBody>
      </p:sp>
    </p:spTree>
    <p:extLst>
      <p:ext uri="{BB962C8B-B14F-4D97-AF65-F5344CB8AC3E}">
        <p14:creationId xmlns:p14="http://schemas.microsoft.com/office/powerpoint/2010/main" val="3003880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D7698-D583-D8E9-EEA9-62ED2299D32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B1AE6FD3-4CAD-D3A4-A343-B7B25D6DE6DB}"/>
              </a:ext>
            </a:extLst>
          </p:cNvPr>
          <p:cNvSpPr txBox="1">
            <a:spLocks noGrp="1"/>
          </p:cNvSpPr>
          <p:nvPr>
            <p:ph type="title" idx="4294967295"/>
          </p:nvPr>
        </p:nvSpPr>
        <p:spPr/>
        <p:txBody>
          <a:bodyPr/>
          <a:lstStyle/>
          <a:p>
            <a:r>
              <a:rPr lang="pl-PL" sz="5850">
                <a:latin typeface="Arial"/>
                <a:cs typeface="Arial"/>
              </a:rPr>
              <a:t>Bezpieczeństwo</a:t>
            </a:r>
          </a:p>
        </p:txBody>
      </p:sp>
      <p:sp>
        <p:nvSpPr>
          <p:cNvPr id="3" name="Symbol zastępczy tekstu 2">
            <a:extLst>
              <a:ext uri="{FF2B5EF4-FFF2-40B4-BE49-F238E27FC236}">
                <a16:creationId xmlns:a16="http://schemas.microsoft.com/office/drawing/2014/main" id="{489865B5-6611-CDD6-D8C8-98FC5CDA7AB2}"/>
              </a:ext>
            </a:extLst>
          </p:cNvPr>
          <p:cNvSpPr txBox="1">
            <a:spLocks noGrp="1"/>
          </p:cNvSpPr>
          <p:nvPr>
            <p:ph type="body" idx="4294967295"/>
          </p:nvPr>
        </p:nvSpPr>
        <p:spPr>
          <a:xfrm>
            <a:off x="503998" y="1475197"/>
            <a:ext cx="9071643" cy="5578603"/>
          </a:xfrm>
        </p:spPr>
        <p:txBody>
          <a:bodyPr>
            <a:noAutofit/>
          </a:bodyPr>
          <a:lstStyle/>
          <a:p>
            <a:pPr algn="l">
              <a:spcBef>
                <a:spcPts val="1889"/>
              </a:spcBef>
              <a:buFont typeface="Arial"/>
              <a:buChar char="•"/>
            </a:pPr>
            <a:r>
              <a:rPr lang="pl-PL" sz="1700">
                <a:latin typeface="Arial"/>
                <a:cs typeface="Arial"/>
              </a:rPr>
              <a:t>Uwierzytelnianie oparte na ciasteczkach (</a:t>
            </a:r>
            <a:r>
              <a:rPr lang="pl-PL" sz="1700">
                <a:latin typeface="Courier New"/>
                <a:cs typeface="Courier New"/>
              </a:rPr>
              <a:t>CookieAuthentication</a:t>
            </a:r>
            <a:r>
              <a:rPr lang="pl-PL" sz="1700">
                <a:latin typeface="Arial"/>
                <a:cs typeface="Arial"/>
              </a:rPr>
              <a:t>), hasła przechowywane jako hash bcrypt z solą</a:t>
            </a:r>
          </a:p>
          <a:p>
            <a:pPr algn="l">
              <a:spcBef>
                <a:spcPts val="1889"/>
              </a:spcBef>
              <a:buFont typeface="Arial"/>
              <a:buChar char="•"/>
            </a:pPr>
            <a:r>
              <a:rPr lang="pl-PL" sz="1700">
                <a:latin typeface="Arial"/>
                <a:cs typeface="Arial"/>
              </a:rPr>
              <a:t>Ochrona przed CSRF: token antyforgery na wszystkich formularzach POST (</a:t>
            </a:r>
            <a:r>
              <a:rPr lang="pl-PL" sz="1700">
                <a:latin typeface="Courier New"/>
                <a:cs typeface="Courier New"/>
              </a:rPr>
              <a:t>[ValidateAntiForgeryToken]</a:t>
            </a:r>
            <a:r>
              <a:rPr lang="pl-PL" sz="1700">
                <a:latin typeface="Arial"/>
                <a:cs typeface="Arial"/>
              </a:rPr>
              <a:t>)</a:t>
            </a:r>
          </a:p>
          <a:p>
            <a:pPr algn="l">
              <a:spcBef>
                <a:spcPts val="1889"/>
              </a:spcBef>
              <a:buFont typeface="Arial"/>
              <a:buChar char="•"/>
            </a:pPr>
            <a:r>
              <a:rPr lang="pl-PL" sz="1700">
                <a:latin typeface="Arial"/>
                <a:cs typeface="Arial"/>
              </a:rPr>
              <a:t>Autoryzacja zasobów: kontrolery weryfikują identyfikator zalogowanego użytkownika przed każdą operacją modyfikującą dane (</a:t>
            </a:r>
            <a:r>
              <a:rPr lang="pl-PL" sz="1700">
                <a:latin typeface="Courier New"/>
                <a:cs typeface="Courier New"/>
              </a:rPr>
              <a:t>ClaimTypes.NameIdentifier</a:t>
            </a:r>
            <a:r>
              <a:rPr lang="pl-PL" sz="1700">
                <a:latin typeface="Arial"/>
                <a:cs typeface="Arial"/>
              </a:rPr>
              <a:t>)</a:t>
            </a:r>
          </a:p>
          <a:p>
            <a:pPr algn="l">
              <a:spcBef>
                <a:spcPts val="1889"/>
              </a:spcBef>
              <a:buFont typeface="Arial"/>
              <a:buChar char="•"/>
            </a:pPr>
            <a:r>
              <a:rPr lang="pl-PL" sz="1700">
                <a:latin typeface="Arial"/>
                <a:cs typeface="Arial"/>
              </a:rPr>
              <a:t>Webhook PayU weryfikowany przez nagłówek </a:t>
            </a:r>
            <a:r>
              <a:rPr lang="pl-PL" sz="1700">
                <a:latin typeface="Courier New"/>
                <a:cs typeface="Courier New"/>
              </a:rPr>
              <a:t>OpenPayU-Signature</a:t>
            </a:r>
            <a:r>
              <a:rPr lang="pl-PL" sz="1700">
                <a:latin typeface="Arial"/>
                <a:cs typeface="Arial"/>
              </a:rPr>
              <a:t> (HMAC-SHA256) przed przetworzeniem zmiany statusu płatności</a:t>
            </a:r>
          </a:p>
          <a:p>
            <a:pPr algn="l">
              <a:spcBef>
                <a:spcPts val="1889"/>
              </a:spcBef>
              <a:buFont typeface="Arial"/>
              <a:buChar char="•"/>
            </a:pPr>
            <a:r>
              <a:rPr lang="pl-PL" sz="1700">
                <a:latin typeface="Arial"/>
                <a:cs typeface="Arial"/>
              </a:rPr>
              <a:t>Blokada konta po wielokrotnych nieudanych próbach logowania (</a:t>
            </a:r>
            <a:r>
              <a:rPr lang="pl-PL" sz="1700">
                <a:latin typeface="Courier New"/>
                <a:cs typeface="Courier New"/>
              </a:rPr>
              <a:t>FailedAttempts</a:t>
            </a:r>
            <a:r>
              <a:rPr lang="pl-PL" sz="1700">
                <a:latin typeface="Arial"/>
                <a:cs typeface="Arial"/>
              </a:rPr>
              <a:t>, </a:t>
            </a:r>
            <a:r>
              <a:rPr lang="pl-PL" sz="1700">
                <a:latin typeface="Courier New"/>
                <a:cs typeface="Courier New"/>
              </a:rPr>
              <a:t>LockedUntil</a:t>
            </a:r>
            <a:r>
              <a:rPr lang="pl-PL" sz="1700">
                <a:latin typeface="Arial"/>
                <a:cs typeface="Arial"/>
              </a:rPr>
              <a:t>)</a:t>
            </a:r>
          </a:p>
          <a:p>
            <a:pPr algn="l">
              <a:spcBef>
                <a:spcPts val="1889"/>
              </a:spcBef>
              <a:buFont typeface="Arial"/>
              <a:buChar char="•"/>
            </a:pPr>
            <a:r>
              <a:rPr lang="pl-PL" sz="1700">
                <a:latin typeface="Arial"/>
                <a:cs typeface="Arial"/>
              </a:rPr>
              <a:t>Nginx jako reverse proxy obsługuje terminację TLS (HTTPS), ustawia nagłówki bezpieczeństwa i izoluje aplikację od bezpośredniego dostępu z internetu</a:t>
            </a:r>
          </a:p>
          <a:p>
            <a:pPr algn="l">
              <a:spcBef>
                <a:spcPts val="1889"/>
              </a:spcBef>
              <a:buFont typeface="Arial"/>
              <a:buChar char="•"/>
            </a:pPr>
            <a:r>
              <a:rPr lang="pl-PL" sz="1700">
                <a:latin typeface="Arial"/>
                <a:cs typeface="Arial"/>
              </a:rPr>
              <a:t>Aplikacja w kontenerze Docker uruchamiana jako użytkownik bez uprawnień roota (</a:t>
            </a:r>
            <a:r>
              <a:rPr lang="pl-PL" sz="1700">
                <a:latin typeface="Courier New"/>
                <a:cs typeface="Courier New"/>
              </a:rPr>
              <a:t>appuser</a:t>
            </a:r>
            <a:r>
              <a:rPr lang="pl-PL" sz="1700">
                <a:latin typeface="Arial"/>
                <a:cs typeface="Arial"/>
              </a:rPr>
              <a:t>)</a:t>
            </a:r>
          </a:p>
          <a:p>
            <a:pPr algn="l">
              <a:spcBef>
                <a:spcPts val="1889"/>
              </a:spcBef>
              <a:buFont typeface="Arial"/>
              <a:buChar char="•"/>
            </a:pPr>
            <a:r>
              <a:rPr lang="pl-PL" sz="1700">
                <a:latin typeface="Arial"/>
                <a:cs typeface="Arial"/>
              </a:rPr>
              <a:t>Przesyłane pliki walidowane po rozszerzeniu i typie MIME, przechowywane poza katalogiem </a:t>
            </a:r>
            <a:r>
              <a:rPr lang="pl-PL" sz="1700">
                <a:latin typeface="Courier New"/>
                <a:cs typeface="Courier New"/>
              </a:rPr>
              <a:t>wwwroot</a:t>
            </a:r>
          </a:p>
          <a:p>
            <a:pPr algn="l">
              <a:spcBef>
                <a:spcPts val="1889"/>
              </a:spcBef>
              <a:buFont typeface="Arial"/>
              <a:buChar char="•"/>
            </a:pPr>
            <a:endParaRPr lang="pl-PL" sz="1700">
              <a:latin typeface="Arial"/>
              <a:cs typeface="Arial"/>
            </a:endParaRPr>
          </a:p>
        </p:txBody>
      </p:sp>
    </p:spTree>
    <p:extLst>
      <p:ext uri="{BB962C8B-B14F-4D97-AF65-F5344CB8AC3E}">
        <p14:creationId xmlns:p14="http://schemas.microsoft.com/office/powerpoint/2010/main" val="5138734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163BE-8C63-9752-BF92-71707E374AD0}"/>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92CEF1FE-D076-BC4B-DD79-21D4C4FB6EFF}"/>
              </a:ext>
            </a:extLst>
          </p:cNvPr>
          <p:cNvSpPr txBox="1">
            <a:spLocks noGrp="1"/>
          </p:cNvSpPr>
          <p:nvPr>
            <p:ph type="title" idx="4294967295"/>
          </p:nvPr>
        </p:nvSpPr>
        <p:spPr/>
        <p:txBody>
          <a:bodyPr/>
          <a:lstStyle/>
          <a:p>
            <a:pPr lvl="0"/>
            <a:r>
              <a:rPr lang="pl-PL" sz="5850">
                <a:latin typeface="Arial"/>
                <a:cs typeface="Arial"/>
              </a:rPr>
              <a:t>Prywatność</a:t>
            </a:r>
            <a:endParaRPr lang="pl-PL"/>
          </a:p>
        </p:txBody>
      </p:sp>
      <p:sp>
        <p:nvSpPr>
          <p:cNvPr id="3" name="Symbol zastępczy tekstu 2">
            <a:extLst>
              <a:ext uri="{FF2B5EF4-FFF2-40B4-BE49-F238E27FC236}">
                <a16:creationId xmlns:a16="http://schemas.microsoft.com/office/drawing/2014/main" id="{FC7DAC19-FCE7-B64B-50AF-35717B0C4A45}"/>
              </a:ext>
            </a:extLst>
          </p:cNvPr>
          <p:cNvSpPr txBox="1">
            <a:spLocks noGrp="1"/>
          </p:cNvSpPr>
          <p:nvPr>
            <p:ph type="body" idx="4294967295"/>
          </p:nvPr>
        </p:nvSpPr>
        <p:spPr>
          <a:xfrm>
            <a:off x="503998" y="1662418"/>
            <a:ext cx="9071643" cy="5436922"/>
          </a:xfrm>
        </p:spPr>
        <p:txBody>
          <a:bodyPr>
            <a:noAutofit/>
          </a:bodyPr>
          <a:lstStyle/>
          <a:p>
            <a:pPr marL="285750" indent="-285750" algn="l">
              <a:spcBef>
                <a:spcPts val="1889"/>
              </a:spcBef>
              <a:buFont typeface="Arial"/>
              <a:buChar char="•"/>
            </a:pPr>
            <a:r>
              <a:rPr lang="pl-PL" sz="2200">
                <a:latin typeface="Liberation Sans"/>
                <a:cs typeface="Arial"/>
              </a:rPr>
              <a:t>Dane osobowe użytkownika (imię, nazwisko, adres, telefon) widoczne wyłącznie dla samego użytkownika i administratora; w ogłoszeniach publicznych widoczna jest tylko nazwa użytkownika</a:t>
            </a:r>
            <a:endParaRPr lang="pl-PL" sz="2200"/>
          </a:p>
          <a:p>
            <a:pPr marL="285750" indent="-285750" algn="l">
              <a:spcBef>
                <a:spcPts val="1889"/>
              </a:spcBef>
              <a:buFont typeface="Arial"/>
              <a:buChar char="•"/>
            </a:pPr>
            <a:r>
              <a:rPr lang="pl-PL" sz="2200">
                <a:latin typeface="Liberation Sans"/>
                <a:cs typeface="Arial"/>
              </a:rPr>
              <a:t>Adres geokodowany zapisywany jako współrzędne geograficzne (szerokość/długość), nie jako pełny adres tekstowy w kontekście publicznym</a:t>
            </a:r>
            <a:endParaRPr lang="pl-PL" sz="2200"/>
          </a:p>
          <a:p>
            <a:pPr marL="285750" indent="-285750" algn="l">
              <a:spcBef>
                <a:spcPts val="1889"/>
              </a:spcBef>
              <a:buFont typeface="Arial"/>
              <a:buChar char="•"/>
            </a:pPr>
            <a:r>
              <a:rPr lang="pl-PL" sz="2200">
                <a:latin typeface="Liberation Sans"/>
                <a:cs typeface="Arial"/>
              </a:rPr>
              <a:t>Wiadomości prywatne dostępne wyłącznie dla nadawcy i odbiorcy</a:t>
            </a:r>
            <a:endParaRPr lang="pl-PL" sz="2200"/>
          </a:p>
          <a:p>
            <a:pPr marL="285750" indent="-285750" algn="l">
              <a:spcBef>
                <a:spcPts val="1889"/>
              </a:spcBef>
              <a:buFont typeface="Arial"/>
              <a:buChar char="•"/>
            </a:pPr>
            <a:r>
              <a:rPr lang="pl-PL" sz="2200">
                <a:latin typeface="Liberation Sans"/>
                <a:cs typeface="Arial"/>
              </a:rPr>
              <a:t>Ogłoszenia prywatne (</a:t>
            </a:r>
            <a:r>
              <a:rPr lang="pl-PL" sz="2200">
                <a:latin typeface="Courier New"/>
                <a:cs typeface="Courier New"/>
              </a:rPr>
              <a:t>IsPrivate=true</a:t>
            </a:r>
            <a:r>
              <a:rPr lang="pl-PL" sz="2200">
                <a:latin typeface="Liberation Sans"/>
                <a:cs typeface="Arial"/>
              </a:rPr>
              <a:t>) niewidoczne w wynikach wyszukiwania i przeglądania — dostępne wyłącznie dla sprzedawcy i uczestników wymiany, do której zostały stworzone</a:t>
            </a:r>
            <a:endParaRPr lang="pl-PL" sz="2200"/>
          </a:p>
          <a:p>
            <a:pPr marL="285750" indent="-285750" algn="l">
              <a:spcBef>
                <a:spcPts val="1889"/>
              </a:spcBef>
              <a:buFont typeface="Arial"/>
              <a:buChar char="•"/>
            </a:pPr>
            <a:r>
              <a:rPr lang="pl-PL" sz="2200">
                <a:latin typeface="Liberation Sans"/>
                <a:cs typeface="Arial"/>
              </a:rPr>
              <a:t>Dane kart płatniczych nie są przechowywane przez system — tokenizacja delegowana w całości do bramki PayU (PCI DSS compliance po stronie PayU)</a:t>
            </a:r>
            <a:endParaRPr lang="pl-PL" sz="2200"/>
          </a:p>
          <a:p>
            <a:pPr lvl="0" algn="l">
              <a:spcBef>
                <a:spcPts val="1889"/>
              </a:spcBef>
            </a:pPr>
            <a:endParaRPr lang="pl-PL" sz="2200">
              <a:latin typeface="Liberation Sans"/>
              <a:cs typeface="Arial"/>
            </a:endParaRPr>
          </a:p>
        </p:txBody>
      </p:sp>
    </p:spTree>
    <p:extLst>
      <p:ext uri="{BB962C8B-B14F-4D97-AF65-F5344CB8AC3E}">
        <p14:creationId xmlns:p14="http://schemas.microsoft.com/office/powerpoint/2010/main" val="24813972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20630-B718-650D-DD72-53C4F1DBE484}"/>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0177CD22-8E01-2B80-BDA0-0660828BBA97}"/>
              </a:ext>
            </a:extLst>
          </p:cNvPr>
          <p:cNvSpPr txBox="1">
            <a:spLocks noGrp="1"/>
          </p:cNvSpPr>
          <p:nvPr>
            <p:ph type="title" idx="4294967295"/>
          </p:nvPr>
        </p:nvSpPr>
        <p:spPr/>
        <p:txBody>
          <a:bodyPr/>
          <a:lstStyle/>
          <a:p>
            <a:pPr lvl="0"/>
            <a:r>
              <a:rPr lang="pl-PL" sz="5850">
                <a:latin typeface="Arial"/>
                <a:cs typeface="Arial"/>
              </a:rPr>
              <a:t>Stabilność</a:t>
            </a:r>
            <a:endParaRPr lang="pl-PL"/>
          </a:p>
        </p:txBody>
      </p:sp>
      <p:sp>
        <p:nvSpPr>
          <p:cNvPr id="3" name="Symbol zastępczy tekstu 2">
            <a:extLst>
              <a:ext uri="{FF2B5EF4-FFF2-40B4-BE49-F238E27FC236}">
                <a16:creationId xmlns:a16="http://schemas.microsoft.com/office/drawing/2014/main" id="{E346F140-B8CA-CD52-582F-635D38ABC910}"/>
              </a:ext>
            </a:extLst>
          </p:cNvPr>
          <p:cNvSpPr txBox="1">
            <a:spLocks noGrp="1"/>
          </p:cNvSpPr>
          <p:nvPr>
            <p:ph type="body" idx="4294967295"/>
          </p:nvPr>
        </p:nvSpPr>
        <p:spPr>
          <a:xfrm>
            <a:off x="503998" y="1662418"/>
            <a:ext cx="9071643" cy="5436922"/>
          </a:xfrm>
        </p:spPr>
        <p:txBody>
          <a:bodyPr>
            <a:noAutofit/>
          </a:bodyPr>
          <a:lstStyle/>
          <a:p>
            <a:pPr algn="l">
              <a:buFont typeface="Arial"/>
              <a:buChar char="•"/>
            </a:pPr>
            <a:r>
              <a:rPr lang="pl-PL" sz="2400">
                <a:latin typeface="Liberation Sans"/>
                <a:cs typeface="Arial"/>
              </a:rPr>
              <a:t>Obsługa wyjątków w płatnościach i opłatach kartowych jest nieblokująca — niepowodzenie pobrania opłaty 0,50 PLN skutkuje ostrzeżeniem dla użytkownika, nie wycofaniem ogłoszenia</a:t>
            </a:r>
          </a:p>
          <a:p>
            <a:pPr algn="l">
              <a:spcBef>
                <a:spcPts val="1889"/>
              </a:spcBef>
              <a:buFont typeface="Arial"/>
              <a:buChar char="•"/>
            </a:pPr>
            <a:r>
              <a:rPr lang="pl-PL" sz="2400">
                <a:latin typeface="Liberation Sans"/>
                <a:cs typeface="Arial"/>
              </a:rPr>
              <a:t>Logowanie wszystkich błędów przez </a:t>
            </a:r>
            <a:r>
              <a:rPr lang="pl-PL" sz="2400">
                <a:latin typeface="Liberation Sans"/>
                <a:cs typeface="Courier New"/>
              </a:rPr>
              <a:t>ILogger</a:t>
            </a:r>
            <a:r>
              <a:rPr lang="pl-PL" sz="2400">
                <a:latin typeface="Liberation Sans"/>
                <a:cs typeface="Arial"/>
              </a:rPr>
              <a:t> z poziomami (</a:t>
            </a:r>
            <a:r>
              <a:rPr lang="pl-PL" sz="2400">
                <a:latin typeface="Liberation Sans"/>
                <a:cs typeface="Courier New"/>
              </a:rPr>
              <a:t>Information</a:t>
            </a:r>
            <a:r>
              <a:rPr lang="pl-PL" sz="2400">
                <a:latin typeface="Liberation Sans"/>
                <a:cs typeface="Arial"/>
              </a:rPr>
              <a:t>, </a:t>
            </a:r>
            <a:r>
              <a:rPr lang="pl-PL" sz="2400">
                <a:latin typeface="Liberation Sans"/>
                <a:cs typeface="Courier New"/>
              </a:rPr>
              <a:t>Warning</a:t>
            </a:r>
            <a:r>
              <a:rPr lang="pl-PL" sz="2400">
                <a:latin typeface="Liberation Sans"/>
                <a:cs typeface="Arial"/>
              </a:rPr>
              <a:t>, </a:t>
            </a:r>
            <a:r>
              <a:rPr lang="pl-PL" sz="2400">
                <a:latin typeface="Liberation Sans"/>
                <a:cs typeface="Courier New"/>
              </a:rPr>
              <a:t>Error</a:t>
            </a:r>
            <a:r>
              <a:rPr lang="pl-PL" sz="2400">
                <a:latin typeface="Liberation Sans"/>
                <a:cs typeface="Arial"/>
              </a:rPr>
              <a:t>) umożliwia diagnozę bez wpływu na działanie systemu</a:t>
            </a:r>
            <a:endParaRPr lang="pl-PL" sz="2400"/>
          </a:p>
          <a:p>
            <a:pPr algn="l">
              <a:spcBef>
                <a:spcPts val="1889"/>
              </a:spcBef>
              <a:buFont typeface="Arial"/>
              <a:buChar char="•"/>
            </a:pPr>
            <a:r>
              <a:rPr lang="pl-PL" sz="2400">
                <a:latin typeface="Liberation Sans"/>
                <a:cs typeface="Arial"/>
              </a:rPr>
              <a:t>Middleware obsługuje nieoczekiwane wyjątki i prezentuje użytkownikowi przyjazny komunikat błędu bez ujawniania szczegółów technicznych (w trybie produkcyjnym)</a:t>
            </a:r>
            <a:endParaRPr lang="pl-PL" sz="2400"/>
          </a:p>
          <a:p>
            <a:pPr algn="l">
              <a:spcBef>
                <a:spcPts val="1889"/>
              </a:spcBef>
              <a:buFont typeface="Arial"/>
              <a:buChar char="•"/>
            </a:pPr>
            <a:r>
              <a:rPr lang="pl-PL" sz="2400">
                <a:latin typeface="Liberation Sans"/>
                <a:cs typeface="Arial"/>
              </a:rPr>
              <a:t>Plik </a:t>
            </a:r>
            <a:r>
              <a:rPr lang="pl-PL" sz="2400">
                <a:latin typeface="Liberation Sans"/>
                <a:cs typeface="Courier New"/>
              </a:rPr>
              <a:t>appsettings.json</a:t>
            </a:r>
            <a:r>
              <a:rPr lang="pl-PL" sz="2400">
                <a:latin typeface="Liberation Sans"/>
                <a:cs typeface="Arial"/>
              </a:rPr>
              <a:t> rozdziela konfigurację środowisk (development vs production), minimalizując ryzyko błędu konfiguracji</a:t>
            </a:r>
            <a:endParaRPr lang="pl-PL" sz="2400"/>
          </a:p>
          <a:p>
            <a:pPr algn="l">
              <a:spcBef>
                <a:spcPts val="1889"/>
              </a:spcBef>
              <a:buFont typeface="Arial"/>
              <a:buChar char="•"/>
            </a:pPr>
            <a:endParaRPr lang="pl-PL" sz="2400">
              <a:latin typeface="Liberation Sans"/>
              <a:cs typeface="Arial"/>
            </a:endParaRPr>
          </a:p>
        </p:txBody>
      </p:sp>
    </p:spTree>
    <p:extLst>
      <p:ext uri="{BB962C8B-B14F-4D97-AF65-F5344CB8AC3E}">
        <p14:creationId xmlns:p14="http://schemas.microsoft.com/office/powerpoint/2010/main" val="13645205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AD0E2-25A3-E6BF-7348-14D6DDF7918A}"/>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608FA3A6-5819-143B-1CC8-0B763278E4C7}"/>
              </a:ext>
            </a:extLst>
          </p:cNvPr>
          <p:cNvSpPr txBox="1">
            <a:spLocks noGrp="1"/>
          </p:cNvSpPr>
          <p:nvPr>
            <p:ph type="title" idx="4294967295"/>
          </p:nvPr>
        </p:nvSpPr>
        <p:spPr/>
        <p:txBody>
          <a:bodyPr/>
          <a:lstStyle/>
          <a:p>
            <a:pPr lvl="0"/>
            <a:r>
              <a:rPr lang="pl-PL" sz="5850">
                <a:latin typeface="Arial"/>
                <a:cs typeface="Arial"/>
              </a:rPr>
              <a:t>Skalowalność</a:t>
            </a:r>
            <a:endParaRPr lang="pl-PL"/>
          </a:p>
        </p:txBody>
      </p:sp>
      <p:sp>
        <p:nvSpPr>
          <p:cNvPr id="3" name="Symbol zastępczy tekstu 2">
            <a:extLst>
              <a:ext uri="{FF2B5EF4-FFF2-40B4-BE49-F238E27FC236}">
                <a16:creationId xmlns:a16="http://schemas.microsoft.com/office/drawing/2014/main" id="{1171BEEE-8A8D-AD34-4D73-14D469F9801F}"/>
              </a:ext>
            </a:extLst>
          </p:cNvPr>
          <p:cNvSpPr txBox="1">
            <a:spLocks noGrp="1"/>
          </p:cNvSpPr>
          <p:nvPr>
            <p:ph type="body" idx="4294967295"/>
          </p:nvPr>
        </p:nvSpPr>
        <p:spPr>
          <a:xfrm>
            <a:off x="503998" y="1662418"/>
            <a:ext cx="9071643" cy="5436922"/>
          </a:xfrm>
        </p:spPr>
        <p:txBody>
          <a:bodyPr>
            <a:noAutofit/>
          </a:bodyPr>
          <a:lstStyle/>
          <a:p>
            <a:pPr marL="285750" indent="-285750" algn="l">
              <a:spcBef>
                <a:spcPts val="1889"/>
              </a:spcBef>
              <a:buFont typeface="Arial"/>
              <a:buChar char="•"/>
            </a:pPr>
            <a:r>
              <a:rPr lang="pl-PL" sz="2400">
                <a:latin typeface="Liberation Sans"/>
                <a:cs typeface="Arial"/>
              </a:rPr>
              <a:t>Architektura bezstanowa (stan sesji wyłącznie w ciasteczku) pozwala na uruchomienie wielu instancji aplikacji za load balancerem bez konieczności udostępniania sesji między węzłami</a:t>
            </a:r>
            <a:endParaRPr lang="pl-PL"/>
          </a:p>
          <a:p>
            <a:pPr marL="285750" indent="-285750" algn="l">
              <a:spcBef>
                <a:spcPts val="1889"/>
              </a:spcBef>
              <a:buFont typeface="Arial"/>
              <a:buChar char="•"/>
            </a:pPr>
            <a:r>
              <a:rPr lang="pl-PL" sz="2400">
                <a:latin typeface="Liberation Sans"/>
                <a:cs typeface="Arial"/>
              </a:rPr>
              <a:t>Baza danych i aplikacja działają jako oddzielne kontenery (</a:t>
            </a:r>
            <a:r>
              <a:rPr lang="pl-PL" sz="2400">
                <a:latin typeface="Courier New"/>
                <a:cs typeface="Courier New"/>
              </a:rPr>
              <a:t>docker-compose</a:t>
            </a:r>
            <a:r>
              <a:rPr lang="pl-PL" sz="2400">
                <a:latin typeface="Liberation Sans"/>
                <a:cs typeface="Arial"/>
              </a:rPr>
              <a:t>), umożliwiając niezależne skalowanie warstwy aplikacyjnej</a:t>
            </a:r>
            <a:endParaRPr lang="pl-PL"/>
          </a:p>
          <a:p>
            <a:pPr marL="285750" indent="-285750" algn="l">
              <a:spcBef>
                <a:spcPts val="1889"/>
              </a:spcBef>
              <a:buFont typeface="Arial"/>
              <a:buChar char="•"/>
            </a:pPr>
            <a:r>
              <a:rPr lang="pl-PL" sz="2400">
                <a:latin typeface="Liberation Sans"/>
                <a:cs typeface="Arial"/>
              </a:rPr>
              <a:t>Przechowywanie plików w wolumenie Docker (</a:t>
            </a:r>
            <a:r>
              <a:rPr lang="pl-PL" sz="2400">
                <a:latin typeface="Courier New"/>
                <a:cs typeface="Courier New"/>
              </a:rPr>
              <a:t>uploads_data</a:t>
            </a:r>
            <a:r>
              <a:rPr lang="pl-PL" sz="2400">
                <a:latin typeface="Liberation Sans"/>
                <a:cs typeface="Arial"/>
              </a:rPr>
              <a:t>) ułatwia migrację do zewnętrznego object storage (S3-compatible) bez zmian kodu poza serwisem </a:t>
            </a:r>
            <a:r>
              <a:rPr lang="pl-PL" sz="2400">
                <a:latin typeface="Courier New"/>
                <a:cs typeface="Courier New"/>
              </a:rPr>
              <a:t>IFileService</a:t>
            </a:r>
            <a:endParaRPr lang="pl-PL" sz="4250">
              <a:latin typeface="Courier New"/>
              <a:cs typeface="Courier New"/>
            </a:endParaRPr>
          </a:p>
          <a:p>
            <a:pPr marL="285750" indent="-285750" algn="l">
              <a:spcBef>
                <a:spcPts val="1889"/>
              </a:spcBef>
              <a:buFont typeface="Arial"/>
              <a:buChar char="•"/>
            </a:pPr>
            <a:r>
              <a:rPr lang="pl-PL" sz="2400">
                <a:latin typeface="Liberation Sans"/>
                <a:cs typeface="Arial"/>
              </a:rPr>
              <a:t>Nginx jako warstwa cache dla zasobów statycznych (</a:t>
            </a:r>
            <a:r>
              <a:rPr lang="pl-PL" sz="2400">
                <a:latin typeface="Courier New"/>
                <a:cs typeface="Courier New"/>
              </a:rPr>
              <a:t>/uploads/</a:t>
            </a:r>
            <a:r>
              <a:rPr lang="pl-PL" sz="2400">
                <a:latin typeface="Liberation Sans"/>
                <a:cs typeface="Arial"/>
              </a:rPr>
              <a:t>, 7-dniowy TTL) redukuje obciążenie serwera aplikacji</a:t>
            </a:r>
            <a:endParaRPr lang="pl-PL"/>
          </a:p>
          <a:p>
            <a:pPr algn="l">
              <a:spcBef>
                <a:spcPts val="1889"/>
              </a:spcBef>
              <a:buFont typeface="Arial"/>
            </a:pPr>
            <a:endParaRPr lang="pl-PL" sz="2400">
              <a:latin typeface="Liberation Sans"/>
              <a:cs typeface="Arial"/>
            </a:endParaRPr>
          </a:p>
        </p:txBody>
      </p:sp>
    </p:spTree>
    <p:extLst>
      <p:ext uri="{BB962C8B-B14F-4D97-AF65-F5344CB8AC3E}">
        <p14:creationId xmlns:p14="http://schemas.microsoft.com/office/powerpoint/2010/main" val="9757919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7C9B8-2607-5808-EDF2-4A9AD8B2AAB3}"/>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D64135C9-4F24-FC9D-0E0B-A9F6ACC5FFC2}"/>
              </a:ext>
            </a:extLst>
          </p:cNvPr>
          <p:cNvSpPr txBox="1">
            <a:spLocks noGrp="1"/>
          </p:cNvSpPr>
          <p:nvPr>
            <p:ph type="title" idx="4294967295"/>
          </p:nvPr>
        </p:nvSpPr>
        <p:spPr/>
        <p:txBody>
          <a:bodyPr/>
          <a:lstStyle/>
          <a:p>
            <a:pPr lvl="0"/>
            <a:r>
              <a:rPr lang="pl-PL" sz="5850">
                <a:latin typeface="Arial"/>
                <a:cs typeface="Arial"/>
              </a:rPr>
              <a:t>Obserwowalność</a:t>
            </a:r>
            <a:endParaRPr lang="pl-PL"/>
          </a:p>
        </p:txBody>
      </p:sp>
      <p:sp>
        <p:nvSpPr>
          <p:cNvPr id="3" name="Symbol zastępczy tekstu 2">
            <a:extLst>
              <a:ext uri="{FF2B5EF4-FFF2-40B4-BE49-F238E27FC236}">
                <a16:creationId xmlns:a16="http://schemas.microsoft.com/office/drawing/2014/main" id="{88302D3D-2153-4BA8-4FD9-E4478D1E30A3}"/>
              </a:ext>
            </a:extLst>
          </p:cNvPr>
          <p:cNvSpPr txBox="1">
            <a:spLocks noGrp="1"/>
          </p:cNvSpPr>
          <p:nvPr>
            <p:ph type="body" idx="4294967295"/>
          </p:nvPr>
        </p:nvSpPr>
        <p:spPr>
          <a:xfrm>
            <a:off x="503998" y="1662418"/>
            <a:ext cx="9071643" cy="5436922"/>
          </a:xfrm>
        </p:spPr>
        <p:txBody>
          <a:bodyPr>
            <a:noAutofit/>
          </a:bodyPr>
          <a:lstStyle/>
          <a:p>
            <a:pPr algn="l">
              <a:spcBef>
                <a:spcPts val="1889"/>
              </a:spcBef>
              <a:buFont typeface="Arial"/>
              <a:buChar char="•"/>
            </a:pPr>
            <a:r>
              <a:rPr lang="pl-PL" sz="2500">
                <a:latin typeface="Liberation Sans"/>
                <a:cs typeface="Arial"/>
              </a:rPr>
              <a:t>Wbudowane logowanie ASP.NET Core (</a:t>
            </a:r>
            <a:r>
              <a:rPr lang="pl-PL" sz="2500">
                <a:latin typeface="Courier New"/>
                <a:cs typeface="Courier New"/>
              </a:rPr>
              <a:t>ILogger&lt;T&gt;</a:t>
            </a:r>
            <a:r>
              <a:rPr lang="pl-PL" sz="2500">
                <a:latin typeface="Liberation Sans"/>
                <a:cs typeface="Arial"/>
              </a:rPr>
              <a:t>) rejestruje kluczowe zdarzenia: logowania, zmiany statusów zamówień, wywołania PayU webhook, błędy opłat kartowych</a:t>
            </a:r>
          </a:p>
          <a:p>
            <a:pPr algn="l">
              <a:spcBef>
                <a:spcPts val="1889"/>
              </a:spcBef>
              <a:buFont typeface="Arial"/>
              <a:buChar char="•"/>
            </a:pPr>
            <a:r>
              <a:rPr lang="pl-PL" sz="2500">
                <a:latin typeface="Liberation Sans"/>
                <a:cs typeface="Arial"/>
              </a:rPr>
              <a:t>Entity Framework Core loguje wykonywane zapytania SQL w trybie deweloperskim, co pozwala na analizę wydajności zapytań</a:t>
            </a:r>
            <a:endParaRPr lang="pl-PL" sz="2500"/>
          </a:p>
          <a:p>
            <a:pPr algn="l">
              <a:spcBef>
                <a:spcPts val="1889"/>
              </a:spcBef>
              <a:buFont typeface="Arial"/>
              <a:buChar char="•"/>
            </a:pPr>
            <a:r>
              <a:rPr lang="pl-PL" sz="2500">
                <a:latin typeface="Liberation Sans"/>
                <a:cs typeface="Arial"/>
              </a:rPr>
              <a:t>Skonfigurowane nagłówki </a:t>
            </a:r>
            <a:r>
              <a:rPr lang="pl-PL" sz="2500">
                <a:latin typeface="Courier New"/>
                <a:cs typeface="Courier New"/>
              </a:rPr>
              <a:t>X-Forwarded-For</a:t>
            </a:r>
            <a:r>
              <a:rPr lang="pl-PL" sz="2500">
                <a:latin typeface="Liberation Sans"/>
                <a:cs typeface="Arial"/>
              </a:rPr>
              <a:t> / </a:t>
            </a:r>
            <a:r>
              <a:rPr lang="pl-PL" sz="2500">
                <a:latin typeface="Courier New"/>
                <a:cs typeface="Courier New"/>
              </a:rPr>
              <a:t>X-Forwarded-Proto</a:t>
            </a:r>
            <a:r>
              <a:rPr lang="pl-PL" sz="2500">
                <a:latin typeface="Liberation Sans"/>
                <a:cs typeface="Arial"/>
              </a:rPr>
              <a:t> (obsługiwane przez </a:t>
            </a:r>
            <a:r>
              <a:rPr lang="pl-PL" sz="2500">
                <a:latin typeface="Courier New"/>
                <a:cs typeface="Courier New"/>
              </a:rPr>
              <a:t>UseForwardedHeaders</a:t>
            </a:r>
            <a:r>
              <a:rPr lang="pl-PL" sz="2500">
                <a:latin typeface="Liberation Sans"/>
                <a:cs typeface="Arial"/>
              </a:rPr>
              <a:t>) zapewniają poprawny zapis rzeczywistego IP klienta w logach</a:t>
            </a:r>
            <a:endParaRPr lang="pl-PL" sz="2500"/>
          </a:p>
          <a:p>
            <a:pPr algn="l">
              <a:spcBef>
                <a:spcPts val="1889"/>
              </a:spcBef>
              <a:buFont typeface="Arial"/>
              <a:buChar char="•"/>
            </a:pPr>
            <a:r>
              <a:rPr lang="pl-PL" sz="2500">
                <a:latin typeface="Liberation Sans"/>
                <a:cs typeface="Arial"/>
              </a:rPr>
              <a:t>Logi aplikacji dostępne przez </a:t>
            </a:r>
            <a:r>
              <a:rPr lang="pl-PL" sz="2500">
                <a:latin typeface="Courier New"/>
                <a:cs typeface="Courier New"/>
              </a:rPr>
              <a:t>docker compose logs app</a:t>
            </a:r>
            <a:r>
              <a:rPr lang="pl-PL" sz="2500">
                <a:latin typeface="Liberation Sans"/>
                <a:cs typeface="Arial"/>
              </a:rPr>
              <a:t> w środowisku produkcyjnym</a:t>
            </a:r>
            <a:endParaRPr lang="pl-PL" sz="2500"/>
          </a:p>
        </p:txBody>
      </p:sp>
    </p:spTree>
    <p:extLst>
      <p:ext uri="{BB962C8B-B14F-4D97-AF65-F5344CB8AC3E}">
        <p14:creationId xmlns:p14="http://schemas.microsoft.com/office/powerpoint/2010/main" val="19044294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D682B-95B4-DBC2-2BFB-A7F5A27A107C}"/>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9D909A6D-88D4-64D9-A4A8-A3703C239A64}"/>
              </a:ext>
            </a:extLst>
          </p:cNvPr>
          <p:cNvSpPr txBox="1">
            <a:spLocks noGrp="1"/>
          </p:cNvSpPr>
          <p:nvPr>
            <p:ph type="title" idx="4294967295"/>
          </p:nvPr>
        </p:nvSpPr>
        <p:spPr/>
        <p:txBody>
          <a:bodyPr/>
          <a:lstStyle/>
          <a:p>
            <a:r>
              <a:rPr lang="pl-PL" sz="5850">
                <a:latin typeface="Arial"/>
                <a:cs typeface="Arial"/>
              </a:rPr>
              <a:t>Kopie zapasowe</a:t>
            </a:r>
            <a:endParaRPr lang="pl-PL"/>
          </a:p>
        </p:txBody>
      </p:sp>
      <p:sp>
        <p:nvSpPr>
          <p:cNvPr id="3" name="Symbol zastępczy tekstu 2">
            <a:extLst>
              <a:ext uri="{FF2B5EF4-FFF2-40B4-BE49-F238E27FC236}">
                <a16:creationId xmlns:a16="http://schemas.microsoft.com/office/drawing/2014/main" id="{03375D5D-89E7-14FA-848D-D513325F9306}"/>
              </a:ext>
            </a:extLst>
          </p:cNvPr>
          <p:cNvSpPr txBox="1">
            <a:spLocks noGrp="1"/>
          </p:cNvSpPr>
          <p:nvPr>
            <p:ph type="body" idx="4294967295"/>
          </p:nvPr>
        </p:nvSpPr>
        <p:spPr>
          <a:xfrm>
            <a:off x="503998" y="1662418"/>
            <a:ext cx="9071643" cy="5436922"/>
          </a:xfrm>
        </p:spPr>
        <p:txBody>
          <a:bodyPr>
            <a:noAutofit/>
          </a:bodyPr>
          <a:lstStyle/>
          <a:p>
            <a:pPr algn="l">
              <a:spcBef>
                <a:spcPts val="1889"/>
              </a:spcBef>
              <a:buFont typeface="Arial"/>
              <a:buChar char="•"/>
            </a:pPr>
            <a:r>
              <a:rPr lang="pl-PL" sz="2400">
                <a:latin typeface="Liberation Sans"/>
                <a:cs typeface="Arial"/>
              </a:rPr>
              <a:t>Środowisko deweloperskie: baza danych PostgreSQL zarządzana przez Replit — kopie zapasowe po stronie platformy</a:t>
            </a:r>
            <a:endParaRPr lang="pl-PL" sz="2400"/>
          </a:p>
          <a:p>
            <a:pPr algn="l">
              <a:spcBef>
                <a:spcPts val="1889"/>
              </a:spcBef>
              <a:buFont typeface="Arial"/>
              <a:buChar char="•"/>
            </a:pPr>
            <a:r>
              <a:rPr lang="pl-PL" sz="2400">
                <a:latin typeface="Liberation Sans"/>
                <a:cs typeface="Arial"/>
              </a:rPr>
              <a:t>Środowisko produkcyjne: dedykowany kontener </a:t>
            </a:r>
            <a:r>
              <a:rPr lang="pl-PL" sz="2400">
                <a:latin typeface="Courier New"/>
                <a:cs typeface="Courier New"/>
              </a:rPr>
              <a:t>pgdatabase</a:t>
            </a:r>
            <a:r>
              <a:rPr lang="pl-PL" sz="2400">
                <a:latin typeface="Liberation Sans"/>
                <a:cs typeface="Arial"/>
              </a:rPr>
              <a:t> (PostgreSQL 16-alpine) z danymi w nazwanym wolumenie Docker; zalecane harmonogramowane zrzuty za pomocą </a:t>
            </a:r>
            <a:r>
              <a:rPr lang="pl-PL" sz="2400">
                <a:latin typeface="Courier New"/>
                <a:cs typeface="Courier New"/>
              </a:rPr>
              <a:t>pg_dump</a:t>
            </a:r>
            <a:r>
              <a:rPr lang="pl-PL" sz="2400">
                <a:latin typeface="Liberation Sans"/>
                <a:cs typeface="Arial"/>
              </a:rPr>
              <a:t> eksportowane do zewnętrznej lokalizacji (np. S3, zdalny serwer)</a:t>
            </a:r>
            <a:endParaRPr lang="pl-PL" sz="2400"/>
          </a:p>
          <a:p>
            <a:pPr algn="l">
              <a:spcBef>
                <a:spcPts val="1889"/>
              </a:spcBef>
              <a:buFont typeface="Arial"/>
              <a:buChar char="•"/>
            </a:pPr>
            <a:r>
              <a:rPr lang="pl-PL" sz="2400">
                <a:latin typeface="Liberation Sans"/>
                <a:cs typeface="Arial"/>
              </a:rPr>
              <a:t>Pliki użytkowników (zdjęcia ogłoszeń) przechowywane w wolumenie </a:t>
            </a:r>
            <a:r>
              <a:rPr lang="pl-PL" sz="2400">
                <a:latin typeface="Courier New"/>
                <a:cs typeface="Courier New"/>
              </a:rPr>
              <a:t>uploads_data</a:t>
            </a:r>
            <a:r>
              <a:rPr lang="pl-PL" sz="2400">
                <a:latin typeface="Liberation Sans"/>
                <a:cs typeface="Arial"/>
              </a:rPr>
              <a:t> — powinny być objęte tym samym harmonogramem backupu co baza danych</a:t>
            </a:r>
            <a:endParaRPr lang="pl-PL" sz="2400"/>
          </a:p>
          <a:p>
            <a:pPr algn="l">
              <a:spcBef>
                <a:spcPts val="1889"/>
              </a:spcBef>
              <a:buFont typeface="Arial"/>
              <a:buChar char="•"/>
            </a:pPr>
            <a:r>
              <a:rPr lang="pl-PL" sz="2400">
                <a:latin typeface="Liberation Sans"/>
                <a:cs typeface="Arial"/>
              </a:rPr>
              <a:t>Schemat bazy danych odtwarzalny w całości przez uruchomienie migracji EF Core od zera (</a:t>
            </a:r>
            <a:r>
              <a:rPr lang="pl-PL" sz="2400">
                <a:latin typeface="Courier New"/>
                <a:cs typeface="Courier New"/>
              </a:rPr>
              <a:t>dotnet-ef database update</a:t>
            </a:r>
            <a:r>
              <a:rPr lang="pl-PL" sz="2400">
                <a:latin typeface="Liberation Sans"/>
                <a:cs typeface="Arial"/>
              </a:rPr>
              <a:t>), co eliminuje konieczność osobnego backupu struktury</a:t>
            </a:r>
            <a:endParaRPr lang="pl-PL" sz="2400"/>
          </a:p>
        </p:txBody>
      </p:sp>
    </p:spTree>
    <p:extLst>
      <p:ext uri="{BB962C8B-B14F-4D97-AF65-F5344CB8AC3E}">
        <p14:creationId xmlns:p14="http://schemas.microsoft.com/office/powerpoint/2010/main" val="28343834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3E31C-8D31-3059-C0CA-FB799797B8A5}"/>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CA02366D-6224-612F-492C-FCA5DB1CC6E0}"/>
              </a:ext>
            </a:extLst>
          </p:cNvPr>
          <p:cNvSpPr txBox="1">
            <a:spLocks noGrp="1"/>
          </p:cNvSpPr>
          <p:nvPr>
            <p:ph type="title" idx="4294967295"/>
          </p:nvPr>
        </p:nvSpPr>
        <p:spPr/>
        <p:txBody>
          <a:bodyPr/>
          <a:lstStyle/>
          <a:p>
            <a:r>
              <a:rPr lang="pl-PL" sz="3600">
                <a:latin typeface="Arial"/>
                <a:cs typeface="Arial"/>
              </a:rPr>
              <a:t>Opis użytkowników oraz przypadków użycia wraz ze scenariuszami</a:t>
            </a:r>
          </a:p>
        </p:txBody>
      </p:sp>
      <p:sp>
        <p:nvSpPr>
          <p:cNvPr id="3" name="Symbol zastępczy tekstu 2">
            <a:extLst>
              <a:ext uri="{FF2B5EF4-FFF2-40B4-BE49-F238E27FC236}">
                <a16:creationId xmlns:a16="http://schemas.microsoft.com/office/drawing/2014/main" id="{7E2EC506-29B6-454B-B9FB-CE22F670ACE5}"/>
              </a:ext>
            </a:extLst>
          </p:cNvPr>
          <p:cNvSpPr txBox="1">
            <a:spLocks noGrp="1"/>
          </p:cNvSpPr>
          <p:nvPr>
            <p:ph type="body" idx="4294967295"/>
          </p:nvPr>
        </p:nvSpPr>
        <p:spPr>
          <a:xfrm>
            <a:off x="503998" y="1662418"/>
            <a:ext cx="9071643" cy="5436922"/>
          </a:xfrm>
        </p:spPr>
        <p:txBody>
          <a:bodyPr>
            <a:noAutofit/>
          </a:bodyPr>
          <a:lstStyle/>
          <a:p>
            <a:pPr algn="l">
              <a:spcBef>
                <a:spcPts val="1889"/>
              </a:spcBef>
              <a:buFont typeface="Arial"/>
              <a:buChar char="•"/>
            </a:pPr>
            <a:r>
              <a:rPr lang="pl-PL" sz="2400">
                <a:latin typeface="Liberation Sans"/>
                <a:cs typeface="Arial"/>
              </a:rPr>
              <a:t>Aktorzy systemu</a:t>
            </a:r>
          </a:p>
          <a:p>
            <a:pPr algn="l">
              <a:spcBef>
                <a:spcPts val="1889"/>
              </a:spcBef>
              <a:buFont typeface="Arial"/>
              <a:buChar char="•"/>
            </a:pPr>
            <a:endParaRPr lang="pl-PL" sz="2400">
              <a:latin typeface="Liberation Sans"/>
              <a:cs typeface="Arial"/>
            </a:endParaRPr>
          </a:p>
          <a:p>
            <a:pPr algn="l">
              <a:spcBef>
                <a:spcPts val="1889"/>
              </a:spcBef>
              <a:buFont typeface="Arial"/>
              <a:buChar char="•"/>
            </a:pPr>
            <a:endParaRPr lang="pl-PL" sz="2400">
              <a:latin typeface="Liberation Sans"/>
              <a:cs typeface="Arial"/>
            </a:endParaRPr>
          </a:p>
          <a:p>
            <a:pPr algn="l">
              <a:spcBef>
                <a:spcPts val="1889"/>
              </a:spcBef>
              <a:buFont typeface="Arial"/>
              <a:buChar char="•"/>
            </a:pPr>
            <a:endParaRPr lang="pl-PL" sz="2400">
              <a:cs typeface="Arial"/>
            </a:endParaRPr>
          </a:p>
        </p:txBody>
      </p:sp>
      <p:graphicFrame>
        <p:nvGraphicFramePr>
          <p:cNvPr id="8" name="Tabela 7">
            <a:extLst>
              <a:ext uri="{FF2B5EF4-FFF2-40B4-BE49-F238E27FC236}">
                <a16:creationId xmlns:a16="http://schemas.microsoft.com/office/drawing/2014/main" id="{FA1C4396-83FD-1EC2-2428-59994B0483F1}"/>
              </a:ext>
            </a:extLst>
          </p:cNvPr>
          <p:cNvGraphicFramePr>
            <a:graphicFrameLocks noGrp="1"/>
          </p:cNvGraphicFramePr>
          <p:nvPr>
            <p:extLst>
              <p:ext uri="{D42A27DB-BD31-4B8C-83A1-F6EECF244321}">
                <p14:modId xmlns:p14="http://schemas.microsoft.com/office/powerpoint/2010/main" val="2736067441"/>
              </p:ext>
            </p:extLst>
          </p:nvPr>
        </p:nvGraphicFramePr>
        <p:xfrm>
          <a:off x="560485" y="2383366"/>
          <a:ext cx="8952055" cy="4865384"/>
        </p:xfrm>
        <a:graphic>
          <a:graphicData uri="http://schemas.openxmlformats.org/drawingml/2006/table">
            <a:tbl>
              <a:tblPr bandRow="1">
                <a:tableStyleId>{5C22544A-7EE6-4342-B048-85BDC9FD1C3A}</a:tableStyleId>
              </a:tblPr>
              <a:tblGrid>
                <a:gridCol w="3014067">
                  <a:extLst>
                    <a:ext uri="{9D8B030D-6E8A-4147-A177-3AD203B41FA5}">
                      <a16:colId xmlns:a16="http://schemas.microsoft.com/office/drawing/2014/main" val="590343295"/>
                    </a:ext>
                  </a:extLst>
                </a:gridCol>
                <a:gridCol w="5937988">
                  <a:extLst>
                    <a:ext uri="{9D8B030D-6E8A-4147-A177-3AD203B41FA5}">
                      <a16:colId xmlns:a16="http://schemas.microsoft.com/office/drawing/2014/main" val="1855785054"/>
                    </a:ext>
                  </a:extLst>
                </a:gridCol>
              </a:tblGrid>
              <a:tr h="485917">
                <a:tc>
                  <a:txBody>
                    <a:bodyPr/>
                    <a:lstStyle/>
                    <a:p>
                      <a:pPr>
                        <a:buNone/>
                      </a:pPr>
                      <a:r>
                        <a:rPr lang="pl-PL" sz="2400" b="0">
                          <a:effectLst/>
                          <a:latin typeface="Arial"/>
                          <a:cs typeface="Arial"/>
                        </a:rPr>
                        <a:t>Aktor</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a:buNone/>
                      </a:pPr>
                      <a:r>
                        <a:rPr lang="pl-PL" sz="2400" b="0">
                          <a:effectLst/>
                          <a:latin typeface="Arial"/>
                          <a:cs typeface="Arial"/>
                        </a:rPr>
                        <a:t>Opis</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3836804744"/>
                  </a:ext>
                </a:extLst>
              </a:tr>
              <a:tr h="796364">
                <a:tc>
                  <a:txBody>
                    <a:bodyPr/>
                    <a:lstStyle/>
                    <a:p>
                      <a:pPr>
                        <a:buNone/>
                      </a:pPr>
                      <a:r>
                        <a:rPr lang="pl-PL" sz="2400" b="1">
                          <a:effectLst/>
                          <a:latin typeface="Arial"/>
                          <a:cs typeface="Arial"/>
                        </a:rPr>
                        <a:t>Gość</a:t>
                      </a:r>
                      <a:endParaRPr lang="pl-PL" sz="2400">
                        <a:effectLst/>
                        <a:latin typeface="Arial"/>
                        <a:cs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a:buNone/>
                      </a:pPr>
                      <a:r>
                        <a:rPr lang="pl-PL" sz="2400">
                          <a:effectLst/>
                          <a:latin typeface="Arial"/>
                          <a:cs typeface="Arial"/>
                        </a:rPr>
                        <a:t>Niezalogowany użytkownik, przeglądający ogłoszenia</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2708789051"/>
                  </a:ext>
                </a:extLst>
              </a:tr>
              <a:tr h="1106812">
                <a:tc>
                  <a:txBody>
                    <a:bodyPr/>
                    <a:lstStyle/>
                    <a:p>
                      <a:pPr>
                        <a:buNone/>
                      </a:pPr>
                      <a:r>
                        <a:rPr lang="pl-PL" sz="2400" b="1">
                          <a:effectLst/>
                          <a:latin typeface="Arial"/>
                          <a:cs typeface="Arial"/>
                        </a:rPr>
                        <a:t>Użytkownik</a:t>
                      </a:r>
                      <a:endParaRPr lang="pl-PL" sz="2400">
                        <a:effectLst/>
                        <a:latin typeface="Arial"/>
                        <a:cs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a:buNone/>
                      </a:pPr>
                      <a:r>
                        <a:rPr lang="pl-PL" sz="2400">
                          <a:effectLst/>
                          <a:latin typeface="Arial"/>
                          <a:cs typeface="Arial"/>
                        </a:rPr>
                        <a:t>Zarejestrowany i zalogowany — może być jednocześnie kupującym i sprzedającym</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extLst>
                  <a:ext uri="{0D108BD9-81ED-4DB2-BD59-A6C34878D82A}">
                    <a16:rowId xmlns:a16="http://schemas.microsoft.com/office/drawing/2014/main" val="1096859903"/>
                  </a:ext>
                </a:extLst>
              </a:tr>
              <a:tr h="1106812">
                <a:tc>
                  <a:txBody>
                    <a:bodyPr/>
                    <a:lstStyle/>
                    <a:p>
                      <a:pPr>
                        <a:buNone/>
                      </a:pPr>
                      <a:r>
                        <a:rPr lang="pl-PL" sz="2400" b="1">
                          <a:effectLst/>
                          <a:latin typeface="Arial"/>
                          <a:cs typeface="Arial"/>
                        </a:rPr>
                        <a:t>Administrator</a:t>
                      </a:r>
                      <a:endParaRPr lang="pl-PL" sz="2400">
                        <a:effectLst/>
                        <a:latin typeface="Arial"/>
                        <a:cs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a:buNone/>
                      </a:pPr>
                      <a:r>
                        <a:rPr lang="pl-PL" sz="2400">
                          <a:effectLst/>
                          <a:latin typeface="Arial"/>
                          <a:cs typeface="Arial"/>
                        </a:rPr>
                        <a:t>Uprzywilejowany użytkownik z dostępem do panelu zarządzania</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1532194416"/>
                  </a:ext>
                </a:extLst>
              </a:tr>
              <a:tr h="1106812">
                <a:tc>
                  <a:txBody>
                    <a:bodyPr/>
                    <a:lstStyle/>
                    <a:p>
                      <a:pPr>
                        <a:buNone/>
                      </a:pPr>
                      <a:r>
                        <a:rPr lang="pl-PL" sz="2400" b="1">
                          <a:effectLst/>
                          <a:latin typeface="Arial"/>
                          <a:cs typeface="Arial"/>
                        </a:rPr>
                        <a:t>System PayU</a:t>
                      </a:r>
                      <a:endParaRPr lang="pl-PL" sz="2400">
                        <a:effectLst/>
                        <a:latin typeface="Arial"/>
                        <a:cs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a:buNone/>
                      </a:pPr>
                      <a:r>
                        <a:rPr lang="pl-PL" sz="2400">
                          <a:effectLst/>
                          <a:latin typeface="Arial"/>
                          <a:cs typeface="Arial"/>
                        </a:rPr>
                        <a:t>Zewnętrzna bramka płatności, komunikująca się przez webhook</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extLst>
                  <a:ext uri="{0D108BD9-81ED-4DB2-BD59-A6C34878D82A}">
                    <a16:rowId xmlns:a16="http://schemas.microsoft.com/office/drawing/2014/main" val="3194884103"/>
                  </a:ext>
                </a:extLst>
              </a:tr>
            </a:tbl>
          </a:graphicData>
        </a:graphic>
      </p:graphicFrame>
    </p:spTree>
    <p:extLst>
      <p:ext uri="{BB962C8B-B14F-4D97-AF65-F5344CB8AC3E}">
        <p14:creationId xmlns:p14="http://schemas.microsoft.com/office/powerpoint/2010/main" val="144498294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0D9DD-148E-AD4C-524F-04A349D1E4CE}"/>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FA40F031-5B0A-0946-6CF8-C4F0ADE7555C}"/>
              </a:ext>
            </a:extLst>
          </p:cNvPr>
          <p:cNvSpPr txBox="1">
            <a:spLocks noGrp="1"/>
          </p:cNvSpPr>
          <p:nvPr>
            <p:ph type="title" idx="4294967295"/>
          </p:nvPr>
        </p:nvSpPr>
        <p:spPr>
          <a:xfrm>
            <a:off x="503998" y="301322"/>
            <a:ext cx="9071643" cy="999387"/>
          </a:xfrm>
        </p:spPr>
        <p:txBody>
          <a:bodyPr/>
          <a:lstStyle/>
          <a:p>
            <a:r>
              <a:rPr lang="pl-PL" sz="5850">
                <a:latin typeface="Arial"/>
                <a:cs typeface="Arial"/>
              </a:rPr>
              <a:t>Przypadki bazowe</a:t>
            </a:r>
            <a:endParaRPr lang="pl-PL"/>
          </a:p>
        </p:txBody>
      </p:sp>
      <p:sp>
        <p:nvSpPr>
          <p:cNvPr id="3" name="Symbol zastępczy tekstu 2">
            <a:extLst>
              <a:ext uri="{FF2B5EF4-FFF2-40B4-BE49-F238E27FC236}">
                <a16:creationId xmlns:a16="http://schemas.microsoft.com/office/drawing/2014/main" id="{80A097D4-E9F4-F9D2-FC0E-EF274B30F49C}"/>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600">
                <a:latin typeface="Arial"/>
                <a:cs typeface="Arial"/>
              </a:rPr>
              <a:t>Przypadki możliwe bez rejestracji — dostępne dla gościa.</a:t>
            </a:r>
          </a:p>
          <a:p>
            <a:pPr algn="l">
              <a:spcBef>
                <a:spcPts val="1889"/>
              </a:spcBef>
            </a:pPr>
            <a:r>
              <a:rPr lang="pl-PL" sz="1600" b="1">
                <a:latin typeface="Arial"/>
                <a:cs typeface="Arial"/>
              </a:rPr>
              <a:t>PU-B1: Przeglądanie ogłoszeń</a:t>
            </a:r>
            <a:br>
              <a:rPr lang="pl-PL" sz="1600" b="1">
                <a:latin typeface="Arial"/>
                <a:cs typeface="Arial"/>
              </a:rPr>
            </a:br>
            <a:r>
              <a:rPr lang="pl-PL" sz="1600">
                <a:latin typeface="Arial"/>
                <a:cs typeface="Arial"/>
              </a:rPr>
              <a:t>Gość otwiera stronę główną, widzi najnowsze i wyróżnione oferty. Przechodzi do listy ogłoszeń, filtruje po typie (sprzedaż/wymiana), lokalizacji, tagach i przedziale cenowym. Sortuje wyniki po dacie, cenie lub popularności. Przegląda kolejne strony wyników.</a:t>
            </a:r>
          </a:p>
          <a:p>
            <a:pPr algn="l">
              <a:spcBef>
                <a:spcPts val="1889"/>
              </a:spcBef>
            </a:pPr>
            <a:r>
              <a:rPr lang="pl-PL" sz="1600" b="1">
                <a:latin typeface="Arial"/>
                <a:cs typeface="Arial"/>
              </a:rPr>
              <a:t>PU-B2: Wyszukiwanie ofert</a:t>
            </a:r>
            <a:br>
              <a:rPr lang="pl-PL" sz="1600" b="1">
                <a:latin typeface="Arial"/>
                <a:cs typeface="Arial"/>
              </a:rPr>
            </a:br>
            <a:r>
              <a:rPr lang="pl-PL" sz="1600">
                <a:latin typeface="Arial"/>
                <a:cs typeface="Arial"/>
              </a:rPr>
              <a:t>Gość wpisuje frazę w pole wyszukiwania. System zwraca ogłoszenia, których tytuł lub opis zawiera wyszukiwaną frazę (wyszukiwanie niewrażliwe na wielkość liter, z obsługą polskich znaków). Wyniki można dalej zawężać filtrami.</a:t>
            </a:r>
          </a:p>
          <a:p>
            <a:pPr algn="l">
              <a:spcBef>
                <a:spcPts val="1889"/>
              </a:spcBef>
            </a:pPr>
            <a:r>
              <a:rPr lang="pl-PL" sz="1600" b="1">
                <a:latin typeface="Arial"/>
                <a:cs typeface="Arial"/>
              </a:rPr>
              <a:t>PU-B3: Wyświetlenie szczegółów ogłoszenia</a:t>
            </a:r>
            <a:br>
              <a:rPr lang="pl-PL" sz="1600" b="1">
                <a:latin typeface="Arial"/>
                <a:cs typeface="Arial"/>
              </a:rPr>
            </a:br>
            <a:r>
              <a:rPr lang="pl-PL" sz="1600">
                <a:latin typeface="Arial"/>
                <a:cs typeface="Arial"/>
              </a:rPr>
              <a:t>Gość klika ogłoszenie. Widzi zdjęcia (galeria), opis, cenę, lokalizację, opcje dostawy, tagi, informacje o sprzedawcy (nazwa, średnia ocena, liczba recenzji) oraz listę recenzji. Licznik wyświetleń ogłoszenia jest inkrementowany (wyłącznie dla gości i użytkowników niebędących właścicielem).</a:t>
            </a:r>
          </a:p>
          <a:p>
            <a:pPr algn="l">
              <a:spcBef>
                <a:spcPts val="1889"/>
              </a:spcBef>
            </a:pPr>
            <a:r>
              <a:rPr lang="pl-PL" sz="1600" b="1">
                <a:latin typeface="Arial"/>
                <a:cs typeface="Arial"/>
              </a:rPr>
              <a:t>PU-B4: Rejestracja konta</a:t>
            </a:r>
            <a:br>
              <a:rPr lang="pl-PL" sz="1600" b="1">
                <a:latin typeface="Arial"/>
                <a:cs typeface="Arial"/>
              </a:rPr>
            </a:br>
            <a:r>
              <a:rPr lang="pl-PL" sz="1600">
                <a:latin typeface="Arial"/>
                <a:cs typeface="Arial"/>
              </a:rPr>
              <a:t>Gość wypełnia formularz rejestracji (login, hasło, e-mail). System weryfikuje unikalność loginu i adresu e-mail, hashuje hasło i tworzy konto. Użytkownik zostaje automatycznie zalogowany.</a:t>
            </a:r>
          </a:p>
          <a:p>
            <a:pPr algn="l">
              <a:spcBef>
                <a:spcPts val="1889"/>
              </a:spcBef>
            </a:pPr>
            <a:r>
              <a:rPr lang="pl-PL" sz="1600" b="1">
                <a:latin typeface="Arial"/>
                <a:cs typeface="Arial"/>
              </a:rPr>
              <a:t>PU-B5: Logowanie</a:t>
            </a:r>
            <a:br>
              <a:rPr lang="pl-PL" sz="1600" b="1">
                <a:latin typeface="Arial"/>
                <a:cs typeface="Arial"/>
              </a:rPr>
            </a:br>
            <a:r>
              <a:rPr lang="pl-PL" sz="1600">
                <a:latin typeface="Arial"/>
                <a:cs typeface="Arial"/>
              </a:rPr>
              <a:t>Gość podaje login i hasło. System weryfikuje dane (hash bcrypt), sprawdza czy konto nie jest zablokowane lub usunięte i tworzy ciasteczko sesji.</a:t>
            </a:r>
          </a:p>
          <a:p>
            <a:pPr algn="l">
              <a:spcBef>
                <a:spcPts val="1889"/>
              </a:spcBef>
              <a:buFont typeface="Arial"/>
              <a:buChar char="•"/>
            </a:pPr>
            <a:endParaRPr lang="pl-PL" sz="1600">
              <a:latin typeface="Arial"/>
              <a:cs typeface="Arial"/>
            </a:endParaRPr>
          </a:p>
        </p:txBody>
      </p:sp>
    </p:spTree>
    <p:extLst>
      <p:ext uri="{BB962C8B-B14F-4D97-AF65-F5344CB8AC3E}">
        <p14:creationId xmlns:p14="http://schemas.microsoft.com/office/powerpoint/2010/main" val="40291494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D4327-B592-0B60-C13C-08E83983AB06}"/>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FB392969-A5A5-F8A4-5167-9FCA758B9665}"/>
              </a:ext>
            </a:extLst>
          </p:cNvPr>
          <p:cNvSpPr txBox="1">
            <a:spLocks noGrp="1"/>
          </p:cNvSpPr>
          <p:nvPr>
            <p:ph type="title" idx="4294967295"/>
          </p:nvPr>
        </p:nvSpPr>
        <p:spPr>
          <a:xfrm>
            <a:off x="503998" y="301322"/>
            <a:ext cx="9071643" cy="999387"/>
          </a:xfrm>
        </p:spPr>
        <p:txBody>
          <a:bodyPr/>
          <a:lstStyle/>
          <a:p>
            <a:r>
              <a:rPr lang="pl-PL" sz="5850">
                <a:latin typeface="Arial"/>
                <a:cs typeface="Arial"/>
              </a:rPr>
              <a:t>Przypadki kluczowe</a:t>
            </a:r>
            <a:endParaRPr lang="pl-PL"/>
          </a:p>
        </p:txBody>
      </p:sp>
      <p:sp>
        <p:nvSpPr>
          <p:cNvPr id="3" name="Symbol zastępczy tekstu 2">
            <a:extLst>
              <a:ext uri="{FF2B5EF4-FFF2-40B4-BE49-F238E27FC236}">
                <a16:creationId xmlns:a16="http://schemas.microsoft.com/office/drawing/2014/main" id="{4462C997-0FFF-5C95-3D28-DB6315308633}"/>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300">
                <a:latin typeface="Arial"/>
                <a:cs typeface="Arial"/>
              </a:rPr>
              <a:t>Rdzeń platformy — główne przepływy wartości dla zalogowanego użytkownika.</a:t>
            </a:r>
          </a:p>
          <a:p>
            <a:pPr algn="l">
              <a:spcBef>
                <a:spcPts val="1889"/>
              </a:spcBef>
            </a:pPr>
            <a:r>
              <a:rPr lang="pl-PL" sz="1300" b="1">
                <a:latin typeface="Arial"/>
                <a:cs typeface="Arial"/>
              </a:rPr>
              <a:t>PU-K1: Wystawienie ogłoszenia</a:t>
            </a:r>
            <a:br>
              <a:rPr lang="pl-PL" sz="1300" b="1">
                <a:latin typeface="Arial"/>
                <a:cs typeface="Arial"/>
              </a:rPr>
            </a:br>
            <a:r>
              <a:rPr lang="pl-PL" sz="1300">
                <a:latin typeface="Arial"/>
                <a:cs typeface="Arial"/>
              </a:rPr>
              <a:t>Zalogowany użytkownik wypełnia formularz nowego ogłoszenia: tytuł, opis, typ (sprzedaż lub wymiana), cena (dla sprzedaży), ilość sztuk, lokalizacja, opcje dostawy, tagi, zdjęcia (do 10). Przy wymianie może określić minimalne wymagania dotyczące oferty drugiej strony i zaakceptowane tagi. Po zapisaniu system pobiera opłatę 0,50 PLN z przypiętej karty sprzedawcy (jeśli karta jest skonfigurowana).</a:t>
            </a:r>
          </a:p>
          <a:p>
            <a:pPr algn="l">
              <a:spcBef>
                <a:spcPts val="1889"/>
              </a:spcBef>
            </a:pPr>
            <a:r>
              <a:rPr lang="pl-PL" sz="1300" b="1">
                <a:latin typeface="Arial"/>
                <a:cs typeface="Arial"/>
              </a:rPr>
              <a:t>PU-K2: Zakup ogłoszenia (transakcja sprzedaży)</a:t>
            </a:r>
            <a:br>
              <a:rPr lang="pl-PL" sz="1300" b="1">
                <a:latin typeface="Arial"/>
                <a:cs typeface="Arial"/>
              </a:rPr>
            </a:br>
            <a:r>
              <a:rPr lang="pl-PL" sz="1300">
                <a:latin typeface="Arial"/>
                <a:cs typeface="Arial"/>
              </a:rPr>
              <a:t>Zalogowany kupujący otwiera szczegóły ogłoszenia sprzedaży i klika „Kup teraz". Podaje ilość sztuk i potwierdza zamówienie. System przekierowuje do bramki PayU. Kupujący dokonuje płatności. PayU wysyła webhook do systemu — system zmienia status zamówienia na </a:t>
            </a:r>
            <a:r>
              <a:rPr lang="pl-PL" sz="1300">
                <a:latin typeface="Courier New"/>
                <a:cs typeface="Courier New"/>
              </a:rPr>
              <a:t>Paid</a:t>
            </a:r>
            <a:r>
              <a:rPr lang="pl-PL" sz="1300">
                <a:latin typeface="Arial"/>
                <a:cs typeface="Arial"/>
              </a:rPr>
              <a:t>, zmniejsza stan magazynowy ogłoszenia, wysyła powiadomienia do kupującego i sprzedawcy oraz inicjuje automatyczną wypłatę 95% kwoty na konto sprzedawcy.</a:t>
            </a:r>
          </a:p>
          <a:p>
            <a:pPr algn="l">
              <a:spcBef>
                <a:spcPts val="1889"/>
              </a:spcBef>
            </a:pPr>
            <a:r>
              <a:rPr lang="pl-PL" sz="1300" b="1">
                <a:latin typeface="Arial"/>
                <a:cs typeface="Arial"/>
              </a:rPr>
              <a:t>PU-K3: Złożenie propozycji wymiany</a:t>
            </a:r>
            <a:br>
              <a:rPr lang="pl-PL" sz="1300" b="1">
                <a:latin typeface="Arial"/>
                <a:cs typeface="Arial"/>
              </a:rPr>
            </a:br>
            <a:r>
              <a:rPr lang="pl-PL" sz="1300">
                <a:latin typeface="Arial"/>
                <a:cs typeface="Arial"/>
              </a:rPr>
              <a:t>Zalogowany użytkownik otwiera ogłoszenie typu „Wymiana". Klika „Zaproponuj wymianę". Wybiera ogłoszenia ze swojego konta, które chce zaoferować w zamian, określa ilości i ewentualną dopłatę gotówkową. Może też tworzyć nowe prywatne ogłoszenia „na potrzeby wymiany" bezpośrednio z formularza. Zatwierdza propozycję — sprzedawca otrzymuje powiadomienie.</a:t>
            </a:r>
          </a:p>
          <a:p>
            <a:pPr algn="l">
              <a:spcBef>
                <a:spcPts val="1889"/>
              </a:spcBef>
            </a:pPr>
            <a:r>
              <a:rPr lang="pl-PL" sz="1300" b="1">
                <a:latin typeface="Arial"/>
                <a:cs typeface="Arial"/>
              </a:rPr>
              <a:t>PU-K4: Odpowiedź na propozycję wymiany (negocjacje)</a:t>
            </a:r>
            <a:br>
              <a:rPr lang="pl-PL" sz="1300" b="1">
                <a:latin typeface="Arial"/>
                <a:cs typeface="Arial"/>
              </a:rPr>
            </a:br>
            <a:r>
              <a:rPr lang="pl-PL" sz="1300">
                <a:latin typeface="Arial"/>
                <a:cs typeface="Arial"/>
              </a:rPr>
              <a:t>Sprzedawca przegląda otrzymaną propozycję wymiany. Może ją zaakceptować, odrzucić lub złożyć kontrpropozycję (modyfikując skład oferty). Inicjator może odpowiedzieć kolejną kontrpropozycją. Każda zmiana jest rejestrowana w historii propozycji. Akceptacja przez jedną ze stron finalizuje wymianę.</a:t>
            </a:r>
          </a:p>
          <a:p>
            <a:pPr algn="l">
              <a:spcBef>
                <a:spcPts val="1889"/>
              </a:spcBef>
            </a:pPr>
            <a:r>
              <a:rPr lang="pl-PL" sz="1300" b="1">
                <a:latin typeface="Arial"/>
                <a:cs typeface="Arial"/>
              </a:rPr>
              <a:t>PU-K5: Zarządzanie własnym kontem i profilem</a:t>
            </a:r>
            <a:br>
              <a:rPr lang="pl-PL" sz="1300" b="1">
                <a:latin typeface="Arial"/>
                <a:cs typeface="Arial"/>
              </a:rPr>
            </a:br>
            <a:r>
              <a:rPr lang="pl-PL" sz="1300">
                <a:latin typeface="Arial"/>
                <a:cs typeface="Arial"/>
              </a:rPr>
              <a:t>Zalogowany użytkownik może edytować dane profilu (imię, nazwisko, adres z geokodowaniem, numer telefonu), przeglądać historię zamówień i sprzedaży, zarządzać swoimi ogłoszeniami (edycja, archiwizacja) oraz podpiąć kartę płatniczą (tokenizacja przez PayU).</a:t>
            </a:r>
          </a:p>
          <a:p>
            <a:pPr algn="l">
              <a:spcBef>
                <a:spcPts val="1889"/>
              </a:spcBef>
            </a:pPr>
            <a:endParaRPr lang="pl-PL" sz="1300">
              <a:latin typeface="Arial"/>
              <a:cs typeface="Arial"/>
            </a:endParaRPr>
          </a:p>
        </p:txBody>
      </p:sp>
    </p:spTree>
    <p:extLst>
      <p:ext uri="{BB962C8B-B14F-4D97-AF65-F5344CB8AC3E}">
        <p14:creationId xmlns:p14="http://schemas.microsoft.com/office/powerpoint/2010/main" val="37032954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AEB69-146B-121E-972D-41F01CD0F426}"/>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93C5BCA9-7BB5-BA1E-5152-CBE0C9A80A4C}"/>
              </a:ext>
            </a:extLst>
          </p:cNvPr>
          <p:cNvSpPr txBox="1">
            <a:spLocks noGrp="1"/>
          </p:cNvSpPr>
          <p:nvPr>
            <p:ph type="title" idx="4294967295"/>
          </p:nvPr>
        </p:nvSpPr>
        <p:spPr>
          <a:xfrm>
            <a:off x="503998" y="301322"/>
            <a:ext cx="9071643" cy="999387"/>
          </a:xfrm>
        </p:spPr>
        <p:txBody>
          <a:bodyPr/>
          <a:lstStyle/>
          <a:p>
            <a:r>
              <a:rPr lang="pl-PL" sz="5850">
                <a:latin typeface="Arial"/>
                <a:cs typeface="Arial"/>
              </a:rPr>
              <a:t>Przypadki ważne</a:t>
            </a:r>
            <a:endParaRPr lang="pl-PL"/>
          </a:p>
        </p:txBody>
      </p:sp>
      <p:sp>
        <p:nvSpPr>
          <p:cNvPr id="3" name="Symbol zastępczy tekstu 2">
            <a:extLst>
              <a:ext uri="{FF2B5EF4-FFF2-40B4-BE49-F238E27FC236}">
                <a16:creationId xmlns:a16="http://schemas.microsoft.com/office/drawing/2014/main" id="{93570BEA-A179-B0FB-887C-466A118B323C}"/>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250">
                <a:latin typeface="Arial"/>
                <a:cs typeface="Arial"/>
              </a:rPr>
              <a:t>Istotne funkcjonalności wspierające działanie platformy.</a:t>
            </a:r>
          </a:p>
          <a:p>
            <a:pPr algn="l">
              <a:spcBef>
                <a:spcPts val="1889"/>
              </a:spcBef>
            </a:pPr>
            <a:r>
              <a:rPr lang="pl-PL" sz="1250" b="1">
                <a:latin typeface="Arial"/>
                <a:cs typeface="Arial"/>
              </a:rPr>
              <a:t>PU-W1: Wystawienie recenzji sprzedawcy</a:t>
            </a:r>
            <a:br>
              <a:rPr lang="pl-PL" sz="1250" b="1">
                <a:latin typeface="Arial"/>
                <a:cs typeface="Arial"/>
              </a:rPr>
            </a:br>
            <a:r>
              <a:rPr lang="pl-PL" sz="1250">
                <a:latin typeface="Arial"/>
                <a:cs typeface="Arial"/>
              </a:rPr>
              <a:t>Po zakończonej transakcji (zamówienie w statusie </a:t>
            </a:r>
            <a:r>
              <a:rPr lang="pl-PL" sz="1250">
                <a:latin typeface="Courier New"/>
                <a:cs typeface="Courier New"/>
              </a:rPr>
              <a:t>Paid</a:t>
            </a:r>
            <a:r>
              <a:rPr lang="pl-PL" sz="1250">
                <a:latin typeface="Arial"/>
                <a:cs typeface="Arial"/>
              </a:rPr>
              <a:t>) kupujący może wystawić recenzję sprzedawcy: ocena gwiazdkowa (1–5), opis tekstowy, opcjonalne zdjęcia. Recenzja przypisana jest do konkretnego ogłoszenia i widoczna w profilu sprzedawcy.</a:t>
            </a:r>
          </a:p>
          <a:p>
            <a:pPr algn="l">
              <a:spcBef>
                <a:spcPts val="1889"/>
              </a:spcBef>
            </a:pPr>
            <a:r>
              <a:rPr lang="pl-PL" sz="1250" b="1">
                <a:latin typeface="Arial"/>
                <a:cs typeface="Arial"/>
              </a:rPr>
              <a:t>PU-W2: Komunikacja wiadomościami</a:t>
            </a:r>
            <a:br>
              <a:rPr lang="pl-PL" sz="1250" b="1">
                <a:latin typeface="Arial"/>
                <a:cs typeface="Arial"/>
              </a:rPr>
            </a:br>
            <a:r>
              <a:rPr lang="pl-PL" sz="1250">
                <a:latin typeface="Arial"/>
                <a:cs typeface="Arial"/>
              </a:rPr>
              <a:t>Zalogowany użytkownik klika „Wyślij wiadomość" na stronie ogłoszenia lub propozycji wymiany. Otwiera się wątek konwersacji. Użytkownicy mogą wymieniać wiadomości tekstowe i zdjęcia. Nowe wiadomości generują powiadomienia. Lista skrzynek przychodzących grupuje wątki według rozmówcy i kontekstu (ogłoszenie/propozycja).</a:t>
            </a:r>
          </a:p>
          <a:p>
            <a:pPr algn="l">
              <a:spcBef>
                <a:spcPts val="1889"/>
              </a:spcBef>
            </a:pPr>
            <a:r>
              <a:rPr lang="pl-PL" sz="1250" b="1">
                <a:latin typeface="Arial"/>
                <a:cs typeface="Arial"/>
              </a:rPr>
              <a:t>PU-W3: Zgłoszenie naruszenia / wsparcie</a:t>
            </a:r>
            <a:br>
              <a:rPr lang="pl-PL" sz="1250" b="1">
                <a:latin typeface="Arial"/>
                <a:cs typeface="Arial"/>
              </a:rPr>
            </a:br>
            <a:r>
              <a:rPr lang="pl-PL" sz="1250">
                <a:latin typeface="Arial"/>
                <a:cs typeface="Arial"/>
              </a:rPr>
              <a:t>Użytkownik zgłasza naruszenie (np. fałszywe ogłoszenie, nieodpowiednie treści) lub prosi o pomoc techniczną poprzez formularz zgłoszeniowy. Podaje temat, kategorię i opis. Ticket trafia do kolejki administratora. Administrator może go komentować i zmieniać status (Open → In Progress → Resolved).</a:t>
            </a:r>
          </a:p>
          <a:p>
            <a:pPr algn="l">
              <a:spcBef>
                <a:spcPts val="1889"/>
              </a:spcBef>
            </a:pPr>
            <a:r>
              <a:rPr lang="pl-PL" sz="1250" b="1">
                <a:latin typeface="Arial"/>
                <a:cs typeface="Arial"/>
              </a:rPr>
              <a:t>PU-W4: Zarządzanie ogłoszeniami przez administratora</a:t>
            </a:r>
            <a:br>
              <a:rPr lang="pl-PL" sz="1250" b="1">
                <a:latin typeface="Arial"/>
                <a:cs typeface="Arial"/>
              </a:rPr>
            </a:br>
            <a:r>
              <a:rPr lang="pl-PL" sz="1250">
                <a:latin typeface="Arial"/>
                <a:cs typeface="Arial"/>
              </a:rPr>
              <a:t>Administrator w panelu administracyjnym przegląda wszystkie ogłoszenia. Może wyróżnić ogłoszenie (pojawi się w sekcji „Polecane" na stronie głównej), zarchiwizować je (ukrycie z publicznego widoku) lub przywrócić. Może też zarządzać kontami użytkowników (blokada, nadanie uprawnień administratora).</a:t>
            </a:r>
          </a:p>
          <a:p>
            <a:pPr algn="l">
              <a:spcBef>
                <a:spcPts val="1889"/>
              </a:spcBef>
            </a:pPr>
            <a:r>
              <a:rPr lang="pl-PL" sz="1250" b="1">
                <a:latin typeface="Arial"/>
                <a:cs typeface="Arial"/>
              </a:rPr>
              <a:t>PU-W5: Obsługa powiadomień</a:t>
            </a:r>
            <a:br>
              <a:rPr lang="pl-PL" sz="1250" b="1">
                <a:latin typeface="Arial"/>
                <a:cs typeface="Arial"/>
              </a:rPr>
            </a:br>
            <a:r>
              <a:rPr lang="pl-PL" sz="1250">
                <a:latin typeface="Arial"/>
                <a:cs typeface="Arial"/>
              </a:rPr>
              <a:t>System automatycznie generuje powiadomienia dla użytkownika przy: nowej wiadomości, zmianie statusu propozycji wymiany, zmianie statusu zamówienia, nowym zgłoszeniu przypisanym administratorowi. Licznik nieprzeczytanych powiadomień widoczny jest w nagłówku każdej strony. Kliknięcie powiadomienia przenosi do odpowiedniego kontekstu i oznacza je jako przeczytane.</a:t>
            </a:r>
          </a:p>
          <a:p>
            <a:pPr algn="l">
              <a:spcBef>
                <a:spcPts val="1889"/>
              </a:spcBef>
            </a:pPr>
            <a:r>
              <a:rPr lang="pl-PL" sz="1250" b="1">
                <a:latin typeface="Arial"/>
                <a:cs typeface="Arial"/>
              </a:rPr>
              <a:t>PU-W6: Głosowanie na recenzje</a:t>
            </a:r>
            <a:br>
              <a:rPr lang="pl-PL" sz="1250" b="1">
                <a:latin typeface="Arial"/>
                <a:cs typeface="Arial"/>
              </a:rPr>
            </a:br>
            <a:r>
              <a:rPr lang="pl-PL" sz="1250">
                <a:latin typeface="Arial"/>
                <a:cs typeface="Arial"/>
              </a:rPr>
              <a:t>Zalogowany użytkownik może oznaczyć recenzję jako pomocną (upvote) lub niepomocną (downvote). Wyniki głosowania widoczne są przy każdej recenzji i mogą służyć do sortowania recenzji w przyszłości.</a:t>
            </a:r>
          </a:p>
          <a:p>
            <a:pPr algn="l">
              <a:spcBef>
                <a:spcPts val="1889"/>
              </a:spcBef>
            </a:pPr>
            <a:endParaRPr lang="pl-PL" sz="1250">
              <a:latin typeface="Arial"/>
              <a:cs typeface="Arial"/>
            </a:endParaRPr>
          </a:p>
        </p:txBody>
      </p:sp>
    </p:spTree>
    <p:extLst>
      <p:ext uri="{BB962C8B-B14F-4D97-AF65-F5344CB8AC3E}">
        <p14:creationId xmlns:p14="http://schemas.microsoft.com/office/powerpoint/2010/main" val="15899180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EC72A-BA6C-6948-A484-82E58AF120CE}"/>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EBE3FB56-CE98-6A1B-D873-40A65002ACF7}"/>
              </a:ext>
            </a:extLst>
          </p:cNvPr>
          <p:cNvSpPr txBox="1">
            <a:spLocks noGrp="1"/>
          </p:cNvSpPr>
          <p:nvPr>
            <p:ph type="title" idx="4294967295"/>
          </p:nvPr>
        </p:nvSpPr>
        <p:spPr>
          <a:xfrm>
            <a:off x="503998" y="301322"/>
            <a:ext cx="9071643" cy="999387"/>
          </a:xfrm>
        </p:spPr>
        <p:txBody>
          <a:bodyPr/>
          <a:lstStyle/>
          <a:p>
            <a:r>
              <a:rPr lang="pl-PL" sz="5850">
                <a:latin typeface="Arial"/>
                <a:cs typeface="Arial"/>
              </a:rPr>
              <a:t>Architektura systemu</a:t>
            </a:r>
          </a:p>
        </p:txBody>
      </p:sp>
      <p:sp>
        <p:nvSpPr>
          <p:cNvPr id="3" name="Symbol zastępczy tekstu 2">
            <a:extLst>
              <a:ext uri="{FF2B5EF4-FFF2-40B4-BE49-F238E27FC236}">
                <a16:creationId xmlns:a16="http://schemas.microsoft.com/office/drawing/2014/main" id="{E8A34B32-76D6-9066-BB3E-D2C454A8B684}"/>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700">
                <a:latin typeface="Arial"/>
                <a:cs typeface="Arial"/>
              </a:rPr>
              <a:t>Typ architektury:</a:t>
            </a:r>
            <a:endParaRPr lang="pl-PL" sz="2700"/>
          </a:p>
          <a:p>
            <a:pPr algn="l">
              <a:spcBef>
                <a:spcPts val="1889"/>
              </a:spcBef>
            </a:pPr>
            <a:r>
              <a:rPr lang="pl-PL" sz="2700">
                <a:latin typeface="Arial"/>
                <a:cs typeface="Arial"/>
              </a:rPr>
              <a:t>System </a:t>
            </a:r>
            <a:r>
              <a:rPr lang="pl-PL" sz="2700" b="1">
                <a:latin typeface="Arial"/>
                <a:cs typeface="Arial"/>
              </a:rPr>
              <a:t>HandlujZTym</a:t>
            </a:r>
            <a:r>
              <a:rPr lang="pl-PL" sz="2700">
                <a:latin typeface="Arial"/>
                <a:cs typeface="Arial"/>
              </a:rPr>
              <a:t> to </a:t>
            </a:r>
            <a:r>
              <a:rPr lang="pl-PL" sz="2700" b="1">
                <a:latin typeface="Arial"/>
                <a:cs typeface="Arial"/>
              </a:rPr>
              <a:t>aplikacja webowa</a:t>
            </a:r>
            <a:r>
              <a:rPr lang="pl-PL" sz="2700">
                <a:latin typeface="Arial"/>
                <a:cs typeface="Arial"/>
              </a:rPr>
              <a:t> zbudowana w architekturze </a:t>
            </a:r>
            <a:r>
              <a:rPr lang="pl-PL" sz="2700" b="1">
                <a:latin typeface="Arial"/>
                <a:cs typeface="Arial"/>
              </a:rPr>
              <a:t>klient–serwer</a:t>
            </a:r>
            <a:r>
              <a:rPr lang="pl-PL" sz="2700">
                <a:latin typeface="Arial"/>
                <a:cs typeface="Arial"/>
              </a:rPr>
              <a:t>, realizującej wzorzec </a:t>
            </a:r>
            <a:r>
              <a:rPr lang="pl-PL" sz="2700" b="1">
                <a:latin typeface="Arial"/>
                <a:cs typeface="Arial"/>
              </a:rPr>
              <a:t>MVC (Model–View–Controller)</a:t>
            </a:r>
            <a:r>
              <a:rPr lang="pl-PL" sz="2700">
                <a:latin typeface="Arial"/>
                <a:cs typeface="Arial"/>
              </a:rPr>
              <a:t> po stronie serwera. Architektura jest </a:t>
            </a:r>
            <a:r>
              <a:rPr lang="pl-PL" sz="2700" b="1">
                <a:latin typeface="Arial"/>
                <a:cs typeface="Arial"/>
              </a:rPr>
              <a:t>monolityczna</a:t>
            </a:r>
            <a:r>
              <a:rPr lang="pl-PL" sz="2700">
                <a:latin typeface="Arial"/>
                <a:cs typeface="Arial"/>
              </a:rPr>
              <a:t> (monolit modularny) — cały kod aplikacyjny kompilowany jest do jednego procesu ASP.NET Core. Monolit podzielony jest wewnętrznie na wyraźne warstwy logiczne, co zapewnia czytelność i możliwość niezależnego rozwoju poszczególnych modułów bez konieczności komunikacji między usługami. Frontendem jest </a:t>
            </a:r>
            <a:r>
              <a:rPr lang="pl-PL" sz="2700" b="1">
                <a:latin typeface="Arial"/>
                <a:cs typeface="Arial"/>
              </a:rPr>
              <a:t>serwer-side rendering</a:t>
            </a:r>
            <a:r>
              <a:rPr lang="pl-PL" sz="2700">
                <a:latin typeface="Arial"/>
                <a:cs typeface="Arial"/>
              </a:rPr>
              <a:t> (Razor Views — HTML generowany po stronie serwera), uzupełniony o Bootstrap 5 i minimalne skrypty JavaScript po stronie klienta.</a:t>
            </a:r>
          </a:p>
        </p:txBody>
      </p:sp>
    </p:spTree>
    <p:extLst>
      <p:ext uri="{BB962C8B-B14F-4D97-AF65-F5344CB8AC3E}">
        <p14:creationId xmlns:p14="http://schemas.microsoft.com/office/powerpoint/2010/main" val="1402974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FBCA3-7A04-D472-FF67-989FA6998BBF}"/>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5173E179-17A3-2BD8-EE63-0203C4E762E2}"/>
              </a:ext>
            </a:extLst>
          </p:cNvPr>
          <p:cNvSpPr txBox="1">
            <a:spLocks noGrp="1"/>
          </p:cNvSpPr>
          <p:nvPr>
            <p:ph type="title" idx="4294967295"/>
          </p:nvPr>
        </p:nvSpPr>
        <p:spPr>
          <a:xfrm>
            <a:off x="503998" y="301322"/>
            <a:ext cx="9071643" cy="999387"/>
          </a:xfrm>
        </p:spPr>
        <p:txBody>
          <a:bodyPr/>
          <a:lstStyle/>
          <a:p>
            <a:r>
              <a:rPr lang="pl-PL" sz="4800">
                <a:latin typeface="Arial"/>
                <a:cs typeface="Arial"/>
              </a:rPr>
              <a:t>Podział na warstwy / moduły</a:t>
            </a:r>
          </a:p>
        </p:txBody>
      </p:sp>
      <p:sp>
        <p:nvSpPr>
          <p:cNvPr id="3" name="Symbol zastępczy tekstu 2">
            <a:extLst>
              <a:ext uri="{FF2B5EF4-FFF2-40B4-BE49-F238E27FC236}">
                <a16:creationId xmlns:a16="http://schemas.microsoft.com/office/drawing/2014/main" id="{05A9E742-1AE6-B668-C221-0D156BC1C72B}"/>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100" b="1">
                <a:solidFill>
                  <a:schemeClr val="tx1"/>
                </a:solidFill>
                <a:latin typeface="Arial"/>
                <a:cs typeface="Arial"/>
              </a:rPr>
              <a:t>Warstwa prezentacji (UI)</a:t>
            </a:r>
            <a:br>
              <a:rPr lang="pl-PL" sz="1100" b="1">
                <a:latin typeface="Arial"/>
                <a:cs typeface="Arial"/>
              </a:rPr>
            </a:br>
            <a:r>
              <a:rPr lang="pl-PL" sz="1100" b="1">
                <a:solidFill>
                  <a:schemeClr val="tx1"/>
                </a:solidFill>
                <a:latin typeface="Arial"/>
                <a:cs typeface="Arial"/>
              </a:rPr>
              <a:t>Razor Views (</a:t>
            </a:r>
            <a:r>
              <a:rPr lang="pl-PL" sz="1100">
                <a:solidFill>
                  <a:schemeClr val="tx1"/>
                </a:solidFill>
                <a:latin typeface="Courier New"/>
                <a:cs typeface="Courier New"/>
              </a:rPr>
              <a:t>.cshtml</a:t>
            </a:r>
            <a:r>
              <a:rPr lang="pl-PL" sz="1100">
                <a:solidFill>
                  <a:schemeClr val="tx1"/>
                </a:solidFill>
                <a:latin typeface="Arial"/>
                <a:cs typeface="Arial"/>
              </a:rPr>
              <a:t>) renderowane przez serwer i dostarczane do przeglądarki jako gotowy HTML. Odpowiada za wyświetlanie danych, formularze wprowadzania i nawigację. Nie zawiera logiki biznesowej — jedynie prezentuje dane przekazane przez kontrolery przez modele widoku (</a:t>
            </a:r>
            <a:r>
              <a:rPr lang="pl-PL" sz="1100">
                <a:solidFill>
                  <a:schemeClr val="tx1"/>
                </a:solidFill>
                <a:latin typeface="Courier New"/>
                <a:cs typeface="Courier New"/>
              </a:rPr>
              <a:t>ViewModels</a:t>
            </a:r>
            <a:r>
              <a:rPr lang="pl-PL" sz="1100">
                <a:solidFill>
                  <a:schemeClr val="tx1"/>
                </a:solidFill>
                <a:latin typeface="Arial"/>
                <a:cs typeface="Arial"/>
              </a:rPr>
              <a:t>) i </a:t>
            </a:r>
            <a:r>
              <a:rPr lang="pl-PL" sz="1100">
                <a:solidFill>
                  <a:schemeClr val="tx1"/>
                </a:solidFill>
                <a:latin typeface="Courier New"/>
                <a:cs typeface="Courier New"/>
              </a:rPr>
              <a:t>ViewBag</a:t>
            </a:r>
            <a:r>
              <a:rPr lang="pl-PL" sz="1100">
                <a:solidFill>
                  <a:schemeClr val="tx1"/>
                </a:solidFill>
                <a:latin typeface="Arial"/>
                <a:cs typeface="Arial"/>
              </a:rPr>
              <a:t>. Zasoby statyczne (CSS, JS, Bootstrap 5) serwowane są bezpośrednio przez Nginx.</a:t>
            </a:r>
            <a:endParaRPr lang="pl-PL" sz="1100">
              <a:solidFill>
                <a:schemeClr val="tx1"/>
              </a:solidFill>
            </a:endParaRPr>
          </a:p>
          <a:p>
            <a:pPr algn="l">
              <a:spcBef>
                <a:spcPts val="1889"/>
              </a:spcBef>
            </a:pPr>
            <a:r>
              <a:rPr lang="pl-PL" sz="1100" b="1">
                <a:solidFill>
                  <a:schemeClr val="tx1"/>
                </a:solidFill>
                <a:latin typeface="Arial"/>
                <a:cs typeface="Arial"/>
              </a:rPr>
              <a:t>Warstwa kontrolerów (MVC Controllers)</a:t>
            </a:r>
            <a:br>
              <a:rPr lang="pl-PL" sz="1100" b="1">
                <a:latin typeface="Arial"/>
                <a:cs typeface="Arial"/>
              </a:rPr>
            </a:br>
            <a:r>
              <a:rPr lang="pl-PL" sz="1100" b="1">
                <a:solidFill>
                  <a:schemeClr val="tx1"/>
                </a:solidFill>
                <a:latin typeface="Arial"/>
                <a:cs typeface="Arial"/>
              </a:rPr>
              <a:t>Punkt wejścia dla każdego żądania HTTP. Przyjmuje dane z formularzy i parametrów URL, waliduje wstępnie dane wejściowe (atrybuty </a:t>
            </a:r>
            <a:r>
              <a:rPr lang="pl-PL" sz="1100">
                <a:solidFill>
                  <a:schemeClr val="tx1"/>
                </a:solidFill>
                <a:latin typeface="Courier New"/>
                <a:cs typeface="Courier New"/>
              </a:rPr>
              <a:t>[Required]</a:t>
            </a:r>
            <a:r>
              <a:rPr lang="pl-PL" sz="1100">
                <a:solidFill>
                  <a:schemeClr val="tx1"/>
                </a:solidFill>
                <a:latin typeface="Arial"/>
                <a:cs typeface="Arial"/>
              </a:rPr>
              <a:t>, </a:t>
            </a:r>
            <a:r>
              <a:rPr lang="pl-PL" sz="1100">
                <a:solidFill>
                  <a:schemeClr val="tx1"/>
                </a:solidFill>
                <a:latin typeface="Courier New"/>
                <a:cs typeface="Courier New"/>
              </a:rPr>
              <a:t>ModelState</a:t>
            </a:r>
            <a:r>
              <a:rPr lang="pl-PL" sz="1100">
                <a:solidFill>
                  <a:schemeClr val="tx1"/>
                </a:solidFill>
                <a:latin typeface="Arial"/>
                <a:cs typeface="Arial"/>
              </a:rPr>
              <a:t>), wywołuje serwisy lub bezpośrednio operacje na kontekście danych, a następnie zwraca odpowiedni widok lub przekierowanie. Kontrolery podzielone są na dwa obszary: </a:t>
            </a:r>
            <a:r>
              <a:rPr lang="pl-PL" sz="1100">
                <a:solidFill>
                  <a:schemeClr val="tx1"/>
                </a:solidFill>
                <a:latin typeface="Courier New"/>
                <a:cs typeface="Courier New"/>
              </a:rPr>
              <a:t>Controllers/User/</a:t>
            </a:r>
            <a:r>
              <a:rPr lang="pl-PL" sz="1100">
                <a:solidFill>
                  <a:schemeClr val="tx1"/>
                </a:solidFill>
                <a:latin typeface="Arial"/>
                <a:cs typeface="Arial"/>
              </a:rPr>
              <a:t> (dla zalogowanych użytkowników) i </a:t>
            </a:r>
            <a:r>
              <a:rPr lang="pl-PL" sz="1100">
                <a:solidFill>
                  <a:schemeClr val="tx1"/>
                </a:solidFill>
                <a:latin typeface="Courier New"/>
                <a:cs typeface="Courier New"/>
              </a:rPr>
              <a:t>Controllers/Admin/</a:t>
            </a:r>
            <a:r>
              <a:rPr lang="pl-PL" sz="1100">
                <a:solidFill>
                  <a:schemeClr val="tx1"/>
                </a:solidFill>
                <a:latin typeface="Arial"/>
                <a:cs typeface="Arial"/>
              </a:rPr>
              <a:t> (panel administracyjny).</a:t>
            </a:r>
            <a:endParaRPr lang="pl-PL" sz="1100">
              <a:solidFill>
                <a:schemeClr val="tx1"/>
              </a:solidFill>
            </a:endParaRPr>
          </a:p>
          <a:p>
            <a:pPr algn="l">
              <a:spcBef>
                <a:spcPts val="1889"/>
              </a:spcBef>
            </a:pPr>
            <a:r>
              <a:rPr lang="pl-PL" sz="1100" b="1">
                <a:solidFill>
                  <a:schemeClr val="tx1"/>
                </a:solidFill>
                <a:latin typeface="Arial"/>
                <a:cs typeface="Arial"/>
              </a:rPr>
              <a:t>Warstwa serwisów (Business Logic / Services)</a:t>
            </a:r>
            <a:br>
              <a:rPr lang="pl-PL" sz="1100" b="1">
                <a:latin typeface="Arial"/>
                <a:cs typeface="Arial"/>
              </a:rPr>
            </a:br>
            <a:r>
              <a:rPr lang="pl-PL" sz="1100" b="1">
                <a:solidFill>
                  <a:schemeClr val="tx1"/>
                </a:solidFill>
                <a:latin typeface="Arial"/>
                <a:cs typeface="Arial"/>
              </a:rPr>
              <a:t>Klasy serwisowe w </a:t>
            </a:r>
            <a:r>
              <a:rPr lang="pl-PL" sz="1100">
                <a:solidFill>
                  <a:schemeClr val="tx1"/>
                </a:solidFill>
                <a:latin typeface="Courier New"/>
                <a:cs typeface="Courier New"/>
              </a:rPr>
              <a:t>Models/System/</a:t>
            </a:r>
            <a:r>
              <a:rPr lang="pl-PL" sz="1100">
                <a:solidFill>
                  <a:schemeClr val="tx1"/>
                </a:solidFill>
                <a:latin typeface="Arial"/>
                <a:cs typeface="Arial"/>
              </a:rPr>
              <a:t> enkapsulują logikę biznesową wykraczającą poza proste operacje CRUD:</a:t>
            </a:r>
            <a:endParaRPr lang="pl-PL" sz="1100">
              <a:solidFill>
                <a:schemeClr val="tx1"/>
              </a:solidFill>
            </a:endParaRPr>
          </a:p>
          <a:p>
            <a:pPr algn="l">
              <a:spcBef>
                <a:spcPts val="1889"/>
              </a:spcBef>
            </a:pPr>
            <a:r>
              <a:rPr lang="pl-PL" sz="1100">
                <a:solidFill>
                  <a:schemeClr val="tx1"/>
                </a:solidFill>
                <a:latin typeface="Courier New"/>
                <a:cs typeface="Courier New"/>
              </a:rPr>
              <a:t>•AuthService</a:t>
            </a:r>
            <a:r>
              <a:rPr lang="pl-PL" sz="1100">
                <a:solidFill>
                  <a:schemeClr val="tx1"/>
                </a:solidFill>
                <a:latin typeface="Arial"/>
                <a:cs typeface="Arial"/>
              </a:rPr>
              <a:t> — rejestracja, logowanie, weryfikacja sesji, hashowanie haseł (bcrypt)</a:t>
            </a:r>
            <a:br>
              <a:rPr lang="pl-PL" sz="1100">
                <a:latin typeface="Arial"/>
                <a:cs typeface="Arial"/>
              </a:rPr>
            </a:br>
            <a:r>
              <a:rPr lang="pl-PL" sz="1100">
                <a:solidFill>
                  <a:schemeClr val="tx1"/>
                </a:solidFill>
                <a:latin typeface="Courier New"/>
                <a:cs typeface="Courier New"/>
              </a:rPr>
              <a:t>•GeocodingService</a:t>
            </a:r>
            <a:r>
              <a:rPr lang="pl-PL" sz="1100">
                <a:solidFill>
                  <a:schemeClr val="tx1"/>
                </a:solidFill>
                <a:latin typeface="Arial"/>
                <a:cs typeface="Arial"/>
              </a:rPr>
              <a:t> / </a:t>
            </a:r>
            <a:r>
              <a:rPr lang="pl-PL" sz="1100">
                <a:solidFill>
                  <a:schemeClr val="tx1"/>
                </a:solidFill>
                <a:latin typeface="Courier New"/>
                <a:cs typeface="Courier New"/>
              </a:rPr>
              <a:t>IGeocodingService</a:t>
            </a:r>
            <a:r>
              <a:rPr lang="pl-PL" sz="1100">
                <a:solidFill>
                  <a:schemeClr val="tx1"/>
                </a:solidFill>
                <a:latin typeface="Arial"/>
                <a:cs typeface="Arial"/>
              </a:rPr>
              <a:t> — geokodowanie adresów przez Nominatim API, obliczanie odległości między współrzędnymi</a:t>
            </a:r>
            <a:br>
              <a:rPr lang="pl-PL" sz="1100">
                <a:latin typeface="Arial"/>
                <a:cs typeface="Arial"/>
              </a:rPr>
            </a:br>
            <a:r>
              <a:rPr lang="pl-PL" sz="1100">
                <a:solidFill>
                  <a:schemeClr val="tx1"/>
                </a:solidFill>
                <a:latin typeface="Courier New"/>
                <a:cs typeface="Courier New"/>
              </a:rPr>
              <a:t>•CardFeeService</a:t>
            </a:r>
            <a:r>
              <a:rPr lang="pl-PL" sz="1100">
                <a:solidFill>
                  <a:schemeClr val="tx1"/>
                </a:solidFill>
                <a:latin typeface="Arial"/>
                <a:cs typeface="Arial"/>
              </a:rPr>
              <a:t> / </a:t>
            </a:r>
            <a:r>
              <a:rPr lang="pl-PL" sz="1100">
                <a:solidFill>
                  <a:schemeClr val="tx1"/>
                </a:solidFill>
                <a:latin typeface="Courier New"/>
                <a:cs typeface="Courier New"/>
              </a:rPr>
              <a:t>ICardFeeService</a:t>
            </a:r>
            <a:r>
              <a:rPr lang="pl-PL" sz="1100">
                <a:solidFill>
                  <a:schemeClr val="tx1"/>
                </a:solidFill>
                <a:latin typeface="Arial"/>
                <a:cs typeface="Arial"/>
              </a:rPr>
              <a:t> — pobieranie opłaty 0,50 PLN przez PayU przy tworzeniu ogłoszenia, inicjowanie automatycznej wypłaty 95% kwoty po sprzedaży</a:t>
            </a:r>
            <a:br>
              <a:rPr lang="pl-PL" sz="1100">
                <a:latin typeface="Arial"/>
                <a:cs typeface="Arial"/>
              </a:rPr>
            </a:br>
            <a:r>
              <a:rPr lang="pl-PL" sz="1100">
                <a:solidFill>
                  <a:schemeClr val="tx1"/>
                </a:solidFill>
                <a:latin typeface="Courier New"/>
                <a:cs typeface="Courier New"/>
              </a:rPr>
              <a:t>•PayuOrderSyncService</a:t>
            </a:r>
            <a:r>
              <a:rPr lang="pl-PL" sz="1100">
                <a:solidFill>
                  <a:schemeClr val="tx1"/>
                </a:solidFill>
                <a:latin typeface="Arial"/>
                <a:cs typeface="Arial"/>
              </a:rPr>
              <a:t> / </a:t>
            </a:r>
            <a:r>
              <a:rPr lang="pl-PL" sz="1100">
                <a:solidFill>
                  <a:schemeClr val="tx1"/>
                </a:solidFill>
                <a:latin typeface="Courier New"/>
                <a:cs typeface="Courier New"/>
              </a:rPr>
              <a:t>IPayuOrderSyncService</a:t>
            </a:r>
            <a:r>
              <a:rPr lang="pl-PL" sz="1100">
                <a:solidFill>
                  <a:schemeClr val="tx1"/>
                </a:solidFill>
                <a:latin typeface="Arial"/>
                <a:cs typeface="Arial"/>
              </a:rPr>
              <a:t> — obsługa webhooka PayU, synchronizacja statusów zamówień</a:t>
            </a:r>
            <a:br>
              <a:rPr lang="pl-PL" sz="1100">
                <a:latin typeface="Arial"/>
                <a:cs typeface="Arial"/>
              </a:rPr>
            </a:br>
            <a:r>
              <a:rPr lang="pl-PL" sz="1100">
                <a:solidFill>
                  <a:schemeClr val="tx1"/>
                </a:solidFill>
                <a:latin typeface="Courier New"/>
                <a:cs typeface="Courier New"/>
              </a:rPr>
              <a:t>•FileService</a:t>
            </a:r>
            <a:r>
              <a:rPr lang="pl-PL" sz="1100">
                <a:solidFill>
                  <a:schemeClr val="tx1"/>
                </a:solidFill>
                <a:latin typeface="Arial"/>
                <a:cs typeface="Arial"/>
              </a:rPr>
              <a:t> / </a:t>
            </a:r>
            <a:r>
              <a:rPr lang="pl-PL" sz="1100">
                <a:solidFill>
                  <a:schemeClr val="tx1"/>
                </a:solidFill>
                <a:latin typeface="Courier New"/>
                <a:cs typeface="Courier New"/>
              </a:rPr>
              <a:t>IFileService</a:t>
            </a:r>
            <a:r>
              <a:rPr lang="pl-PL" sz="1100">
                <a:solidFill>
                  <a:schemeClr val="tx1"/>
                </a:solidFill>
                <a:latin typeface="Arial"/>
                <a:cs typeface="Arial"/>
              </a:rPr>
              <a:t> — zapis i usuwanie przesyłanych zdjęć na dysku serwera</a:t>
            </a:r>
            <a:br>
              <a:rPr lang="pl-PL" sz="1100">
                <a:latin typeface="Arial"/>
                <a:cs typeface="Arial"/>
              </a:rPr>
            </a:br>
            <a:r>
              <a:rPr lang="pl-PL" sz="1100">
                <a:solidFill>
                  <a:schemeClr val="tx1"/>
                </a:solidFill>
                <a:latin typeface="Courier New"/>
                <a:cs typeface="Courier New"/>
              </a:rPr>
              <a:t>•HelperService</a:t>
            </a:r>
            <a:r>
              <a:rPr lang="pl-PL" sz="1100">
                <a:solidFill>
                  <a:schemeClr val="tx1"/>
                </a:solidFill>
                <a:latin typeface="Arial"/>
                <a:cs typeface="Arial"/>
              </a:rPr>
              <a:t> — narzędzia pomocnicze (generowanie slugów, formatowanie)</a:t>
            </a:r>
            <a:br>
              <a:rPr lang="pl-PL" sz="1100">
                <a:latin typeface="Arial"/>
                <a:cs typeface="Arial"/>
              </a:rPr>
            </a:br>
            <a:r>
              <a:rPr lang="pl-PL" sz="1100">
                <a:solidFill>
                  <a:schemeClr val="tx1"/>
                </a:solidFill>
                <a:latin typeface="Courier New"/>
                <a:cs typeface="Courier New"/>
              </a:rPr>
              <a:t>•EmailService</a:t>
            </a:r>
            <a:r>
              <a:rPr lang="pl-PL" sz="1100">
                <a:solidFill>
                  <a:schemeClr val="tx1"/>
                </a:solidFill>
                <a:latin typeface="Arial"/>
                <a:cs typeface="Arial"/>
              </a:rPr>
              <a:t> — wysyłka wiadomości e-mail przez SMTP (MailKit)</a:t>
            </a:r>
            <a:endParaRPr lang="pl-PL" sz="1100">
              <a:solidFill>
                <a:schemeClr val="tx1"/>
              </a:solidFill>
            </a:endParaRPr>
          </a:p>
          <a:p>
            <a:pPr algn="l">
              <a:spcBef>
                <a:spcPts val="1889"/>
              </a:spcBef>
            </a:pPr>
            <a:r>
              <a:rPr lang="pl-PL" sz="1100" b="1">
                <a:solidFill>
                  <a:schemeClr val="tx1"/>
                </a:solidFill>
                <a:latin typeface="Arial"/>
                <a:cs typeface="Arial"/>
              </a:rPr>
              <a:t>Warstwa dostępu do danych (Data Access)</a:t>
            </a:r>
            <a:br>
              <a:rPr lang="pl-PL" sz="1100" b="1">
                <a:latin typeface="Arial"/>
                <a:cs typeface="Arial"/>
              </a:rPr>
            </a:br>
            <a:r>
              <a:rPr lang="pl-PL" sz="1100" b="1">
                <a:solidFill>
                  <a:schemeClr val="tx1"/>
                </a:solidFill>
                <a:latin typeface="Arial"/>
                <a:cs typeface="Arial"/>
              </a:rPr>
              <a:t>MyDBContext</a:t>
            </a:r>
            <a:r>
              <a:rPr lang="pl-PL" sz="1100">
                <a:solidFill>
                  <a:schemeClr val="tx1"/>
                </a:solidFill>
                <a:latin typeface="Arial"/>
                <a:cs typeface="Arial"/>
              </a:rPr>
              <a:t> (Entity Framework Core 9 z dostawcą Npgsql) — mapa encji na tabele PostgreSQL, zarządzanie relacjami i transakcjami. Migracje bazy danych pisane ręcznie jako skrypty SQL (</a:t>
            </a:r>
            <a:r>
              <a:rPr lang="pl-PL" sz="1100">
                <a:solidFill>
                  <a:schemeClr val="tx1"/>
                </a:solidFill>
                <a:latin typeface="Courier New"/>
                <a:cs typeface="Courier New"/>
              </a:rPr>
              <a:t>IF NOT EXISTS</a:t>
            </a:r>
            <a:r>
              <a:rPr lang="pl-PL" sz="1100">
                <a:solidFill>
                  <a:schemeClr val="tx1"/>
                </a:solidFill>
                <a:latin typeface="Arial"/>
                <a:cs typeface="Arial"/>
              </a:rPr>
              <a:t>) uruchamiane przez mechanizm migracji EF Core przy starcie aplikacji.</a:t>
            </a:r>
            <a:endParaRPr lang="pl-PL" sz="1100">
              <a:solidFill>
                <a:schemeClr val="tx1"/>
              </a:solidFill>
            </a:endParaRPr>
          </a:p>
          <a:p>
            <a:pPr algn="l">
              <a:spcBef>
                <a:spcPts val="1889"/>
              </a:spcBef>
            </a:pPr>
            <a:r>
              <a:rPr lang="pl-PL" sz="1100" b="1">
                <a:solidFill>
                  <a:schemeClr val="tx1"/>
                </a:solidFill>
                <a:latin typeface="Arial"/>
                <a:cs typeface="Arial"/>
              </a:rPr>
              <a:t>Baza danych</a:t>
            </a:r>
            <a:br>
              <a:rPr lang="pl-PL" sz="1100" b="1">
                <a:latin typeface="Arial"/>
                <a:cs typeface="Arial"/>
              </a:rPr>
            </a:br>
            <a:r>
              <a:rPr lang="pl-PL" sz="1100" b="1">
                <a:solidFill>
                  <a:schemeClr val="tx1"/>
                </a:solidFill>
                <a:latin typeface="Arial"/>
                <a:cs typeface="Arial"/>
              </a:rPr>
              <a:t>PostgreSQL (wersja 16 w produkcji, Replit PostgreSQL w środowisku deweloperskim). Przechowuje wszystkie dane trwałe: użytkownicy, ogłoszenia, zamówienia, wiadomości, recenzje, tagi, tokeny kart PayU, powiadomienia i propozycje wymiany.</a:t>
            </a:r>
            <a:endParaRPr lang="pl-PL" sz="1100">
              <a:solidFill>
                <a:schemeClr val="tx1"/>
              </a:solidFill>
            </a:endParaRPr>
          </a:p>
          <a:p>
            <a:pPr algn="l">
              <a:spcBef>
                <a:spcPts val="1889"/>
              </a:spcBef>
            </a:pPr>
            <a:endParaRPr lang="pl-PL" sz="1100">
              <a:solidFill>
                <a:schemeClr val="tx1"/>
              </a:solidFill>
              <a:latin typeface="Arial"/>
              <a:cs typeface="Arial"/>
            </a:endParaRPr>
          </a:p>
        </p:txBody>
      </p:sp>
    </p:spTree>
    <p:extLst>
      <p:ext uri="{BB962C8B-B14F-4D97-AF65-F5344CB8AC3E}">
        <p14:creationId xmlns:p14="http://schemas.microsoft.com/office/powerpoint/2010/main" val="33788276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AD339-6F32-2BCD-FF46-E0FF678EBD2D}"/>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EE131F0B-5518-6A76-7A3D-7CA66B939BA3}"/>
              </a:ext>
            </a:extLst>
          </p:cNvPr>
          <p:cNvSpPr txBox="1">
            <a:spLocks noGrp="1"/>
          </p:cNvSpPr>
          <p:nvPr>
            <p:ph type="title" idx="4294967295"/>
          </p:nvPr>
        </p:nvSpPr>
        <p:spPr>
          <a:xfrm>
            <a:off x="503998" y="301322"/>
            <a:ext cx="9071643" cy="999387"/>
          </a:xfrm>
        </p:spPr>
        <p:txBody>
          <a:bodyPr/>
          <a:lstStyle/>
          <a:p>
            <a:r>
              <a:rPr lang="pl-PL" sz="5850">
                <a:latin typeface="Arial"/>
                <a:cs typeface="Arial"/>
              </a:rPr>
              <a:t>Przepływ danych (1⁄3)</a:t>
            </a:r>
            <a:endParaRPr lang="pl-PL" sz="5850">
              <a:latin typeface="Liberation Sans"/>
              <a:cs typeface="Arial"/>
            </a:endParaRPr>
          </a:p>
        </p:txBody>
      </p:sp>
      <p:sp>
        <p:nvSpPr>
          <p:cNvPr id="3" name="Symbol zastępczy tekstu 2">
            <a:extLst>
              <a:ext uri="{FF2B5EF4-FFF2-40B4-BE49-F238E27FC236}">
                <a16:creationId xmlns:a16="http://schemas.microsoft.com/office/drawing/2014/main" id="{DD6451C9-1B49-5DFF-8155-2E1C88E5B8F1}"/>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400" b="1">
                <a:solidFill>
                  <a:schemeClr val="tx1"/>
                </a:solidFill>
                <a:latin typeface="Arial"/>
                <a:cs typeface="Arial"/>
              </a:rPr>
              <a:t>Żądanie przeglądarki → odpowiedź HTML:</a:t>
            </a:r>
            <a:endParaRPr lang="pl-PL" sz="2400">
              <a:solidFill>
                <a:schemeClr val="tx1"/>
              </a:solidFill>
            </a:endParaRPr>
          </a:p>
          <a:p>
            <a:pPr algn="l">
              <a:spcBef>
                <a:spcPts val="1889"/>
              </a:spcBef>
            </a:pPr>
            <a:r>
              <a:rPr lang="pl-PL" sz="2400">
                <a:solidFill>
                  <a:schemeClr val="tx1"/>
                </a:solidFill>
                <a:latin typeface="Courier New"/>
                <a:cs typeface="Courier New"/>
              </a:rPr>
              <a:t>Przeglądarka → Nginx (TLS + proxy) → ASP.NET Core (port 5000)</a:t>
            </a:r>
            <a:br>
              <a:rPr lang="pl-PL" sz="2400">
                <a:solidFill>
                  <a:schemeClr val="tx1"/>
                </a:solidFill>
                <a:latin typeface="Courier New"/>
                <a:cs typeface="Courier New"/>
              </a:rPr>
            </a:br>
            <a:r>
              <a:rPr lang="pl-PL" sz="2400">
                <a:solidFill>
                  <a:schemeClr val="tx1"/>
                </a:solidFill>
                <a:latin typeface="Courier New"/>
                <a:cs typeface="Courier New"/>
              </a:rPr>
              <a:t> → Router (routing atrybutowy / konwencjonalny)</a:t>
            </a:r>
            <a:br>
              <a:rPr lang="pl-PL" sz="2400">
                <a:solidFill>
                  <a:schemeClr val="tx1"/>
                </a:solidFill>
                <a:latin typeface="Courier New"/>
                <a:cs typeface="Courier New"/>
              </a:rPr>
            </a:br>
            <a:r>
              <a:rPr lang="pl-PL" sz="2400">
                <a:solidFill>
                  <a:schemeClr val="tx1"/>
                </a:solidFill>
                <a:latin typeface="Courier New"/>
                <a:cs typeface="Courier New"/>
              </a:rPr>
              <a:t> → Controller.Action()</a:t>
            </a:r>
            <a:br>
              <a:rPr lang="pl-PL" sz="2400">
                <a:solidFill>
                  <a:schemeClr val="tx1"/>
                </a:solidFill>
                <a:latin typeface="Courier New"/>
                <a:cs typeface="Courier New"/>
              </a:rPr>
            </a:br>
            <a:r>
              <a:rPr lang="pl-PL" sz="2400">
                <a:solidFill>
                  <a:schemeClr val="tx1"/>
                </a:solidFill>
                <a:latin typeface="Courier New"/>
                <a:cs typeface="Courier New"/>
              </a:rPr>
              <a:t>     → walidacja sesji (cookie auth middleware)</a:t>
            </a:r>
            <a:br>
              <a:rPr lang="pl-PL" sz="2400">
                <a:solidFill>
                  <a:schemeClr val="tx1"/>
                </a:solidFill>
                <a:latin typeface="Courier New"/>
                <a:cs typeface="Courier New"/>
              </a:rPr>
            </a:br>
            <a:r>
              <a:rPr lang="pl-PL" sz="2400">
                <a:solidFill>
                  <a:schemeClr val="tx1"/>
                </a:solidFill>
                <a:latin typeface="Courier New"/>
                <a:cs typeface="Courier New"/>
              </a:rPr>
              <a:t>     → Service / DbContext (zapytania EF Core → PostgreSQL)</a:t>
            </a:r>
            <a:br>
              <a:rPr lang="pl-PL" sz="2400">
                <a:solidFill>
                  <a:schemeClr val="tx1"/>
                </a:solidFill>
                <a:latin typeface="Courier New"/>
                <a:cs typeface="Courier New"/>
              </a:rPr>
            </a:br>
            <a:r>
              <a:rPr lang="pl-PL" sz="2400">
                <a:solidFill>
                  <a:schemeClr val="tx1"/>
                </a:solidFill>
                <a:latin typeface="Courier New"/>
                <a:cs typeface="Courier New"/>
              </a:rPr>
              <a:t>     ← dane z bazy danych</a:t>
            </a:r>
            <a:br>
              <a:rPr lang="pl-PL" sz="2400">
                <a:solidFill>
                  <a:schemeClr val="tx1"/>
                </a:solidFill>
                <a:latin typeface="Courier New"/>
                <a:cs typeface="Courier New"/>
              </a:rPr>
            </a:br>
            <a:r>
              <a:rPr lang="pl-PL" sz="2400">
                <a:solidFill>
                  <a:schemeClr val="tx1"/>
                </a:solidFill>
                <a:latin typeface="Courier New"/>
                <a:cs typeface="Courier New"/>
              </a:rPr>
              <a:t>     → budowanie ViewModel / ViewBag</a:t>
            </a:r>
            <a:br>
              <a:rPr lang="pl-PL" sz="2400">
                <a:solidFill>
                  <a:schemeClr val="tx1"/>
                </a:solidFill>
                <a:latin typeface="Courier New"/>
                <a:cs typeface="Courier New"/>
              </a:rPr>
            </a:br>
            <a:r>
              <a:rPr lang="pl-PL" sz="2400">
                <a:solidFill>
                  <a:schemeClr val="tx1"/>
                </a:solidFill>
                <a:latin typeface="Courier New"/>
                <a:cs typeface="Courier New"/>
              </a:rPr>
              <a:t> → Razor View (kompilacja szablonu + dane → HTML)</a:t>
            </a:r>
            <a:br>
              <a:rPr lang="pl-PL" sz="2400">
                <a:solidFill>
                  <a:schemeClr val="tx1"/>
                </a:solidFill>
                <a:latin typeface="Courier New"/>
                <a:cs typeface="Courier New"/>
              </a:rPr>
            </a:br>
            <a:r>
              <a:rPr lang="pl-PL" sz="2400">
                <a:solidFill>
                  <a:schemeClr val="tx1"/>
                </a:solidFill>
                <a:latin typeface="Courier New"/>
                <a:cs typeface="Courier New"/>
              </a:rPr>
              <a:t>← HTML + CSS + JS do przeglądarki</a:t>
            </a:r>
            <a:endParaRPr lang="pl-PL" sz="2400">
              <a:solidFill>
                <a:schemeClr val="tx1"/>
              </a:solidFill>
            </a:endParaRPr>
          </a:p>
          <a:p>
            <a:pPr algn="l">
              <a:spcBef>
                <a:spcPts val="1889"/>
              </a:spcBef>
            </a:pPr>
            <a:endParaRPr lang="pl-PL" sz="2400" b="1">
              <a:solidFill>
                <a:schemeClr val="tx1"/>
              </a:solidFill>
              <a:latin typeface="Liberation Sans"/>
              <a:cs typeface="Arial"/>
            </a:endParaRPr>
          </a:p>
        </p:txBody>
      </p:sp>
    </p:spTree>
    <p:extLst>
      <p:ext uri="{BB962C8B-B14F-4D97-AF65-F5344CB8AC3E}">
        <p14:creationId xmlns:p14="http://schemas.microsoft.com/office/powerpoint/2010/main" val="22624852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49E3A-E596-4A60-30D1-F29F821A3445}"/>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16476EF7-37CE-FA6E-C130-4DA1AA535781}"/>
              </a:ext>
            </a:extLst>
          </p:cNvPr>
          <p:cNvSpPr txBox="1">
            <a:spLocks noGrp="1"/>
          </p:cNvSpPr>
          <p:nvPr>
            <p:ph type="title" idx="4294967295"/>
          </p:nvPr>
        </p:nvSpPr>
        <p:spPr>
          <a:xfrm>
            <a:off x="503998" y="301322"/>
            <a:ext cx="9071643" cy="999387"/>
          </a:xfrm>
        </p:spPr>
        <p:txBody>
          <a:bodyPr/>
          <a:lstStyle/>
          <a:p>
            <a:r>
              <a:rPr lang="pl-PL" sz="5850">
                <a:latin typeface="Arial"/>
                <a:cs typeface="Arial"/>
              </a:rPr>
              <a:t>Przepływ danych (2⁄3)</a:t>
            </a:r>
            <a:endParaRPr lang="pl-PL" sz="5850"/>
          </a:p>
        </p:txBody>
      </p:sp>
      <p:sp>
        <p:nvSpPr>
          <p:cNvPr id="3" name="Symbol zastępczy tekstu 2">
            <a:extLst>
              <a:ext uri="{FF2B5EF4-FFF2-40B4-BE49-F238E27FC236}">
                <a16:creationId xmlns:a16="http://schemas.microsoft.com/office/drawing/2014/main" id="{D184FD27-F50E-8E2F-59BB-D6DE8396A735}"/>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400" b="1">
                <a:solidFill>
                  <a:srgbClr val="0E0E0F"/>
                </a:solidFill>
                <a:latin typeface="Arial"/>
                <a:cs typeface="Arial"/>
              </a:rPr>
              <a:t>Tworzenie ogłoszenia (z opłatą kartową):</a:t>
            </a:r>
            <a:endParaRPr lang="pl-PL" sz="2400"/>
          </a:p>
          <a:p>
            <a:pPr algn="l">
              <a:spcBef>
                <a:spcPts val="1889"/>
              </a:spcBef>
            </a:pPr>
            <a:r>
              <a:rPr lang="pl-PL" sz="2400">
                <a:solidFill>
                  <a:srgbClr val="0E0E0F"/>
                </a:solidFill>
                <a:latin typeface="Courier New"/>
                <a:cs typeface="Courier New"/>
              </a:rPr>
              <a:t>Formularz POST → ListingsController.Create()</a:t>
            </a:r>
            <a:br>
              <a:rPr lang="pl-PL" sz="2400">
                <a:solidFill>
                  <a:srgbClr val="0E0E0F"/>
                </a:solidFill>
                <a:latin typeface="Courier New"/>
                <a:cs typeface="Courier New"/>
              </a:rPr>
            </a:br>
            <a:r>
              <a:rPr lang="pl-PL" sz="2400">
                <a:solidFill>
                  <a:srgbClr val="0E0E0F"/>
                </a:solidFill>
                <a:latin typeface="Courier New"/>
                <a:cs typeface="Courier New"/>
              </a:rPr>
              <a:t> → walidacja modelu + zapis zdjęć (IFileService → dysk)</a:t>
            </a:r>
            <a:br>
              <a:rPr lang="pl-PL" sz="2400">
                <a:solidFill>
                  <a:srgbClr val="0E0E0F"/>
                </a:solidFill>
                <a:latin typeface="Courier New"/>
                <a:cs typeface="Courier New"/>
              </a:rPr>
            </a:br>
            <a:r>
              <a:rPr lang="pl-PL" sz="2400">
                <a:solidFill>
                  <a:srgbClr val="0E0E0F"/>
                </a:solidFill>
                <a:latin typeface="Courier New"/>
                <a:cs typeface="Courier New"/>
              </a:rPr>
              <a:t> → _context.SaveChangesAsync() → INSERT do PostgreSQL</a:t>
            </a:r>
            <a:br>
              <a:rPr lang="pl-PL" sz="2400">
                <a:solidFill>
                  <a:srgbClr val="0E0E0F"/>
                </a:solidFill>
                <a:latin typeface="Courier New"/>
                <a:cs typeface="Courier New"/>
              </a:rPr>
            </a:br>
            <a:r>
              <a:rPr lang="pl-PL" sz="2400">
                <a:solidFill>
                  <a:srgbClr val="0E0E0F"/>
                </a:solidFill>
                <a:latin typeface="Courier New"/>
                <a:cs typeface="Courier New"/>
              </a:rPr>
              <a:t> → ICardFeeService.TryChargeListingFeeAsync()</a:t>
            </a:r>
            <a:br>
              <a:rPr lang="pl-PL" sz="2400">
                <a:solidFill>
                  <a:srgbClr val="0E0E0F"/>
                </a:solidFill>
                <a:latin typeface="Courier New"/>
                <a:cs typeface="Courier New"/>
              </a:rPr>
            </a:br>
            <a:r>
              <a:rPr lang="pl-PL" sz="2400">
                <a:solidFill>
                  <a:srgbClr val="0E0E0F"/>
                </a:solidFill>
                <a:latin typeface="Courier New"/>
                <a:cs typeface="Courier New"/>
              </a:rPr>
              <a:t>     → PayU REST API (OAuth token + żądanie płatności kartą)</a:t>
            </a:r>
            <a:br>
              <a:rPr lang="pl-PL" sz="2400">
                <a:solidFill>
                  <a:srgbClr val="0E0E0F"/>
                </a:solidFill>
                <a:latin typeface="Courier New"/>
                <a:cs typeface="Courier New"/>
              </a:rPr>
            </a:br>
            <a:r>
              <a:rPr lang="pl-PL" sz="2400">
                <a:solidFill>
                  <a:srgbClr val="0E0E0F"/>
                </a:solidFill>
                <a:latin typeface="Courier New"/>
                <a:cs typeface="Courier New"/>
              </a:rPr>
              <a:t>     ← odpowiedź PayU (sukces / błąd)</a:t>
            </a:r>
            <a:br>
              <a:rPr lang="pl-PL" sz="2400">
                <a:solidFill>
                  <a:srgbClr val="0E0E0F"/>
                </a:solidFill>
                <a:latin typeface="Courier New"/>
                <a:cs typeface="Courier New"/>
              </a:rPr>
            </a:br>
            <a:r>
              <a:rPr lang="pl-PL" sz="2400">
                <a:solidFill>
                  <a:srgbClr val="0E0E0F"/>
                </a:solidFill>
                <a:latin typeface="Courier New"/>
                <a:cs typeface="Courier New"/>
              </a:rPr>
              <a:t> → TempData["Warning"] jeśli opłata nieudana</a:t>
            </a:r>
            <a:br>
              <a:rPr lang="pl-PL" sz="2400">
                <a:solidFill>
                  <a:srgbClr val="0E0E0F"/>
                </a:solidFill>
                <a:latin typeface="Courier New"/>
                <a:cs typeface="Courier New"/>
              </a:rPr>
            </a:br>
            <a:r>
              <a:rPr lang="pl-PL" sz="2400">
                <a:solidFill>
                  <a:srgbClr val="0E0E0F"/>
                </a:solidFill>
                <a:latin typeface="Courier New"/>
                <a:cs typeface="Courier New"/>
              </a:rPr>
              <a:t>← Redirect do szczegółów ogłoszenia</a:t>
            </a:r>
            <a:endParaRPr lang="pl-PL" sz="2400"/>
          </a:p>
          <a:p>
            <a:pPr algn="l">
              <a:spcBef>
                <a:spcPts val="1889"/>
              </a:spcBef>
            </a:pPr>
            <a:endParaRPr lang="pl-PL" sz="2400" b="1">
              <a:solidFill>
                <a:schemeClr val="tx1"/>
              </a:solidFill>
              <a:latin typeface="Arial"/>
              <a:cs typeface="Arial"/>
            </a:endParaRPr>
          </a:p>
        </p:txBody>
      </p:sp>
    </p:spTree>
    <p:extLst>
      <p:ext uri="{BB962C8B-B14F-4D97-AF65-F5344CB8AC3E}">
        <p14:creationId xmlns:p14="http://schemas.microsoft.com/office/powerpoint/2010/main" val="31778551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448B4-A0C7-97FB-EAC3-62036DF74679}"/>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8E922823-D353-8C1A-5479-BE661C36ADF1}"/>
              </a:ext>
            </a:extLst>
          </p:cNvPr>
          <p:cNvSpPr txBox="1">
            <a:spLocks noGrp="1"/>
          </p:cNvSpPr>
          <p:nvPr>
            <p:ph type="title" idx="4294967295"/>
          </p:nvPr>
        </p:nvSpPr>
        <p:spPr>
          <a:xfrm>
            <a:off x="503998" y="301322"/>
            <a:ext cx="9071643" cy="999387"/>
          </a:xfrm>
        </p:spPr>
        <p:txBody>
          <a:bodyPr/>
          <a:lstStyle/>
          <a:p>
            <a:r>
              <a:rPr lang="pl-PL" sz="5850">
                <a:latin typeface="Arial"/>
                <a:cs typeface="Arial"/>
              </a:rPr>
              <a:t>Przepływ danych (3⁄3)</a:t>
            </a:r>
            <a:endParaRPr lang="pl-PL" sz="5850"/>
          </a:p>
        </p:txBody>
      </p:sp>
      <p:sp>
        <p:nvSpPr>
          <p:cNvPr id="3" name="Symbol zastępczy tekstu 2">
            <a:extLst>
              <a:ext uri="{FF2B5EF4-FFF2-40B4-BE49-F238E27FC236}">
                <a16:creationId xmlns:a16="http://schemas.microsoft.com/office/drawing/2014/main" id="{3A201A0D-0AEB-E4D5-DC5B-48832F601B8A}"/>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000" b="1">
                <a:solidFill>
                  <a:srgbClr val="0E0E0F"/>
                </a:solidFill>
                <a:latin typeface="Arial"/>
                <a:cs typeface="Arial"/>
              </a:rPr>
              <a:t>Płatność za ogłoszenie:</a:t>
            </a:r>
            <a:endParaRPr lang="pl-PL" sz="2000">
              <a:latin typeface="Liberation Sans"/>
              <a:cs typeface="Arial"/>
            </a:endParaRPr>
          </a:p>
          <a:p>
            <a:pPr algn="l">
              <a:spcBef>
                <a:spcPts val="1889"/>
              </a:spcBef>
            </a:pPr>
            <a:r>
              <a:rPr lang="pl-PL" sz="2000">
                <a:solidFill>
                  <a:srgbClr val="0E0E0F"/>
                </a:solidFill>
                <a:latin typeface="Courier New"/>
                <a:cs typeface="Courier New"/>
              </a:rPr>
              <a:t>Kupujący → PaymentController.CreateOrder()</a:t>
            </a:r>
            <a:br>
              <a:rPr lang="pl-PL" sz="2000">
                <a:latin typeface="Courier New"/>
                <a:cs typeface="Courier New"/>
              </a:rPr>
            </a:br>
            <a:r>
              <a:rPr lang="pl-PL" sz="2000">
                <a:solidFill>
                  <a:srgbClr val="0E0E0F"/>
                </a:solidFill>
                <a:latin typeface="Courier New"/>
                <a:cs typeface="Courier New"/>
              </a:rPr>
              <a:t> → PayU REST API → zwrot orderId + redirectUri</a:t>
            </a:r>
            <a:br>
              <a:rPr lang="pl-PL" sz="2000">
                <a:latin typeface="Courier New"/>
                <a:cs typeface="Courier New"/>
              </a:rPr>
            </a:br>
            <a:r>
              <a:rPr lang="pl-PL" sz="2000">
                <a:solidFill>
                  <a:srgbClr val="0E0E0F"/>
                </a:solidFill>
                <a:latin typeface="Courier New"/>
                <a:cs typeface="Courier New"/>
              </a:rPr>
              <a:t>← Redirect do bramki PayU</a:t>
            </a:r>
            <a:br>
              <a:rPr lang="pl-PL" sz="2000">
                <a:latin typeface="Courier New"/>
                <a:cs typeface="Courier New"/>
              </a:rPr>
            </a:br>
            <a:br>
              <a:rPr lang="pl-PL" sz="2000">
                <a:latin typeface="Courier New"/>
                <a:cs typeface="Courier New"/>
              </a:rPr>
            </a:br>
            <a:r>
              <a:rPr lang="pl-PL" sz="2000">
                <a:solidFill>
                  <a:srgbClr val="0E0E0F"/>
                </a:solidFill>
                <a:latin typeface="Courier New"/>
                <a:cs typeface="Courier New"/>
              </a:rPr>
              <a:t>[Kupujący płaci na stronie PayU]</a:t>
            </a:r>
            <a:br>
              <a:rPr lang="pl-PL" sz="2000">
                <a:latin typeface="Courier New"/>
                <a:cs typeface="Courier New"/>
              </a:rPr>
            </a:br>
            <a:br>
              <a:rPr lang="pl-PL" sz="2000">
                <a:latin typeface="Courier New"/>
                <a:cs typeface="Courier New"/>
              </a:rPr>
            </a:br>
            <a:r>
              <a:rPr lang="pl-PL" sz="2000">
                <a:solidFill>
                  <a:srgbClr val="0E0E0F"/>
                </a:solidFill>
                <a:latin typeface="Courier New"/>
                <a:cs typeface="Courier New"/>
              </a:rPr>
              <a:t>PayU → POST /Payment/Notify (webhook)</a:t>
            </a:r>
            <a:br>
              <a:rPr lang="pl-PL" sz="2000">
                <a:latin typeface="Courier New"/>
                <a:cs typeface="Courier New"/>
              </a:rPr>
            </a:br>
            <a:r>
              <a:rPr lang="pl-PL" sz="2000">
                <a:solidFill>
                  <a:srgbClr val="0E0E0F"/>
                </a:solidFill>
                <a:latin typeface="Courier New"/>
                <a:cs typeface="Courier New"/>
              </a:rPr>
              <a:t> → IPayuOrderSyncService.HandleNotifyAsync()</a:t>
            </a:r>
            <a:br>
              <a:rPr lang="pl-PL" sz="2000">
                <a:latin typeface="Courier New"/>
                <a:cs typeface="Courier New"/>
              </a:rPr>
            </a:br>
            <a:r>
              <a:rPr lang="pl-PL" sz="2000">
                <a:solidFill>
                  <a:srgbClr val="0E0E0F"/>
                </a:solidFill>
                <a:latin typeface="Courier New"/>
                <a:cs typeface="Courier New"/>
              </a:rPr>
              <a:t>     → weryfikacja sygnatury HMAC-SHA256</a:t>
            </a:r>
            <a:br>
              <a:rPr lang="pl-PL" sz="2000">
                <a:latin typeface="Courier New"/>
                <a:cs typeface="Courier New"/>
              </a:rPr>
            </a:br>
            <a:r>
              <a:rPr lang="pl-PL" sz="2000">
                <a:solidFill>
                  <a:srgbClr val="0E0E0F"/>
                </a:solidFill>
                <a:latin typeface="Courier New"/>
                <a:cs typeface="Courier New"/>
              </a:rPr>
              <a:t>     → _context: Order.Status = Paid</a:t>
            </a:r>
            <a:br>
              <a:rPr lang="pl-PL" sz="2000">
                <a:latin typeface="Courier New"/>
                <a:cs typeface="Courier New"/>
              </a:rPr>
            </a:br>
            <a:r>
              <a:rPr lang="pl-PL" sz="2000">
                <a:solidFill>
                  <a:srgbClr val="0E0E0F"/>
                </a:solidFill>
                <a:latin typeface="Courier New"/>
                <a:cs typeface="Courier New"/>
              </a:rPr>
              <a:t>     → ICardFeeService.TryDispatchPayoutAsync()</a:t>
            </a:r>
            <a:br>
              <a:rPr lang="pl-PL" sz="2000">
                <a:latin typeface="Courier New"/>
                <a:cs typeface="Courier New"/>
              </a:rPr>
            </a:br>
            <a:r>
              <a:rPr lang="pl-PL" sz="2000">
                <a:solidFill>
                  <a:srgbClr val="0E0E0F"/>
                </a:solidFill>
                <a:latin typeface="Courier New"/>
                <a:cs typeface="Courier New"/>
              </a:rPr>
              <a:t>         → PayU REST API (wypłata 95% na konto sprzedawcy)</a:t>
            </a:r>
            <a:br>
              <a:rPr lang="pl-PL" sz="2000">
                <a:latin typeface="Courier New"/>
                <a:cs typeface="Courier New"/>
              </a:rPr>
            </a:br>
            <a:r>
              <a:rPr lang="pl-PL" sz="2000">
                <a:solidFill>
                  <a:srgbClr val="0E0E0F"/>
                </a:solidFill>
                <a:latin typeface="Courier New"/>
                <a:cs typeface="Courier New"/>
              </a:rPr>
              <a:t>     → NotificationService: powiadomienia dla kupującego i sprzedawcy</a:t>
            </a:r>
            <a:br>
              <a:rPr lang="pl-PL" sz="2000">
                <a:latin typeface="Courier New"/>
                <a:cs typeface="Courier New"/>
              </a:rPr>
            </a:br>
            <a:r>
              <a:rPr lang="pl-PL" sz="2000">
                <a:solidFill>
                  <a:srgbClr val="0E0E0F"/>
                </a:solidFill>
                <a:latin typeface="Courier New"/>
                <a:cs typeface="Courier New"/>
              </a:rPr>
              <a:t> → _context.SaveChangesAsync()</a:t>
            </a:r>
            <a:br>
              <a:rPr lang="pl-PL" sz="2000">
                <a:latin typeface="Courier New"/>
                <a:cs typeface="Courier New"/>
              </a:rPr>
            </a:br>
            <a:r>
              <a:rPr lang="pl-PL" sz="2000">
                <a:solidFill>
                  <a:srgbClr val="0E0E0F"/>
                </a:solidFill>
                <a:latin typeface="Courier New"/>
                <a:cs typeface="Courier New"/>
              </a:rPr>
              <a:t>← 200 OK do PayU</a:t>
            </a:r>
            <a:endParaRPr lang="pl-PL" sz="2000">
              <a:latin typeface="Liberation Sans"/>
              <a:cs typeface="Arial"/>
            </a:endParaRPr>
          </a:p>
          <a:p>
            <a:pPr algn="l">
              <a:spcBef>
                <a:spcPts val="1889"/>
              </a:spcBef>
            </a:pPr>
            <a:endParaRPr lang="pl-PL" sz="2000" b="1">
              <a:solidFill>
                <a:srgbClr val="0E0E0F"/>
              </a:solidFill>
              <a:latin typeface="Arial"/>
              <a:cs typeface="Arial"/>
            </a:endParaRPr>
          </a:p>
        </p:txBody>
      </p:sp>
    </p:spTree>
    <p:extLst>
      <p:ext uri="{BB962C8B-B14F-4D97-AF65-F5344CB8AC3E}">
        <p14:creationId xmlns:p14="http://schemas.microsoft.com/office/powerpoint/2010/main" val="9778916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0EB9F-F714-F690-FBF2-5BA01FBBE2D9}"/>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4495D4D2-B4ED-8ED5-2C43-9991FD2755A1}"/>
              </a:ext>
            </a:extLst>
          </p:cNvPr>
          <p:cNvSpPr txBox="1">
            <a:spLocks noGrp="1"/>
          </p:cNvSpPr>
          <p:nvPr>
            <p:ph type="title" idx="4294967295"/>
          </p:nvPr>
        </p:nvSpPr>
        <p:spPr>
          <a:xfrm>
            <a:off x="503998" y="301322"/>
            <a:ext cx="9071643" cy="999387"/>
          </a:xfrm>
        </p:spPr>
        <p:txBody>
          <a:bodyPr/>
          <a:lstStyle/>
          <a:p>
            <a:r>
              <a:rPr lang="pl-PL" sz="5400">
                <a:latin typeface="Arial"/>
                <a:cs typeface="Arial"/>
              </a:rPr>
              <a:t>Integracje / zależności</a:t>
            </a:r>
            <a:endParaRPr lang="pl-PL"/>
          </a:p>
        </p:txBody>
      </p:sp>
      <p:sp>
        <p:nvSpPr>
          <p:cNvPr id="3" name="Symbol zastępczy tekstu 2">
            <a:extLst>
              <a:ext uri="{FF2B5EF4-FFF2-40B4-BE49-F238E27FC236}">
                <a16:creationId xmlns:a16="http://schemas.microsoft.com/office/drawing/2014/main" id="{BA35ED5E-1743-0142-BB9E-3C066AA40C89}"/>
              </a:ext>
            </a:extLst>
          </p:cNvPr>
          <p:cNvSpPr txBox="1">
            <a:spLocks noGrp="1"/>
          </p:cNvSpPr>
          <p:nvPr>
            <p:ph type="body" idx="4294967295"/>
          </p:nvPr>
        </p:nvSpPr>
        <p:spPr>
          <a:xfrm>
            <a:off x="503998" y="1411174"/>
            <a:ext cx="9071643" cy="5688166"/>
          </a:xfrm>
        </p:spPr>
        <p:txBody>
          <a:bodyPr>
            <a:noAutofit/>
          </a:bodyPr>
          <a:lstStyle/>
          <a:p>
            <a:pPr algn="l">
              <a:spcBef>
                <a:spcPts val="1889"/>
              </a:spcBef>
            </a:pPr>
            <a:endParaRPr lang="pl-PL" sz="2000" b="1">
              <a:solidFill>
                <a:srgbClr val="0E0E0F"/>
              </a:solidFill>
              <a:latin typeface="Arial"/>
              <a:cs typeface="Arial"/>
            </a:endParaRPr>
          </a:p>
        </p:txBody>
      </p:sp>
      <p:graphicFrame>
        <p:nvGraphicFramePr>
          <p:cNvPr id="5" name="Tabela 4">
            <a:extLst>
              <a:ext uri="{FF2B5EF4-FFF2-40B4-BE49-F238E27FC236}">
                <a16:creationId xmlns:a16="http://schemas.microsoft.com/office/drawing/2014/main" id="{8C459EE4-AF4D-DDFF-F539-F70BCA574554}"/>
              </a:ext>
            </a:extLst>
          </p:cNvPr>
          <p:cNvGraphicFramePr>
            <a:graphicFrameLocks noGrp="1"/>
          </p:cNvGraphicFramePr>
          <p:nvPr>
            <p:extLst>
              <p:ext uri="{D42A27DB-BD31-4B8C-83A1-F6EECF244321}">
                <p14:modId xmlns:p14="http://schemas.microsoft.com/office/powerpoint/2010/main" val="1384924808"/>
              </p:ext>
            </p:extLst>
          </p:nvPr>
        </p:nvGraphicFramePr>
        <p:xfrm>
          <a:off x="515704" y="1413313"/>
          <a:ext cx="9051928" cy="5686057"/>
        </p:xfrm>
        <a:graphic>
          <a:graphicData uri="http://schemas.openxmlformats.org/drawingml/2006/table">
            <a:tbl>
              <a:tblPr bandRow="1">
                <a:tableStyleId>{5C22544A-7EE6-4342-B048-85BDC9FD1C3A}</a:tableStyleId>
              </a:tblPr>
              <a:tblGrid>
                <a:gridCol w="3292474">
                  <a:extLst>
                    <a:ext uri="{9D8B030D-6E8A-4147-A177-3AD203B41FA5}">
                      <a16:colId xmlns:a16="http://schemas.microsoft.com/office/drawing/2014/main" val="1518513726"/>
                    </a:ext>
                  </a:extLst>
                </a:gridCol>
                <a:gridCol w="2742143">
                  <a:extLst>
                    <a:ext uri="{9D8B030D-6E8A-4147-A177-3AD203B41FA5}">
                      <a16:colId xmlns:a16="http://schemas.microsoft.com/office/drawing/2014/main" val="3763141310"/>
                    </a:ext>
                  </a:extLst>
                </a:gridCol>
                <a:gridCol w="3017311">
                  <a:extLst>
                    <a:ext uri="{9D8B030D-6E8A-4147-A177-3AD203B41FA5}">
                      <a16:colId xmlns:a16="http://schemas.microsoft.com/office/drawing/2014/main" val="1547288328"/>
                    </a:ext>
                  </a:extLst>
                </a:gridCol>
              </a:tblGrid>
              <a:tr h="466283">
                <a:tc>
                  <a:txBody>
                    <a:bodyPr/>
                    <a:lstStyle/>
                    <a:p>
                      <a:pPr marL="0" marR="0" latinLnBrk="0">
                        <a:buNone/>
                      </a:pPr>
                      <a:r>
                        <a:rPr lang="pl-PL" b="0">
                          <a:effectLst/>
                          <a:latin typeface="Arial"/>
                          <a:cs typeface="Arial"/>
                        </a:rPr>
                        <a:t>Integracja</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latinLnBrk="0">
                        <a:buNone/>
                      </a:pPr>
                      <a:r>
                        <a:rPr lang="pl-PL" b="0">
                          <a:effectLst/>
                          <a:latin typeface="Arial"/>
                          <a:cs typeface="Arial"/>
                        </a:rPr>
                        <a:t>Cel</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latinLnBrk="0">
                        <a:buNone/>
                      </a:pPr>
                      <a:r>
                        <a:rPr lang="pl-PL" b="0">
                          <a:effectLst/>
                          <a:latin typeface="Arial"/>
                          <a:cs typeface="Arial"/>
                        </a:rPr>
                        <a:t>Protokół</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2639232066"/>
                  </a:ext>
                </a:extLst>
              </a:tr>
              <a:tr h="1036184">
                <a:tc>
                  <a:txBody>
                    <a:bodyPr/>
                    <a:lstStyle/>
                    <a:p>
                      <a:pPr marL="0" marR="0" latinLnBrk="0">
                        <a:buNone/>
                      </a:pPr>
                      <a:r>
                        <a:rPr lang="pl-PL" b="1">
                          <a:effectLst/>
                          <a:latin typeface="Arial"/>
                          <a:cs typeface="Arial"/>
                        </a:rPr>
                        <a:t>PayU</a:t>
                      </a:r>
                      <a:r>
                        <a:rPr lang="pl-PL">
                          <a:effectLst/>
                          <a:latin typeface="Arial"/>
                          <a:cs typeface="Arial"/>
                        </a:rPr>
                        <a:t> (secure.snd.payu.com / secure.payu.com)</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latinLnBrk="0">
                        <a:buNone/>
                      </a:pPr>
                      <a:r>
                        <a:rPr lang="pl-PL">
                          <a:effectLst/>
                          <a:latin typeface="Arial"/>
                          <a:cs typeface="Arial"/>
                        </a:rPr>
                        <a:t>Płatności online, tokenizacja kart, wypłaty</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latinLnBrk="0">
                        <a:buNone/>
                      </a:pPr>
                      <a:r>
                        <a:rPr lang="pl-PL">
                          <a:effectLst/>
                          <a:latin typeface="Arial"/>
                          <a:cs typeface="Arial"/>
                        </a:rPr>
                        <a:t>REST API + webhook (HMAC-SHA256)</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2931091603"/>
                  </a:ext>
                </a:extLst>
              </a:tr>
              <a:tr h="1062089">
                <a:tc>
                  <a:txBody>
                    <a:bodyPr/>
                    <a:lstStyle/>
                    <a:p>
                      <a:pPr marL="0" marR="0" latinLnBrk="0">
                        <a:buNone/>
                      </a:pPr>
                      <a:r>
                        <a:rPr lang="pl-PL" b="1">
                          <a:effectLst/>
                          <a:latin typeface="Arial"/>
                          <a:cs typeface="Arial"/>
                        </a:rPr>
                        <a:t>Nominatim</a:t>
                      </a:r>
                      <a:r>
                        <a:rPr lang="pl-PL">
                          <a:effectLst/>
                          <a:latin typeface="Arial"/>
                          <a:cs typeface="Arial"/>
                        </a:rPr>
                        <a:t> (OpenStreetMap)</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marL="0" marR="0" latinLnBrk="0">
                        <a:buNone/>
                      </a:pPr>
                      <a:r>
                        <a:rPr lang="pl-PL">
                          <a:effectLst/>
                          <a:latin typeface="Arial"/>
                          <a:cs typeface="Arial"/>
                        </a:rPr>
                        <a:t>Geokodowanie adresów (adres → współrzędne GPS)</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marL="0" marR="0" latinLnBrk="0">
                        <a:buNone/>
                      </a:pPr>
                      <a:r>
                        <a:rPr lang="pl-PL">
                          <a:effectLst/>
                          <a:latin typeface="Arial"/>
                          <a:cs typeface="Arial"/>
                        </a:rPr>
                        <a:t>REST API (HTTP GET)</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extLst>
                  <a:ext uri="{0D108BD9-81ED-4DB2-BD59-A6C34878D82A}">
                    <a16:rowId xmlns:a16="http://schemas.microsoft.com/office/drawing/2014/main" val="4177173557"/>
                  </a:ext>
                </a:extLst>
              </a:tr>
              <a:tr h="854852">
                <a:tc>
                  <a:txBody>
                    <a:bodyPr/>
                    <a:lstStyle/>
                    <a:p>
                      <a:pPr marL="0" marR="0" latinLnBrk="0">
                        <a:buNone/>
                      </a:pPr>
                      <a:r>
                        <a:rPr lang="pl-PL" b="1">
                          <a:effectLst/>
                          <a:latin typeface="Arial"/>
                          <a:cs typeface="Arial"/>
                        </a:rPr>
                        <a:t>PostgreSQL</a:t>
                      </a:r>
                      <a:endParaRPr lang="pl-PL">
                        <a:effectLst/>
                        <a:latin typeface="Arial"/>
                        <a:cs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latinLnBrk="0">
                        <a:buNone/>
                      </a:pPr>
                      <a:r>
                        <a:rPr lang="pl-PL">
                          <a:effectLst/>
                          <a:latin typeface="Arial"/>
                          <a:cs typeface="Arial"/>
                        </a:rPr>
                        <a:t>Przechowywanie danych trwałych</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latinLnBrk="0">
                        <a:buNone/>
                      </a:pPr>
                      <a:r>
                        <a:rPr lang="pl-PL">
                          <a:effectLst/>
                          <a:latin typeface="Arial"/>
                          <a:cs typeface="Arial"/>
                        </a:rPr>
                        <a:t>TCP (Npgsql driver)</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1997528167"/>
                  </a:ext>
                </a:extLst>
              </a:tr>
              <a:tr h="1230465">
                <a:tc>
                  <a:txBody>
                    <a:bodyPr/>
                    <a:lstStyle/>
                    <a:p>
                      <a:pPr marL="0" marR="0" latinLnBrk="0">
                        <a:buNone/>
                      </a:pPr>
                      <a:r>
                        <a:rPr lang="pl-PL" b="1">
                          <a:effectLst/>
                          <a:latin typeface="Arial"/>
                          <a:cs typeface="Arial"/>
                        </a:rPr>
                        <a:t>SMTP (Gmail)</a:t>
                      </a:r>
                      <a:endParaRPr lang="pl-PL">
                        <a:effectLst/>
                        <a:latin typeface="Arial"/>
                        <a:cs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marL="0" marR="0" latinLnBrk="0">
                        <a:buNone/>
                      </a:pPr>
                      <a:r>
                        <a:rPr lang="pl-PL">
                          <a:effectLst/>
                          <a:latin typeface="Arial"/>
                          <a:cs typeface="Arial"/>
                        </a:rPr>
                        <a:t>Wysyłka e-maili (potwierdzenia, powiadomienia)</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marL="0" marR="0" latinLnBrk="0">
                        <a:buNone/>
                      </a:pPr>
                      <a:r>
                        <a:rPr lang="pl-PL">
                          <a:effectLst/>
                          <a:latin typeface="Arial"/>
                          <a:cs typeface="Arial"/>
                        </a:rPr>
                        <a:t>SMTP/TLS (MailKit)</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extLst>
                  <a:ext uri="{0D108BD9-81ED-4DB2-BD59-A6C34878D82A}">
                    <a16:rowId xmlns:a16="http://schemas.microsoft.com/office/drawing/2014/main" val="2919980695"/>
                  </a:ext>
                </a:extLst>
              </a:tr>
              <a:tr h="1036184">
                <a:tc>
                  <a:txBody>
                    <a:bodyPr/>
                    <a:lstStyle/>
                    <a:p>
                      <a:pPr marL="0" marR="0" latinLnBrk="0">
                        <a:buNone/>
                      </a:pPr>
                      <a:r>
                        <a:rPr lang="pl-PL" b="1">
                          <a:effectLst/>
                          <a:latin typeface="Arial"/>
                          <a:cs typeface="Arial"/>
                        </a:rPr>
                        <a:t>Nginx</a:t>
                      </a:r>
                      <a:endParaRPr lang="pl-PL">
                        <a:effectLst/>
                        <a:latin typeface="Arial"/>
                        <a:cs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latinLnBrk="0">
                        <a:buNone/>
                      </a:pPr>
                      <a:r>
                        <a:rPr lang="pl-PL">
                          <a:effectLst/>
                          <a:latin typeface="Arial"/>
                          <a:cs typeface="Arial"/>
                        </a:rPr>
                        <a:t>Reverse proxy, terminacja TLS, cache zasobów</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latinLnBrk="0">
                        <a:buNone/>
                      </a:pPr>
                      <a:r>
                        <a:rPr lang="pl-PL">
                          <a:effectLst/>
                          <a:latin typeface="Arial"/>
                          <a:cs typeface="Arial"/>
                        </a:rPr>
                        <a:t>HTTP/HTTPS</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1990374955"/>
                  </a:ext>
                </a:extLst>
              </a:tr>
            </a:tbl>
          </a:graphicData>
        </a:graphic>
      </p:graphicFrame>
    </p:spTree>
    <p:extLst>
      <p:ext uri="{BB962C8B-B14F-4D97-AF65-F5344CB8AC3E}">
        <p14:creationId xmlns:p14="http://schemas.microsoft.com/office/powerpoint/2010/main" val="83168782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92121-5B14-DC6E-7FA0-759B333041BD}"/>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F08E0B18-D6F8-4957-175B-102360A5143B}"/>
              </a:ext>
            </a:extLst>
          </p:cNvPr>
          <p:cNvSpPr txBox="1">
            <a:spLocks noGrp="1"/>
          </p:cNvSpPr>
          <p:nvPr>
            <p:ph type="title" idx="4294967295"/>
          </p:nvPr>
        </p:nvSpPr>
        <p:spPr>
          <a:xfrm>
            <a:off x="503998" y="301322"/>
            <a:ext cx="9071643" cy="999387"/>
          </a:xfrm>
        </p:spPr>
        <p:txBody>
          <a:bodyPr/>
          <a:lstStyle/>
          <a:p>
            <a:r>
              <a:rPr lang="pl-PL" sz="5400">
                <a:latin typeface="Arial"/>
                <a:cs typeface="Arial"/>
              </a:rPr>
              <a:t>Kluczowe biblioteki</a:t>
            </a:r>
            <a:endParaRPr lang="pl-PL"/>
          </a:p>
        </p:txBody>
      </p:sp>
      <p:sp>
        <p:nvSpPr>
          <p:cNvPr id="3" name="Symbol zastępczy tekstu 2">
            <a:extLst>
              <a:ext uri="{FF2B5EF4-FFF2-40B4-BE49-F238E27FC236}">
                <a16:creationId xmlns:a16="http://schemas.microsoft.com/office/drawing/2014/main" id="{65C34E75-E31C-181A-9642-6322F9E12CC6}"/>
              </a:ext>
            </a:extLst>
          </p:cNvPr>
          <p:cNvSpPr txBox="1">
            <a:spLocks noGrp="1"/>
          </p:cNvSpPr>
          <p:nvPr>
            <p:ph type="body" idx="4294967295"/>
          </p:nvPr>
        </p:nvSpPr>
        <p:spPr>
          <a:xfrm>
            <a:off x="503998" y="1411174"/>
            <a:ext cx="9071643" cy="5688166"/>
          </a:xfrm>
        </p:spPr>
        <p:txBody>
          <a:bodyPr>
            <a:noAutofit/>
          </a:bodyPr>
          <a:lstStyle/>
          <a:p>
            <a:pPr marL="285750" indent="-285750" algn="l">
              <a:spcBef>
                <a:spcPts val="1889"/>
              </a:spcBef>
              <a:buFont typeface="Arial"/>
              <a:buChar char="•"/>
            </a:pPr>
            <a:r>
              <a:rPr lang="pl-PL" sz="2800">
                <a:solidFill>
                  <a:schemeClr val="tx1"/>
                </a:solidFill>
                <a:latin typeface="Courier New"/>
                <a:cs typeface="Courier New"/>
              </a:rPr>
              <a:t>Microsoft.EntityFrameworkCore</a:t>
            </a:r>
            <a:r>
              <a:rPr lang="pl-PL" sz="2800">
                <a:solidFill>
                  <a:schemeClr val="tx1"/>
                </a:solidFill>
                <a:latin typeface="Arial"/>
                <a:cs typeface="Arial"/>
              </a:rPr>
              <a:t> 9 + </a:t>
            </a:r>
            <a:r>
              <a:rPr lang="pl-PL" sz="2800">
                <a:solidFill>
                  <a:schemeClr val="tx1"/>
                </a:solidFill>
                <a:latin typeface="Courier New"/>
                <a:cs typeface="Courier New"/>
              </a:rPr>
              <a:t>Npgsql.EntityFrameworkCore.PostgreSQL</a:t>
            </a:r>
            <a:r>
              <a:rPr lang="pl-PL" sz="2800">
                <a:solidFill>
                  <a:schemeClr val="tx1"/>
                </a:solidFill>
                <a:latin typeface="Arial"/>
                <a:cs typeface="Arial"/>
              </a:rPr>
              <a:t> — ORM</a:t>
            </a:r>
            <a:endParaRPr lang="pl-PL" sz="2800">
              <a:solidFill>
                <a:schemeClr val="tx1"/>
              </a:solidFill>
            </a:endParaRPr>
          </a:p>
          <a:p>
            <a:pPr marL="285750" indent="-285750" algn="l">
              <a:spcBef>
                <a:spcPts val="1889"/>
              </a:spcBef>
              <a:buFont typeface="Arial"/>
              <a:buChar char="•"/>
            </a:pPr>
            <a:r>
              <a:rPr lang="pl-PL" sz="2800">
                <a:solidFill>
                  <a:schemeClr val="tx1"/>
                </a:solidFill>
                <a:latin typeface="Courier New"/>
                <a:cs typeface="Courier New"/>
              </a:rPr>
              <a:t>MailKit</a:t>
            </a:r>
            <a:r>
              <a:rPr lang="pl-PL" sz="2800">
                <a:solidFill>
                  <a:schemeClr val="tx1"/>
                </a:solidFill>
                <a:latin typeface="Arial"/>
                <a:cs typeface="Arial"/>
              </a:rPr>
              <a:t> — klient SMTP</a:t>
            </a:r>
            <a:endParaRPr lang="pl-PL" sz="2800">
              <a:solidFill>
                <a:schemeClr val="tx1"/>
              </a:solidFill>
            </a:endParaRPr>
          </a:p>
          <a:p>
            <a:pPr marL="285750" indent="-285750" algn="l">
              <a:spcBef>
                <a:spcPts val="1889"/>
              </a:spcBef>
              <a:buFont typeface="Arial"/>
              <a:buChar char="•"/>
            </a:pPr>
            <a:r>
              <a:rPr lang="pl-PL" sz="2800">
                <a:solidFill>
                  <a:schemeClr val="tx1"/>
                </a:solidFill>
                <a:latin typeface="Courier New"/>
                <a:cs typeface="Courier New"/>
              </a:rPr>
              <a:t>BCrypt.Net-Next</a:t>
            </a:r>
            <a:r>
              <a:rPr lang="pl-PL" sz="2800">
                <a:solidFill>
                  <a:schemeClr val="tx1"/>
                </a:solidFill>
                <a:latin typeface="Arial"/>
                <a:cs typeface="Arial"/>
              </a:rPr>
              <a:t> — hashowanie haseł</a:t>
            </a:r>
            <a:endParaRPr lang="pl-PL" sz="2800">
              <a:solidFill>
                <a:schemeClr val="tx1"/>
              </a:solidFill>
            </a:endParaRPr>
          </a:p>
          <a:p>
            <a:pPr marL="285750" indent="-285750" algn="l">
              <a:spcBef>
                <a:spcPts val="1889"/>
              </a:spcBef>
              <a:buFont typeface="Arial"/>
              <a:buChar char="•"/>
            </a:pPr>
            <a:r>
              <a:rPr lang="pl-PL" sz="2800">
                <a:solidFill>
                  <a:schemeClr val="tx1"/>
                </a:solidFill>
                <a:latin typeface="Courier New"/>
                <a:cs typeface="Courier New"/>
              </a:rPr>
              <a:t>Bootstrap 5</a:t>
            </a:r>
            <a:r>
              <a:rPr lang="pl-PL" sz="2800">
                <a:solidFill>
                  <a:schemeClr val="tx1"/>
                </a:solidFill>
                <a:latin typeface="Arial"/>
                <a:cs typeface="Arial"/>
              </a:rPr>
              <a:t> — framework CSS po stronie klienta</a:t>
            </a:r>
            <a:endParaRPr lang="pl-PL" sz="2800">
              <a:solidFill>
                <a:schemeClr val="tx1"/>
              </a:solidFill>
            </a:endParaRPr>
          </a:p>
          <a:p>
            <a:pPr algn="l">
              <a:spcBef>
                <a:spcPts val="1889"/>
              </a:spcBef>
            </a:pPr>
            <a:r>
              <a:rPr lang="pl-PL" sz="2800">
                <a:solidFill>
                  <a:schemeClr val="tx1"/>
                </a:solidFill>
                <a:latin typeface="Arial"/>
                <a:cs typeface="Arial"/>
              </a:rPr>
              <a:t>System </a:t>
            </a:r>
            <a:r>
              <a:rPr lang="pl-PL" sz="2800" b="1">
                <a:solidFill>
                  <a:schemeClr val="tx1"/>
                </a:solidFill>
                <a:latin typeface="Arial"/>
                <a:cs typeface="Arial"/>
              </a:rPr>
              <a:t>nie jest częścią większego systemu</a:t>
            </a:r>
            <a:r>
              <a:rPr lang="pl-PL" sz="2800">
                <a:solidFill>
                  <a:schemeClr val="tx1"/>
                </a:solidFill>
                <a:latin typeface="Arial"/>
                <a:cs typeface="Arial"/>
              </a:rPr>
              <a:t> — stanowi samodzielną platformę. Zależności zewnętrzne ograniczają się do PayU (płatności), Nominatim (geokodowanie) i dostawcy SMTP.</a:t>
            </a:r>
          </a:p>
          <a:p>
            <a:pPr algn="l">
              <a:spcBef>
                <a:spcPts val="1889"/>
              </a:spcBef>
            </a:pPr>
            <a:endParaRPr lang="pl-PL" sz="2800" b="1">
              <a:solidFill>
                <a:schemeClr val="tx1"/>
              </a:solidFill>
              <a:latin typeface="Arial"/>
              <a:cs typeface="Arial"/>
            </a:endParaRPr>
          </a:p>
        </p:txBody>
      </p:sp>
    </p:spTree>
    <p:extLst>
      <p:ext uri="{BB962C8B-B14F-4D97-AF65-F5344CB8AC3E}">
        <p14:creationId xmlns:p14="http://schemas.microsoft.com/office/powerpoint/2010/main" val="17874661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4F945-804E-F64D-C308-570646B19A75}"/>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78F24208-D5CE-55D4-3898-93CAD6EC5040}"/>
              </a:ext>
            </a:extLst>
          </p:cNvPr>
          <p:cNvSpPr txBox="1">
            <a:spLocks noGrp="1"/>
          </p:cNvSpPr>
          <p:nvPr>
            <p:ph type="title" idx="4294967295"/>
          </p:nvPr>
        </p:nvSpPr>
        <p:spPr>
          <a:xfrm>
            <a:off x="503998" y="301322"/>
            <a:ext cx="9071643" cy="999387"/>
          </a:xfrm>
        </p:spPr>
        <p:txBody>
          <a:bodyPr/>
          <a:lstStyle/>
          <a:p>
            <a:r>
              <a:rPr lang="pl-PL" sz="5400">
                <a:latin typeface="Arial"/>
                <a:cs typeface="Arial"/>
              </a:rPr>
              <a:t>Środowisko działania</a:t>
            </a:r>
            <a:endParaRPr lang="pl-PL"/>
          </a:p>
        </p:txBody>
      </p:sp>
      <p:sp>
        <p:nvSpPr>
          <p:cNvPr id="3" name="Symbol zastępczy tekstu 2">
            <a:extLst>
              <a:ext uri="{FF2B5EF4-FFF2-40B4-BE49-F238E27FC236}">
                <a16:creationId xmlns:a16="http://schemas.microsoft.com/office/drawing/2014/main" id="{66D30172-BF22-ABDC-0885-7C3F7ADDEC70}"/>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900" b="1">
                <a:solidFill>
                  <a:schemeClr val="tx1"/>
                </a:solidFill>
                <a:latin typeface="Arial"/>
                <a:cs typeface="Arial"/>
              </a:rPr>
              <a:t>Środowisko deweloperskie:</a:t>
            </a:r>
            <a:br>
              <a:rPr lang="pl-PL" sz="1900" b="1">
                <a:latin typeface="Arial"/>
                <a:cs typeface="Arial"/>
              </a:rPr>
            </a:br>
            <a:r>
              <a:rPr lang="pl-PL" sz="1900" b="1">
                <a:solidFill>
                  <a:schemeClr val="tx1"/>
                </a:solidFill>
                <a:latin typeface="Arial"/>
                <a:cs typeface="Arial"/>
              </a:rPr>
              <a:t>Aplikacja uruchamiana lokalnie na platformie Replit (Linux/NixOS). PostgreSQL zarządzany przez Replit. Brak Nginx — aplikacja dostępna bezpośrednio przez proxy Replit. Konfiguracja z </a:t>
            </a:r>
            <a:r>
              <a:rPr lang="pl-PL" sz="1900">
                <a:solidFill>
                  <a:schemeClr val="tx1"/>
                </a:solidFill>
                <a:latin typeface="Courier New"/>
                <a:cs typeface="Courier New"/>
              </a:rPr>
              <a:t>appsettings.json</a:t>
            </a:r>
            <a:r>
              <a:rPr lang="pl-PL" sz="1900">
                <a:solidFill>
                  <a:schemeClr val="tx1"/>
                </a:solidFill>
                <a:latin typeface="Arial"/>
                <a:cs typeface="Arial"/>
              </a:rPr>
              <a:t> + zmienne środowiskowe.</a:t>
            </a:r>
            <a:endParaRPr lang="pl-PL" sz="1900">
              <a:solidFill>
                <a:schemeClr val="tx1"/>
              </a:solidFill>
            </a:endParaRPr>
          </a:p>
          <a:p>
            <a:pPr algn="l">
              <a:spcBef>
                <a:spcPts val="1889"/>
              </a:spcBef>
            </a:pPr>
            <a:r>
              <a:rPr lang="pl-PL" sz="1900" b="1">
                <a:solidFill>
                  <a:schemeClr val="tx1"/>
                </a:solidFill>
                <a:latin typeface="Arial"/>
                <a:cs typeface="Arial"/>
              </a:rPr>
              <a:t>Środowisko produkcyjne:</a:t>
            </a:r>
            <a:br>
              <a:rPr lang="pl-PL" sz="1900" b="1">
                <a:latin typeface="Arial"/>
                <a:cs typeface="Arial"/>
              </a:rPr>
            </a:br>
            <a:r>
              <a:rPr lang="pl-PL" sz="1900" b="1">
                <a:solidFill>
                  <a:schemeClr val="tx1"/>
                </a:solidFill>
                <a:latin typeface="Arial"/>
                <a:cs typeface="Arial"/>
              </a:rPr>
              <a:t>Konteneryzacja przez Docker Compose</a:t>
            </a:r>
            <a:r>
              <a:rPr lang="pl-PL" sz="1900">
                <a:solidFill>
                  <a:schemeClr val="tx1"/>
                </a:solidFill>
                <a:latin typeface="Arial"/>
                <a:cs typeface="Arial"/>
              </a:rPr>
              <a:t> z czterema serwisami:</a:t>
            </a:r>
            <a:endParaRPr lang="pl-PL" sz="1900">
              <a:solidFill>
                <a:schemeClr val="tx1"/>
              </a:solidFill>
            </a:endParaRPr>
          </a:p>
          <a:p>
            <a:pPr algn="l">
              <a:spcBef>
                <a:spcPts val="1889"/>
              </a:spcBef>
            </a:pPr>
            <a:r>
              <a:rPr lang="pl-PL" sz="1900">
                <a:solidFill>
                  <a:schemeClr val="tx1"/>
                </a:solidFill>
                <a:latin typeface="Courier New"/>
                <a:cs typeface="Courier New"/>
              </a:rPr>
              <a:t>•app</a:t>
            </a:r>
            <a:r>
              <a:rPr lang="pl-PL" sz="1900">
                <a:solidFill>
                  <a:schemeClr val="tx1"/>
                </a:solidFill>
                <a:latin typeface="Arial"/>
                <a:cs typeface="Arial"/>
              </a:rPr>
              <a:t> — kontener ASP.NET Core (obraz wieloetapowy: </a:t>
            </a:r>
            <a:r>
              <a:rPr lang="pl-PL" sz="1900">
                <a:solidFill>
                  <a:schemeClr val="tx1"/>
                </a:solidFill>
                <a:latin typeface="Courier New"/>
                <a:cs typeface="Courier New"/>
              </a:rPr>
              <a:t>sdk:8.0</a:t>
            </a:r>
            <a:r>
              <a:rPr lang="pl-PL" sz="1900">
                <a:solidFill>
                  <a:schemeClr val="tx1"/>
                </a:solidFill>
                <a:latin typeface="Arial"/>
                <a:cs typeface="Arial"/>
              </a:rPr>
              <a:t> → </a:t>
            </a:r>
            <a:r>
              <a:rPr lang="pl-PL" sz="1900">
                <a:solidFill>
                  <a:schemeClr val="tx1"/>
                </a:solidFill>
                <a:latin typeface="Courier New"/>
                <a:cs typeface="Courier New"/>
              </a:rPr>
              <a:t>aspnet:8.0</a:t>
            </a:r>
            <a:r>
              <a:rPr lang="pl-PL" sz="1900">
                <a:solidFill>
                  <a:schemeClr val="tx1"/>
                </a:solidFill>
                <a:latin typeface="Arial"/>
                <a:cs typeface="Arial"/>
              </a:rPr>
              <a:t>, uruchomiony jako nieprivilegowany użytkownik </a:t>
            </a:r>
            <a:r>
              <a:rPr lang="pl-PL" sz="1900">
                <a:solidFill>
                  <a:schemeClr val="tx1"/>
                </a:solidFill>
                <a:latin typeface="Courier New"/>
                <a:cs typeface="Courier New"/>
              </a:rPr>
              <a:t>appuser</a:t>
            </a:r>
            <a:r>
              <a:rPr lang="pl-PL" sz="1900">
                <a:solidFill>
                  <a:schemeClr val="tx1"/>
                </a:solidFill>
                <a:latin typeface="Arial"/>
                <a:cs typeface="Arial"/>
              </a:rPr>
              <a:t>)</a:t>
            </a:r>
            <a:br>
              <a:rPr lang="pl-PL" sz="1900">
                <a:latin typeface="Arial"/>
                <a:cs typeface="Arial"/>
              </a:rPr>
            </a:br>
            <a:r>
              <a:rPr lang="pl-PL" sz="1900">
                <a:solidFill>
                  <a:schemeClr val="tx1"/>
                </a:solidFill>
                <a:latin typeface="Courier New"/>
                <a:cs typeface="Courier New"/>
              </a:rPr>
              <a:t>•nginx</a:t>
            </a:r>
            <a:r>
              <a:rPr lang="pl-PL" sz="1900">
                <a:solidFill>
                  <a:schemeClr val="tx1"/>
                </a:solidFill>
                <a:latin typeface="Arial"/>
                <a:cs typeface="Arial"/>
              </a:rPr>
              <a:t> — reverse proxy z terminacją TLS (certyfikaty fullchain.pem/privkey.pem), cache </a:t>
            </a:r>
            <a:r>
              <a:rPr lang="pl-PL" sz="1900">
                <a:solidFill>
                  <a:schemeClr val="tx1"/>
                </a:solidFill>
                <a:latin typeface="Courier New"/>
                <a:cs typeface="Courier New"/>
              </a:rPr>
              <a:t>/uploads/</a:t>
            </a:r>
            <a:r>
              <a:rPr lang="pl-PL" sz="1900">
                <a:solidFill>
                  <a:schemeClr val="tx1"/>
                </a:solidFill>
                <a:latin typeface="Arial"/>
                <a:cs typeface="Arial"/>
              </a:rPr>
              <a:t> przez 7 dni</a:t>
            </a:r>
            <a:br>
              <a:rPr lang="pl-PL" sz="1900">
                <a:latin typeface="Arial"/>
                <a:cs typeface="Arial"/>
              </a:rPr>
            </a:br>
            <a:r>
              <a:rPr lang="pl-PL" sz="1900">
                <a:solidFill>
                  <a:schemeClr val="tx1"/>
                </a:solidFill>
                <a:latin typeface="Courier New"/>
                <a:cs typeface="Courier New"/>
              </a:rPr>
              <a:t>•pgdatabase</a:t>
            </a:r>
            <a:r>
              <a:rPr lang="pl-PL" sz="1900">
                <a:solidFill>
                  <a:schemeClr val="tx1"/>
                </a:solidFill>
                <a:latin typeface="Arial"/>
                <a:cs typeface="Arial"/>
              </a:rPr>
              <a:t> — PostgreSQL 16-alpine z persistentnym woluminem </a:t>
            </a:r>
            <a:r>
              <a:rPr lang="pl-PL" sz="1900">
                <a:solidFill>
                  <a:schemeClr val="tx1"/>
                </a:solidFill>
                <a:latin typeface="Courier New"/>
                <a:cs typeface="Courier New"/>
              </a:rPr>
              <a:t>pg_data</a:t>
            </a:r>
            <a:br>
              <a:rPr lang="pl-PL" sz="1900">
                <a:latin typeface="Courier New"/>
                <a:cs typeface="Courier New"/>
              </a:rPr>
            </a:br>
            <a:r>
              <a:rPr lang="pl-PL" sz="1900">
                <a:solidFill>
                  <a:schemeClr val="tx1"/>
                </a:solidFill>
                <a:latin typeface="Courier New"/>
                <a:cs typeface="Courier New"/>
              </a:rPr>
              <a:t>•pgadmin</a:t>
            </a:r>
            <a:r>
              <a:rPr lang="pl-PL" sz="1900">
                <a:solidFill>
                  <a:schemeClr val="tx1"/>
                </a:solidFill>
                <a:latin typeface="Arial"/>
                <a:cs typeface="Arial"/>
              </a:rPr>
              <a:t> — opcjonalny panel administracyjny bazy danych</a:t>
            </a:r>
            <a:endParaRPr lang="pl-PL" sz="1900">
              <a:solidFill>
                <a:schemeClr val="tx1"/>
              </a:solidFill>
            </a:endParaRPr>
          </a:p>
          <a:p>
            <a:pPr algn="l">
              <a:spcBef>
                <a:spcPts val="1889"/>
              </a:spcBef>
            </a:pPr>
            <a:r>
              <a:rPr lang="pl-PL" sz="1900">
                <a:solidFill>
                  <a:schemeClr val="tx1"/>
                </a:solidFill>
                <a:latin typeface="Arial"/>
                <a:cs typeface="Arial"/>
              </a:rPr>
              <a:t>Aplikacja dostępna na porcie </a:t>
            </a:r>
            <a:r>
              <a:rPr lang="pl-PL" sz="1900">
                <a:solidFill>
                  <a:schemeClr val="tx1"/>
                </a:solidFill>
                <a:latin typeface="Courier New"/>
                <a:cs typeface="Courier New"/>
              </a:rPr>
              <a:t>443</a:t>
            </a:r>
            <a:r>
              <a:rPr lang="pl-PL" sz="1900">
                <a:solidFill>
                  <a:schemeClr val="tx1"/>
                </a:solidFill>
                <a:latin typeface="Arial"/>
                <a:cs typeface="Arial"/>
              </a:rPr>
              <a:t> (HTTPS) przez Nginx. Pliki użytkowników w wolumenie </a:t>
            </a:r>
            <a:r>
              <a:rPr lang="pl-PL" sz="1900">
                <a:solidFill>
                  <a:schemeClr val="tx1"/>
                </a:solidFill>
                <a:latin typeface="Courier New"/>
                <a:cs typeface="Courier New"/>
              </a:rPr>
              <a:t>uploads_data</a:t>
            </a:r>
            <a:r>
              <a:rPr lang="pl-PL" sz="1900">
                <a:solidFill>
                  <a:schemeClr val="tx1"/>
                </a:solidFill>
                <a:latin typeface="Arial"/>
                <a:cs typeface="Arial"/>
              </a:rPr>
              <a:t>. Środowisko chmurowe / VPS zgodnie z wyborem wdrożeniowym.</a:t>
            </a:r>
            <a:endParaRPr lang="pl-PL" sz="1900">
              <a:solidFill>
                <a:schemeClr val="tx1"/>
              </a:solidFill>
            </a:endParaRPr>
          </a:p>
          <a:p>
            <a:pPr algn="l">
              <a:spcBef>
                <a:spcPts val="1889"/>
              </a:spcBef>
            </a:pPr>
            <a:endParaRPr lang="pl-PL" sz="1900">
              <a:solidFill>
                <a:schemeClr val="tx1"/>
              </a:solidFill>
              <a:latin typeface="Arial"/>
              <a:cs typeface="Arial"/>
            </a:endParaRPr>
          </a:p>
        </p:txBody>
      </p:sp>
    </p:spTree>
    <p:extLst>
      <p:ext uri="{BB962C8B-B14F-4D97-AF65-F5344CB8AC3E}">
        <p14:creationId xmlns:p14="http://schemas.microsoft.com/office/powerpoint/2010/main" val="1402008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C626E-EB66-D881-FFBE-190D4BE6B871}"/>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A2071334-F87D-B1C5-9E54-4A23F0F99E04}"/>
              </a:ext>
            </a:extLst>
          </p:cNvPr>
          <p:cNvSpPr txBox="1">
            <a:spLocks noGrp="1"/>
          </p:cNvSpPr>
          <p:nvPr>
            <p:ph type="title" idx="4294967295"/>
          </p:nvPr>
        </p:nvSpPr>
        <p:spPr>
          <a:xfrm>
            <a:off x="503998" y="301322"/>
            <a:ext cx="9071643" cy="999387"/>
          </a:xfrm>
        </p:spPr>
        <p:txBody>
          <a:bodyPr/>
          <a:lstStyle/>
          <a:p>
            <a:r>
              <a:rPr lang="pl-PL" sz="5400">
                <a:latin typeface="Arial"/>
                <a:cs typeface="Arial"/>
              </a:rPr>
              <a:t>Diagram architektury</a:t>
            </a:r>
            <a:endParaRPr lang="pl-PL" sz="5400"/>
          </a:p>
        </p:txBody>
      </p:sp>
      <p:sp>
        <p:nvSpPr>
          <p:cNvPr id="3" name="Symbol zastępczy tekstu 2">
            <a:extLst>
              <a:ext uri="{FF2B5EF4-FFF2-40B4-BE49-F238E27FC236}">
                <a16:creationId xmlns:a16="http://schemas.microsoft.com/office/drawing/2014/main" id="{B3F438D0-D6F2-0033-C164-31FE61495D2C}"/>
              </a:ext>
            </a:extLst>
          </p:cNvPr>
          <p:cNvSpPr txBox="1">
            <a:spLocks noGrp="1"/>
          </p:cNvSpPr>
          <p:nvPr>
            <p:ph type="body" idx="4294967295"/>
          </p:nvPr>
        </p:nvSpPr>
        <p:spPr>
          <a:xfrm>
            <a:off x="2518790" y="1299505"/>
            <a:ext cx="4941155" cy="5805414"/>
          </a:xfrm>
        </p:spPr>
        <p:txBody>
          <a:bodyPr>
            <a:noAutofit/>
          </a:bodyPr>
          <a:lstStyle/>
          <a:p>
            <a:pPr algn="l">
              <a:spcBef>
                <a:spcPts val="1889"/>
              </a:spcBef>
            </a:pPr>
            <a:r>
              <a:rPr lang="pl-PL" sz="900">
                <a:solidFill>
                  <a:schemeClr val="tx1"/>
                </a:solidFill>
                <a:latin typeface="Courier New"/>
                <a:cs typeface="Courier New"/>
              </a:rPr>
              <a:t>┌─────────────────────────────────────────────────────────────────┐</a:t>
            </a:r>
            <a:br>
              <a:rPr lang="pl-PL" sz="900">
                <a:latin typeface="Courier New"/>
                <a:cs typeface="Courier New"/>
              </a:rPr>
            </a:br>
            <a:r>
              <a:rPr lang="pl-PL" sz="900">
                <a:solidFill>
                  <a:schemeClr val="tx1"/>
                </a:solidFill>
                <a:latin typeface="Courier New"/>
                <a:cs typeface="Courier New"/>
              </a:rPr>
              <a:t>│                        KLIENT (Przeglądarka)                    │</a:t>
            </a:r>
            <a:br>
              <a:rPr lang="pl-PL" sz="900">
                <a:latin typeface="Courier New"/>
                <a:cs typeface="Courier New"/>
              </a:rPr>
            </a:br>
            <a:r>
              <a:rPr lang="pl-PL" sz="900">
                <a:solidFill>
                  <a:schemeClr val="tx1"/>
                </a:solidFill>
                <a:latin typeface="Courier New"/>
                <a:cs typeface="Courier New"/>
              </a:rPr>
              <a:t>│                   HTML + CSS (Bootstrap 5) + JS                 │</a:t>
            </a:r>
            <a:br>
              <a:rPr lang="pl-PL" sz="900">
                <a:latin typeface="Courier New"/>
                <a:cs typeface="Courier New"/>
              </a:rPr>
            </a:br>
            <a:r>
              <a:rPr lang="pl-PL" sz="900">
                <a:solidFill>
                  <a:schemeClr val="tx1"/>
                </a:solidFill>
                <a:latin typeface="Courier New"/>
                <a:cs typeface="Courier New"/>
              </a:rPr>
              <a:t>└────────────────────────────┬────────────────────────────────────┘</a:t>
            </a:r>
            <a:br>
              <a:rPr lang="pl-PL" sz="900">
                <a:latin typeface="Courier New"/>
                <a:cs typeface="Courier New"/>
              </a:rPr>
            </a:br>
            <a:r>
              <a:rPr lang="pl-PL" sz="900">
                <a:solidFill>
                  <a:schemeClr val="tx1"/>
                </a:solidFill>
                <a:latin typeface="Courier New"/>
                <a:cs typeface="Courier New"/>
              </a:rPr>
              <a:t>                             │ HTTPS</a:t>
            </a:r>
            <a:br>
              <a:rPr lang="pl-PL" sz="900">
                <a:latin typeface="Courier New"/>
                <a:cs typeface="Courier New"/>
              </a:rPr>
            </a:br>
            <a:r>
              <a:rPr lang="pl-PL" sz="900">
                <a:solidFill>
                  <a:schemeClr val="tx1"/>
                </a:solidFill>
                <a:latin typeface="Courier New"/>
                <a:cs typeface="Courier New"/>
              </a:rPr>
              <a:t>                             ▼</a:t>
            </a:r>
            <a:br>
              <a:rPr lang="pl-PL" sz="900">
                <a:latin typeface="Courier New"/>
                <a:cs typeface="Courier New"/>
              </a:rPr>
            </a:br>
            <a:r>
              <a:rPr lang="pl-PL" sz="900">
                <a:solidFill>
                  <a:schemeClr val="tx1"/>
                </a:solidFill>
                <a:latin typeface="Courier New"/>
                <a:cs typeface="Courier New"/>
              </a:rPr>
              <a:t>┌─────────────────────────────────────────────────────────────────┐</a:t>
            </a:r>
            <a:br>
              <a:rPr lang="pl-PL" sz="900">
                <a:latin typeface="Courier New"/>
                <a:cs typeface="Courier New"/>
              </a:rPr>
            </a:br>
            <a:r>
              <a:rPr lang="pl-PL" sz="900">
                <a:solidFill>
                  <a:schemeClr val="tx1"/>
                </a:solidFill>
                <a:latin typeface="Courier New"/>
                <a:cs typeface="Courier New"/>
              </a:rPr>
              <a:t>│                     NGINX (Reverse Proxy)                       │</a:t>
            </a:r>
            <a:br>
              <a:rPr lang="pl-PL" sz="900">
                <a:latin typeface="Courier New"/>
                <a:cs typeface="Courier New"/>
              </a:rPr>
            </a:br>
            <a:r>
              <a:rPr lang="pl-PL" sz="900">
                <a:solidFill>
                  <a:schemeClr val="tx1"/>
                </a:solidFill>
                <a:latin typeface="Courier New"/>
                <a:cs typeface="Courier New"/>
              </a:rPr>
              <a:t>│          TLS termination · cache /uploads/ · nagłówki           │</a:t>
            </a:r>
            <a:br>
              <a:rPr lang="pl-PL" sz="900">
                <a:latin typeface="Courier New"/>
                <a:cs typeface="Courier New"/>
              </a:rPr>
            </a:br>
            <a:r>
              <a:rPr lang="pl-PL" sz="900">
                <a:solidFill>
                  <a:schemeClr val="tx1"/>
                </a:solidFill>
                <a:latin typeface="Courier New"/>
                <a:cs typeface="Courier New"/>
              </a:rPr>
              <a:t>└────────────────────────────┬────────────────────────────────────┘</a:t>
            </a:r>
            <a:br>
              <a:rPr lang="pl-PL" sz="900">
                <a:latin typeface="Courier New"/>
                <a:cs typeface="Courier New"/>
              </a:rPr>
            </a:br>
            <a:r>
              <a:rPr lang="pl-PL" sz="900">
                <a:solidFill>
                  <a:schemeClr val="tx1"/>
                </a:solidFill>
                <a:latin typeface="Courier New"/>
                <a:cs typeface="Courier New"/>
              </a:rPr>
              <a:t>                             │ HTTP (port 5000)</a:t>
            </a:r>
            <a:br>
              <a:rPr lang="pl-PL" sz="900">
                <a:latin typeface="Courier New"/>
                <a:cs typeface="Courier New"/>
              </a:rPr>
            </a:br>
            <a:r>
              <a:rPr lang="pl-PL" sz="900">
                <a:solidFill>
                  <a:schemeClr val="tx1"/>
                </a:solidFill>
                <a:latin typeface="Courier New"/>
                <a:cs typeface="Courier New"/>
              </a:rPr>
              <a:t>                             ▼</a:t>
            </a:r>
            <a:br>
              <a:rPr lang="pl-PL" sz="900">
                <a:latin typeface="Courier New"/>
                <a:cs typeface="Courier New"/>
              </a:rPr>
            </a:br>
            <a:r>
              <a:rPr lang="pl-PL" sz="900">
                <a:solidFill>
                  <a:schemeClr val="tx1"/>
                </a:solidFill>
                <a:latin typeface="Courier New"/>
                <a:cs typeface="Courier New"/>
              </a:rPr>
              <a:t>┌─────────────────────────────────────────────────────────────────┐</a:t>
            </a:r>
            <a:br>
              <a:rPr lang="pl-PL" sz="900">
                <a:latin typeface="Courier New"/>
                <a:cs typeface="Courier New"/>
              </a:rPr>
            </a:br>
            <a:r>
              <a:rPr lang="pl-PL" sz="900">
                <a:solidFill>
                  <a:schemeClr val="tx1"/>
                </a:solidFill>
                <a:latin typeface="Courier New"/>
                <a:cs typeface="Courier New"/>
              </a:rPr>
              <a:t>│                  ASP.NET Core 8 MVC (monolit)                   │</a:t>
            </a:r>
            <a:br>
              <a:rPr lang="pl-PL" sz="900">
                <a:latin typeface="Courier New"/>
                <a:cs typeface="Courier New"/>
              </a:rPr>
            </a:br>
            <a:r>
              <a:rPr lang="pl-PL" sz="900">
                <a:solidFill>
                  <a:schemeClr val="tx1"/>
                </a:solidFill>
                <a:latin typeface="Courier New"/>
                <a:cs typeface="Courier New"/>
              </a:rPr>
              <a:t>│  ┌──────────────────────────────────────────────────────────┐   │</a:t>
            </a:r>
            <a:br>
              <a:rPr lang="pl-PL" sz="900">
                <a:latin typeface="Courier New"/>
                <a:cs typeface="Courier New"/>
              </a:rPr>
            </a:br>
            <a:r>
              <a:rPr lang="pl-PL" sz="900">
                <a:solidFill>
                  <a:schemeClr val="tx1"/>
                </a:solidFill>
                <a:latin typeface="Courier New"/>
                <a:cs typeface="Courier New"/>
              </a:rPr>
              <a:t>│  │  Warstwa prezentacji — Razor Views (.cshtml)             │   │</a:t>
            </a:r>
            <a:br>
              <a:rPr lang="pl-PL" sz="900">
                <a:latin typeface="Courier New"/>
                <a:cs typeface="Courier New"/>
              </a:rPr>
            </a:br>
            <a:r>
              <a:rPr lang="pl-PL" sz="900">
                <a:solidFill>
                  <a:schemeClr val="tx1"/>
                </a:solidFill>
                <a:latin typeface="Courier New"/>
                <a:cs typeface="Courier New"/>
              </a:rPr>
              <a:t>│  │  ViewModels · ViewBag · Partial Views · Tag Helpers      │   │</a:t>
            </a:r>
            <a:br>
              <a:rPr lang="pl-PL" sz="900">
                <a:latin typeface="Courier New"/>
                <a:cs typeface="Courier New"/>
              </a:rPr>
            </a:br>
            <a:r>
              <a:rPr lang="pl-PL" sz="900">
                <a:solidFill>
                  <a:schemeClr val="tx1"/>
                </a:solidFill>
                <a:latin typeface="Courier New"/>
                <a:cs typeface="Courier New"/>
              </a:rPr>
              <a:t>│  └──────────────────────┬───────────────────────────────────┘   │</a:t>
            </a:r>
            <a:br>
              <a:rPr lang="pl-PL" sz="900">
                <a:latin typeface="Courier New"/>
                <a:cs typeface="Courier New"/>
              </a:rPr>
            </a:br>
            <a:r>
              <a:rPr lang="pl-PL" sz="900">
                <a:solidFill>
                  <a:schemeClr val="tx1"/>
                </a:solidFill>
                <a:latin typeface="Courier New"/>
                <a:cs typeface="Courier New"/>
              </a:rPr>
              <a:t>│                         │                                       │</a:t>
            </a:r>
            <a:br>
              <a:rPr lang="pl-PL" sz="900">
                <a:latin typeface="Courier New"/>
                <a:cs typeface="Courier New"/>
              </a:rPr>
            </a:br>
            <a:r>
              <a:rPr lang="pl-PL" sz="900">
                <a:solidFill>
                  <a:schemeClr val="tx1"/>
                </a:solidFill>
                <a:latin typeface="Courier New"/>
                <a:cs typeface="Courier New"/>
              </a:rPr>
              <a:t>│  ┌──────────────────────▼───────────────────────────────────┐   │</a:t>
            </a:r>
            <a:br>
              <a:rPr lang="pl-PL" sz="900">
                <a:latin typeface="Courier New"/>
                <a:cs typeface="Courier New"/>
              </a:rPr>
            </a:br>
            <a:r>
              <a:rPr lang="pl-PL" sz="900">
                <a:solidFill>
                  <a:schemeClr val="tx1"/>
                </a:solidFill>
                <a:latin typeface="Courier New"/>
                <a:cs typeface="Courier New"/>
              </a:rPr>
              <a:t>│  │  Kontrolery — Controllers/User/ · Controllers/Admin/     │   │</a:t>
            </a:r>
            <a:br>
              <a:rPr lang="pl-PL" sz="900">
                <a:latin typeface="Courier New"/>
                <a:cs typeface="Courier New"/>
              </a:rPr>
            </a:br>
            <a:r>
              <a:rPr lang="pl-PL" sz="900">
                <a:solidFill>
                  <a:schemeClr val="tx1"/>
                </a:solidFill>
                <a:latin typeface="Courier New"/>
                <a:cs typeface="Courier New"/>
              </a:rPr>
              <a:t>│  │  Routing · walidacja wejścia · autoryzacja (cookie auth) │   │</a:t>
            </a:r>
            <a:br>
              <a:rPr lang="pl-PL" sz="900">
                <a:latin typeface="Courier New"/>
                <a:cs typeface="Courier New"/>
              </a:rPr>
            </a:br>
            <a:r>
              <a:rPr lang="pl-PL" sz="900">
                <a:solidFill>
                  <a:schemeClr val="tx1"/>
                </a:solidFill>
                <a:latin typeface="Courier New"/>
                <a:cs typeface="Courier New"/>
              </a:rPr>
              <a:t>│  └──────────────────────┬───────────────────────────────────┘   │</a:t>
            </a:r>
            <a:br>
              <a:rPr lang="pl-PL" sz="900">
                <a:latin typeface="Courier New"/>
                <a:cs typeface="Courier New"/>
              </a:rPr>
            </a:br>
            <a:r>
              <a:rPr lang="pl-PL" sz="900">
                <a:solidFill>
                  <a:schemeClr val="tx1"/>
                </a:solidFill>
                <a:latin typeface="Courier New"/>
                <a:cs typeface="Courier New"/>
              </a:rPr>
              <a:t>│                         │                                       │</a:t>
            </a:r>
            <a:br>
              <a:rPr lang="pl-PL" sz="900">
                <a:latin typeface="Courier New"/>
                <a:cs typeface="Courier New"/>
              </a:rPr>
            </a:br>
            <a:r>
              <a:rPr lang="pl-PL" sz="900">
                <a:solidFill>
                  <a:schemeClr val="tx1"/>
                </a:solidFill>
                <a:latin typeface="Courier New"/>
                <a:cs typeface="Courier New"/>
              </a:rPr>
              <a:t>│  ┌──────────────────────▼───────────────────────────────────┐   │</a:t>
            </a:r>
            <a:br>
              <a:rPr lang="pl-PL" sz="900">
                <a:latin typeface="Courier New"/>
                <a:cs typeface="Courier New"/>
              </a:rPr>
            </a:br>
            <a:r>
              <a:rPr lang="pl-PL" sz="900">
                <a:solidFill>
                  <a:schemeClr val="tx1"/>
                </a:solidFill>
                <a:latin typeface="Courier New"/>
                <a:cs typeface="Courier New"/>
              </a:rPr>
              <a:t>│  │  Serwisy — Models/System/                                │   │</a:t>
            </a:r>
            <a:br>
              <a:rPr lang="pl-PL" sz="900">
                <a:latin typeface="Courier New"/>
                <a:cs typeface="Courier New"/>
              </a:rPr>
            </a:br>
            <a:r>
              <a:rPr lang="pl-PL" sz="900">
                <a:solidFill>
                  <a:schemeClr val="tx1"/>
                </a:solidFill>
                <a:latin typeface="Courier New"/>
                <a:cs typeface="Courier New"/>
              </a:rPr>
              <a:t>│  │  AuthService · CardFeeService · PayuOrderSyncService     │   │</a:t>
            </a:r>
            <a:br>
              <a:rPr lang="pl-PL" sz="900">
                <a:latin typeface="Courier New"/>
                <a:cs typeface="Courier New"/>
              </a:rPr>
            </a:br>
            <a:r>
              <a:rPr lang="pl-PL" sz="900">
                <a:solidFill>
                  <a:schemeClr val="tx1"/>
                </a:solidFill>
                <a:latin typeface="Courier New"/>
                <a:cs typeface="Courier New"/>
              </a:rPr>
              <a:t>│  │  GeocodingService · FileService · EmailService           │   │</a:t>
            </a:r>
            <a:br>
              <a:rPr lang="pl-PL" sz="900">
                <a:latin typeface="Courier New"/>
                <a:cs typeface="Courier New"/>
              </a:rPr>
            </a:br>
            <a:r>
              <a:rPr lang="pl-PL" sz="900">
                <a:solidFill>
                  <a:schemeClr val="tx1"/>
                </a:solidFill>
                <a:latin typeface="Courier New"/>
                <a:cs typeface="Courier New"/>
              </a:rPr>
              <a:t>│  └──────────────────────┬───────────────────────────────────┘   │</a:t>
            </a:r>
            <a:br>
              <a:rPr lang="pl-PL" sz="900">
                <a:latin typeface="Courier New"/>
                <a:cs typeface="Courier New"/>
              </a:rPr>
            </a:br>
            <a:r>
              <a:rPr lang="pl-PL" sz="900">
                <a:solidFill>
                  <a:schemeClr val="tx1"/>
                </a:solidFill>
                <a:latin typeface="Courier New"/>
                <a:cs typeface="Courier New"/>
              </a:rPr>
              <a:t>│                         │                                       │</a:t>
            </a:r>
            <a:br>
              <a:rPr lang="pl-PL" sz="900">
                <a:latin typeface="Courier New"/>
                <a:cs typeface="Courier New"/>
              </a:rPr>
            </a:br>
            <a:r>
              <a:rPr lang="pl-PL" sz="900">
                <a:solidFill>
                  <a:schemeClr val="tx1"/>
                </a:solidFill>
                <a:latin typeface="Courier New"/>
                <a:cs typeface="Courier New"/>
              </a:rPr>
              <a:t>│  ┌──────────────────────▼───────────────────────────────────┐   │</a:t>
            </a:r>
            <a:br>
              <a:rPr lang="pl-PL" sz="900">
                <a:latin typeface="Courier New"/>
                <a:cs typeface="Courier New"/>
              </a:rPr>
            </a:br>
            <a:r>
              <a:rPr lang="pl-PL" sz="900">
                <a:solidFill>
                  <a:schemeClr val="tx1"/>
                </a:solidFill>
                <a:latin typeface="Courier New"/>
                <a:cs typeface="Courier New"/>
              </a:rPr>
              <a:t>│  │  Warstwa danych — MyDBContext (EF Core 9 + Npgsql)       │   │</a:t>
            </a:r>
            <a:br>
              <a:rPr lang="pl-PL" sz="900">
                <a:latin typeface="Courier New"/>
                <a:cs typeface="Courier New"/>
              </a:rPr>
            </a:br>
            <a:r>
              <a:rPr lang="pl-PL" sz="900">
                <a:solidFill>
                  <a:schemeClr val="tx1"/>
                </a:solidFill>
                <a:latin typeface="Courier New"/>
                <a:cs typeface="Courier New"/>
              </a:rPr>
              <a:t>│  │  Encje · Migracje · Zapytania LINQ → SQL                 │   │</a:t>
            </a:r>
            <a:br>
              <a:rPr lang="pl-PL" sz="900">
                <a:latin typeface="Courier New"/>
                <a:cs typeface="Courier New"/>
              </a:rPr>
            </a:br>
            <a:r>
              <a:rPr lang="pl-PL" sz="900">
                <a:solidFill>
                  <a:schemeClr val="tx1"/>
                </a:solidFill>
                <a:latin typeface="Courier New"/>
                <a:cs typeface="Courier New"/>
              </a:rPr>
              <a:t>│  └──────────────────────┬───────────────────────────────────┘   │</a:t>
            </a:r>
            <a:br>
              <a:rPr lang="pl-PL" sz="900">
                <a:latin typeface="Courier New"/>
                <a:cs typeface="Courier New"/>
              </a:rPr>
            </a:br>
            <a:r>
              <a:rPr lang="pl-PL" sz="900">
                <a:solidFill>
                  <a:schemeClr val="tx1"/>
                </a:solidFill>
                <a:latin typeface="Courier New"/>
                <a:cs typeface="Courier New"/>
              </a:rPr>
              <a:t>└─────────────────────────┼───────────────────────────────────────┘</a:t>
            </a:r>
            <a:br>
              <a:rPr lang="pl-PL" sz="900">
                <a:latin typeface="Courier New"/>
                <a:cs typeface="Courier New"/>
              </a:rPr>
            </a:br>
            <a:r>
              <a:rPr lang="pl-PL" sz="900">
                <a:solidFill>
                  <a:schemeClr val="tx1"/>
                </a:solidFill>
                <a:latin typeface="Courier New"/>
                <a:cs typeface="Courier New"/>
              </a:rPr>
              <a:t>                          │</a:t>
            </a:r>
            <a:br>
              <a:rPr lang="pl-PL" sz="900">
                <a:latin typeface="Courier New"/>
                <a:cs typeface="Courier New"/>
              </a:rPr>
            </a:br>
            <a:r>
              <a:rPr lang="pl-PL" sz="900">
                <a:solidFill>
                  <a:schemeClr val="tx1"/>
                </a:solidFill>
                <a:latin typeface="Courier New"/>
                <a:cs typeface="Courier New"/>
              </a:rPr>
              <a:t>          ┌───────────────▼──────────────┐</a:t>
            </a:r>
            <a:br>
              <a:rPr lang="pl-PL" sz="900">
                <a:latin typeface="Courier New"/>
                <a:cs typeface="Courier New"/>
              </a:rPr>
            </a:br>
            <a:r>
              <a:rPr lang="pl-PL" sz="900">
                <a:solidFill>
                  <a:schemeClr val="tx1"/>
                </a:solidFill>
                <a:latin typeface="Courier New"/>
                <a:cs typeface="Courier New"/>
              </a:rPr>
              <a:t>          │     PostgreSQL 16            │</a:t>
            </a:r>
            <a:br>
              <a:rPr lang="pl-PL" sz="900">
                <a:latin typeface="Courier New"/>
                <a:cs typeface="Courier New"/>
              </a:rPr>
            </a:br>
            <a:r>
              <a:rPr lang="pl-PL" sz="900">
                <a:solidFill>
                  <a:schemeClr val="tx1"/>
                </a:solidFill>
                <a:latin typeface="Courier New"/>
                <a:cs typeface="Courier New"/>
              </a:rPr>
              <a:t>          │  (Replit dev / Docker prod)  │</a:t>
            </a:r>
            <a:br>
              <a:rPr lang="pl-PL" sz="900">
                <a:latin typeface="Courier New"/>
                <a:cs typeface="Courier New"/>
              </a:rPr>
            </a:br>
            <a:r>
              <a:rPr lang="pl-PL" sz="900">
                <a:solidFill>
                  <a:schemeClr val="tx1"/>
                </a:solidFill>
                <a:latin typeface="Courier New"/>
                <a:cs typeface="Courier New"/>
              </a:rPr>
              <a:t>          └──────────────────────────────┘</a:t>
            </a:r>
            <a:br>
              <a:rPr lang="pl-PL" sz="900">
                <a:latin typeface="Courier New"/>
                <a:cs typeface="Courier New"/>
              </a:rPr>
            </a:br>
            <a:br>
              <a:rPr lang="pl-PL" sz="900">
                <a:latin typeface="Courier New"/>
                <a:cs typeface="Courier New"/>
              </a:rPr>
            </a:br>
            <a:r>
              <a:rPr lang="pl-PL" sz="900">
                <a:solidFill>
                  <a:schemeClr val="tx1"/>
                </a:solidFill>
                <a:latin typeface="Courier New"/>
                <a:cs typeface="Courier New"/>
              </a:rPr>
              <a:t>Zewnętrzne integracje:</a:t>
            </a:r>
            <a:br>
              <a:rPr lang="pl-PL" sz="900">
                <a:latin typeface="Courier New"/>
                <a:cs typeface="Courier New"/>
              </a:rPr>
            </a:br>
            <a:r>
              <a:rPr lang="pl-PL" sz="900">
                <a:solidFill>
                  <a:schemeClr val="tx1"/>
                </a:solidFill>
                <a:latin typeface="Courier New"/>
                <a:cs typeface="Courier New"/>
              </a:rPr>
              <a:t>  ASP.NET Core ←──REST──→ PayU API         (płatności, karty, wypłaty)</a:t>
            </a:r>
            <a:br>
              <a:rPr lang="pl-PL" sz="900">
                <a:latin typeface="Courier New"/>
                <a:cs typeface="Courier New"/>
              </a:rPr>
            </a:br>
            <a:r>
              <a:rPr lang="pl-PL" sz="900">
                <a:solidFill>
                  <a:schemeClr val="tx1"/>
                </a:solidFill>
                <a:latin typeface="Courier New"/>
                <a:cs typeface="Courier New"/>
              </a:rPr>
              <a:t>  ASP.NET Core ←──REST──→ Nominatim API    (geokodowanie adresów)</a:t>
            </a:r>
            <a:br>
              <a:rPr lang="pl-PL" sz="900">
                <a:latin typeface="Courier New"/>
                <a:cs typeface="Courier New"/>
              </a:rPr>
            </a:br>
            <a:r>
              <a:rPr lang="pl-PL" sz="900">
                <a:solidFill>
                  <a:schemeClr val="tx1"/>
                </a:solidFill>
                <a:latin typeface="Courier New"/>
                <a:cs typeface="Courier New"/>
              </a:rPr>
              <a:t>  ASP.NET Core ←──SMTP──→ Serwer Gmail     (e-maile)</a:t>
            </a:r>
            <a:br>
              <a:rPr lang="pl-PL" sz="900">
                <a:latin typeface="Courier New"/>
                <a:cs typeface="Courier New"/>
              </a:rPr>
            </a:br>
            <a:r>
              <a:rPr lang="pl-PL" sz="900">
                <a:solidFill>
                  <a:schemeClr val="tx1"/>
                </a:solidFill>
                <a:latin typeface="Courier New"/>
                <a:cs typeface="Courier New"/>
              </a:rPr>
              <a:t>  Nginx        ←──disk──→ Wolumin uploads/ (zdjęcia ogłoszeń)</a:t>
            </a:r>
            <a:endParaRPr lang="pl-PL" sz="900">
              <a:solidFill>
                <a:schemeClr val="tx1"/>
              </a:solidFill>
              <a:cs typeface="Courier New"/>
            </a:endParaRPr>
          </a:p>
        </p:txBody>
      </p:sp>
    </p:spTree>
    <p:extLst>
      <p:ext uri="{BB962C8B-B14F-4D97-AF65-F5344CB8AC3E}">
        <p14:creationId xmlns:p14="http://schemas.microsoft.com/office/powerpoint/2010/main" val="31375123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376F3-1742-BD21-E018-6A6F3F7D358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AA6DF6AC-2FA3-902D-BF4D-DAF6D7BA08FA}"/>
              </a:ext>
            </a:extLst>
          </p:cNvPr>
          <p:cNvSpPr txBox="1">
            <a:spLocks noGrp="1"/>
          </p:cNvSpPr>
          <p:nvPr>
            <p:ph type="title" idx="4294967295"/>
          </p:nvPr>
        </p:nvSpPr>
        <p:spPr>
          <a:xfrm>
            <a:off x="503998" y="301322"/>
            <a:ext cx="9071643" cy="999387"/>
          </a:xfrm>
        </p:spPr>
        <p:txBody>
          <a:bodyPr/>
          <a:lstStyle/>
          <a:p>
            <a:r>
              <a:rPr lang="pl-PL" sz="5400">
                <a:latin typeface="Arial"/>
                <a:cs typeface="Arial"/>
              </a:rPr>
              <a:t>Kluczowe decyzje projektowe</a:t>
            </a:r>
            <a:endParaRPr lang="pl-PL"/>
          </a:p>
        </p:txBody>
      </p:sp>
      <p:sp>
        <p:nvSpPr>
          <p:cNvPr id="3" name="Symbol zastępczy tekstu 2">
            <a:extLst>
              <a:ext uri="{FF2B5EF4-FFF2-40B4-BE49-F238E27FC236}">
                <a16:creationId xmlns:a16="http://schemas.microsoft.com/office/drawing/2014/main" id="{73F6A25E-6EBB-5C2F-8D68-93261A661EB9}"/>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350" b="1">
                <a:solidFill>
                  <a:schemeClr val="tx1"/>
                </a:solidFill>
                <a:latin typeface="Arial"/>
                <a:cs typeface="Arial"/>
              </a:rPr>
              <a:t>Dlaczego monolit zamiast mikroserwisów?</a:t>
            </a:r>
            <a:br>
              <a:rPr lang="pl-PL" sz="1350" b="1">
                <a:latin typeface="Arial"/>
                <a:cs typeface="Arial"/>
              </a:rPr>
            </a:br>
            <a:r>
              <a:rPr lang="pl-PL" sz="1350">
                <a:solidFill>
                  <a:schemeClr val="tx1"/>
                </a:solidFill>
                <a:latin typeface="Arial"/>
                <a:cs typeface="Arial"/>
              </a:rPr>
              <a:t>Projekt realizowany przez małą grupę studencką w ograniczonym czasie. Monolit eliminuje złożoność sieciową (brak service discovery, brak komunikacji między usługami), upraszcza debugowanie i wdrożenie do jednego procesu. Przy obecnej skali (tysiące ogłoszeń, setki użytkowników) overhead mikroserwisów byłby nieuzasadniony.</a:t>
            </a:r>
            <a:endParaRPr lang="pl-PL" sz="1350">
              <a:solidFill>
                <a:schemeClr val="tx1"/>
              </a:solidFill>
              <a:latin typeface="Liberation Sans"/>
              <a:cs typeface="Arial"/>
            </a:endParaRPr>
          </a:p>
          <a:p>
            <a:pPr algn="l">
              <a:spcBef>
                <a:spcPts val="1889"/>
              </a:spcBef>
            </a:pPr>
            <a:r>
              <a:rPr lang="pl-PL" sz="1350" b="1">
                <a:solidFill>
                  <a:schemeClr val="tx1"/>
                </a:solidFill>
                <a:latin typeface="Arial"/>
                <a:cs typeface="Arial"/>
              </a:rPr>
              <a:t>Dlaczego server-side rendering (Razor) zamiast SPA (React/Vue)?</a:t>
            </a:r>
            <a:br>
              <a:rPr lang="pl-PL" sz="1350" b="1">
                <a:latin typeface="Arial"/>
                <a:cs typeface="Arial"/>
              </a:rPr>
            </a:br>
            <a:r>
              <a:rPr lang="pl-PL" sz="1350">
                <a:solidFill>
                  <a:schemeClr val="tx1"/>
                </a:solidFill>
                <a:latin typeface="Arial"/>
                <a:cs typeface="Arial"/>
              </a:rPr>
              <a:t>SSR zapewnia szybkie pierwsze ładowanie strony bez JavaScript-bundle, prostszy model bezpieczeństwa (CSRF wbudowany, brak CORS), prostsze SEO (strony indeksowalne przez crawlery). Platforma ogłoszeniowa nie wymaga bogatej interaktywności po stronie klienta, którą uzasadniałby SPA.</a:t>
            </a:r>
            <a:endParaRPr lang="pl-PL" sz="1350">
              <a:solidFill>
                <a:schemeClr val="tx1"/>
              </a:solidFill>
              <a:latin typeface="Liberation Sans"/>
              <a:cs typeface="Arial"/>
            </a:endParaRPr>
          </a:p>
          <a:p>
            <a:pPr algn="l">
              <a:spcBef>
                <a:spcPts val="1889"/>
              </a:spcBef>
            </a:pPr>
            <a:r>
              <a:rPr lang="pl-PL" sz="1350" b="1">
                <a:solidFill>
                  <a:schemeClr val="tx1"/>
                </a:solidFill>
                <a:latin typeface="Arial"/>
                <a:cs typeface="Arial"/>
              </a:rPr>
              <a:t>Dlaczego własny system uwierzytelniania zamiast ASP.NET Identity?</a:t>
            </a:r>
            <a:br>
              <a:rPr lang="pl-PL" sz="1350" b="1">
                <a:latin typeface="Arial"/>
                <a:cs typeface="Arial"/>
              </a:rPr>
            </a:br>
            <a:r>
              <a:rPr lang="pl-PL" sz="1350">
                <a:solidFill>
                  <a:schemeClr val="tx1"/>
                </a:solidFill>
                <a:latin typeface="Arial"/>
                <a:cs typeface="Arial"/>
              </a:rPr>
              <a:t>ASP.NET Identity narzuca konkretny schemat bazy danych i dziesiątki tabel. Własna implementacja (</a:t>
            </a:r>
            <a:r>
              <a:rPr lang="pl-PL" sz="1350">
                <a:solidFill>
                  <a:schemeClr val="tx1"/>
                </a:solidFill>
                <a:latin typeface="Courier New"/>
                <a:cs typeface="Courier New"/>
              </a:rPr>
              <a:t>AuthService</a:t>
            </a:r>
            <a:r>
              <a:rPr lang="pl-PL" sz="1350">
                <a:solidFill>
                  <a:schemeClr val="tx1"/>
                </a:solidFill>
                <a:latin typeface="Arial"/>
                <a:cs typeface="Arial"/>
              </a:rPr>
              <a:t> + </a:t>
            </a:r>
            <a:r>
              <a:rPr lang="pl-PL" sz="1350">
                <a:solidFill>
                  <a:schemeClr val="tx1"/>
                </a:solidFill>
                <a:latin typeface="Courier New"/>
                <a:cs typeface="Courier New"/>
              </a:rPr>
              <a:t>CookieAuthentication</a:t>
            </a:r>
            <a:r>
              <a:rPr lang="pl-PL" sz="1350">
                <a:solidFill>
                  <a:schemeClr val="tx1"/>
                </a:solidFill>
                <a:latin typeface="Arial"/>
                <a:cs typeface="Arial"/>
              </a:rPr>
              <a:t>) daje pełną kontrolę nad schematem bazy danych, pozwala zintegrować blokadę konta, usunięcie konta i rolę admina w jednej tabeli </a:t>
            </a:r>
            <a:r>
              <a:rPr lang="pl-PL" sz="1350">
                <a:solidFill>
                  <a:schemeClr val="tx1"/>
                </a:solidFill>
                <a:latin typeface="Courier New"/>
                <a:cs typeface="Courier New"/>
              </a:rPr>
              <a:t>Users</a:t>
            </a:r>
            <a:r>
              <a:rPr lang="pl-PL" sz="1350">
                <a:solidFill>
                  <a:schemeClr val="tx1"/>
                </a:solidFill>
                <a:latin typeface="Arial"/>
                <a:cs typeface="Arial"/>
              </a:rPr>
              <a:t> bez migracji Identitowego schematu.</a:t>
            </a:r>
            <a:endParaRPr lang="pl-PL" sz="1350">
              <a:solidFill>
                <a:schemeClr val="tx1"/>
              </a:solidFill>
              <a:latin typeface="Liberation Sans"/>
              <a:cs typeface="Arial"/>
            </a:endParaRPr>
          </a:p>
          <a:p>
            <a:pPr algn="l">
              <a:spcBef>
                <a:spcPts val="1889"/>
              </a:spcBef>
            </a:pPr>
            <a:r>
              <a:rPr lang="pl-PL" sz="1350" b="1">
                <a:solidFill>
                  <a:schemeClr val="tx1"/>
                </a:solidFill>
                <a:latin typeface="Arial"/>
                <a:cs typeface="Arial"/>
              </a:rPr>
              <a:t>Dlaczego Docker Compose w produkcji?</a:t>
            </a:r>
            <a:br>
              <a:rPr lang="pl-PL" sz="1350" b="1">
                <a:latin typeface="Arial"/>
                <a:cs typeface="Arial"/>
              </a:rPr>
            </a:br>
            <a:r>
              <a:rPr lang="pl-PL" sz="1350">
                <a:solidFill>
                  <a:schemeClr val="tx1"/>
                </a:solidFill>
                <a:latin typeface="Arial"/>
                <a:cs typeface="Arial"/>
              </a:rPr>
              <a:t>Izolacja środowiska (identyczne zachowanie na każdym serwerze), prosta orkiestracja czterech serwisów (app + nginx + postgres + pgadmin), woluminy Docker dla trwałości danych, możliwość wdrożenia na dowolny VPS jedną komendą (</a:t>
            </a:r>
            <a:r>
              <a:rPr lang="pl-PL" sz="1350">
                <a:solidFill>
                  <a:schemeClr val="tx1"/>
                </a:solidFill>
                <a:latin typeface="Courier New"/>
                <a:cs typeface="Courier New"/>
              </a:rPr>
              <a:t>docker compose up -d</a:t>
            </a:r>
            <a:r>
              <a:rPr lang="pl-PL" sz="1350">
                <a:solidFill>
                  <a:schemeClr val="tx1"/>
                </a:solidFill>
                <a:latin typeface="Arial"/>
                <a:cs typeface="Arial"/>
              </a:rPr>
              <a:t>). Nginx jako osobny kontener umożliwia niezależne zarządzanie certyfikatami TLS bez zatrzymywania aplikacji.</a:t>
            </a:r>
            <a:endParaRPr lang="pl-PL" sz="1350">
              <a:solidFill>
                <a:schemeClr val="tx1"/>
              </a:solidFill>
              <a:latin typeface="Liberation Sans"/>
              <a:cs typeface="Arial"/>
            </a:endParaRPr>
          </a:p>
          <a:p>
            <a:pPr algn="l">
              <a:spcBef>
                <a:spcPts val="1889"/>
              </a:spcBef>
            </a:pPr>
            <a:r>
              <a:rPr lang="pl-PL" sz="1350" b="1">
                <a:solidFill>
                  <a:schemeClr val="tx1"/>
                </a:solidFill>
                <a:latin typeface="Arial"/>
                <a:cs typeface="Arial"/>
              </a:rPr>
              <a:t>Dlaczego ręcznie pisane migracje zamiast </a:t>
            </a:r>
            <a:r>
              <a:rPr lang="pl-PL" sz="1350" b="1">
                <a:solidFill>
                  <a:schemeClr val="tx1"/>
                </a:solidFill>
                <a:latin typeface="Courier New"/>
                <a:cs typeface="Courier New"/>
              </a:rPr>
              <a:t>dotnet-ef migrations add</a:t>
            </a:r>
            <a:r>
              <a:rPr lang="pl-PL" sz="1350" b="1">
                <a:solidFill>
                  <a:schemeClr val="tx1"/>
                </a:solidFill>
                <a:latin typeface="Arial"/>
                <a:cs typeface="Arial"/>
              </a:rPr>
              <a:t>?</a:t>
            </a:r>
            <a:br>
              <a:rPr lang="pl-PL" sz="1350" b="1">
                <a:latin typeface="Arial"/>
                <a:cs typeface="Arial"/>
              </a:rPr>
            </a:br>
            <a:r>
              <a:rPr lang="pl-PL" sz="1350">
                <a:solidFill>
                  <a:schemeClr val="tx1"/>
                </a:solidFill>
                <a:latin typeface="Arial"/>
                <a:cs typeface="Arial"/>
              </a:rPr>
              <a:t>Ręcznie pisane skrypty SQL z </a:t>
            </a:r>
            <a:r>
              <a:rPr lang="pl-PL" sz="1350">
                <a:solidFill>
                  <a:schemeClr val="tx1"/>
                </a:solidFill>
                <a:latin typeface="Courier New"/>
                <a:cs typeface="Courier New"/>
              </a:rPr>
              <a:t>IF NOT EXISTS</a:t>
            </a:r>
            <a:r>
              <a:rPr lang="pl-PL" sz="1350">
                <a:solidFill>
                  <a:schemeClr val="tx1"/>
                </a:solidFill>
                <a:latin typeface="Arial"/>
                <a:cs typeface="Arial"/>
              </a:rPr>
              <a:t> są idempotentne — można je uruchamiać wielokrotnie bez ryzyka błędu. Dają pełną kontrolę nad DDL (np. tworzenie indeksów GIN dla </a:t>
            </a:r>
            <a:r>
              <a:rPr lang="pl-PL" sz="1350">
                <a:solidFill>
                  <a:schemeClr val="tx1"/>
                </a:solidFill>
                <a:latin typeface="Courier New"/>
                <a:cs typeface="Courier New"/>
              </a:rPr>
              <a:t>pg_trgm</a:t>
            </a:r>
            <a:r>
              <a:rPr lang="pl-PL" sz="1350">
                <a:solidFill>
                  <a:schemeClr val="tx1"/>
                </a:solidFill>
                <a:latin typeface="Arial"/>
                <a:cs typeface="Arial"/>
              </a:rPr>
              <a:t>, indeksów częściowych). Automatycznie generowane migracje EF Core tworzą snapshoty modelu, które mogą divergować od rzeczywistego schematu przy zmianach w wielu gałęziach jednocześnie.</a:t>
            </a:r>
            <a:endParaRPr lang="pl-PL" sz="1350">
              <a:solidFill>
                <a:schemeClr val="tx1"/>
              </a:solidFill>
              <a:latin typeface="Liberation Sans"/>
              <a:cs typeface="Arial"/>
            </a:endParaRPr>
          </a:p>
          <a:p>
            <a:pPr algn="l">
              <a:spcBef>
                <a:spcPts val="1889"/>
              </a:spcBef>
            </a:pPr>
            <a:endParaRPr lang="pl-PL" sz="1350">
              <a:solidFill>
                <a:schemeClr val="tx1"/>
              </a:solidFill>
              <a:latin typeface="Arial"/>
              <a:cs typeface="Arial"/>
            </a:endParaRPr>
          </a:p>
        </p:txBody>
      </p:sp>
    </p:spTree>
    <p:extLst>
      <p:ext uri="{BB962C8B-B14F-4D97-AF65-F5344CB8AC3E}">
        <p14:creationId xmlns:p14="http://schemas.microsoft.com/office/powerpoint/2010/main" val="202695843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0B930-6CB0-14D2-F241-7DC8A65AB4C9}"/>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E548076D-9285-97DA-B72F-19D30C127C6F}"/>
              </a:ext>
            </a:extLst>
          </p:cNvPr>
          <p:cNvSpPr txBox="1">
            <a:spLocks noGrp="1"/>
          </p:cNvSpPr>
          <p:nvPr>
            <p:ph type="title" idx="4294967295"/>
          </p:nvPr>
        </p:nvSpPr>
        <p:spPr>
          <a:xfrm>
            <a:off x="503998" y="301322"/>
            <a:ext cx="9071643" cy="999387"/>
          </a:xfrm>
        </p:spPr>
        <p:txBody>
          <a:bodyPr/>
          <a:lstStyle/>
          <a:p>
            <a:r>
              <a:rPr lang="pl-PL" sz="5850">
                <a:latin typeface="Arial"/>
                <a:cs typeface="Arial"/>
              </a:rPr>
              <a:t>Model danych (1⁄5)</a:t>
            </a:r>
            <a:endParaRPr lang="pl-PL" sz="5850"/>
          </a:p>
        </p:txBody>
      </p:sp>
      <p:sp>
        <p:nvSpPr>
          <p:cNvPr id="3" name="Symbol zastępczy tekstu 2">
            <a:extLst>
              <a:ext uri="{FF2B5EF4-FFF2-40B4-BE49-F238E27FC236}">
                <a16:creationId xmlns:a16="http://schemas.microsoft.com/office/drawing/2014/main" id="{EF2F71A7-F5A2-9A0B-B910-A5A9297A6257}"/>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200">
                <a:solidFill>
                  <a:schemeClr val="tx1"/>
                </a:solidFill>
                <a:latin typeface="Arial"/>
                <a:cs typeface="Arial"/>
              </a:rPr>
              <a:t>Główne tabele i relacje</a:t>
            </a:r>
            <a:endParaRPr lang="pl-PL" sz="2200">
              <a:solidFill>
                <a:schemeClr val="tx1"/>
              </a:solidFill>
            </a:endParaRPr>
          </a:p>
          <a:p>
            <a:pPr algn="l">
              <a:spcBef>
                <a:spcPts val="1889"/>
              </a:spcBef>
            </a:pPr>
            <a:r>
              <a:rPr lang="pl-PL" sz="2200">
                <a:solidFill>
                  <a:schemeClr val="tx1"/>
                </a:solidFill>
                <a:latin typeface="Arial"/>
                <a:cs typeface="Arial"/>
              </a:rPr>
              <a:t>System korzysta z </a:t>
            </a:r>
            <a:r>
              <a:rPr lang="pl-PL" sz="2200" b="1">
                <a:solidFill>
                  <a:schemeClr val="tx1"/>
                </a:solidFill>
                <a:latin typeface="Arial"/>
                <a:cs typeface="Arial"/>
              </a:rPr>
              <a:t>27 tabel</a:t>
            </a:r>
            <a:r>
              <a:rPr lang="pl-PL" sz="2200">
                <a:solidFill>
                  <a:schemeClr val="tx1"/>
                </a:solidFill>
                <a:latin typeface="Arial"/>
                <a:cs typeface="Arial"/>
              </a:rPr>
              <a:t> w PostgreSQL.</a:t>
            </a:r>
          </a:p>
          <a:p>
            <a:pPr algn="l">
              <a:spcBef>
                <a:spcPts val="1889"/>
              </a:spcBef>
            </a:pPr>
            <a:r>
              <a:rPr lang="pl-PL" sz="2200" b="1">
                <a:solidFill>
                  <a:schemeClr val="tx1"/>
                </a:solidFill>
                <a:latin typeface="Arial"/>
                <a:cs typeface="Arial"/>
              </a:rPr>
              <a:t>Rdzeń użytkownika:</a:t>
            </a:r>
            <a:endParaRPr lang="pl-PL" sz="2200">
              <a:solidFill>
                <a:schemeClr val="tx1"/>
              </a:solidFill>
            </a:endParaRPr>
          </a:p>
          <a:p>
            <a:pPr marL="285750" indent="-285750" algn="l">
              <a:spcBef>
                <a:spcPts val="1889"/>
              </a:spcBef>
              <a:buFont typeface="Arial"/>
              <a:buChar char="•"/>
            </a:pPr>
            <a:r>
              <a:rPr lang="pl-PL" sz="2200" b="1">
                <a:solidFill>
                  <a:schemeClr val="tx1"/>
                </a:solidFill>
                <a:latin typeface="Courier New"/>
                <a:cs typeface="Courier New"/>
              </a:rPr>
              <a:t>Users</a:t>
            </a:r>
            <a:r>
              <a:rPr lang="pl-PL" sz="2200">
                <a:solidFill>
                  <a:schemeClr val="tx1"/>
                </a:solidFill>
                <a:latin typeface="Arial"/>
                <a:cs typeface="Arial"/>
              </a:rPr>
              <a:t> — dane profilowe (login, email, imię, nazwisko, adres, współrzędne GPS, flagi: </a:t>
            </a:r>
            <a:r>
              <a:rPr lang="pl-PL" sz="2200">
                <a:solidFill>
                  <a:schemeClr val="tx1"/>
                </a:solidFill>
                <a:latin typeface="Courier New"/>
                <a:cs typeface="Courier New"/>
              </a:rPr>
              <a:t>IsAdmin</a:t>
            </a:r>
            <a:r>
              <a:rPr lang="pl-PL" sz="2200">
                <a:solidFill>
                  <a:schemeClr val="tx1"/>
                </a:solidFill>
                <a:latin typeface="Arial"/>
                <a:cs typeface="Arial"/>
              </a:rPr>
              <a:t>, </a:t>
            </a:r>
            <a:r>
              <a:rPr lang="pl-PL" sz="2200">
                <a:solidFill>
                  <a:schemeClr val="tx1"/>
                </a:solidFill>
                <a:latin typeface="Courier New"/>
                <a:cs typeface="Courier New"/>
              </a:rPr>
              <a:t>IsBanned</a:t>
            </a:r>
            <a:r>
              <a:rPr lang="pl-PL" sz="2200">
                <a:solidFill>
                  <a:schemeClr val="tx1"/>
                </a:solidFill>
                <a:latin typeface="Arial"/>
                <a:cs typeface="Arial"/>
              </a:rPr>
              <a:t>, </a:t>
            </a:r>
            <a:r>
              <a:rPr lang="pl-PL" sz="2200">
                <a:solidFill>
                  <a:schemeClr val="tx1"/>
                </a:solidFill>
                <a:latin typeface="Courier New"/>
                <a:cs typeface="Courier New"/>
              </a:rPr>
              <a:t>IsDeleted</a:t>
            </a:r>
            <a:r>
              <a:rPr lang="pl-PL" sz="2200">
                <a:solidFill>
                  <a:schemeClr val="tx1"/>
                </a:solidFill>
                <a:latin typeface="Arial"/>
                <a:cs typeface="Arial"/>
              </a:rPr>
              <a:t>)</a:t>
            </a:r>
          </a:p>
          <a:p>
            <a:pPr marL="285750" indent="-285750" algn="l">
              <a:spcBef>
                <a:spcPts val="1889"/>
              </a:spcBef>
              <a:buFont typeface="Arial"/>
              <a:buChar char="•"/>
            </a:pPr>
            <a:r>
              <a:rPr lang="pl-PL" sz="2200" b="1">
                <a:solidFill>
                  <a:schemeClr val="tx1"/>
                </a:solidFill>
                <a:latin typeface="Courier New"/>
                <a:cs typeface="Courier New"/>
              </a:rPr>
              <a:t>UserAuths</a:t>
            </a:r>
            <a:r>
              <a:rPr lang="pl-PL" sz="2200">
                <a:solidFill>
                  <a:schemeClr val="tx1"/>
                </a:solidFill>
                <a:latin typeface="Arial"/>
                <a:cs typeface="Arial"/>
              </a:rPr>
              <a:t> — dane uwierzytelniające oddzielone od profilu (hash hasła </a:t>
            </a:r>
            <a:r>
              <a:rPr lang="pl-PL" sz="2200">
                <a:solidFill>
                  <a:schemeClr val="tx1"/>
                </a:solidFill>
                <a:latin typeface="Courier New"/>
                <a:cs typeface="Courier New"/>
              </a:rPr>
              <a:t>bcrypt</a:t>
            </a:r>
            <a:r>
              <a:rPr lang="pl-PL" sz="2200">
                <a:solidFill>
                  <a:schemeClr val="tx1"/>
                </a:solidFill>
                <a:latin typeface="Arial"/>
                <a:cs typeface="Arial"/>
              </a:rPr>
              <a:t>, sól, licznik nieudanych logowań </a:t>
            </a:r>
            <a:r>
              <a:rPr lang="pl-PL" sz="2200">
                <a:solidFill>
                  <a:schemeClr val="tx1"/>
                </a:solidFill>
                <a:latin typeface="Courier New"/>
                <a:cs typeface="Courier New"/>
              </a:rPr>
              <a:t>FailedAttempts</a:t>
            </a:r>
            <a:r>
              <a:rPr lang="pl-PL" sz="2200">
                <a:solidFill>
                  <a:schemeClr val="tx1"/>
                </a:solidFill>
                <a:latin typeface="Arial"/>
                <a:cs typeface="Arial"/>
              </a:rPr>
              <a:t>, </a:t>
            </a:r>
            <a:r>
              <a:rPr lang="pl-PL" sz="2200">
                <a:solidFill>
                  <a:schemeClr val="tx1"/>
                </a:solidFill>
                <a:latin typeface="Courier New"/>
                <a:cs typeface="Courier New"/>
              </a:rPr>
              <a:t>LockedUntil</a:t>
            </a:r>
            <a:r>
              <a:rPr lang="pl-PL" sz="2200">
                <a:solidFill>
                  <a:schemeClr val="tx1"/>
                </a:solidFill>
                <a:latin typeface="Arial"/>
                <a:cs typeface="Arial"/>
              </a:rPr>
              <a:t>, token weryfikacji e-mail)</a:t>
            </a:r>
          </a:p>
          <a:p>
            <a:pPr marL="285750" indent="-285750" algn="l">
              <a:spcBef>
                <a:spcPts val="1889"/>
              </a:spcBef>
              <a:buFont typeface="Arial"/>
              <a:buChar char="•"/>
            </a:pPr>
            <a:r>
              <a:rPr lang="pl-PL" sz="2200" b="1">
                <a:solidFill>
                  <a:schemeClr val="tx1"/>
                </a:solidFill>
                <a:latin typeface="Courier New"/>
                <a:cs typeface="Courier New"/>
              </a:rPr>
              <a:t>UserProfiles</a:t>
            </a:r>
            <a:r>
              <a:rPr lang="pl-PL" sz="2200">
                <a:solidFill>
                  <a:schemeClr val="tx1"/>
                </a:solidFill>
                <a:latin typeface="Arial"/>
                <a:cs typeface="Arial"/>
              </a:rPr>
              <a:t> — rozszerzony profil publiczny powiązany 1:1 z </a:t>
            </a:r>
            <a:r>
              <a:rPr lang="pl-PL" sz="2200">
                <a:solidFill>
                  <a:schemeClr val="tx1"/>
                </a:solidFill>
                <a:latin typeface="Courier New"/>
                <a:cs typeface="Courier New"/>
              </a:rPr>
              <a:t>Users</a:t>
            </a:r>
            <a:endParaRPr lang="pl-PL" sz="2200">
              <a:solidFill>
                <a:schemeClr val="tx1"/>
              </a:solidFill>
            </a:endParaRPr>
          </a:p>
          <a:p>
            <a:pPr marL="285750" indent="-285750" algn="l">
              <a:spcBef>
                <a:spcPts val="1889"/>
              </a:spcBef>
              <a:buFont typeface="Arial"/>
              <a:buChar char="•"/>
            </a:pPr>
            <a:r>
              <a:rPr lang="pl-PL" sz="2200" b="1">
                <a:solidFill>
                  <a:schemeClr val="tx1"/>
                </a:solidFill>
                <a:latin typeface="Courier New"/>
                <a:cs typeface="Courier New"/>
              </a:rPr>
              <a:t>SellerCards</a:t>
            </a:r>
            <a:r>
              <a:rPr lang="pl-PL" sz="2200">
                <a:solidFill>
                  <a:schemeClr val="tx1"/>
                </a:solidFill>
                <a:latin typeface="Arial"/>
                <a:cs typeface="Arial"/>
              </a:rPr>
              <a:t> — token karty płatniczej (PayU), zamaskowany numer, marka, data ważności; powiązana 1:1 z </a:t>
            </a:r>
            <a:r>
              <a:rPr lang="pl-PL" sz="2200">
                <a:solidFill>
                  <a:schemeClr val="tx1"/>
                </a:solidFill>
                <a:latin typeface="Courier New"/>
                <a:cs typeface="Courier New"/>
              </a:rPr>
              <a:t>Users</a:t>
            </a:r>
            <a:endParaRPr lang="pl-PL" sz="2200">
              <a:solidFill>
                <a:schemeClr val="tx1"/>
              </a:solidFill>
            </a:endParaRPr>
          </a:p>
          <a:p>
            <a:pPr algn="l">
              <a:spcBef>
                <a:spcPts val="1889"/>
              </a:spcBef>
            </a:pPr>
            <a:endParaRPr lang="pl-PL" sz="2200" b="1">
              <a:solidFill>
                <a:schemeClr val="tx1"/>
              </a:solidFill>
              <a:latin typeface="Arial"/>
              <a:cs typeface="Arial"/>
            </a:endParaRPr>
          </a:p>
        </p:txBody>
      </p:sp>
    </p:spTree>
    <p:extLst>
      <p:ext uri="{BB962C8B-B14F-4D97-AF65-F5344CB8AC3E}">
        <p14:creationId xmlns:p14="http://schemas.microsoft.com/office/powerpoint/2010/main" val="396958398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0B966-3202-D2F3-FBBE-DCDE3609CC8A}"/>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E1EC32F7-A4D4-A1C1-F258-B4DDD821EFB5}"/>
              </a:ext>
            </a:extLst>
          </p:cNvPr>
          <p:cNvSpPr txBox="1">
            <a:spLocks noGrp="1"/>
          </p:cNvSpPr>
          <p:nvPr>
            <p:ph type="title" idx="4294967295"/>
          </p:nvPr>
        </p:nvSpPr>
        <p:spPr>
          <a:xfrm>
            <a:off x="503998" y="301322"/>
            <a:ext cx="9071643" cy="999387"/>
          </a:xfrm>
        </p:spPr>
        <p:txBody>
          <a:bodyPr/>
          <a:lstStyle/>
          <a:p>
            <a:r>
              <a:rPr lang="pl-PL" sz="5850">
                <a:latin typeface="Arial"/>
                <a:cs typeface="Arial"/>
              </a:rPr>
              <a:t>Model danych (2⁄5)</a:t>
            </a:r>
            <a:endParaRPr lang="pl-PL" sz="5850"/>
          </a:p>
        </p:txBody>
      </p:sp>
      <p:sp>
        <p:nvSpPr>
          <p:cNvPr id="3" name="Symbol zastępczy tekstu 2">
            <a:extLst>
              <a:ext uri="{FF2B5EF4-FFF2-40B4-BE49-F238E27FC236}">
                <a16:creationId xmlns:a16="http://schemas.microsoft.com/office/drawing/2014/main" id="{366E56B5-E4C6-3EB7-F5E1-E6F159592D2D}"/>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200" b="1">
                <a:solidFill>
                  <a:schemeClr val="tx1"/>
                </a:solidFill>
                <a:latin typeface="Arial"/>
                <a:cs typeface="Arial"/>
              </a:rPr>
              <a:t>Ogłoszenia:</a:t>
            </a:r>
            <a:endParaRPr lang="pl-PL" sz="2200">
              <a:solidFill>
                <a:schemeClr val="tx1"/>
              </a:solidFill>
            </a:endParaRPr>
          </a:p>
          <a:p>
            <a:pPr algn="l">
              <a:spcBef>
                <a:spcPts val="1889"/>
              </a:spcBef>
            </a:pPr>
            <a:r>
              <a:rPr lang="pl-PL" sz="2200" b="1">
                <a:solidFill>
                  <a:schemeClr val="tx1"/>
                </a:solidFill>
                <a:latin typeface="Courier New"/>
                <a:cs typeface="Courier New"/>
              </a:rPr>
              <a:t>•Listings</a:t>
            </a:r>
            <a:r>
              <a:rPr lang="pl-PL" sz="2200">
                <a:solidFill>
                  <a:schemeClr val="tx1"/>
                </a:solidFill>
                <a:latin typeface="Arial"/>
                <a:cs typeface="Arial"/>
              </a:rPr>
              <a:t> — centralna tabela platformy; pola: </a:t>
            </a:r>
            <a:r>
              <a:rPr lang="pl-PL" sz="2200">
                <a:solidFill>
                  <a:schemeClr val="tx1"/>
                </a:solidFill>
                <a:latin typeface="Courier New"/>
                <a:cs typeface="Courier New"/>
              </a:rPr>
              <a:t>Title</a:t>
            </a:r>
            <a:r>
              <a:rPr lang="pl-PL" sz="2200">
                <a:solidFill>
                  <a:schemeClr val="tx1"/>
                </a:solidFill>
                <a:latin typeface="Arial"/>
                <a:cs typeface="Arial"/>
              </a:rPr>
              <a:t>, </a:t>
            </a:r>
            <a:r>
              <a:rPr lang="pl-PL" sz="2200">
                <a:solidFill>
                  <a:schemeClr val="tx1"/>
                </a:solidFill>
                <a:latin typeface="Courier New"/>
                <a:cs typeface="Courier New"/>
              </a:rPr>
              <a:t>Description</a:t>
            </a:r>
            <a:r>
              <a:rPr lang="pl-PL" sz="2200">
                <a:solidFill>
                  <a:schemeClr val="tx1"/>
                </a:solidFill>
                <a:latin typeface="Arial"/>
                <a:cs typeface="Arial"/>
              </a:rPr>
              <a:t>, </a:t>
            </a:r>
            <a:r>
              <a:rPr lang="pl-PL" sz="2200">
                <a:solidFill>
                  <a:schemeClr val="tx1"/>
                </a:solidFill>
                <a:latin typeface="Courier New"/>
                <a:cs typeface="Courier New"/>
              </a:rPr>
              <a:t>Type</a:t>
            </a:r>
            <a:r>
              <a:rPr lang="pl-PL" sz="2200">
                <a:solidFill>
                  <a:schemeClr val="tx1"/>
                </a:solidFill>
                <a:latin typeface="Arial"/>
                <a:cs typeface="Arial"/>
              </a:rPr>
              <a:t> (enum: </a:t>
            </a:r>
            <a:r>
              <a:rPr lang="pl-PL" sz="2200">
                <a:solidFill>
                  <a:schemeClr val="tx1"/>
                </a:solidFill>
                <a:latin typeface="Courier New"/>
                <a:cs typeface="Courier New"/>
              </a:rPr>
              <a:t>Sale</a:t>
            </a:r>
            <a:r>
              <a:rPr lang="pl-PL" sz="2200">
                <a:solidFill>
                  <a:schemeClr val="tx1"/>
                </a:solidFill>
                <a:latin typeface="Arial"/>
                <a:cs typeface="Arial"/>
              </a:rPr>
              <a:t>/</a:t>
            </a:r>
            <a:r>
              <a:rPr lang="pl-PL" sz="2200">
                <a:solidFill>
                  <a:schemeClr val="tx1"/>
                </a:solidFill>
                <a:latin typeface="Courier New"/>
                <a:cs typeface="Courier New"/>
              </a:rPr>
              <a:t>Trade</a:t>
            </a:r>
            <a:r>
              <a:rPr lang="pl-PL" sz="2200">
                <a:solidFill>
                  <a:schemeClr val="tx1"/>
                </a:solidFill>
                <a:latin typeface="Arial"/>
                <a:cs typeface="Arial"/>
              </a:rPr>
              <a:t>), </a:t>
            </a:r>
            <a:r>
              <a:rPr lang="pl-PL" sz="2200">
                <a:solidFill>
                  <a:schemeClr val="tx1"/>
                </a:solidFill>
                <a:latin typeface="Courier New"/>
                <a:cs typeface="Courier New"/>
              </a:rPr>
              <a:t>Price</a:t>
            </a:r>
            <a:r>
              <a:rPr lang="pl-PL" sz="2200">
                <a:solidFill>
                  <a:schemeClr val="tx1"/>
                </a:solidFill>
                <a:latin typeface="Arial"/>
                <a:cs typeface="Arial"/>
              </a:rPr>
              <a:t>, </a:t>
            </a:r>
            <a:r>
              <a:rPr lang="pl-PL" sz="2200">
                <a:solidFill>
                  <a:schemeClr val="tx1"/>
                </a:solidFill>
                <a:latin typeface="Courier New"/>
                <a:cs typeface="Courier New"/>
              </a:rPr>
              <a:t>StockQuantity</a:t>
            </a:r>
            <a:r>
              <a:rPr lang="pl-PL" sz="2200">
                <a:solidFill>
                  <a:schemeClr val="tx1"/>
                </a:solidFill>
                <a:latin typeface="Arial"/>
                <a:cs typeface="Arial"/>
              </a:rPr>
              <a:t>, </a:t>
            </a:r>
            <a:r>
              <a:rPr lang="pl-PL" sz="2200">
                <a:solidFill>
                  <a:schemeClr val="tx1"/>
                </a:solidFill>
                <a:latin typeface="Courier New"/>
                <a:cs typeface="Courier New"/>
              </a:rPr>
              <a:t>Location</a:t>
            </a:r>
            <a:r>
              <a:rPr lang="pl-PL" sz="2200">
                <a:solidFill>
                  <a:schemeClr val="tx1"/>
                </a:solidFill>
                <a:latin typeface="Arial"/>
                <a:cs typeface="Arial"/>
              </a:rPr>
              <a:t>, </a:t>
            </a:r>
            <a:r>
              <a:rPr lang="pl-PL" sz="2200">
                <a:solidFill>
                  <a:schemeClr val="tx1"/>
                </a:solidFill>
                <a:latin typeface="Courier New"/>
                <a:cs typeface="Courier New"/>
              </a:rPr>
              <a:t>ViewCount</a:t>
            </a:r>
            <a:r>
              <a:rPr lang="pl-PL" sz="2200">
                <a:solidFill>
                  <a:schemeClr val="tx1"/>
                </a:solidFill>
                <a:latin typeface="Arial"/>
                <a:cs typeface="Arial"/>
              </a:rPr>
              <a:t>, flagi </a:t>
            </a:r>
            <a:r>
              <a:rPr lang="pl-PL" sz="2200">
                <a:solidFill>
                  <a:schemeClr val="tx1"/>
                </a:solidFill>
                <a:latin typeface="Courier New"/>
                <a:cs typeface="Courier New"/>
              </a:rPr>
              <a:t>IsFeatured</a:t>
            </a:r>
            <a:r>
              <a:rPr lang="pl-PL" sz="2200">
                <a:solidFill>
                  <a:schemeClr val="tx1"/>
                </a:solidFill>
                <a:latin typeface="Arial"/>
                <a:cs typeface="Arial"/>
              </a:rPr>
              <a:t>, </a:t>
            </a:r>
            <a:r>
              <a:rPr lang="pl-PL" sz="2200">
                <a:solidFill>
                  <a:schemeClr val="tx1"/>
                </a:solidFill>
                <a:latin typeface="Courier New"/>
                <a:cs typeface="Courier New"/>
              </a:rPr>
              <a:t>IsSold</a:t>
            </a:r>
            <a:r>
              <a:rPr lang="pl-PL" sz="2200">
                <a:solidFill>
                  <a:schemeClr val="tx1"/>
                </a:solidFill>
                <a:latin typeface="Arial"/>
                <a:cs typeface="Arial"/>
              </a:rPr>
              <a:t>, </a:t>
            </a:r>
            <a:r>
              <a:rPr lang="pl-PL" sz="2200">
                <a:solidFill>
                  <a:schemeClr val="tx1"/>
                </a:solidFill>
                <a:latin typeface="Courier New"/>
                <a:cs typeface="Courier New"/>
              </a:rPr>
              <a:t>IsArchived</a:t>
            </a:r>
            <a:r>
              <a:rPr lang="pl-PL" sz="2200">
                <a:solidFill>
                  <a:schemeClr val="tx1"/>
                </a:solidFill>
                <a:latin typeface="Arial"/>
                <a:cs typeface="Arial"/>
              </a:rPr>
              <a:t>, </a:t>
            </a:r>
            <a:r>
              <a:rPr lang="pl-PL" sz="2200">
                <a:solidFill>
                  <a:schemeClr val="tx1"/>
                </a:solidFill>
                <a:latin typeface="Courier New"/>
                <a:cs typeface="Courier New"/>
              </a:rPr>
              <a:t>IsPrivate</a:t>
            </a:r>
            <a:r>
              <a:rPr lang="pl-PL" sz="2200">
                <a:solidFill>
                  <a:schemeClr val="tx1"/>
                </a:solidFill>
                <a:latin typeface="Arial"/>
                <a:cs typeface="Arial"/>
              </a:rPr>
              <a:t>, </a:t>
            </a:r>
            <a:r>
              <a:rPr lang="pl-PL" sz="2200">
                <a:solidFill>
                  <a:schemeClr val="tx1"/>
                </a:solidFill>
                <a:latin typeface="Courier New"/>
                <a:cs typeface="Courier New"/>
              </a:rPr>
              <a:t>NotExchangeable</a:t>
            </a:r>
            <a:r>
              <a:rPr lang="pl-PL" sz="2200">
                <a:solidFill>
                  <a:schemeClr val="tx1"/>
                </a:solidFill>
                <a:latin typeface="Arial"/>
                <a:cs typeface="Arial"/>
              </a:rPr>
              <a:t>, </a:t>
            </a:r>
            <a:r>
              <a:rPr lang="pl-PL" sz="2200">
                <a:solidFill>
                  <a:schemeClr val="tx1"/>
                </a:solidFill>
                <a:latin typeface="Courier New"/>
                <a:cs typeface="Courier New"/>
              </a:rPr>
              <a:t>MinExchangeValue</a:t>
            </a:r>
            <a:r>
              <a:rPr lang="pl-PL" sz="2200">
                <a:solidFill>
                  <a:schemeClr val="tx1"/>
                </a:solidFill>
                <a:latin typeface="Arial"/>
                <a:cs typeface="Arial"/>
              </a:rPr>
              <a:t>, </a:t>
            </a:r>
            <a:r>
              <a:rPr lang="pl-PL" sz="2200">
                <a:solidFill>
                  <a:schemeClr val="tx1"/>
                </a:solidFill>
                <a:latin typeface="Courier New"/>
                <a:cs typeface="Courier New"/>
              </a:rPr>
              <a:t>ExchangeDescription</a:t>
            </a:r>
            <a:br>
              <a:rPr lang="pl-PL" sz="2200">
                <a:latin typeface="Courier New"/>
                <a:cs typeface="Courier New"/>
              </a:rPr>
            </a:br>
            <a:r>
              <a:rPr lang="pl-PL" sz="2200" b="1">
                <a:solidFill>
                  <a:schemeClr val="tx1"/>
                </a:solidFill>
                <a:latin typeface="Courier New"/>
                <a:cs typeface="Courier New"/>
              </a:rPr>
              <a:t>•ListingPhotos</a:t>
            </a:r>
            <a:r>
              <a:rPr lang="pl-PL" sz="2200">
                <a:solidFill>
                  <a:schemeClr val="tx1"/>
                </a:solidFill>
                <a:latin typeface="Arial"/>
                <a:cs typeface="Arial"/>
              </a:rPr>
              <a:t> — tabela łącząca </a:t>
            </a:r>
            <a:r>
              <a:rPr lang="pl-PL" sz="2200">
                <a:solidFill>
                  <a:schemeClr val="tx1"/>
                </a:solidFill>
                <a:latin typeface="Courier New"/>
                <a:cs typeface="Courier New"/>
              </a:rPr>
              <a:t>Listings</a:t>
            </a:r>
            <a:r>
              <a:rPr lang="pl-PL" sz="2200">
                <a:solidFill>
                  <a:schemeClr val="tx1"/>
                </a:solidFill>
                <a:latin typeface="Arial"/>
                <a:cs typeface="Arial"/>
              </a:rPr>
              <a:t> ↔ </a:t>
            </a:r>
            <a:r>
              <a:rPr lang="pl-PL" sz="2200">
                <a:solidFill>
                  <a:schemeClr val="tx1"/>
                </a:solidFill>
                <a:latin typeface="Courier New"/>
                <a:cs typeface="Courier New"/>
              </a:rPr>
              <a:t>Uploads</a:t>
            </a:r>
            <a:r>
              <a:rPr lang="pl-PL" sz="2200">
                <a:solidFill>
                  <a:schemeClr val="tx1"/>
                </a:solidFill>
                <a:latin typeface="Arial"/>
                <a:cs typeface="Arial"/>
              </a:rPr>
              <a:t> (z flagą </a:t>
            </a:r>
            <a:r>
              <a:rPr lang="pl-PL" sz="2200">
                <a:solidFill>
                  <a:schemeClr val="tx1"/>
                </a:solidFill>
                <a:latin typeface="Courier New"/>
                <a:cs typeface="Courier New"/>
              </a:rPr>
              <a:t>IsFeatured</a:t>
            </a:r>
            <a:r>
              <a:rPr lang="pl-PL" sz="2200">
                <a:solidFill>
                  <a:schemeClr val="tx1"/>
                </a:solidFill>
                <a:latin typeface="Arial"/>
                <a:cs typeface="Arial"/>
              </a:rPr>
              <a:t> dla zdjęcia głównego)</a:t>
            </a:r>
            <a:br>
              <a:rPr lang="pl-PL" sz="2200">
                <a:latin typeface="Arial"/>
                <a:cs typeface="Arial"/>
              </a:rPr>
            </a:br>
            <a:r>
              <a:rPr lang="pl-PL" sz="2200" b="1">
                <a:solidFill>
                  <a:schemeClr val="tx1"/>
                </a:solidFill>
                <a:latin typeface="Courier New"/>
                <a:cs typeface="Courier New"/>
              </a:rPr>
              <a:t>•ListingTags</a:t>
            </a:r>
            <a:r>
              <a:rPr lang="pl-PL" sz="2200">
                <a:solidFill>
                  <a:schemeClr val="tx1"/>
                </a:solidFill>
                <a:latin typeface="Arial"/>
                <a:cs typeface="Arial"/>
              </a:rPr>
              <a:t> — tabela łącząca </a:t>
            </a:r>
            <a:r>
              <a:rPr lang="pl-PL" sz="2200">
                <a:solidFill>
                  <a:schemeClr val="tx1"/>
                </a:solidFill>
                <a:latin typeface="Courier New"/>
                <a:cs typeface="Courier New"/>
              </a:rPr>
              <a:t>Listings</a:t>
            </a:r>
            <a:r>
              <a:rPr lang="pl-PL" sz="2200">
                <a:solidFill>
                  <a:schemeClr val="tx1"/>
                </a:solidFill>
                <a:latin typeface="Arial"/>
                <a:cs typeface="Arial"/>
              </a:rPr>
              <a:t> ↔ </a:t>
            </a:r>
            <a:r>
              <a:rPr lang="pl-PL" sz="2200">
                <a:solidFill>
                  <a:schemeClr val="tx1"/>
                </a:solidFill>
                <a:latin typeface="Courier New"/>
                <a:cs typeface="Courier New"/>
              </a:rPr>
              <a:t>Tags</a:t>
            </a:r>
            <a:r>
              <a:rPr lang="pl-PL" sz="2200">
                <a:solidFill>
                  <a:schemeClr val="tx1"/>
                </a:solidFill>
                <a:latin typeface="Arial"/>
                <a:cs typeface="Arial"/>
              </a:rPr>
              <a:t> (M:N)</a:t>
            </a:r>
            <a:br>
              <a:rPr lang="pl-PL" sz="2200">
                <a:latin typeface="Arial"/>
                <a:cs typeface="Arial"/>
              </a:rPr>
            </a:br>
            <a:r>
              <a:rPr lang="pl-PL" sz="2200" b="1">
                <a:solidFill>
                  <a:schemeClr val="tx1"/>
                </a:solidFill>
                <a:latin typeface="Courier New"/>
                <a:cs typeface="Courier New"/>
              </a:rPr>
              <a:t>•ListingExchangeAcceptedTags</a:t>
            </a:r>
            <a:r>
              <a:rPr lang="pl-PL" sz="2200">
                <a:solidFill>
                  <a:schemeClr val="tx1"/>
                </a:solidFill>
                <a:latin typeface="Arial"/>
                <a:cs typeface="Arial"/>
              </a:rPr>
              <a:t> — tagi akceptowane przez sprzedawcę jako oferta wymiany (M:N)</a:t>
            </a:r>
            <a:br>
              <a:rPr lang="pl-PL" sz="2200">
                <a:latin typeface="Arial"/>
                <a:cs typeface="Arial"/>
              </a:rPr>
            </a:br>
            <a:r>
              <a:rPr lang="pl-PL" sz="2200" b="1">
                <a:solidFill>
                  <a:schemeClr val="tx1"/>
                </a:solidFill>
                <a:latin typeface="Courier New"/>
                <a:cs typeface="Courier New"/>
              </a:rPr>
              <a:t>•ListingShippingOptions</a:t>
            </a:r>
            <a:r>
              <a:rPr lang="pl-PL" sz="2200">
                <a:solidFill>
                  <a:schemeClr val="tx1"/>
                </a:solidFill>
                <a:latin typeface="Arial"/>
                <a:cs typeface="Arial"/>
              </a:rPr>
              <a:t> — opcje dostawy do ogłoszenia (nazwa, cena)</a:t>
            </a:r>
            <a:br>
              <a:rPr lang="pl-PL" sz="2200">
                <a:latin typeface="Arial"/>
                <a:cs typeface="Arial"/>
              </a:rPr>
            </a:br>
            <a:r>
              <a:rPr lang="pl-PL" sz="2200" b="1">
                <a:solidFill>
                  <a:schemeClr val="tx1"/>
                </a:solidFill>
                <a:latin typeface="Courier New"/>
                <a:cs typeface="Courier New"/>
              </a:rPr>
              <a:t>•Tags</a:t>
            </a:r>
            <a:r>
              <a:rPr lang="pl-PL" sz="2200">
                <a:solidFill>
                  <a:schemeClr val="tx1"/>
                </a:solidFill>
                <a:latin typeface="Arial"/>
                <a:cs typeface="Arial"/>
              </a:rPr>
              <a:t> — słownik kategorii ogłoszeń (globalne)</a:t>
            </a:r>
            <a:br>
              <a:rPr lang="pl-PL" sz="2200">
                <a:latin typeface="Arial"/>
                <a:cs typeface="Arial"/>
              </a:rPr>
            </a:br>
            <a:r>
              <a:rPr lang="pl-PL" sz="2200" b="1">
                <a:solidFill>
                  <a:schemeClr val="tx1"/>
                </a:solidFill>
                <a:latin typeface="Courier New"/>
                <a:cs typeface="Courier New"/>
              </a:rPr>
              <a:t>•Uploads</a:t>
            </a:r>
            <a:r>
              <a:rPr lang="pl-PL" sz="2200">
                <a:solidFill>
                  <a:schemeClr val="tx1"/>
                </a:solidFill>
                <a:latin typeface="Arial"/>
                <a:cs typeface="Arial"/>
              </a:rPr>
              <a:t> — metadane plików przesłanych przez użytkowników (URL, rozszerzenie, rozmiar, data przesłania)</a:t>
            </a:r>
            <a:endParaRPr lang="pl-PL" sz="2200">
              <a:solidFill>
                <a:schemeClr val="tx1"/>
              </a:solidFill>
            </a:endParaRPr>
          </a:p>
          <a:p>
            <a:pPr algn="l">
              <a:spcBef>
                <a:spcPts val="1889"/>
              </a:spcBef>
            </a:pPr>
            <a:endParaRPr lang="pl-PL" sz="2200">
              <a:solidFill>
                <a:schemeClr val="tx1"/>
              </a:solidFill>
              <a:latin typeface="Arial"/>
              <a:cs typeface="Arial"/>
            </a:endParaRPr>
          </a:p>
        </p:txBody>
      </p:sp>
    </p:spTree>
    <p:extLst>
      <p:ext uri="{BB962C8B-B14F-4D97-AF65-F5344CB8AC3E}">
        <p14:creationId xmlns:p14="http://schemas.microsoft.com/office/powerpoint/2010/main" val="35030657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35B7C-7D2E-2AAB-8DC8-B67AC016894A}"/>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CBFE1FEC-F203-7C4B-0219-46BD5313F5B9}"/>
              </a:ext>
            </a:extLst>
          </p:cNvPr>
          <p:cNvSpPr txBox="1">
            <a:spLocks noGrp="1"/>
          </p:cNvSpPr>
          <p:nvPr>
            <p:ph type="title" idx="4294967295"/>
          </p:nvPr>
        </p:nvSpPr>
        <p:spPr>
          <a:xfrm>
            <a:off x="503998" y="301322"/>
            <a:ext cx="9071643" cy="999387"/>
          </a:xfrm>
        </p:spPr>
        <p:txBody>
          <a:bodyPr/>
          <a:lstStyle/>
          <a:p>
            <a:r>
              <a:rPr lang="pl-PL" sz="5850">
                <a:latin typeface="Arial"/>
                <a:cs typeface="Arial"/>
              </a:rPr>
              <a:t>Model danych (3⁄5)</a:t>
            </a:r>
            <a:endParaRPr lang="pl-PL" sz="5850"/>
          </a:p>
        </p:txBody>
      </p:sp>
      <p:sp>
        <p:nvSpPr>
          <p:cNvPr id="3" name="Symbol zastępczy tekstu 2">
            <a:extLst>
              <a:ext uri="{FF2B5EF4-FFF2-40B4-BE49-F238E27FC236}">
                <a16:creationId xmlns:a16="http://schemas.microsoft.com/office/drawing/2014/main" id="{6FCCB480-A415-6641-D499-901C0867F1BB}"/>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950" b="1">
                <a:solidFill>
                  <a:schemeClr val="tx1"/>
                </a:solidFill>
                <a:latin typeface="Arial"/>
                <a:cs typeface="Arial"/>
              </a:rPr>
              <a:t>Transakcje:</a:t>
            </a:r>
            <a:endParaRPr lang="pl-PL" sz="1950">
              <a:solidFill>
                <a:schemeClr val="tx1"/>
              </a:solidFill>
            </a:endParaRPr>
          </a:p>
          <a:p>
            <a:pPr algn="l">
              <a:spcBef>
                <a:spcPts val="1889"/>
              </a:spcBef>
            </a:pPr>
            <a:r>
              <a:rPr lang="pl-PL" sz="1950" b="1">
                <a:solidFill>
                  <a:schemeClr val="tx1"/>
                </a:solidFill>
                <a:latin typeface="Courier New"/>
                <a:cs typeface="Courier New"/>
              </a:rPr>
              <a:t>•Orders</a:t>
            </a:r>
            <a:r>
              <a:rPr lang="pl-PL" sz="1950">
                <a:solidFill>
                  <a:schemeClr val="tx1"/>
                </a:solidFill>
                <a:latin typeface="Arial"/>
                <a:cs typeface="Arial"/>
              </a:rPr>
              <a:t> — zamówienia sprzedaży; pola: </a:t>
            </a:r>
            <a:r>
              <a:rPr lang="pl-PL" sz="1950">
                <a:solidFill>
                  <a:schemeClr val="tx1"/>
                </a:solidFill>
                <a:latin typeface="Courier New"/>
                <a:cs typeface="Courier New"/>
              </a:rPr>
              <a:t>ListingId</a:t>
            </a:r>
            <a:r>
              <a:rPr lang="pl-PL" sz="1950">
                <a:solidFill>
                  <a:schemeClr val="tx1"/>
                </a:solidFill>
                <a:latin typeface="Arial"/>
                <a:cs typeface="Arial"/>
              </a:rPr>
              <a:t>, </a:t>
            </a:r>
            <a:r>
              <a:rPr lang="pl-PL" sz="1950">
                <a:solidFill>
                  <a:schemeClr val="tx1"/>
                </a:solidFill>
                <a:latin typeface="Courier New"/>
                <a:cs typeface="Courier New"/>
              </a:rPr>
              <a:t>BuyerId</a:t>
            </a:r>
            <a:r>
              <a:rPr lang="pl-PL" sz="1950">
                <a:solidFill>
                  <a:schemeClr val="tx1"/>
                </a:solidFill>
                <a:latin typeface="Arial"/>
                <a:cs typeface="Arial"/>
              </a:rPr>
              <a:t>, </a:t>
            </a:r>
            <a:r>
              <a:rPr lang="pl-PL" sz="1950">
                <a:solidFill>
                  <a:schemeClr val="tx1"/>
                </a:solidFill>
                <a:latin typeface="Courier New"/>
                <a:cs typeface="Courier New"/>
              </a:rPr>
              <a:t>SellerId</a:t>
            </a:r>
            <a:r>
              <a:rPr lang="pl-PL" sz="1950">
                <a:solidFill>
                  <a:schemeClr val="tx1"/>
                </a:solidFill>
                <a:latin typeface="Arial"/>
                <a:cs typeface="Arial"/>
              </a:rPr>
              <a:t>, </a:t>
            </a:r>
            <a:r>
              <a:rPr lang="pl-PL" sz="1950">
                <a:solidFill>
                  <a:schemeClr val="tx1"/>
                </a:solidFill>
                <a:latin typeface="Courier New"/>
                <a:cs typeface="Courier New"/>
              </a:rPr>
              <a:t>Amount</a:t>
            </a:r>
            <a:r>
              <a:rPr lang="pl-PL" sz="1950">
                <a:solidFill>
                  <a:schemeClr val="tx1"/>
                </a:solidFill>
                <a:latin typeface="Arial"/>
                <a:cs typeface="Arial"/>
              </a:rPr>
              <a:t>, </a:t>
            </a:r>
            <a:r>
              <a:rPr lang="pl-PL" sz="1950">
                <a:solidFill>
                  <a:schemeClr val="tx1"/>
                </a:solidFill>
                <a:latin typeface="Courier New"/>
                <a:cs typeface="Courier New"/>
              </a:rPr>
              <a:t>Quantity</a:t>
            </a:r>
            <a:r>
              <a:rPr lang="pl-PL" sz="1950">
                <a:solidFill>
                  <a:schemeClr val="tx1"/>
                </a:solidFill>
                <a:latin typeface="Arial"/>
                <a:cs typeface="Arial"/>
              </a:rPr>
              <a:t>, </a:t>
            </a:r>
            <a:r>
              <a:rPr lang="pl-PL" sz="1950">
                <a:solidFill>
                  <a:schemeClr val="tx1"/>
                </a:solidFill>
                <a:latin typeface="Courier New"/>
                <a:cs typeface="Courier New"/>
              </a:rPr>
              <a:t>PayUOrderId</a:t>
            </a:r>
            <a:r>
              <a:rPr lang="pl-PL" sz="1950">
                <a:solidFill>
                  <a:schemeClr val="tx1"/>
                </a:solidFill>
                <a:latin typeface="Arial"/>
                <a:cs typeface="Arial"/>
              </a:rPr>
              <a:t>, </a:t>
            </a:r>
            <a:r>
              <a:rPr lang="pl-PL" sz="1950">
                <a:solidFill>
                  <a:schemeClr val="tx1"/>
                </a:solidFill>
                <a:latin typeface="Courier New"/>
                <a:cs typeface="Courier New"/>
              </a:rPr>
              <a:t>Status</a:t>
            </a:r>
            <a:r>
              <a:rPr lang="pl-PL" sz="1950">
                <a:solidFill>
                  <a:schemeClr val="tx1"/>
                </a:solidFill>
                <a:latin typeface="Arial"/>
                <a:cs typeface="Arial"/>
              </a:rPr>
              <a:t> (enum: </a:t>
            </a:r>
            <a:r>
              <a:rPr lang="pl-PL" sz="1950">
                <a:solidFill>
                  <a:schemeClr val="tx1"/>
                </a:solidFill>
                <a:latin typeface="Courier New"/>
                <a:cs typeface="Courier New"/>
              </a:rPr>
              <a:t>Pending</a:t>
            </a:r>
            <a:r>
              <a:rPr lang="pl-PL" sz="1950">
                <a:solidFill>
                  <a:schemeClr val="tx1"/>
                </a:solidFill>
                <a:latin typeface="Arial"/>
                <a:cs typeface="Arial"/>
              </a:rPr>
              <a:t>/</a:t>
            </a:r>
            <a:r>
              <a:rPr lang="pl-PL" sz="1950">
                <a:solidFill>
                  <a:schemeClr val="tx1"/>
                </a:solidFill>
                <a:latin typeface="Courier New"/>
                <a:cs typeface="Courier New"/>
              </a:rPr>
              <a:t>Paid</a:t>
            </a:r>
            <a:r>
              <a:rPr lang="pl-PL" sz="1950">
                <a:solidFill>
                  <a:schemeClr val="tx1"/>
                </a:solidFill>
                <a:latin typeface="Arial"/>
                <a:cs typeface="Arial"/>
              </a:rPr>
              <a:t>/</a:t>
            </a:r>
            <a:r>
              <a:rPr lang="pl-PL" sz="1950">
                <a:solidFill>
                  <a:schemeClr val="tx1"/>
                </a:solidFill>
                <a:latin typeface="Courier New"/>
                <a:cs typeface="Courier New"/>
              </a:rPr>
              <a:t>Cancelled</a:t>
            </a:r>
            <a:r>
              <a:rPr lang="pl-PL" sz="1950">
                <a:solidFill>
                  <a:schemeClr val="tx1"/>
                </a:solidFill>
                <a:latin typeface="Arial"/>
                <a:cs typeface="Arial"/>
              </a:rPr>
              <a:t>/</a:t>
            </a:r>
            <a:r>
              <a:rPr lang="pl-PL" sz="1950">
                <a:solidFill>
                  <a:schemeClr val="tx1"/>
                </a:solidFill>
                <a:latin typeface="Courier New"/>
                <a:cs typeface="Courier New"/>
              </a:rPr>
              <a:t>Fulfilled</a:t>
            </a:r>
            <a:r>
              <a:rPr lang="pl-PL" sz="1950">
                <a:solidFill>
                  <a:schemeClr val="tx1"/>
                </a:solidFill>
                <a:latin typeface="Arial"/>
                <a:cs typeface="Arial"/>
              </a:rPr>
              <a:t>), </a:t>
            </a:r>
            <a:r>
              <a:rPr lang="pl-PL" sz="1950">
                <a:solidFill>
                  <a:schemeClr val="tx1"/>
                </a:solidFill>
                <a:latin typeface="Courier New"/>
                <a:cs typeface="Courier New"/>
              </a:rPr>
              <a:t>SelectedShippingName</a:t>
            </a:r>
            <a:r>
              <a:rPr lang="pl-PL" sz="1950">
                <a:solidFill>
                  <a:schemeClr val="tx1"/>
                </a:solidFill>
                <a:latin typeface="Arial"/>
                <a:cs typeface="Arial"/>
              </a:rPr>
              <a:t>, </a:t>
            </a:r>
            <a:r>
              <a:rPr lang="pl-PL" sz="1950">
                <a:solidFill>
                  <a:schemeClr val="tx1"/>
                </a:solidFill>
                <a:latin typeface="Courier New"/>
                <a:cs typeface="Courier New"/>
              </a:rPr>
              <a:t>ShippingCost</a:t>
            </a:r>
            <a:br>
              <a:rPr lang="pl-PL" sz="1950">
                <a:latin typeface="Courier New"/>
                <a:cs typeface="Courier New"/>
              </a:rPr>
            </a:br>
            <a:r>
              <a:rPr lang="pl-PL" sz="1950" b="1">
                <a:solidFill>
                  <a:schemeClr val="tx1"/>
                </a:solidFill>
                <a:latin typeface="Courier New"/>
                <a:cs typeface="Courier New"/>
              </a:rPr>
              <a:t>•TradeProposals</a:t>
            </a:r>
            <a:r>
              <a:rPr lang="pl-PL" sz="1950">
                <a:solidFill>
                  <a:schemeClr val="tx1"/>
                </a:solidFill>
                <a:latin typeface="Arial"/>
                <a:cs typeface="Arial"/>
              </a:rPr>
              <a:t> — propozycje wymiany; pola: </a:t>
            </a:r>
            <a:r>
              <a:rPr lang="pl-PL" sz="1950">
                <a:solidFill>
                  <a:schemeClr val="tx1"/>
                </a:solidFill>
                <a:latin typeface="Courier New"/>
                <a:cs typeface="Courier New"/>
              </a:rPr>
              <a:t>InitiatorUserId</a:t>
            </a:r>
            <a:r>
              <a:rPr lang="pl-PL" sz="1950">
                <a:solidFill>
                  <a:schemeClr val="tx1"/>
                </a:solidFill>
                <a:latin typeface="Arial"/>
                <a:cs typeface="Arial"/>
              </a:rPr>
              <a:t>, </a:t>
            </a:r>
            <a:r>
              <a:rPr lang="pl-PL" sz="1950">
                <a:solidFill>
                  <a:schemeClr val="tx1"/>
                </a:solidFill>
                <a:latin typeface="Courier New"/>
                <a:cs typeface="Courier New"/>
              </a:rPr>
              <a:t>ReceiverUserId</a:t>
            </a:r>
            <a:r>
              <a:rPr lang="pl-PL" sz="1950">
                <a:solidFill>
                  <a:schemeClr val="tx1"/>
                </a:solidFill>
                <a:latin typeface="Arial"/>
                <a:cs typeface="Arial"/>
              </a:rPr>
              <a:t>, </a:t>
            </a:r>
            <a:r>
              <a:rPr lang="pl-PL" sz="1950">
                <a:solidFill>
                  <a:schemeClr val="tx1"/>
                </a:solidFill>
                <a:latin typeface="Courier New"/>
                <a:cs typeface="Courier New"/>
              </a:rPr>
              <a:t>SubjectListingId</a:t>
            </a:r>
            <a:r>
              <a:rPr lang="pl-PL" sz="1950">
                <a:solidFill>
                  <a:schemeClr val="tx1"/>
                </a:solidFill>
                <a:latin typeface="Arial"/>
                <a:cs typeface="Arial"/>
              </a:rPr>
              <a:t>, </a:t>
            </a:r>
            <a:r>
              <a:rPr lang="pl-PL" sz="1950">
                <a:solidFill>
                  <a:schemeClr val="tx1"/>
                </a:solidFill>
                <a:latin typeface="Courier New"/>
                <a:cs typeface="Courier New"/>
              </a:rPr>
              <a:t>Status</a:t>
            </a:r>
            <a:r>
              <a:rPr lang="pl-PL" sz="1950">
                <a:solidFill>
                  <a:schemeClr val="tx1"/>
                </a:solidFill>
                <a:latin typeface="Arial"/>
                <a:cs typeface="Arial"/>
              </a:rPr>
              <a:t> (enum: </a:t>
            </a:r>
            <a:r>
              <a:rPr lang="pl-PL" sz="1950">
                <a:solidFill>
                  <a:schemeClr val="tx1"/>
                </a:solidFill>
                <a:latin typeface="Courier New"/>
                <a:cs typeface="Courier New"/>
              </a:rPr>
              <a:t>Pending</a:t>
            </a:r>
            <a:r>
              <a:rPr lang="pl-PL" sz="1950">
                <a:solidFill>
                  <a:schemeClr val="tx1"/>
                </a:solidFill>
                <a:latin typeface="Arial"/>
                <a:cs typeface="Arial"/>
              </a:rPr>
              <a:t>/</a:t>
            </a:r>
            <a:r>
              <a:rPr lang="pl-PL" sz="1950">
                <a:solidFill>
                  <a:schemeClr val="tx1"/>
                </a:solidFill>
                <a:latin typeface="Courier New"/>
                <a:cs typeface="Courier New"/>
              </a:rPr>
              <a:t>Accepted</a:t>
            </a:r>
            <a:r>
              <a:rPr lang="pl-PL" sz="1950">
                <a:solidFill>
                  <a:schemeClr val="tx1"/>
                </a:solidFill>
                <a:latin typeface="Arial"/>
                <a:cs typeface="Arial"/>
              </a:rPr>
              <a:t>/</a:t>
            </a:r>
            <a:r>
              <a:rPr lang="pl-PL" sz="1950">
                <a:solidFill>
                  <a:schemeClr val="tx1"/>
                </a:solidFill>
                <a:latin typeface="Courier New"/>
                <a:cs typeface="Courier New"/>
              </a:rPr>
              <a:t>Rejected</a:t>
            </a:r>
            <a:r>
              <a:rPr lang="pl-PL" sz="1950">
                <a:solidFill>
                  <a:schemeClr val="tx1"/>
                </a:solidFill>
                <a:latin typeface="Arial"/>
                <a:cs typeface="Arial"/>
              </a:rPr>
              <a:t>/</a:t>
            </a:r>
            <a:r>
              <a:rPr lang="pl-PL" sz="1950">
                <a:solidFill>
                  <a:schemeClr val="tx1"/>
                </a:solidFill>
                <a:latin typeface="Courier New"/>
                <a:cs typeface="Courier New"/>
              </a:rPr>
              <a:t>Cancelled</a:t>
            </a:r>
            <a:r>
              <a:rPr lang="pl-PL" sz="1950">
                <a:solidFill>
                  <a:schemeClr val="tx1"/>
                </a:solidFill>
                <a:latin typeface="Arial"/>
                <a:cs typeface="Arial"/>
              </a:rPr>
              <a:t>/</a:t>
            </a:r>
            <a:r>
              <a:rPr lang="pl-PL" sz="1950">
                <a:solidFill>
                  <a:schemeClr val="tx1"/>
                </a:solidFill>
                <a:latin typeface="Courier New"/>
                <a:cs typeface="Courier New"/>
              </a:rPr>
              <a:t>CounterOffered</a:t>
            </a:r>
            <a:r>
              <a:rPr lang="pl-PL" sz="1950">
                <a:solidFill>
                  <a:schemeClr val="tx1"/>
                </a:solidFill>
                <a:latin typeface="Arial"/>
                <a:cs typeface="Arial"/>
              </a:rPr>
              <a:t>), </a:t>
            </a:r>
            <a:r>
              <a:rPr lang="pl-PL" sz="1950">
                <a:solidFill>
                  <a:schemeClr val="tx1"/>
                </a:solidFill>
                <a:latin typeface="Courier New"/>
                <a:cs typeface="Courier New"/>
              </a:rPr>
              <a:t>ParentTradeProposalId</a:t>
            </a:r>
            <a:r>
              <a:rPr lang="pl-PL" sz="1950">
                <a:solidFill>
                  <a:schemeClr val="tx1"/>
                </a:solidFill>
                <a:latin typeface="Arial"/>
                <a:cs typeface="Arial"/>
              </a:rPr>
              <a:t> (self-reference dla kontrpropozycji), </a:t>
            </a:r>
            <a:r>
              <a:rPr lang="pl-PL" sz="1950">
                <a:solidFill>
                  <a:schemeClr val="tx1"/>
                </a:solidFill>
                <a:latin typeface="Courier New"/>
                <a:cs typeface="Courier New"/>
              </a:rPr>
              <a:t>RootTradeProposalId</a:t>
            </a:r>
            <a:br>
              <a:rPr lang="pl-PL" sz="1950">
                <a:latin typeface="Courier New"/>
                <a:cs typeface="Courier New"/>
              </a:rPr>
            </a:br>
            <a:r>
              <a:rPr lang="pl-PL" sz="1950" b="1">
                <a:solidFill>
                  <a:schemeClr val="tx1"/>
                </a:solidFill>
                <a:latin typeface="Courier New"/>
                <a:cs typeface="Courier New"/>
              </a:rPr>
              <a:t>•TradeProposalItems</a:t>
            </a:r>
            <a:r>
              <a:rPr lang="pl-PL" sz="1950">
                <a:solidFill>
                  <a:schemeClr val="tx1"/>
                </a:solidFill>
                <a:latin typeface="Arial"/>
                <a:cs typeface="Arial"/>
              </a:rPr>
              <a:t> — pozycje propozycji (po której stronie, powiązane ogłoszenie lub niestandardowa oferta, kwota dopłaty gotówkowej)</a:t>
            </a:r>
            <a:br>
              <a:rPr lang="pl-PL" sz="1950">
                <a:latin typeface="Arial"/>
                <a:cs typeface="Arial"/>
              </a:rPr>
            </a:br>
            <a:r>
              <a:rPr lang="pl-PL" sz="1950" b="1">
                <a:solidFill>
                  <a:schemeClr val="tx1"/>
                </a:solidFill>
                <a:latin typeface="Courier New"/>
                <a:cs typeface="Courier New"/>
              </a:rPr>
              <a:t>•TradeProposalHistoryEntries</a:t>
            </a:r>
            <a:r>
              <a:rPr lang="pl-PL" sz="1950">
                <a:solidFill>
                  <a:schemeClr val="tx1"/>
                </a:solidFill>
                <a:latin typeface="Arial"/>
                <a:cs typeface="Arial"/>
              </a:rPr>
              <a:t> — historia zmian statusu propozycji wymiany</a:t>
            </a:r>
            <a:br>
              <a:rPr lang="pl-PL" sz="1950">
                <a:latin typeface="Arial"/>
                <a:cs typeface="Arial"/>
              </a:rPr>
            </a:br>
            <a:r>
              <a:rPr lang="pl-PL" sz="1950" b="1">
                <a:solidFill>
                  <a:schemeClr val="tx1"/>
                </a:solidFill>
                <a:latin typeface="Courier New"/>
                <a:cs typeface="Courier New"/>
              </a:rPr>
              <a:t>•TradeOrders</a:t>
            </a:r>
            <a:r>
              <a:rPr lang="pl-PL" sz="1950">
                <a:solidFill>
                  <a:schemeClr val="tx1"/>
                </a:solidFill>
                <a:latin typeface="Arial"/>
                <a:cs typeface="Arial"/>
              </a:rPr>
              <a:t> — finalizacja zaakceptowanej wymiany</a:t>
            </a:r>
            <a:br>
              <a:rPr lang="pl-PL" sz="1950">
                <a:latin typeface="Arial"/>
                <a:cs typeface="Arial"/>
              </a:rPr>
            </a:br>
            <a:r>
              <a:rPr lang="pl-PL" sz="1950" b="1">
                <a:solidFill>
                  <a:schemeClr val="tx1"/>
                </a:solidFill>
                <a:latin typeface="Courier New"/>
                <a:cs typeface="Courier New"/>
              </a:rPr>
              <a:t>•CardTokenizationOrders</a:t>
            </a:r>
            <a:r>
              <a:rPr lang="pl-PL" sz="1950">
                <a:solidFill>
                  <a:schemeClr val="tx1"/>
                </a:solidFill>
                <a:latin typeface="Arial"/>
                <a:cs typeface="Arial"/>
              </a:rPr>
              <a:t> — rekordy inicjalizacji tokenizacji karty przez PayU</a:t>
            </a:r>
            <a:br>
              <a:rPr lang="pl-PL" sz="1950">
                <a:latin typeface="Arial"/>
                <a:cs typeface="Arial"/>
              </a:rPr>
            </a:br>
            <a:r>
              <a:rPr lang="pl-PL" sz="1950" b="1">
                <a:solidFill>
                  <a:schemeClr val="tx1"/>
                </a:solidFill>
                <a:latin typeface="Courier New"/>
                <a:cs typeface="Courier New"/>
              </a:rPr>
              <a:t>•SellerPayouts</a:t>
            </a:r>
            <a:r>
              <a:rPr lang="pl-PL" sz="1950">
                <a:solidFill>
                  <a:schemeClr val="tx1"/>
                </a:solidFill>
                <a:latin typeface="Arial"/>
                <a:cs typeface="Arial"/>
              </a:rPr>
              <a:t> — wypłaty sprzedawcy (kwota 95%, status)</a:t>
            </a:r>
            <a:endParaRPr lang="pl-PL" sz="1950">
              <a:solidFill>
                <a:schemeClr val="tx1"/>
              </a:solidFill>
            </a:endParaRPr>
          </a:p>
          <a:p>
            <a:pPr algn="l">
              <a:spcBef>
                <a:spcPts val="1889"/>
              </a:spcBef>
            </a:pPr>
            <a:endParaRPr lang="pl-PL" sz="1950" b="1">
              <a:solidFill>
                <a:schemeClr val="tx1"/>
              </a:solidFill>
              <a:latin typeface="Arial"/>
              <a:cs typeface="Arial"/>
            </a:endParaRPr>
          </a:p>
        </p:txBody>
      </p:sp>
    </p:spTree>
    <p:extLst>
      <p:ext uri="{BB962C8B-B14F-4D97-AF65-F5344CB8AC3E}">
        <p14:creationId xmlns:p14="http://schemas.microsoft.com/office/powerpoint/2010/main" val="417361409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56EF6-86AD-C574-D6CE-B669BD1E1D8A}"/>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BA57E9F2-4460-7F1D-40A2-D42AAB4937EB}"/>
              </a:ext>
            </a:extLst>
          </p:cNvPr>
          <p:cNvSpPr txBox="1">
            <a:spLocks noGrp="1"/>
          </p:cNvSpPr>
          <p:nvPr>
            <p:ph type="title" idx="4294967295"/>
          </p:nvPr>
        </p:nvSpPr>
        <p:spPr>
          <a:xfrm>
            <a:off x="503998" y="301322"/>
            <a:ext cx="9071643" cy="999387"/>
          </a:xfrm>
        </p:spPr>
        <p:txBody>
          <a:bodyPr/>
          <a:lstStyle/>
          <a:p>
            <a:r>
              <a:rPr lang="pl-PL" sz="5850">
                <a:latin typeface="Arial"/>
                <a:cs typeface="Arial"/>
              </a:rPr>
              <a:t>Model danych (4⁄5)</a:t>
            </a:r>
            <a:endParaRPr lang="pl-PL" sz="5850"/>
          </a:p>
        </p:txBody>
      </p:sp>
      <p:sp>
        <p:nvSpPr>
          <p:cNvPr id="3" name="Symbol zastępczy tekstu 2">
            <a:extLst>
              <a:ext uri="{FF2B5EF4-FFF2-40B4-BE49-F238E27FC236}">
                <a16:creationId xmlns:a16="http://schemas.microsoft.com/office/drawing/2014/main" id="{4026EE00-9532-AE83-C809-73D9177FA6A2}"/>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950" b="1">
                <a:solidFill>
                  <a:schemeClr val="tx1"/>
                </a:solidFill>
                <a:latin typeface="Arial"/>
                <a:cs typeface="Arial"/>
              </a:rPr>
              <a:t>Komunikacja i społeczność:</a:t>
            </a:r>
            <a:endParaRPr lang="pl-PL" sz="1950">
              <a:solidFill>
                <a:schemeClr val="tx1"/>
              </a:solidFill>
            </a:endParaRPr>
          </a:p>
          <a:p>
            <a:pPr algn="l">
              <a:spcBef>
                <a:spcPts val="1889"/>
              </a:spcBef>
            </a:pPr>
            <a:r>
              <a:rPr lang="pl-PL" sz="1950" b="1">
                <a:solidFill>
                  <a:schemeClr val="tx1"/>
                </a:solidFill>
                <a:latin typeface="Courier New"/>
                <a:cs typeface="Courier New"/>
              </a:rPr>
              <a:t>•Messages</a:t>
            </a:r>
            <a:r>
              <a:rPr lang="pl-PL" sz="1950">
                <a:solidFill>
                  <a:schemeClr val="tx1"/>
                </a:solidFill>
                <a:latin typeface="Arial"/>
                <a:cs typeface="Arial"/>
              </a:rPr>
              <a:t> — wiadomości między użytkownikami; pola: </a:t>
            </a:r>
            <a:r>
              <a:rPr lang="pl-PL" sz="1950">
                <a:solidFill>
                  <a:schemeClr val="tx1"/>
                </a:solidFill>
                <a:latin typeface="Courier New"/>
                <a:cs typeface="Courier New"/>
              </a:rPr>
              <a:t>SenderId</a:t>
            </a:r>
            <a:r>
              <a:rPr lang="pl-PL" sz="1950">
                <a:solidFill>
                  <a:schemeClr val="tx1"/>
                </a:solidFill>
                <a:latin typeface="Arial"/>
                <a:cs typeface="Arial"/>
              </a:rPr>
              <a:t>, </a:t>
            </a:r>
            <a:r>
              <a:rPr lang="pl-PL" sz="1950">
                <a:solidFill>
                  <a:schemeClr val="tx1"/>
                </a:solidFill>
                <a:latin typeface="Courier New"/>
                <a:cs typeface="Courier New"/>
              </a:rPr>
              <a:t>ReceiverId</a:t>
            </a:r>
            <a:r>
              <a:rPr lang="pl-PL" sz="1950">
                <a:solidFill>
                  <a:schemeClr val="tx1"/>
                </a:solidFill>
                <a:latin typeface="Arial"/>
                <a:cs typeface="Arial"/>
              </a:rPr>
              <a:t>, opcjonalne klucze obce do </a:t>
            </a:r>
            <a:r>
              <a:rPr lang="pl-PL" sz="1950">
                <a:solidFill>
                  <a:schemeClr val="tx1"/>
                </a:solidFill>
                <a:latin typeface="Courier New"/>
                <a:cs typeface="Courier New"/>
              </a:rPr>
              <a:t>ListingId</a:t>
            </a:r>
            <a:r>
              <a:rPr lang="pl-PL" sz="1950">
                <a:solidFill>
                  <a:schemeClr val="tx1"/>
                </a:solidFill>
                <a:latin typeface="Arial"/>
                <a:cs typeface="Arial"/>
              </a:rPr>
              <a:t>, </a:t>
            </a:r>
            <a:r>
              <a:rPr lang="pl-PL" sz="1950">
                <a:solidFill>
                  <a:schemeClr val="tx1"/>
                </a:solidFill>
                <a:latin typeface="Courier New"/>
                <a:cs typeface="Courier New"/>
              </a:rPr>
              <a:t>TicketId</a:t>
            </a:r>
            <a:r>
              <a:rPr lang="pl-PL" sz="1950">
                <a:solidFill>
                  <a:schemeClr val="tx1"/>
                </a:solidFill>
                <a:latin typeface="Arial"/>
                <a:cs typeface="Arial"/>
              </a:rPr>
              <a:t>, </a:t>
            </a:r>
            <a:r>
              <a:rPr lang="pl-PL" sz="1950">
                <a:solidFill>
                  <a:schemeClr val="tx1"/>
                </a:solidFill>
                <a:latin typeface="Courier New"/>
                <a:cs typeface="Courier New"/>
              </a:rPr>
              <a:t>TradeProposalId</a:t>
            </a:r>
            <a:r>
              <a:rPr lang="pl-PL" sz="1950">
                <a:solidFill>
                  <a:schemeClr val="tx1"/>
                </a:solidFill>
                <a:latin typeface="Arial"/>
                <a:cs typeface="Arial"/>
              </a:rPr>
              <a:t> (kontekst wiadomości), </a:t>
            </a:r>
            <a:r>
              <a:rPr lang="pl-PL" sz="1950">
                <a:solidFill>
                  <a:schemeClr val="tx1"/>
                </a:solidFill>
                <a:latin typeface="Courier New"/>
                <a:cs typeface="Courier New"/>
              </a:rPr>
              <a:t>ReplyToMessageId</a:t>
            </a:r>
            <a:r>
              <a:rPr lang="pl-PL" sz="1950">
                <a:solidFill>
                  <a:schemeClr val="tx1"/>
                </a:solidFill>
                <a:latin typeface="Arial"/>
                <a:cs typeface="Arial"/>
              </a:rPr>
              <a:t> (self-reference dla wątków), </a:t>
            </a:r>
            <a:r>
              <a:rPr lang="pl-PL" sz="1950">
                <a:solidFill>
                  <a:schemeClr val="tx1"/>
                </a:solidFill>
                <a:latin typeface="Courier New"/>
                <a:cs typeface="Courier New"/>
              </a:rPr>
              <a:t>IsRead</a:t>
            </a:r>
            <a:r>
              <a:rPr lang="pl-PL" sz="1950">
                <a:solidFill>
                  <a:schemeClr val="tx1"/>
                </a:solidFill>
                <a:latin typeface="Arial"/>
                <a:cs typeface="Arial"/>
              </a:rPr>
              <a:t>, </a:t>
            </a:r>
            <a:r>
              <a:rPr lang="pl-PL" sz="1950">
                <a:solidFill>
                  <a:schemeClr val="tx1"/>
                </a:solidFill>
                <a:latin typeface="Courier New"/>
                <a:cs typeface="Courier New"/>
              </a:rPr>
              <a:t>IsArchived</a:t>
            </a:r>
            <a:r>
              <a:rPr lang="pl-PL" sz="1950">
                <a:solidFill>
                  <a:schemeClr val="tx1"/>
                </a:solidFill>
                <a:latin typeface="Arial"/>
                <a:cs typeface="Arial"/>
              </a:rPr>
              <a:t>, </a:t>
            </a:r>
            <a:r>
              <a:rPr lang="pl-PL" sz="1950">
                <a:solidFill>
                  <a:schemeClr val="tx1"/>
                </a:solidFill>
                <a:latin typeface="Courier New"/>
                <a:cs typeface="Courier New"/>
              </a:rPr>
              <a:t>IsDeleted</a:t>
            </a:r>
            <a:br>
              <a:rPr lang="pl-PL" sz="1950">
                <a:latin typeface="Courier New"/>
                <a:cs typeface="Courier New"/>
              </a:rPr>
            </a:br>
            <a:r>
              <a:rPr lang="pl-PL" sz="1950" b="1">
                <a:solidFill>
                  <a:schemeClr val="tx1"/>
                </a:solidFill>
                <a:latin typeface="Courier New"/>
                <a:cs typeface="Courier New"/>
              </a:rPr>
              <a:t>•MessagePhotos</a:t>
            </a:r>
            <a:r>
              <a:rPr lang="pl-PL" sz="1950">
                <a:solidFill>
                  <a:schemeClr val="tx1"/>
                </a:solidFill>
                <a:latin typeface="Arial"/>
                <a:cs typeface="Arial"/>
              </a:rPr>
              <a:t> — zdjęcia dołączone do wiadomości</a:t>
            </a:r>
            <a:br>
              <a:rPr lang="pl-PL" sz="1950">
                <a:latin typeface="Arial"/>
                <a:cs typeface="Arial"/>
              </a:rPr>
            </a:br>
            <a:r>
              <a:rPr lang="pl-PL" sz="1950" b="1">
                <a:solidFill>
                  <a:schemeClr val="tx1"/>
                </a:solidFill>
                <a:latin typeface="Courier New"/>
                <a:cs typeface="Courier New"/>
              </a:rPr>
              <a:t>•Reviews</a:t>
            </a:r>
            <a:r>
              <a:rPr lang="pl-PL" sz="1950">
                <a:solidFill>
                  <a:schemeClr val="tx1"/>
                </a:solidFill>
                <a:latin typeface="Arial"/>
                <a:cs typeface="Arial"/>
              </a:rPr>
              <a:t> — recenzje sprzedawców powiązane z konkretnym </a:t>
            </a:r>
            <a:r>
              <a:rPr lang="pl-PL" sz="1950">
                <a:solidFill>
                  <a:schemeClr val="tx1"/>
                </a:solidFill>
                <a:latin typeface="Courier New"/>
                <a:cs typeface="Courier New"/>
              </a:rPr>
              <a:t>ListingId</a:t>
            </a:r>
            <a:r>
              <a:rPr lang="pl-PL" sz="1950">
                <a:solidFill>
                  <a:schemeClr val="tx1"/>
                </a:solidFill>
                <a:latin typeface="Arial"/>
                <a:cs typeface="Arial"/>
              </a:rPr>
              <a:t> i </a:t>
            </a:r>
            <a:r>
              <a:rPr lang="pl-PL" sz="1950">
                <a:solidFill>
                  <a:schemeClr val="tx1"/>
                </a:solidFill>
                <a:latin typeface="Courier New"/>
                <a:cs typeface="Courier New"/>
              </a:rPr>
              <a:t>ReviewerId</a:t>
            </a:r>
            <a:r>
              <a:rPr lang="pl-PL" sz="1950">
                <a:solidFill>
                  <a:schemeClr val="tx1"/>
                </a:solidFill>
                <a:latin typeface="Arial"/>
                <a:cs typeface="Arial"/>
              </a:rPr>
              <a:t>; pola: ocena (1–5), opis, </a:t>
            </a:r>
            <a:r>
              <a:rPr lang="pl-PL" sz="1950">
                <a:solidFill>
                  <a:schemeClr val="tx1"/>
                </a:solidFill>
                <a:latin typeface="Courier New"/>
                <a:cs typeface="Courier New"/>
              </a:rPr>
              <a:t>Upvotes</a:t>
            </a:r>
            <a:r>
              <a:rPr lang="pl-PL" sz="1950">
                <a:solidFill>
                  <a:schemeClr val="tx1"/>
                </a:solidFill>
                <a:latin typeface="Arial"/>
                <a:cs typeface="Arial"/>
              </a:rPr>
              <a:t>, </a:t>
            </a:r>
            <a:r>
              <a:rPr lang="pl-PL" sz="1950">
                <a:solidFill>
                  <a:schemeClr val="tx1"/>
                </a:solidFill>
                <a:latin typeface="Courier New"/>
                <a:cs typeface="Courier New"/>
              </a:rPr>
              <a:t>Downvotes</a:t>
            </a:r>
            <a:br>
              <a:rPr lang="pl-PL" sz="1950">
                <a:latin typeface="Courier New"/>
                <a:cs typeface="Courier New"/>
              </a:rPr>
            </a:br>
            <a:r>
              <a:rPr lang="pl-PL" sz="1950" b="1">
                <a:solidFill>
                  <a:schemeClr val="tx1"/>
                </a:solidFill>
                <a:latin typeface="Courier New"/>
                <a:cs typeface="Courier New"/>
              </a:rPr>
              <a:t>•ReviewPhotos</a:t>
            </a:r>
            <a:r>
              <a:rPr lang="pl-PL" sz="1950">
                <a:solidFill>
                  <a:schemeClr val="tx1"/>
                </a:solidFill>
                <a:latin typeface="Arial"/>
                <a:cs typeface="Arial"/>
              </a:rPr>
              <a:t> — zdjęcia w recenzjach</a:t>
            </a:r>
            <a:br>
              <a:rPr lang="pl-PL" sz="1950">
                <a:latin typeface="Arial"/>
                <a:cs typeface="Arial"/>
              </a:rPr>
            </a:br>
            <a:r>
              <a:rPr lang="pl-PL" sz="1950" b="1">
                <a:solidFill>
                  <a:schemeClr val="tx1"/>
                </a:solidFill>
                <a:latin typeface="Courier New"/>
                <a:cs typeface="Courier New"/>
              </a:rPr>
              <a:t>•Notifications</a:t>
            </a:r>
            <a:r>
              <a:rPr lang="pl-PL" sz="1950">
                <a:solidFill>
                  <a:schemeClr val="tx1"/>
                </a:solidFill>
                <a:latin typeface="Arial"/>
                <a:cs typeface="Arial"/>
              </a:rPr>
              <a:t> — powiadomienia systemowe z polimorfincznym powiązaniem (opcjonalne FK do </a:t>
            </a:r>
            <a:r>
              <a:rPr lang="pl-PL" sz="1950">
                <a:solidFill>
                  <a:schemeClr val="tx1"/>
                </a:solidFill>
                <a:latin typeface="Courier New"/>
                <a:cs typeface="Courier New"/>
              </a:rPr>
              <a:t>MessageId</a:t>
            </a:r>
            <a:r>
              <a:rPr lang="pl-PL" sz="1950">
                <a:solidFill>
                  <a:schemeClr val="tx1"/>
                </a:solidFill>
                <a:latin typeface="Arial"/>
                <a:cs typeface="Arial"/>
              </a:rPr>
              <a:t>, </a:t>
            </a:r>
            <a:r>
              <a:rPr lang="pl-PL" sz="1950">
                <a:solidFill>
                  <a:schemeClr val="tx1"/>
                </a:solidFill>
                <a:latin typeface="Courier New"/>
                <a:cs typeface="Courier New"/>
              </a:rPr>
              <a:t>OrderId</a:t>
            </a:r>
            <a:r>
              <a:rPr lang="pl-PL" sz="1950">
                <a:solidFill>
                  <a:schemeClr val="tx1"/>
                </a:solidFill>
                <a:latin typeface="Arial"/>
                <a:cs typeface="Arial"/>
              </a:rPr>
              <a:t>, </a:t>
            </a:r>
            <a:r>
              <a:rPr lang="pl-PL" sz="1950">
                <a:solidFill>
                  <a:schemeClr val="tx1"/>
                </a:solidFill>
                <a:latin typeface="Courier New"/>
                <a:cs typeface="Courier New"/>
              </a:rPr>
              <a:t>TradeProposalId</a:t>
            </a:r>
            <a:r>
              <a:rPr lang="pl-PL" sz="1950">
                <a:solidFill>
                  <a:schemeClr val="tx1"/>
                </a:solidFill>
                <a:latin typeface="Arial"/>
                <a:cs typeface="Arial"/>
              </a:rPr>
              <a:t>), </a:t>
            </a:r>
            <a:r>
              <a:rPr lang="pl-PL" sz="1950">
                <a:solidFill>
                  <a:schemeClr val="tx1"/>
                </a:solidFill>
                <a:latin typeface="Courier New"/>
                <a:cs typeface="Courier New"/>
              </a:rPr>
              <a:t>Kind</a:t>
            </a:r>
            <a:r>
              <a:rPr lang="pl-PL" sz="1950">
                <a:solidFill>
                  <a:schemeClr val="tx1"/>
                </a:solidFill>
                <a:latin typeface="Arial"/>
                <a:cs typeface="Arial"/>
              </a:rPr>
              <a:t> (enum), </a:t>
            </a:r>
            <a:r>
              <a:rPr lang="pl-PL" sz="1950">
                <a:solidFill>
                  <a:schemeClr val="tx1"/>
                </a:solidFill>
                <a:latin typeface="Courier New"/>
                <a:cs typeface="Courier New"/>
              </a:rPr>
              <a:t>IsRead</a:t>
            </a:r>
            <a:br>
              <a:rPr lang="pl-PL" sz="1950">
                <a:latin typeface="Courier New"/>
                <a:cs typeface="Courier New"/>
              </a:rPr>
            </a:br>
            <a:r>
              <a:rPr lang="pl-PL" sz="1950" b="1">
                <a:solidFill>
                  <a:schemeClr val="tx1"/>
                </a:solidFill>
                <a:latin typeface="Courier New"/>
                <a:cs typeface="Courier New"/>
              </a:rPr>
              <a:t>•Tickets</a:t>
            </a:r>
            <a:r>
              <a:rPr lang="pl-PL" sz="1950">
                <a:solidFill>
                  <a:schemeClr val="tx1"/>
                </a:solidFill>
                <a:latin typeface="Arial"/>
                <a:cs typeface="Arial"/>
              </a:rPr>
              <a:t> — zgłoszenia wsparcia; pola: </a:t>
            </a:r>
            <a:r>
              <a:rPr lang="pl-PL" sz="1950">
                <a:solidFill>
                  <a:schemeClr val="tx1"/>
                </a:solidFill>
                <a:latin typeface="Courier New"/>
                <a:cs typeface="Courier New"/>
              </a:rPr>
              <a:t>Category</a:t>
            </a:r>
            <a:r>
              <a:rPr lang="pl-PL" sz="1950">
                <a:solidFill>
                  <a:schemeClr val="tx1"/>
                </a:solidFill>
                <a:latin typeface="Arial"/>
                <a:cs typeface="Arial"/>
              </a:rPr>
              <a:t> (enum: naruszenie, błąd, pytanie…), </a:t>
            </a:r>
            <a:r>
              <a:rPr lang="pl-PL" sz="1950">
                <a:solidFill>
                  <a:schemeClr val="tx1"/>
                </a:solidFill>
                <a:latin typeface="Courier New"/>
                <a:cs typeface="Courier New"/>
              </a:rPr>
              <a:t>Status</a:t>
            </a:r>
            <a:r>
              <a:rPr lang="pl-PL" sz="1950">
                <a:solidFill>
                  <a:schemeClr val="tx1"/>
                </a:solidFill>
                <a:latin typeface="Arial"/>
                <a:cs typeface="Arial"/>
              </a:rPr>
              <a:t> (Open/InProgress/Resolved), opcjonalne FK do </a:t>
            </a:r>
            <a:r>
              <a:rPr lang="pl-PL" sz="1950">
                <a:solidFill>
                  <a:schemeClr val="tx1"/>
                </a:solidFill>
                <a:latin typeface="Courier New"/>
                <a:cs typeface="Courier New"/>
              </a:rPr>
              <a:t>ReportedUserId</a:t>
            </a:r>
            <a:r>
              <a:rPr lang="pl-PL" sz="1950">
                <a:solidFill>
                  <a:schemeClr val="tx1"/>
                </a:solidFill>
                <a:latin typeface="Arial"/>
                <a:cs typeface="Arial"/>
              </a:rPr>
              <a:t> i </a:t>
            </a:r>
            <a:r>
              <a:rPr lang="pl-PL" sz="1950">
                <a:solidFill>
                  <a:schemeClr val="tx1"/>
                </a:solidFill>
                <a:latin typeface="Courier New"/>
                <a:cs typeface="Courier New"/>
              </a:rPr>
              <a:t>ReportedListingId</a:t>
            </a:r>
            <a:br>
              <a:rPr lang="pl-PL" sz="1950">
                <a:latin typeface="Courier New"/>
                <a:cs typeface="Courier New"/>
              </a:rPr>
            </a:br>
            <a:r>
              <a:rPr lang="pl-PL" sz="1950" b="1">
                <a:solidFill>
                  <a:schemeClr val="tx1"/>
                </a:solidFill>
                <a:latin typeface="Courier New"/>
                <a:cs typeface="Courier New"/>
              </a:rPr>
              <a:t>•TicketAttachments</a:t>
            </a:r>
            <a:r>
              <a:rPr lang="pl-PL" sz="1950">
                <a:solidFill>
                  <a:schemeClr val="tx1"/>
                </a:solidFill>
                <a:latin typeface="Arial"/>
                <a:cs typeface="Arial"/>
              </a:rPr>
              <a:t> — załączniki do ticketów</a:t>
            </a:r>
            <a:endParaRPr lang="pl-PL" sz="1950">
              <a:solidFill>
                <a:schemeClr val="tx1"/>
              </a:solidFill>
            </a:endParaRPr>
          </a:p>
          <a:p>
            <a:pPr algn="l">
              <a:spcBef>
                <a:spcPts val="1889"/>
              </a:spcBef>
            </a:pPr>
            <a:endParaRPr lang="pl-PL" sz="1950" b="1">
              <a:solidFill>
                <a:schemeClr val="tx1"/>
              </a:solidFill>
              <a:latin typeface="Arial"/>
              <a:cs typeface="Arial"/>
            </a:endParaRPr>
          </a:p>
        </p:txBody>
      </p:sp>
    </p:spTree>
    <p:extLst>
      <p:ext uri="{BB962C8B-B14F-4D97-AF65-F5344CB8AC3E}">
        <p14:creationId xmlns:p14="http://schemas.microsoft.com/office/powerpoint/2010/main" val="243193664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7842A-8D68-7AC3-B77C-5A0431B1AC9B}"/>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7EC610B4-6957-AC0C-E6C0-0A901C302D72}"/>
              </a:ext>
            </a:extLst>
          </p:cNvPr>
          <p:cNvSpPr txBox="1">
            <a:spLocks noGrp="1"/>
          </p:cNvSpPr>
          <p:nvPr>
            <p:ph type="title" idx="4294967295"/>
          </p:nvPr>
        </p:nvSpPr>
        <p:spPr>
          <a:xfrm>
            <a:off x="503998" y="301322"/>
            <a:ext cx="9071643" cy="999387"/>
          </a:xfrm>
        </p:spPr>
        <p:txBody>
          <a:bodyPr/>
          <a:lstStyle/>
          <a:p>
            <a:r>
              <a:rPr lang="pl-PL" sz="5850">
                <a:latin typeface="Arial"/>
                <a:cs typeface="Arial"/>
              </a:rPr>
              <a:t>Model danych (5⁄5)</a:t>
            </a:r>
            <a:endParaRPr lang="pl-PL" sz="5850"/>
          </a:p>
        </p:txBody>
      </p:sp>
      <p:sp>
        <p:nvSpPr>
          <p:cNvPr id="3" name="Symbol zastępczy tekstu 2">
            <a:extLst>
              <a:ext uri="{FF2B5EF4-FFF2-40B4-BE49-F238E27FC236}">
                <a16:creationId xmlns:a16="http://schemas.microsoft.com/office/drawing/2014/main" id="{10F99899-D711-F633-F42F-4D684D93D476}"/>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000">
                <a:solidFill>
                  <a:schemeClr val="tx1"/>
                </a:solidFill>
                <a:latin typeface="Arial"/>
                <a:cs typeface="Arial"/>
              </a:rPr>
              <a:t>Diagram ERD (uproszczony):</a:t>
            </a:r>
            <a:br>
              <a:rPr lang="pl-PL" sz="1000">
                <a:latin typeface="Arial"/>
                <a:cs typeface="Arial"/>
              </a:rPr>
            </a:br>
            <a:br>
              <a:rPr lang="pl-PL" sz="1000">
                <a:latin typeface="Arial"/>
                <a:cs typeface="Arial"/>
              </a:rPr>
            </a:br>
            <a:r>
              <a:rPr lang="pl-PL" sz="1000">
                <a:solidFill>
                  <a:schemeClr val="tx1"/>
                </a:solidFill>
                <a:latin typeface="Courier New"/>
                <a:cs typeface="Courier New"/>
              </a:rPr>
              <a:t>Users ──────────────────────────────────────────────────────────────┐</a:t>
            </a:r>
            <a:br>
              <a:rPr lang="pl-PL" sz="1000">
                <a:latin typeface="Courier New"/>
                <a:cs typeface="Courier New"/>
              </a:rPr>
            </a:br>
            <a:r>
              <a:rPr lang="pl-PL" sz="1000">
                <a:solidFill>
                  <a:schemeClr val="tx1"/>
                </a:solidFill>
                <a:latin typeface="Courier New"/>
                <a:cs typeface="Courier New"/>
              </a:rPr>
              <a:t>  │ 1                                                               │</a:t>
            </a:r>
            <a:br>
              <a:rPr lang="pl-PL" sz="1000">
                <a:latin typeface="Courier New"/>
                <a:cs typeface="Courier New"/>
              </a:rPr>
            </a:br>
            <a:r>
              <a:rPr lang="pl-PL" sz="1000">
                <a:solidFill>
                  <a:schemeClr val="tx1"/>
                </a:solidFill>
                <a:latin typeface="Courier New"/>
                <a:cs typeface="Courier New"/>
              </a:rPr>
              <a:t>  │ ╔══════════╗  1    ╔═══════════╗                                │</a:t>
            </a:r>
            <a:br>
              <a:rPr lang="pl-PL" sz="1000">
                <a:latin typeface="Courier New"/>
                <a:cs typeface="Courier New"/>
              </a:rPr>
            </a:br>
            <a:r>
              <a:rPr lang="pl-PL" sz="1000">
                <a:solidFill>
                  <a:schemeClr val="tx1"/>
                </a:solidFill>
                <a:latin typeface="Courier New"/>
                <a:cs typeface="Courier New"/>
              </a:rPr>
              <a:t>  ├─╣ UserAuth ╠───────╣UserProfile╠                                │</a:t>
            </a:r>
            <a:br>
              <a:rPr lang="pl-PL" sz="1000">
                <a:latin typeface="Courier New"/>
                <a:cs typeface="Courier New"/>
              </a:rPr>
            </a:br>
            <a:r>
              <a:rPr lang="pl-PL" sz="1000">
                <a:solidFill>
                  <a:schemeClr val="tx1"/>
                </a:solidFill>
                <a:latin typeface="Courier New"/>
                <a:cs typeface="Courier New"/>
              </a:rPr>
              <a:t>  │ ╚══════════╝       ╚═══════════╝                                │</a:t>
            </a:r>
            <a:br>
              <a:rPr lang="pl-PL" sz="1000">
                <a:latin typeface="Courier New"/>
                <a:cs typeface="Courier New"/>
              </a:rPr>
            </a:br>
            <a:r>
              <a:rPr lang="pl-PL" sz="1000">
                <a:solidFill>
                  <a:schemeClr val="tx1"/>
                </a:solidFill>
                <a:latin typeface="Courier New"/>
                <a:cs typeface="Courier New"/>
              </a:rPr>
              <a:t>  │                                                                 │</a:t>
            </a:r>
            <a:br>
              <a:rPr lang="pl-PL" sz="1000">
                <a:latin typeface="Courier New"/>
                <a:cs typeface="Courier New"/>
              </a:rPr>
            </a:br>
            <a:r>
              <a:rPr lang="pl-PL" sz="1000">
                <a:solidFill>
                  <a:schemeClr val="tx1"/>
                </a:solidFill>
                <a:latin typeface="Courier New"/>
                <a:cs typeface="Courier New"/>
              </a:rPr>
              <a:t>  │ 1:N        1:1                                                  │</a:t>
            </a:r>
            <a:br>
              <a:rPr lang="pl-PL" sz="1000">
                <a:latin typeface="Courier New"/>
                <a:cs typeface="Courier New"/>
              </a:rPr>
            </a:br>
            <a:r>
              <a:rPr lang="pl-PL" sz="1000">
                <a:solidFill>
                  <a:schemeClr val="tx1"/>
                </a:solidFill>
                <a:latin typeface="Courier New"/>
                <a:cs typeface="Courier New"/>
              </a:rPr>
              <a:t>  ╠══════════╗ ╔═══════════╗                                        │</a:t>
            </a:r>
            <a:br>
              <a:rPr lang="pl-PL" sz="1000">
                <a:latin typeface="Courier New"/>
                <a:cs typeface="Courier New"/>
              </a:rPr>
            </a:br>
            <a:r>
              <a:rPr lang="pl-PL" sz="1000">
                <a:solidFill>
                  <a:schemeClr val="tx1"/>
                </a:solidFill>
                <a:latin typeface="Courier New"/>
                <a:cs typeface="Courier New"/>
              </a:rPr>
              <a:t>  ║ Listings ║ ║SellerCard ║                                        │</a:t>
            </a:r>
            <a:br>
              <a:rPr lang="pl-PL" sz="1000">
                <a:latin typeface="Courier New"/>
                <a:cs typeface="Courier New"/>
              </a:rPr>
            </a:br>
            <a:r>
              <a:rPr lang="pl-PL" sz="1000">
                <a:solidFill>
                  <a:schemeClr val="tx1"/>
                </a:solidFill>
                <a:latin typeface="Courier New"/>
                <a:cs typeface="Courier New"/>
              </a:rPr>
              <a:t>  ╚═════╦════╝ ╚═══════════╝                                        │</a:t>
            </a:r>
            <a:br>
              <a:rPr lang="pl-PL" sz="1000">
                <a:latin typeface="Courier New"/>
                <a:cs typeface="Courier New"/>
              </a:rPr>
            </a:br>
            <a:r>
              <a:rPr lang="pl-PL" sz="1000">
                <a:solidFill>
                  <a:schemeClr val="tx1"/>
                </a:solidFill>
                <a:latin typeface="Courier New"/>
                <a:cs typeface="Courier New"/>
              </a:rPr>
              <a:t>        │                                                           │</a:t>
            </a:r>
            <a:br>
              <a:rPr lang="pl-PL" sz="1000">
                <a:latin typeface="Courier New"/>
                <a:cs typeface="Courier New"/>
              </a:rPr>
            </a:br>
            <a:r>
              <a:rPr lang="pl-PL" sz="1000">
                <a:solidFill>
                  <a:schemeClr val="tx1"/>
                </a:solidFill>
                <a:latin typeface="Courier New"/>
                <a:cs typeface="Courier New"/>
              </a:rPr>
              <a:t>        ├─── M:N ──── Tags (przez ListingTags)                      │</a:t>
            </a:r>
            <a:br>
              <a:rPr lang="pl-PL" sz="1000">
                <a:latin typeface="Courier New"/>
                <a:cs typeface="Courier New"/>
              </a:rPr>
            </a:br>
            <a:r>
              <a:rPr lang="pl-PL" sz="1000">
                <a:solidFill>
                  <a:schemeClr val="tx1"/>
                </a:solidFill>
                <a:latin typeface="Courier New"/>
                <a:cs typeface="Courier New"/>
              </a:rPr>
              <a:t>        ├─── M:N ──── Tags (przez ListingExchangeAcceptedTags)      │</a:t>
            </a:r>
            <a:br>
              <a:rPr lang="pl-PL" sz="1000">
                <a:latin typeface="Courier New"/>
                <a:cs typeface="Courier New"/>
              </a:rPr>
            </a:br>
            <a:r>
              <a:rPr lang="pl-PL" sz="1000">
                <a:solidFill>
                  <a:schemeClr val="tx1"/>
                </a:solidFill>
                <a:latin typeface="Courier New"/>
                <a:cs typeface="Courier New"/>
              </a:rPr>
              <a:t>        ├─── 1:N ──── ListingPhotos ──── Uploads                    │</a:t>
            </a:r>
            <a:br>
              <a:rPr lang="pl-PL" sz="1000">
                <a:latin typeface="Courier New"/>
                <a:cs typeface="Courier New"/>
              </a:rPr>
            </a:br>
            <a:r>
              <a:rPr lang="pl-PL" sz="1000">
                <a:solidFill>
                  <a:schemeClr val="tx1"/>
                </a:solidFill>
                <a:latin typeface="Courier New"/>
                <a:cs typeface="Courier New"/>
              </a:rPr>
              <a:t>        ├─── 1:N ──── ListingShippingOptions                        │</a:t>
            </a:r>
            <a:br>
              <a:rPr lang="pl-PL" sz="1000">
                <a:latin typeface="Courier New"/>
                <a:cs typeface="Courier New"/>
              </a:rPr>
            </a:br>
            <a:r>
              <a:rPr lang="pl-PL" sz="1000">
                <a:solidFill>
                  <a:schemeClr val="tx1"/>
                </a:solidFill>
                <a:latin typeface="Courier New"/>
                <a:cs typeface="Courier New"/>
              </a:rPr>
              <a:t>        ├─── 1:N ──── Orders ── BuyerId ── Users                    │</a:t>
            </a:r>
            <a:br>
              <a:rPr lang="pl-PL" sz="1000">
                <a:latin typeface="Courier New"/>
                <a:cs typeface="Courier New"/>
              </a:rPr>
            </a:br>
            <a:r>
              <a:rPr lang="pl-PL" sz="1000">
                <a:solidFill>
                  <a:schemeClr val="tx1"/>
                </a:solidFill>
                <a:latin typeface="Courier New"/>
                <a:cs typeface="Courier New"/>
              </a:rPr>
              <a:t>        ├─── 1:N ──── Reviews ─ ReviewerId ─ Users                  │</a:t>
            </a:r>
            <a:br>
              <a:rPr lang="pl-PL" sz="1000">
                <a:latin typeface="Courier New"/>
                <a:cs typeface="Courier New"/>
              </a:rPr>
            </a:br>
            <a:r>
              <a:rPr lang="pl-PL" sz="1000">
                <a:solidFill>
                  <a:schemeClr val="tx1"/>
                </a:solidFill>
                <a:latin typeface="Courier New"/>
                <a:cs typeface="Courier New"/>
              </a:rPr>
              <a:t>        │                 └─ 1:N ─ ReviewPhotos ─ Uploads           │</a:t>
            </a:r>
            <a:br>
              <a:rPr lang="pl-PL" sz="1000">
                <a:latin typeface="Courier New"/>
                <a:cs typeface="Courier New"/>
              </a:rPr>
            </a:br>
            <a:r>
              <a:rPr lang="pl-PL" sz="1000">
                <a:solidFill>
                  <a:schemeClr val="tx1"/>
                </a:solidFill>
                <a:latin typeface="Courier New"/>
                <a:cs typeface="Courier New"/>
              </a:rPr>
              <a:t>        └─── 1:N ──── TradeProposals (SubjectListing)               │</a:t>
            </a:r>
            <a:br>
              <a:rPr lang="pl-PL" sz="1000">
                <a:latin typeface="Courier New"/>
                <a:cs typeface="Courier New"/>
              </a:rPr>
            </a:br>
            <a:r>
              <a:rPr lang="pl-PL" sz="1000">
                <a:solidFill>
                  <a:schemeClr val="tx1"/>
                </a:solidFill>
                <a:latin typeface="Courier New"/>
                <a:cs typeface="Courier New"/>
              </a:rPr>
              <a:t>                          │ InitiatorUserId / ReceiverUserId ───────┘</a:t>
            </a:r>
            <a:br>
              <a:rPr lang="pl-PL" sz="1000">
                <a:latin typeface="Courier New"/>
                <a:cs typeface="Courier New"/>
              </a:rPr>
            </a:br>
            <a:r>
              <a:rPr lang="pl-PL" sz="1000">
                <a:solidFill>
                  <a:schemeClr val="tx1"/>
                </a:solidFill>
                <a:latin typeface="Courier New"/>
                <a:cs typeface="Courier New"/>
              </a:rPr>
              <a:t>                          ├─ 1:N ── TradeProposalItems</a:t>
            </a:r>
            <a:br>
              <a:rPr lang="pl-PL" sz="1000">
                <a:latin typeface="Courier New"/>
                <a:cs typeface="Courier New"/>
              </a:rPr>
            </a:br>
            <a:r>
              <a:rPr lang="pl-PL" sz="1000">
                <a:solidFill>
                  <a:schemeClr val="tx1"/>
                </a:solidFill>
                <a:latin typeface="Courier New"/>
                <a:cs typeface="Courier New"/>
              </a:rPr>
              <a:t>                          │           └── optional FK → Listings</a:t>
            </a:r>
            <a:br>
              <a:rPr lang="pl-PL" sz="1000">
                <a:latin typeface="Courier New"/>
                <a:cs typeface="Courier New"/>
              </a:rPr>
            </a:br>
            <a:r>
              <a:rPr lang="pl-PL" sz="1000">
                <a:solidFill>
                  <a:schemeClr val="tx1"/>
                </a:solidFill>
                <a:latin typeface="Courier New"/>
                <a:cs typeface="Courier New"/>
              </a:rPr>
              <a:t>                          ├─ 1:N ── TradeProposalHistoryEntries</a:t>
            </a:r>
            <a:br>
              <a:rPr lang="pl-PL" sz="1000">
                <a:latin typeface="Courier New"/>
                <a:cs typeface="Courier New"/>
              </a:rPr>
            </a:br>
            <a:r>
              <a:rPr lang="pl-PL" sz="1000">
                <a:solidFill>
                  <a:schemeClr val="tx1"/>
                </a:solidFill>
                <a:latin typeface="Courier New"/>
                <a:cs typeface="Courier New"/>
              </a:rPr>
              <a:t>                          ├─ 1:N ── Messages (TradeProposalId)</a:t>
            </a:r>
            <a:br>
              <a:rPr lang="pl-PL" sz="1000">
                <a:latin typeface="Courier New"/>
                <a:cs typeface="Courier New"/>
              </a:rPr>
            </a:br>
            <a:r>
              <a:rPr lang="pl-PL" sz="1000">
                <a:solidFill>
                  <a:schemeClr val="tx1"/>
                </a:solidFill>
                <a:latin typeface="Courier New"/>
                <a:cs typeface="Courier New"/>
              </a:rPr>
              <a:t>                          └─ self-ref: ParentTradeProposalId / RootTradeProposalId</a:t>
            </a:r>
            <a:br>
              <a:rPr lang="pl-PL" sz="1000">
                <a:latin typeface="Courier New"/>
                <a:cs typeface="Courier New"/>
              </a:rPr>
            </a:br>
            <a:r>
              <a:rPr lang="pl-PL" sz="1000">
                <a:solidFill>
                  <a:schemeClr val="tx1"/>
                </a:solidFill>
                <a:latin typeface="Courier New"/>
                <a:cs typeface="Courier New"/>
              </a:rPr>
              <a:t>Messages ── SenderId/ReceiverId ── Users</a:t>
            </a:r>
            <a:br>
              <a:rPr lang="pl-PL" sz="1000">
                <a:latin typeface="Courier New"/>
                <a:cs typeface="Courier New"/>
              </a:rPr>
            </a:br>
            <a:r>
              <a:rPr lang="pl-PL" sz="1000">
                <a:solidFill>
                  <a:schemeClr val="tx1"/>
                </a:solidFill>
                <a:latin typeface="Courier New"/>
                <a:cs typeface="Courier New"/>
              </a:rPr>
              <a:t>         └─ optional FK: ListingId / TicketId / TradeProposalId</a:t>
            </a:r>
            <a:br>
              <a:rPr lang="pl-PL" sz="1000">
                <a:latin typeface="Courier New"/>
                <a:cs typeface="Courier New"/>
              </a:rPr>
            </a:br>
            <a:r>
              <a:rPr lang="pl-PL" sz="1000">
                <a:solidFill>
                  <a:schemeClr val="tx1"/>
                </a:solidFill>
                <a:latin typeface="Courier New"/>
                <a:cs typeface="Courier New"/>
              </a:rPr>
              <a:t>         └─ self-ref: ReplyToMessageId (wątki)</a:t>
            </a:r>
            <a:br>
              <a:rPr lang="pl-PL" sz="1000">
                <a:latin typeface="Courier New"/>
                <a:cs typeface="Courier New"/>
              </a:rPr>
            </a:br>
            <a:r>
              <a:rPr lang="pl-PL" sz="1000">
                <a:solidFill>
                  <a:schemeClr val="tx1"/>
                </a:solidFill>
                <a:latin typeface="Courier New"/>
                <a:cs typeface="Courier New"/>
              </a:rPr>
              <a:t>         └─ 1:N ── MessagePhotos ── Uploads</a:t>
            </a:r>
            <a:br>
              <a:rPr lang="pl-PL" sz="1000">
                <a:latin typeface="Courier New"/>
                <a:cs typeface="Courier New"/>
              </a:rPr>
            </a:br>
            <a:r>
              <a:rPr lang="pl-PL" sz="1000">
                <a:solidFill>
                  <a:schemeClr val="tx1"/>
                </a:solidFill>
                <a:latin typeface="Courier New"/>
                <a:cs typeface="Courier New"/>
              </a:rPr>
              <a:t>Notifications ── UserId ── Users</a:t>
            </a:r>
            <a:br>
              <a:rPr lang="pl-PL" sz="1000">
                <a:latin typeface="Courier New"/>
                <a:cs typeface="Courier New"/>
              </a:rPr>
            </a:br>
            <a:r>
              <a:rPr lang="pl-PL" sz="1000">
                <a:solidFill>
                  <a:schemeClr val="tx1"/>
                </a:solidFill>
                <a:latin typeface="Courier New"/>
                <a:cs typeface="Courier New"/>
              </a:rPr>
              <a:t>              └─ optional: MessageId / OrderId / TradeProposalId</a:t>
            </a:r>
            <a:br>
              <a:rPr lang="pl-PL" sz="1000">
                <a:latin typeface="Courier New"/>
                <a:cs typeface="Courier New"/>
              </a:rPr>
            </a:br>
            <a:r>
              <a:rPr lang="pl-PL" sz="1000">
                <a:solidFill>
                  <a:schemeClr val="tx1"/>
                </a:solidFill>
                <a:latin typeface="Courier New"/>
                <a:cs typeface="Courier New"/>
              </a:rPr>
              <a:t>Tickets ── UserId ── Users</a:t>
            </a:r>
            <a:br>
              <a:rPr lang="pl-PL" sz="1000">
                <a:latin typeface="Courier New"/>
                <a:cs typeface="Courier New"/>
              </a:rPr>
            </a:br>
            <a:r>
              <a:rPr lang="pl-PL" sz="1000">
                <a:solidFill>
                  <a:schemeClr val="tx1"/>
                </a:solidFill>
                <a:latin typeface="Courier New"/>
                <a:cs typeface="Courier New"/>
              </a:rPr>
              <a:t>        └─ optional: ReportedUserId / ReportedListingId</a:t>
            </a:r>
            <a:br>
              <a:rPr lang="pl-PL" sz="1000">
                <a:latin typeface="Courier New"/>
                <a:cs typeface="Courier New"/>
              </a:rPr>
            </a:br>
            <a:r>
              <a:rPr lang="pl-PL" sz="1000">
                <a:solidFill>
                  <a:schemeClr val="tx1"/>
                </a:solidFill>
                <a:latin typeface="Courier New"/>
                <a:cs typeface="Courier New"/>
              </a:rPr>
              <a:t>        └─ 1:N ── TicketAttachments ── Uploads</a:t>
            </a:r>
          </a:p>
        </p:txBody>
      </p:sp>
    </p:spTree>
    <p:extLst>
      <p:ext uri="{BB962C8B-B14F-4D97-AF65-F5344CB8AC3E}">
        <p14:creationId xmlns:p14="http://schemas.microsoft.com/office/powerpoint/2010/main" val="318646283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8B00B-C68C-E30A-B8C9-FB2963EB802B}"/>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2F846C8A-0362-A988-071F-867446C01CD5}"/>
              </a:ext>
            </a:extLst>
          </p:cNvPr>
          <p:cNvSpPr txBox="1">
            <a:spLocks noGrp="1"/>
          </p:cNvSpPr>
          <p:nvPr>
            <p:ph type="title" idx="4294967295"/>
          </p:nvPr>
        </p:nvSpPr>
        <p:spPr>
          <a:xfrm>
            <a:off x="503998" y="301322"/>
            <a:ext cx="9071643" cy="999387"/>
          </a:xfrm>
        </p:spPr>
        <p:txBody>
          <a:bodyPr/>
          <a:lstStyle/>
          <a:p>
            <a:r>
              <a:rPr lang="pl-PL" sz="5000">
                <a:latin typeface="Arial"/>
                <a:cs typeface="Arial"/>
              </a:rPr>
              <a:t>Wykorzystane technologie (1⁄4)</a:t>
            </a:r>
          </a:p>
        </p:txBody>
      </p:sp>
      <p:sp>
        <p:nvSpPr>
          <p:cNvPr id="3" name="Symbol zastępczy tekstu 2">
            <a:extLst>
              <a:ext uri="{FF2B5EF4-FFF2-40B4-BE49-F238E27FC236}">
                <a16:creationId xmlns:a16="http://schemas.microsoft.com/office/drawing/2014/main" id="{B50149B2-ABA5-A9BB-7B17-BFA2413A6508}"/>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800">
                <a:latin typeface="Arial"/>
                <a:cs typeface="Arial"/>
              </a:rPr>
              <a:t>Języki programowania:</a:t>
            </a:r>
          </a:p>
          <a:p>
            <a:pPr algn="l">
              <a:spcBef>
                <a:spcPts val="1889"/>
              </a:spcBef>
            </a:pPr>
            <a:endParaRPr lang="pl-PL" sz="2800">
              <a:solidFill>
                <a:schemeClr val="tx1"/>
              </a:solidFill>
              <a:latin typeface="Arial"/>
              <a:cs typeface="Arial"/>
            </a:endParaRPr>
          </a:p>
          <a:p>
            <a:pPr algn="l">
              <a:spcBef>
                <a:spcPts val="1889"/>
              </a:spcBef>
            </a:pPr>
            <a:endParaRPr lang="pl-PL" sz="2800">
              <a:solidFill>
                <a:schemeClr val="tx1"/>
              </a:solidFill>
              <a:latin typeface="Arial"/>
              <a:ea typeface="Calibri"/>
              <a:cs typeface="Arial"/>
            </a:endParaRPr>
          </a:p>
          <a:p>
            <a:pPr algn="l">
              <a:spcBef>
                <a:spcPts val="1889"/>
              </a:spcBef>
            </a:pPr>
            <a:endParaRPr lang="pl-PL" sz="2800">
              <a:solidFill>
                <a:schemeClr val="tx1"/>
              </a:solidFill>
              <a:latin typeface="Arial"/>
              <a:cs typeface="Arial"/>
            </a:endParaRPr>
          </a:p>
        </p:txBody>
      </p:sp>
      <p:graphicFrame>
        <p:nvGraphicFramePr>
          <p:cNvPr id="5" name="Tabela 4">
            <a:extLst>
              <a:ext uri="{FF2B5EF4-FFF2-40B4-BE49-F238E27FC236}">
                <a16:creationId xmlns:a16="http://schemas.microsoft.com/office/drawing/2014/main" id="{00C863DD-833A-015C-54FD-39ADBE6A7C03}"/>
              </a:ext>
            </a:extLst>
          </p:cNvPr>
          <p:cNvGraphicFramePr>
            <a:graphicFrameLocks noGrp="1"/>
          </p:cNvGraphicFramePr>
          <p:nvPr>
            <p:extLst>
              <p:ext uri="{D42A27DB-BD31-4B8C-83A1-F6EECF244321}">
                <p14:modId xmlns:p14="http://schemas.microsoft.com/office/powerpoint/2010/main" val="2252620852"/>
              </p:ext>
            </p:extLst>
          </p:nvPr>
        </p:nvGraphicFramePr>
        <p:xfrm>
          <a:off x="599881" y="2167373"/>
          <a:ext cx="8877133" cy="4920700"/>
        </p:xfrm>
        <a:graphic>
          <a:graphicData uri="http://schemas.openxmlformats.org/drawingml/2006/table">
            <a:tbl>
              <a:tblPr bandRow="1">
                <a:tableStyleId>{5C22544A-7EE6-4342-B048-85BDC9FD1C3A}</a:tableStyleId>
              </a:tblPr>
              <a:tblGrid>
                <a:gridCol w="2675135">
                  <a:extLst>
                    <a:ext uri="{9D8B030D-6E8A-4147-A177-3AD203B41FA5}">
                      <a16:colId xmlns:a16="http://schemas.microsoft.com/office/drawing/2014/main" val="3875845362"/>
                    </a:ext>
                  </a:extLst>
                </a:gridCol>
                <a:gridCol w="6201998">
                  <a:extLst>
                    <a:ext uri="{9D8B030D-6E8A-4147-A177-3AD203B41FA5}">
                      <a16:colId xmlns:a16="http://schemas.microsoft.com/office/drawing/2014/main" val="3922121965"/>
                    </a:ext>
                  </a:extLst>
                </a:gridCol>
              </a:tblGrid>
              <a:tr h="272362">
                <a:tc>
                  <a:txBody>
                    <a:bodyPr/>
                    <a:lstStyle/>
                    <a:p>
                      <a:pPr marL="0" marR="0" latinLnBrk="0">
                        <a:buNone/>
                      </a:pPr>
                      <a:r>
                        <a:rPr lang="pl-PL" b="0">
                          <a:solidFill>
                            <a:schemeClr val="tx1"/>
                          </a:solidFill>
                          <a:effectLst/>
                          <a:latin typeface="Arial"/>
                          <a:cs typeface="Arial"/>
                        </a:rPr>
                        <a:t>Język</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latinLnBrk="0">
                        <a:buNone/>
                      </a:pPr>
                      <a:r>
                        <a:rPr lang="pl-PL" b="0">
                          <a:solidFill>
                            <a:schemeClr val="tx1"/>
                          </a:solidFill>
                          <a:effectLst/>
                          <a:latin typeface="Arial"/>
                          <a:cs typeface="Arial"/>
                        </a:rPr>
                        <a:t>Zastosowanie</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1884777484"/>
                  </a:ext>
                </a:extLst>
              </a:tr>
              <a:tr h="968400">
                <a:tc>
                  <a:txBody>
                    <a:bodyPr/>
                    <a:lstStyle/>
                    <a:p>
                      <a:pPr marL="0" marR="0" latinLnBrk="0">
                        <a:buNone/>
                      </a:pPr>
                      <a:r>
                        <a:rPr lang="pl-PL" b="1">
                          <a:solidFill>
                            <a:schemeClr val="tx1"/>
                          </a:solidFill>
                          <a:effectLst/>
                          <a:latin typeface="Arial"/>
                          <a:cs typeface="Arial"/>
                        </a:rPr>
                        <a:t>C# 12</a:t>
                      </a:r>
                      <a:endParaRPr lang="pl-PL">
                        <a:solidFill>
                          <a:schemeClr val="tx1"/>
                        </a:solidFill>
                        <a:effectLst/>
                        <a:latin typeface="Arial"/>
                        <a:cs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latinLnBrk="0">
                        <a:buNone/>
                      </a:pPr>
                      <a:r>
                        <a:rPr lang="pl-PL">
                          <a:solidFill>
                            <a:schemeClr val="tx1"/>
                          </a:solidFill>
                          <a:effectLst/>
                          <a:latin typeface="Arial"/>
                          <a:cs typeface="Arial"/>
                        </a:rPr>
                        <a:t>Cały kod serwerowy (kontrolery, serwisy, modele, migracje)</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1784733229"/>
                  </a:ext>
                </a:extLst>
              </a:tr>
              <a:tr h="794390">
                <a:tc>
                  <a:txBody>
                    <a:bodyPr/>
                    <a:lstStyle/>
                    <a:p>
                      <a:pPr marL="0" marR="0" latinLnBrk="0">
                        <a:buNone/>
                      </a:pPr>
                      <a:r>
                        <a:rPr lang="pl-PL" b="1">
                          <a:solidFill>
                            <a:schemeClr val="tx1"/>
                          </a:solidFill>
                          <a:effectLst/>
                          <a:latin typeface="Arial"/>
                          <a:cs typeface="Arial"/>
                        </a:rPr>
                        <a:t>HTML5 / Razor</a:t>
                      </a:r>
                      <a:endParaRPr lang="pl-PL">
                        <a:solidFill>
                          <a:schemeClr val="tx1"/>
                        </a:solidFill>
                        <a:effectLst/>
                        <a:latin typeface="Arial"/>
                        <a:cs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marL="0" marR="0" latinLnBrk="0">
                        <a:buNone/>
                      </a:pPr>
                      <a:r>
                        <a:rPr lang="pl-PL">
                          <a:solidFill>
                            <a:schemeClr val="tx1"/>
                          </a:solidFill>
                          <a:effectLst/>
                          <a:latin typeface="Arial"/>
                          <a:cs typeface="Arial"/>
                        </a:rPr>
                        <a:t>Szablony widoków (</a:t>
                      </a:r>
                      <a:r>
                        <a:rPr lang="pl-PL" sz="1600">
                          <a:solidFill>
                            <a:schemeClr val="tx1"/>
                          </a:solidFill>
                          <a:effectLst/>
                          <a:latin typeface="Courier New"/>
                          <a:cs typeface="Courier New"/>
                        </a:rPr>
                        <a:t>.cshtml</a:t>
                      </a:r>
                      <a:r>
                        <a:rPr lang="pl-PL">
                          <a:solidFill>
                            <a:schemeClr val="tx1"/>
                          </a:solidFill>
                          <a:effectLst/>
                          <a:latin typeface="Arial"/>
                          <a:cs typeface="Arial"/>
                        </a:rPr>
                        <a:t>) renderowane po stronie serwera</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extLst>
                  <a:ext uri="{0D108BD9-81ED-4DB2-BD59-A6C34878D82A}">
                    <a16:rowId xmlns:a16="http://schemas.microsoft.com/office/drawing/2014/main" val="1425533324"/>
                  </a:ext>
                </a:extLst>
              </a:tr>
              <a:tr h="794390">
                <a:tc>
                  <a:txBody>
                    <a:bodyPr/>
                    <a:lstStyle/>
                    <a:p>
                      <a:pPr marL="0" marR="0" latinLnBrk="0">
                        <a:buNone/>
                      </a:pPr>
                      <a:r>
                        <a:rPr lang="pl-PL" b="1">
                          <a:solidFill>
                            <a:schemeClr val="tx1"/>
                          </a:solidFill>
                          <a:effectLst/>
                          <a:latin typeface="Arial"/>
                          <a:cs typeface="Arial"/>
                        </a:rPr>
                        <a:t>CSS3</a:t>
                      </a:r>
                      <a:endParaRPr lang="pl-PL">
                        <a:solidFill>
                          <a:schemeClr val="tx1"/>
                        </a:solidFill>
                        <a:effectLst/>
                        <a:latin typeface="Arial"/>
                        <a:cs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latinLnBrk="0">
                        <a:buNone/>
                      </a:pPr>
                      <a:r>
                        <a:rPr lang="pl-PL">
                          <a:solidFill>
                            <a:schemeClr val="tx1"/>
                          </a:solidFill>
                          <a:effectLst/>
                          <a:latin typeface="Arial"/>
                          <a:cs typeface="Arial"/>
                        </a:rPr>
                        <a:t>Style (głównie przez Bootstrap 5, uzupełnione klasami własnymi)</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2723864135"/>
                  </a:ext>
                </a:extLst>
              </a:tr>
              <a:tr h="1142410">
                <a:tc>
                  <a:txBody>
                    <a:bodyPr/>
                    <a:lstStyle/>
                    <a:p>
                      <a:pPr marL="0" marR="0" latinLnBrk="0">
                        <a:buNone/>
                      </a:pPr>
                      <a:r>
                        <a:rPr lang="pl-PL" b="1">
                          <a:solidFill>
                            <a:schemeClr val="tx1"/>
                          </a:solidFill>
                          <a:effectLst/>
                          <a:latin typeface="Arial"/>
                          <a:cs typeface="Arial"/>
                        </a:rPr>
                        <a:t>JavaScript (ES6+)</a:t>
                      </a:r>
                      <a:endParaRPr lang="pl-PL">
                        <a:solidFill>
                          <a:schemeClr val="tx1"/>
                        </a:solidFill>
                        <a:effectLst/>
                        <a:latin typeface="Arial"/>
                        <a:cs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marL="0" marR="0" latinLnBrk="0">
                        <a:buNone/>
                      </a:pPr>
                      <a:r>
                        <a:rPr lang="pl-PL">
                          <a:solidFill>
                            <a:schemeClr val="tx1"/>
                          </a:solidFill>
                          <a:effectLst/>
                          <a:latin typeface="Arial"/>
                          <a:cs typeface="Arial"/>
                        </a:rPr>
                        <a:t>Interaktywność po stronie klienta (walidacja formularzy, dynamiczne UI — bez frameworka)</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extLst>
                  <a:ext uri="{0D108BD9-81ED-4DB2-BD59-A6C34878D82A}">
                    <a16:rowId xmlns:a16="http://schemas.microsoft.com/office/drawing/2014/main" val="1177214476"/>
                  </a:ext>
                </a:extLst>
              </a:tr>
              <a:tr h="794390">
                <a:tc>
                  <a:txBody>
                    <a:bodyPr/>
                    <a:lstStyle/>
                    <a:p>
                      <a:pPr marL="0" marR="0" latinLnBrk="0">
                        <a:buNone/>
                      </a:pPr>
                      <a:r>
                        <a:rPr lang="pl-PL" b="1">
                          <a:solidFill>
                            <a:schemeClr val="tx1"/>
                          </a:solidFill>
                          <a:effectLst/>
                          <a:latin typeface="Arial"/>
                          <a:cs typeface="Arial"/>
                        </a:rPr>
                        <a:t>SQL</a:t>
                      </a:r>
                      <a:endParaRPr lang="pl-PL">
                        <a:solidFill>
                          <a:schemeClr val="tx1"/>
                        </a:solidFill>
                        <a:effectLst/>
                        <a:latin typeface="Arial"/>
                        <a:cs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latinLnBrk="0">
                        <a:buNone/>
                      </a:pPr>
                      <a:r>
                        <a:rPr lang="pl-PL">
                          <a:solidFill>
                            <a:schemeClr val="tx1"/>
                          </a:solidFill>
                          <a:effectLst/>
                          <a:latin typeface="Arial"/>
                          <a:cs typeface="Arial"/>
                        </a:rPr>
                        <a:t>Ręcznie pisane skrypty migracji, 22 indeksy bazy danych</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2315378125"/>
                  </a:ext>
                </a:extLst>
              </a:tr>
            </a:tbl>
          </a:graphicData>
        </a:graphic>
      </p:graphicFrame>
    </p:spTree>
    <p:extLst>
      <p:ext uri="{BB962C8B-B14F-4D97-AF65-F5344CB8AC3E}">
        <p14:creationId xmlns:p14="http://schemas.microsoft.com/office/powerpoint/2010/main" val="17564094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95BFA-516A-251B-6CD8-737267585E5E}"/>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C90A23DC-3333-BD55-B6B9-1522313AF84D}"/>
              </a:ext>
            </a:extLst>
          </p:cNvPr>
          <p:cNvSpPr txBox="1">
            <a:spLocks noGrp="1"/>
          </p:cNvSpPr>
          <p:nvPr>
            <p:ph type="title" idx="4294967295"/>
          </p:nvPr>
        </p:nvSpPr>
        <p:spPr>
          <a:xfrm>
            <a:off x="503998" y="301322"/>
            <a:ext cx="9071643" cy="999387"/>
          </a:xfrm>
        </p:spPr>
        <p:txBody>
          <a:bodyPr/>
          <a:lstStyle/>
          <a:p>
            <a:r>
              <a:rPr lang="pl-PL" sz="5000">
                <a:latin typeface="Arial"/>
                <a:cs typeface="Arial"/>
              </a:rPr>
              <a:t>Wykorzystane technologie (2⁄4)</a:t>
            </a:r>
          </a:p>
        </p:txBody>
      </p:sp>
      <p:sp>
        <p:nvSpPr>
          <p:cNvPr id="3" name="Symbol zastępczy tekstu 2">
            <a:extLst>
              <a:ext uri="{FF2B5EF4-FFF2-40B4-BE49-F238E27FC236}">
                <a16:creationId xmlns:a16="http://schemas.microsoft.com/office/drawing/2014/main" id="{C162E45D-B5FA-1A60-8242-41F65896F248}"/>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000">
                <a:solidFill>
                  <a:schemeClr val="tx1"/>
                </a:solidFill>
                <a:latin typeface="Arial"/>
                <a:cs typeface="Arial"/>
              </a:rPr>
              <a:t>Frameworki i biblioteki</a:t>
            </a:r>
            <a:br>
              <a:rPr lang="pl-PL" sz="2000">
                <a:solidFill>
                  <a:schemeClr val="tx1"/>
                </a:solidFill>
                <a:latin typeface="Arial"/>
                <a:cs typeface="Arial"/>
              </a:rPr>
            </a:br>
            <a:r>
              <a:rPr lang="pl-PL" sz="2000" b="1">
                <a:solidFill>
                  <a:schemeClr val="tx1"/>
                </a:solidFill>
                <a:latin typeface="Arial"/>
                <a:cs typeface="Arial"/>
              </a:rPr>
              <a:t>Backend:</a:t>
            </a:r>
            <a:endParaRPr lang="pl-PL" sz="2000" b="1">
              <a:solidFill>
                <a:schemeClr val="tx1"/>
              </a:solidFill>
            </a:endParaRPr>
          </a:p>
          <a:p>
            <a:pPr algn="l">
              <a:spcBef>
                <a:spcPts val="1889"/>
              </a:spcBef>
            </a:pPr>
            <a:endParaRPr lang="pl-PL" sz="2000">
              <a:solidFill>
                <a:schemeClr val="tx1"/>
              </a:solidFill>
              <a:latin typeface="Arial"/>
              <a:cs typeface="Arial"/>
            </a:endParaRPr>
          </a:p>
        </p:txBody>
      </p:sp>
      <p:graphicFrame>
        <p:nvGraphicFramePr>
          <p:cNvPr id="6" name="Tabela 5">
            <a:extLst>
              <a:ext uri="{FF2B5EF4-FFF2-40B4-BE49-F238E27FC236}">
                <a16:creationId xmlns:a16="http://schemas.microsoft.com/office/drawing/2014/main" id="{D256AEDD-B46A-E2CB-C337-F95238C3A0F3}"/>
              </a:ext>
            </a:extLst>
          </p:cNvPr>
          <p:cNvGraphicFramePr>
            <a:graphicFrameLocks noGrp="1"/>
          </p:cNvGraphicFramePr>
          <p:nvPr>
            <p:extLst>
              <p:ext uri="{D42A27DB-BD31-4B8C-83A1-F6EECF244321}">
                <p14:modId xmlns:p14="http://schemas.microsoft.com/office/powerpoint/2010/main" val="2231624867"/>
              </p:ext>
            </p:extLst>
          </p:nvPr>
        </p:nvGraphicFramePr>
        <p:xfrm>
          <a:off x="535567" y="2217322"/>
          <a:ext cx="9007473" cy="4946764"/>
        </p:xfrm>
        <a:graphic>
          <a:graphicData uri="http://schemas.openxmlformats.org/drawingml/2006/table">
            <a:tbl>
              <a:tblPr bandRow="1">
                <a:tableStyleId>{5C22544A-7EE6-4342-B048-85BDC9FD1C3A}</a:tableStyleId>
              </a:tblPr>
              <a:tblGrid>
                <a:gridCol w="2277014">
                  <a:extLst>
                    <a:ext uri="{9D8B030D-6E8A-4147-A177-3AD203B41FA5}">
                      <a16:colId xmlns:a16="http://schemas.microsoft.com/office/drawing/2014/main" val="3985606802"/>
                    </a:ext>
                  </a:extLst>
                </a:gridCol>
                <a:gridCol w="1811818">
                  <a:extLst>
                    <a:ext uri="{9D8B030D-6E8A-4147-A177-3AD203B41FA5}">
                      <a16:colId xmlns:a16="http://schemas.microsoft.com/office/drawing/2014/main" val="497058065"/>
                    </a:ext>
                  </a:extLst>
                </a:gridCol>
                <a:gridCol w="4918641">
                  <a:extLst>
                    <a:ext uri="{9D8B030D-6E8A-4147-A177-3AD203B41FA5}">
                      <a16:colId xmlns:a16="http://schemas.microsoft.com/office/drawing/2014/main" val="591704029"/>
                    </a:ext>
                  </a:extLst>
                </a:gridCol>
              </a:tblGrid>
              <a:tr h="456809">
                <a:tc>
                  <a:txBody>
                    <a:bodyPr/>
                    <a:lstStyle/>
                    <a:p>
                      <a:pPr marL="0" marR="0" algn="l" latinLnBrk="0">
                        <a:buNone/>
                      </a:pPr>
                      <a:r>
                        <a:rPr lang="pl-PL" sz="2000" b="0" i="0">
                          <a:solidFill>
                            <a:schemeClr val="tx1"/>
                          </a:solidFill>
                          <a:effectLst/>
                          <a:latin typeface="Arial"/>
                        </a:rPr>
                        <a:t>Biblioteka</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algn="l" latinLnBrk="0">
                        <a:buNone/>
                      </a:pPr>
                      <a:r>
                        <a:rPr lang="pl-PL" sz="2000" b="0" i="0">
                          <a:solidFill>
                            <a:schemeClr val="tx1"/>
                          </a:solidFill>
                          <a:effectLst/>
                          <a:latin typeface="Arial"/>
                        </a:rPr>
                        <a:t>Wersja</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algn="l" latinLnBrk="0">
                        <a:buNone/>
                      </a:pPr>
                      <a:r>
                        <a:rPr lang="pl-PL" sz="2000" b="0" i="0">
                          <a:solidFill>
                            <a:schemeClr val="tx1"/>
                          </a:solidFill>
                          <a:effectLst/>
                          <a:latin typeface="Arial"/>
                        </a:rPr>
                        <a:t>Rola</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821892007"/>
                  </a:ext>
                </a:extLst>
              </a:tr>
              <a:tr h="1169432">
                <a:tc>
                  <a:txBody>
                    <a:bodyPr/>
                    <a:lstStyle/>
                    <a:p>
                      <a:pPr marL="0" marR="0" algn="l" latinLnBrk="0">
                        <a:buNone/>
                      </a:pPr>
                      <a:r>
                        <a:rPr lang="pl-PL" sz="2000" b="1" i="0">
                          <a:solidFill>
                            <a:schemeClr val="tx1"/>
                          </a:solidFill>
                          <a:effectLst/>
                          <a:latin typeface="Arial"/>
                        </a:rPr>
                        <a:t>ASP.NET Core</a:t>
                      </a:r>
                      <a:endParaRPr lang="pl-PL" sz="2000" b="0" i="0">
                        <a:solidFill>
                          <a:schemeClr val="tx1"/>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algn="l" latinLnBrk="0">
                        <a:buNone/>
                      </a:pPr>
                      <a:r>
                        <a:rPr lang="pl-PL" sz="2000" b="0" i="0">
                          <a:solidFill>
                            <a:schemeClr val="tx1"/>
                          </a:solidFill>
                          <a:effectLst/>
                          <a:latin typeface="Arial"/>
                        </a:rPr>
                        <a:t>8.0</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algn="l" latinLnBrk="0">
                        <a:buNone/>
                      </a:pPr>
                      <a:r>
                        <a:rPr lang="pl-PL" sz="2000" b="0" i="0">
                          <a:solidFill>
                            <a:schemeClr val="tx1"/>
                          </a:solidFill>
                          <a:effectLst/>
                          <a:latin typeface="Arial"/>
                        </a:rPr>
                        <a:t>Główny framework webowy, routing, middleware, autoryzacja</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4027648590"/>
                  </a:ext>
                </a:extLst>
              </a:tr>
              <a:tr h="1169432">
                <a:tc>
                  <a:txBody>
                    <a:bodyPr/>
                    <a:lstStyle/>
                    <a:p>
                      <a:pPr marL="0" marR="0" algn="l" latinLnBrk="0">
                        <a:buNone/>
                      </a:pPr>
                      <a:r>
                        <a:rPr lang="pl-PL" sz="2000" b="1" i="0">
                          <a:solidFill>
                            <a:schemeClr val="tx1"/>
                          </a:solidFill>
                          <a:effectLst/>
                          <a:latin typeface="Arial"/>
                        </a:rPr>
                        <a:t>Entity Framework Core</a:t>
                      </a:r>
                      <a:endParaRPr lang="pl-PL" sz="2000" b="0" i="0">
                        <a:solidFill>
                          <a:schemeClr val="tx1"/>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marL="0" marR="0" algn="l" latinLnBrk="0">
                        <a:buNone/>
                      </a:pPr>
                      <a:r>
                        <a:rPr lang="pl-PL" sz="2000" b="0" i="0">
                          <a:solidFill>
                            <a:schemeClr val="tx1"/>
                          </a:solidFill>
                          <a:effectLst/>
                          <a:latin typeface="Arial"/>
                        </a:rPr>
                        <a:t>9.0</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marL="0" marR="0" algn="l" latinLnBrk="0">
                        <a:buNone/>
                      </a:pPr>
                      <a:r>
                        <a:rPr lang="pl-PL" sz="2000" b="0" i="0">
                          <a:solidFill>
                            <a:schemeClr val="tx1"/>
                          </a:solidFill>
                          <a:effectLst/>
                          <a:latin typeface="Arial"/>
                        </a:rPr>
                        <a:t>ORM — mapowanie obiektowo-relacyjne, zapytania LINQ→SQL</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extLst>
                  <a:ext uri="{0D108BD9-81ED-4DB2-BD59-A6C34878D82A}">
                    <a16:rowId xmlns:a16="http://schemas.microsoft.com/office/drawing/2014/main" val="2766176125"/>
                  </a:ext>
                </a:extLst>
              </a:tr>
              <a:tr h="694350">
                <a:tc>
                  <a:txBody>
                    <a:bodyPr/>
                    <a:lstStyle/>
                    <a:p>
                      <a:pPr marL="0" marR="0" algn="l" latinLnBrk="0">
                        <a:buNone/>
                      </a:pPr>
                      <a:r>
                        <a:rPr lang="pl-PL" sz="2000" b="1" i="0">
                          <a:solidFill>
                            <a:schemeClr val="tx1"/>
                          </a:solidFill>
                          <a:effectLst/>
                          <a:latin typeface="Arial"/>
                        </a:rPr>
                        <a:t>Npgsql.EFCore.PostgreSQL</a:t>
                      </a:r>
                      <a:endParaRPr lang="pl-PL" sz="2000" b="0" i="0">
                        <a:solidFill>
                          <a:schemeClr val="tx1"/>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algn="l" latinLnBrk="0">
                        <a:buNone/>
                      </a:pPr>
                      <a:r>
                        <a:rPr lang="pl-PL" sz="2000" b="0" i="0">
                          <a:solidFill>
                            <a:schemeClr val="tx1"/>
                          </a:solidFill>
                          <a:effectLst/>
                          <a:latin typeface="Arial"/>
                        </a:rPr>
                        <a:t>9.0</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algn="l" latinLnBrk="0">
                        <a:buNone/>
                      </a:pPr>
                      <a:r>
                        <a:rPr lang="pl-PL" sz="2000" b="0" i="0">
                          <a:solidFill>
                            <a:schemeClr val="tx1"/>
                          </a:solidFill>
                          <a:effectLst/>
                          <a:latin typeface="Arial"/>
                        </a:rPr>
                        <a:t>Dostawca EF Core dla PostgreSQL</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3102341587"/>
                  </a:ext>
                </a:extLst>
              </a:tr>
              <a:tr h="694350">
                <a:tc>
                  <a:txBody>
                    <a:bodyPr/>
                    <a:lstStyle/>
                    <a:p>
                      <a:pPr marL="0" marR="0" algn="l" latinLnBrk="0">
                        <a:buNone/>
                      </a:pPr>
                      <a:r>
                        <a:rPr lang="pl-PL" sz="2000" b="1" i="0">
                          <a:solidFill>
                            <a:schemeClr val="tx1"/>
                          </a:solidFill>
                          <a:effectLst/>
                          <a:latin typeface="Arial"/>
                        </a:rPr>
                        <a:t>MailKit</a:t>
                      </a:r>
                      <a:endParaRPr lang="pl-PL" sz="2000" b="0" i="0">
                        <a:solidFill>
                          <a:schemeClr val="tx1"/>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marL="0" marR="0" algn="l" latinLnBrk="0">
                        <a:buNone/>
                      </a:pPr>
                      <a:r>
                        <a:rPr lang="pl-PL" sz="2000" b="0" i="0">
                          <a:solidFill>
                            <a:schemeClr val="tx1"/>
                          </a:solidFill>
                          <a:effectLst/>
                          <a:latin typeface="Arial"/>
                        </a:rPr>
                        <a:t>4.17</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marL="0" marR="0" algn="l" latinLnBrk="0">
                        <a:buNone/>
                      </a:pPr>
                      <a:r>
                        <a:rPr lang="pl-PL" sz="2000" b="0" i="0">
                          <a:solidFill>
                            <a:schemeClr val="tx1"/>
                          </a:solidFill>
                          <a:effectLst/>
                          <a:latin typeface="Arial"/>
                        </a:rPr>
                        <a:t>Wysyłka e-maili przez SMTP</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extLst>
                  <a:ext uri="{0D108BD9-81ED-4DB2-BD59-A6C34878D82A}">
                    <a16:rowId xmlns:a16="http://schemas.microsoft.com/office/drawing/2014/main" val="2410433667"/>
                  </a:ext>
                </a:extLst>
              </a:tr>
              <a:tr h="694350">
                <a:tc>
                  <a:txBody>
                    <a:bodyPr/>
                    <a:lstStyle/>
                    <a:p>
                      <a:pPr marL="0" marR="0" algn="l" latinLnBrk="0">
                        <a:buNone/>
                      </a:pPr>
                      <a:r>
                        <a:rPr lang="pl-PL" sz="2000" b="1" i="0">
                          <a:solidFill>
                            <a:schemeClr val="tx1"/>
                          </a:solidFill>
                          <a:effectLst/>
                          <a:latin typeface="Arial"/>
                        </a:rPr>
                        <a:t>BCrypt.Net-Next</a:t>
                      </a:r>
                      <a:endParaRPr lang="pl-PL" sz="2000" b="0" i="0">
                        <a:solidFill>
                          <a:schemeClr val="tx1"/>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algn="l" latinLnBrk="0">
                        <a:buNone/>
                      </a:pPr>
                      <a:r>
                        <a:rPr lang="pl-PL" sz="2000" b="0" i="0">
                          <a:solidFill>
                            <a:schemeClr val="tx1"/>
                          </a:solidFill>
                          <a:effectLst/>
                          <a:latin typeface="Arial"/>
                        </a:rPr>
                        <a:t>(wbudowany)</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algn="l" latinLnBrk="0">
                        <a:buNone/>
                      </a:pPr>
                      <a:r>
                        <a:rPr lang="pl-PL" sz="2000" b="0" i="0">
                          <a:solidFill>
                            <a:schemeClr val="tx1"/>
                          </a:solidFill>
                          <a:effectLst/>
                          <a:latin typeface="Arial"/>
                        </a:rPr>
                        <a:t>Hashowanie haseł z solą</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1061379650"/>
                  </a:ext>
                </a:extLst>
              </a:tr>
            </a:tbl>
          </a:graphicData>
        </a:graphic>
      </p:graphicFrame>
    </p:spTree>
    <p:extLst>
      <p:ext uri="{BB962C8B-B14F-4D97-AF65-F5344CB8AC3E}">
        <p14:creationId xmlns:p14="http://schemas.microsoft.com/office/powerpoint/2010/main" val="83417202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11FCD-E1C1-0C24-36C4-FE79E5C20C9A}"/>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B1B9A1E3-4D66-36D3-B7E4-B0DC8BA52399}"/>
              </a:ext>
            </a:extLst>
          </p:cNvPr>
          <p:cNvSpPr txBox="1">
            <a:spLocks noGrp="1"/>
          </p:cNvSpPr>
          <p:nvPr>
            <p:ph type="title" idx="4294967295"/>
          </p:nvPr>
        </p:nvSpPr>
        <p:spPr>
          <a:xfrm>
            <a:off x="503998" y="301322"/>
            <a:ext cx="9071643" cy="999387"/>
          </a:xfrm>
        </p:spPr>
        <p:txBody>
          <a:bodyPr/>
          <a:lstStyle/>
          <a:p>
            <a:r>
              <a:rPr lang="pl-PL" sz="5000">
                <a:latin typeface="Arial"/>
                <a:cs typeface="Arial"/>
              </a:rPr>
              <a:t>Wykorzystane technologie (3⁄4)</a:t>
            </a:r>
          </a:p>
        </p:txBody>
      </p:sp>
      <p:sp>
        <p:nvSpPr>
          <p:cNvPr id="3" name="Symbol zastępczy tekstu 2">
            <a:extLst>
              <a:ext uri="{FF2B5EF4-FFF2-40B4-BE49-F238E27FC236}">
                <a16:creationId xmlns:a16="http://schemas.microsoft.com/office/drawing/2014/main" id="{348B17C0-FB0F-31A4-8BEE-2E6002E028E6}"/>
              </a:ext>
            </a:extLst>
          </p:cNvPr>
          <p:cNvSpPr txBox="1">
            <a:spLocks noGrp="1"/>
          </p:cNvSpPr>
          <p:nvPr>
            <p:ph type="body" idx="4294967295"/>
          </p:nvPr>
        </p:nvSpPr>
        <p:spPr>
          <a:xfrm>
            <a:off x="503998" y="1411174"/>
            <a:ext cx="9071643" cy="2248905"/>
          </a:xfrm>
        </p:spPr>
        <p:txBody>
          <a:bodyPr>
            <a:noAutofit/>
          </a:bodyPr>
          <a:lstStyle/>
          <a:p>
            <a:pPr algn="l">
              <a:spcBef>
                <a:spcPts val="1889"/>
              </a:spcBef>
            </a:pPr>
            <a:r>
              <a:rPr lang="pl-PL" sz="2000" b="1">
                <a:latin typeface="Arial"/>
                <a:cs typeface="Arial"/>
              </a:rPr>
              <a:t>Frontend:</a:t>
            </a:r>
            <a:br>
              <a:rPr lang="pl-PL" sz="2000" b="1">
                <a:latin typeface="Arial"/>
                <a:cs typeface="Arial"/>
              </a:rPr>
            </a:br>
            <a:endParaRPr lang="pl-PL" sz="2000">
              <a:latin typeface="Arial"/>
              <a:cs typeface="Arial"/>
            </a:endParaRPr>
          </a:p>
        </p:txBody>
      </p:sp>
      <p:graphicFrame>
        <p:nvGraphicFramePr>
          <p:cNvPr id="5" name="Tabela 4">
            <a:extLst>
              <a:ext uri="{FF2B5EF4-FFF2-40B4-BE49-F238E27FC236}">
                <a16:creationId xmlns:a16="http://schemas.microsoft.com/office/drawing/2014/main" id="{C4F923C9-6C69-A3DB-44CB-BE19071ECC59}"/>
              </a:ext>
            </a:extLst>
          </p:cNvPr>
          <p:cNvGraphicFramePr>
            <a:graphicFrameLocks noGrp="1"/>
          </p:cNvGraphicFramePr>
          <p:nvPr>
            <p:extLst>
              <p:ext uri="{D42A27DB-BD31-4B8C-83A1-F6EECF244321}">
                <p14:modId xmlns:p14="http://schemas.microsoft.com/office/powerpoint/2010/main" val="3893205336"/>
              </p:ext>
            </p:extLst>
          </p:nvPr>
        </p:nvGraphicFramePr>
        <p:xfrm>
          <a:off x="780974" y="1887127"/>
          <a:ext cx="8515124" cy="1744268"/>
        </p:xfrm>
        <a:graphic>
          <a:graphicData uri="http://schemas.openxmlformats.org/drawingml/2006/table">
            <a:tbl>
              <a:tblPr bandRow="1">
                <a:tableStyleId>{5C22544A-7EE6-4342-B048-85BDC9FD1C3A}</a:tableStyleId>
              </a:tblPr>
              <a:tblGrid>
                <a:gridCol w="3018410">
                  <a:extLst>
                    <a:ext uri="{9D8B030D-6E8A-4147-A177-3AD203B41FA5}">
                      <a16:colId xmlns:a16="http://schemas.microsoft.com/office/drawing/2014/main" val="2335187674"/>
                    </a:ext>
                  </a:extLst>
                </a:gridCol>
                <a:gridCol w="5496714">
                  <a:extLst>
                    <a:ext uri="{9D8B030D-6E8A-4147-A177-3AD203B41FA5}">
                      <a16:colId xmlns:a16="http://schemas.microsoft.com/office/drawing/2014/main" val="871569837"/>
                    </a:ext>
                  </a:extLst>
                </a:gridCol>
              </a:tblGrid>
              <a:tr h="405054">
                <a:tc>
                  <a:txBody>
                    <a:bodyPr/>
                    <a:lstStyle/>
                    <a:p>
                      <a:pPr marL="0" marR="0" algn="l" latinLnBrk="0">
                        <a:buNone/>
                      </a:pPr>
                      <a:r>
                        <a:rPr lang="pl-PL" sz="2000" b="0" i="0">
                          <a:solidFill>
                            <a:srgbClr val="0E0E0F"/>
                          </a:solidFill>
                          <a:effectLst/>
                          <a:latin typeface="Arial"/>
                        </a:rPr>
                        <a:t>Biblioteka</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algn="l" latinLnBrk="0">
                        <a:buNone/>
                      </a:pPr>
                      <a:r>
                        <a:rPr lang="pl-PL" sz="2000" b="0" i="0">
                          <a:solidFill>
                            <a:srgbClr val="0E0E0F"/>
                          </a:solidFill>
                          <a:effectLst/>
                          <a:latin typeface="Arial"/>
                        </a:rPr>
                        <a:t>Rola</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2215341889"/>
                  </a:ext>
                </a:extLst>
              </a:tr>
              <a:tr h="829868">
                <a:tc>
                  <a:txBody>
                    <a:bodyPr/>
                    <a:lstStyle/>
                    <a:p>
                      <a:pPr marL="0" marR="0" algn="l" latinLnBrk="0">
                        <a:buNone/>
                      </a:pPr>
                      <a:r>
                        <a:rPr lang="pl-PL" sz="2000" b="1" i="0">
                          <a:solidFill>
                            <a:srgbClr val="0E0E0F"/>
                          </a:solidFill>
                          <a:effectLst/>
                          <a:latin typeface="Arial"/>
                        </a:rPr>
                        <a:t>Bootstrap 5</a:t>
                      </a:r>
                      <a:endParaRPr lang="pl-PL" sz="2000" b="0" i="0">
                        <a:solidFill>
                          <a:srgbClr val="0E0E0F"/>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algn="l" latinLnBrk="0">
                        <a:buNone/>
                      </a:pPr>
                      <a:r>
                        <a:rPr lang="pl-PL" sz="2000" b="0" i="0">
                          <a:solidFill>
                            <a:srgbClr val="0E0E0F"/>
                          </a:solidFill>
                          <a:effectLst/>
                          <a:latin typeface="Arial"/>
                        </a:rPr>
                        <a:t>Responsywny grid, komponenty UI (offcanvas, karty, formularze)</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2623585373"/>
                  </a:ext>
                </a:extLst>
              </a:tr>
              <a:tr h="405054">
                <a:tc>
                  <a:txBody>
                    <a:bodyPr/>
                    <a:lstStyle/>
                    <a:p>
                      <a:pPr marL="0" marR="0" algn="l" latinLnBrk="0">
                        <a:buNone/>
                      </a:pPr>
                      <a:r>
                        <a:rPr lang="pl-PL" sz="2000" b="1" i="0">
                          <a:solidFill>
                            <a:srgbClr val="0E0E0F"/>
                          </a:solidFill>
                          <a:effectLst/>
                          <a:latin typeface="Arial"/>
                        </a:rPr>
                        <a:t>Bootstrap Icons</a:t>
                      </a:r>
                      <a:endParaRPr lang="pl-PL" sz="2000" b="0" i="0">
                        <a:solidFill>
                          <a:srgbClr val="0E0E0F"/>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marL="0" marR="0" algn="l" latinLnBrk="0">
                        <a:buNone/>
                      </a:pPr>
                      <a:r>
                        <a:rPr lang="pl-PL" sz="2000" b="0" i="0">
                          <a:solidFill>
                            <a:srgbClr val="0E0E0F"/>
                          </a:solidFill>
                          <a:effectLst/>
                          <a:latin typeface="Arial"/>
                        </a:rPr>
                        <a:t>Ikony wektorowe</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extLst>
                  <a:ext uri="{0D108BD9-81ED-4DB2-BD59-A6C34878D82A}">
                    <a16:rowId xmlns:a16="http://schemas.microsoft.com/office/drawing/2014/main" val="569441291"/>
                  </a:ext>
                </a:extLst>
              </a:tr>
            </a:tbl>
          </a:graphicData>
        </a:graphic>
      </p:graphicFrame>
      <p:sp>
        <p:nvSpPr>
          <p:cNvPr id="8" name="Symbol zastępczy tekstu 2">
            <a:extLst>
              <a:ext uri="{FF2B5EF4-FFF2-40B4-BE49-F238E27FC236}">
                <a16:creationId xmlns:a16="http://schemas.microsoft.com/office/drawing/2014/main" id="{B42647ED-C158-EB6E-83F9-BC7F61197638}"/>
              </a:ext>
            </a:extLst>
          </p:cNvPr>
          <p:cNvSpPr txBox="1">
            <a:spLocks/>
          </p:cNvSpPr>
          <p:nvPr/>
        </p:nvSpPr>
        <p:spPr>
          <a:xfrm>
            <a:off x="505818" y="3889820"/>
            <a:ext cx="9071643" cy="3371131"/>
          </a:xfrm>
          <a:prstGeom prst="rect">
            <a:avLst/>
          </a:prstGeom>
          <a:noFill/>
          <a:ln>
            <a:noFill/>
          </a:ln>
        </p:spPr>
        <p:txBody>
          <a:bodyPr vert="horz" wrap="square" lIns="0" tIns="0" rIns="0" bIns="0" anchor="t" anchorCtr="0" compatLnSpc="1">
            <a:noAutofit/>
          </a:bodyPr>
          <a:lstStyle>
            <a:lvl1pPr marL="0" marR="0" lvl="0" indent="0" defTabSz="914400" rtl="0" fontAlgn="auto" hangingPunct="0">
              <a:lnSpc>
                <a:spcPct val="100000"/>
              </a:lnSpc>
              <a:spcBef>
                <a:spcPts val="1890"/>
              </a:spcBef>
              <a:spcAft>
                <a:spcPts val="0"/>
              </a:spcAft>
              <a:buNone/>
              <a:tabLst/>
              <a:defRPr lang="pl-PL" sz="4270" b="0" i="0" u="none" strike="noStrike" kern="1200" cap="none" spc="0" baseline="0">
                <a:solidFill>
                  <a:srgbClr val="000000"/>
                </a:solidFill>
                <a:highlight>
                  <a:scrgbClr r="0" g="0" b="0">
                    <a:alpha val="0"/>
                  </a:scrgbClr>
                </a:highlight>
                <a:uFillTx/>
                <a:latin typeface="Liberation Sans" pitchFamily="18"/>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pl-PL" sz="2400" b="0" i="0" u="none" strike="noStrike" kern="1200" cap="none" spc="0" baseline="0">
                <a:solidFill>
                  <a:srgbClr val="000000"/>
                </a:solidFill>
                <a:uFillTx/>
                <a:latin typeface="Calibri"/>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pl-PL" sz="2000" b="0" i="0" u="none" strike="noStrike" kern="1200" cap="none" spc="0" baseline="0">
                <a:solidFill>
                  <a:srgbClr val="000000"/>
                </a:solidFill>
                <a:uFillTx/>
                <a:latin typeface="Calibri"/>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pl-PL" sz="1800" b="0" i="0" u="none" strike="noStrike" kern="1200" cap="none" spc="0" baseline="0">
                <a:solidFill>
                  <a:srgbClr val="000000"/>
                </a:solidFill>
                <a:uFillTx/>
                <a:latin typeface="Calibri"/>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pl-PL" sz="1800" b="0" i="0" u="none" strike="noStrike" kern="1200" cap="none" spc="0" baseline="0">
                <a:solidFill>
                  <a:srgbClr val="000000"/>
                </a:solidFill>
                <a:uFillTx/>
                <a:latin typeface="Calibri"/>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spcBef>
                <a:spcPts val="1889"/>
              </a:spcBef>
            </a:pPr>
            <a:r>
              <a:rPr lang="pl-PL" sz="2000" b="1">
                <a:latin typeface="Liberation Sans"/>
                <a:cs typeface="Arial"/>
              </a:rPr>
              <a:t>Infrastruktura:</a:t>
            </a:r>
            <a:endParaRPr lang="pl-PL" sz="2000" b="1">
              <a:latin typeface="Liberation Sans"/>
            </a:endParaRPr>
          </a:p>
        </p:txBody>
      </p:sp>
      <p:graphicFrame>
        <p:nvGraphicFramePr>
          <p:cNvPr id="10" name="Tabela 9">
            <a:extLst>
              <a:ext uri="{FF2B5EF4-FFF2-40B4-BE49-F238E27FC236}">
                <a16:creationId xmlns:a16="http://schemas.microsoft.com/office/drawing/2014/main" id="{7C8B406F-2D57-74F0-5B5A-EF1B7BF29129}"/>
              </a:ext>
            </a:extLst>
          </p:cNvPr>
          <p:cNvGraphicFramePr>
            <a:graphicFrameLocks noGrp="1"/>
          </p:cNvGraphicFramePr>
          <p:nvPr>
            <p:extLst>
              <p:ext uri="{D42A27DB-BD31-4B8C-83A1-F6EECF244321}">
                <p14:modId xmlns:p14="http://schemas.microsoft.com/office/powerpoint/2010/main" val="3723984418"/>
              </p:ext>
            </p:extLst>
          </p:nvPr>
        </p:nvGraphicFramePr>
        <p:xfrm>
          <a:off x="778347" y="4316934"/>
          <a:ext cx="8493281" cy="2868384"/>
        </p:xfrm>
        <a:graphic>
          <a:graphicData uri="http://schemas.openxmlformats.org/drawingml/2006/table">
            <a:tbl>
              <a:tblPr bandRow="1">
                <a:tableStyleId>{5C22544A-7EE6-4342-B048-85BDC9FD1C3A}</a:tableStyleId>
              </a:tblPr>
              <a:tblGrid>
                <a:gridCol w="3537943">
                  <a:extLst>
                    <a:ext uri="{9D8B030D-6E8A-4147-A177-3AD203B41FA5}">
                      <a16:colId xmlns:a16="http://schemas.microsoft.com/office/drawing/2014/main" val="3980471409"/>
                    </a:ext>
                  </a:extLst>
                </a:gridCol>
                <a:gridCol w="4955338">
                  <a:extLst>
                    <a:ext uri="{9D8B030D-6E8A-4147-A177-3AD203B41FA5}">
                      <a16:colId xmlns:a16="http://schemas.microsoft.com/office/drawing/2014/main" val="3022571578"/>
                    </a:ext>
                  </a:extLst>
                </a:gridCol>
              </a:tblGrid>
              <a:tr h="404211">
                <a:tc>
                  <a:txBody>
                    <a:bodyPr/>
                    <a:lstStyle/>
                    <a:p>
                      <a:pPr marL="0" marR="0" algn="l" latinLnBrk="0">
                        <a:buNone/>
                      </a:pPr>
                      <a:r>
                        <a:rPr lang="pl-PL" sz="2000" b="0" i="0">
                          <a:solidFill>
                            <a:srgbClr val="0E0E0F"/>
                          </a:solidFill>
                          <a:effectLst/>
                          <a:latin typeface="Arial"/>
                        </a:rPr>
                        <a:t>Technologia</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algn="l" latinLnBrk="0">
                        <a:buNone/>
                      </a:pPr>
                      <a:r>
                        <a:rPr lang="pl-PL" sz="2000" b="0" i="0">
                          <a:solidFill>
                            <a:srgbClr val="0E0E0F"/>
                          </a:solidFill>
                          <a:effectLst/>
                          <a:latin typeface="Arial"/>
                        </a:rPr>
                        <a:t>Rola</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3777353221"/>
                  </a:ext>
                </a:extLst>
              </a:tr>
              <a:tr h="824592">
                <a:tc>
                  <a:txBody>
                    <a:bodyPr/>
                    <a:lstStyle/>
                    <a:p>
                      <a:pPr marL="0" marR="0" algn="l" latinLnBrk="0">
                        <a:buNone/>
                      </a:pPr>
                      <a:r>
                        <a:rPr lang="pl-PL" sz="2000" b="1" i="0">
                          <a:solidFill>
                            <a:srgbClr val="0E0E0F"/>
                          </a:solidFill>
                          <a:effectLst/>
                          <a:latin typeface="Arial"/>
                        </a:rPr>
                        <a:t>PostgreSQL 16</a:t>
                      </a:r>
                      <a:endParaRPr lang="pl-PL" sz="2000" b="0" i="0">
                        <a:solidFill>
                          <a:srgbClr val="0E0E0F"/>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algn="l" latinLnBrk="0">
                        <a:buNone/>
                      </a:pPr>
                      <a:r>
                        <a:rPr lang="pl-PL" sz="2000" b="0" i="0">
                          <a:solidFill>
                            <a:srgbClr val="0E0E0F"/>
                          </a:solidFill>
                          <a:effectLst/>
                          <a:latin typeface="Arial"/>
                        </a:rPr>
                        <a:t>Relacyjna baza danych (produkcja), Replit PostgreSQL (dev)</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878001045"/>
                  </a:ext>
                </a:extLst>
              </a:tr>
              <a:tr h="614402">
                <a:tc>
                  <a:txBody>
                    <a:bodyPr/>
                    <a:lstStyle/>
                    <a:p>
                      <a:pPr marL="0" marR="0" algn="l" latinLnBrk="0">
                        <a:buNone/>
                      </a:pPr>
                      <a:r>
                        <a:rPr lang="pl-PL" sz="2000" b="1" i="0">
                          <a:solidFill>
                            <a:srgbClr val="0E0E0F"/>
                          </a:solidFill>
                          <a:effectLst/>
                          <a:latin typeface="Arial"/>
                        </a:rPr>
                        <a:t>Docker / Docker Compose</a:t>
                      </a:r>
                      <a:endParaRPr lang="pl-PL" sz="2000" b="0" i="0">
                        <a:solidFill>
                          <a:srgbClr val="0E0E0F"/>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marL="0" marR="0" algn="l" latinLnBrk="0">
                        <a:buNone/>
                      </a:pPr>
                      <a:r>
                        <a:rPr lang="pl-PL" sz="2000" b="0" i="0">
                          <a:solidFill>
                            <a:srgbClr val="0E0E0F"/>
                          </a:solidFill>
                          <a:effectLst/>
                          <a:latin typeface="Arial"/>
                        </a:rPr>
                        <a:t>Konteneryzacja środowiska produkcyjnego</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extLst>
                  <a:ext uri="{0D108BD9-81ED-4DB2-BD59-A6C34878D82A}">
                    <a16:rowId xmlns:a16="http://schemas.microsoft.com/office/drawing/2014/main" val="3906286332"/>
                  </a:ext>
                </a:extLst>
              </a:tr>
              <a:tr h="824592">
                <a:tc>
                  <a:txBody>
                    <a:bodyPr/>
                    <a:lstStyle/>
                    <a:p>
                      <a:pPr marL="0" marR="0" algn="l" latinLnBrk="0">
                        <a:buNone/>
                      </a:pPr>
                      <a:r>
                        <a:rPr lang="pl-PL" sz="2000" b="1" i="0">
                          <a:solidFill>
                            <a:srgbClr val="0E0E0F"/>
                          </a:solidFill>
                          <a:effectLst/>
                          <a:latin typeface="Arial"/>
                        </a:rPr>
                        <a:t>Nginx</a:t>
                      </a:r>
                      <a:endParaRPr lang="pl-PL" sz="2000" b="0" i="0">
                        <a:solidFill>
                          <a:srgbClr val="0E0E0F"/>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algn="l" latinLnBrk="0">
                        <a:buNone/>
                      </a:pPr>
                      <a:r>
                        <a:rPr lang="pl-PL" sz="2000" b="0" i="0">
                          <a:solidFill>
                            <a:srgbClr val="0E0E0F"/>
                          </a:solidFill>
                          <a:effectLst/>
                          <a:latin typeface="Arial"/>
                        </a:rPr>
                        <a:t>Reverse proxy, terminacja TLS, cache zasobów statycznych</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1274170166"/>
                  </a:ext>
                </a:extLst>
              </a:tr>
            </a:tbl>
          </a:graphicData>
        </a:graphic>
      </p:graphicFrame>
    </p:spTree>
    <p:extLst>
      <p:ext uri="{BB962C8B-B14F-4D97-AF65-F5344CB8AC3E}">
        <p14:creationId xmlns:p14="http://schemas.microsoft.com/office/powerpoint/2010/main" val="32984460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89D73-9995-991E-9C39-B67B069974DE}"/>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B129EDA0-9E5D-FE30-6AE2-31599A6B24DF}"/>
              </a:ext>
            </a:extLst>
          </p:cNvPr>
          <p:cNvSpPr txBox="1">
            <a:spLocks noGrp="1"/>
          </p:cNvSpPr>
          <p:nvPr>
            <p:ph type="title" idx="4294967295"/>
          </p:nvPr>
        </p:nvSpPr>
        <p:spPr>
          <a:xfrm>
            <a:off x="503998" y="301322"/>
            <a:ext cx="9071643" cy="999387"/>
          </a:xfrm>
        </p:spPr>
        <p:txBody>
          <a:bodyPr/>
          <a:lstStyle/>
          <a:p>
            <a:r>
              <a:rPr lang="pl-PL" sz="5000">
                <a:latin typeface="Arial"/>
                <a:cs typeface="Arial"/>
              </a:rPr>
              <a:t>Wykorzystane technologie (4⁄4)</a:t>
            </a:r>
          </a:p>
        </p:txBody>
      </p:sp>
      <p:sp>
        <p:nvSpPr>
          <p:cNvPr id="3" name="Symbol zastępczy tekstu 2">
            <a:extLst>
              <a:ext uri="{FF2B5EF4-FFF2-40B4-BE49-F238E27FC236}">
                <a16:creationId xmlns:a16="http://schemas.microsoft.com/office/drawing/2014/main" id="{5BF2FD6E-AC53-CBF3-1756-28A4180C0509}"/>
              </a:ext>
            </a:extLst>
          </p:cNvPr>
          <p:cNvSpPr txBox="1">
            <a:spLocks noGrp="1"/>
          </p:cNvSpPr>
          <p:nvPr>
            <p:ph type="body" idx="4294967295"/>
          </p:nvPr>
        </p:nvSpPr>
        <p:spPr>
          <a:xfrm>
            <a:off x="503998" y="1411174"/>
            <a:ext cx="9071643" cy="2248905"/>
          </a:xfrm>
        </p:spPr>
        <p:txBody>
          <a:bodyPr>
            <a:noAutofit/>
          </a:bodyPr>
          <a:lstStyle/>
          <a:p>
            <a:pPr algn="l">
              <a:spcBef>
                <a:spcPts val="1889"/>
              </a:spcBef>
            </a:pPr>
            <a:r>
              <a:rPr lang="pl-PL" sz="2000" b="1">
                <a:latin typeface="Arial"/>
                <a:cs typeface="Arial"/>
              </a:rPr>
              <a:t>Zewnętrzne API:</a:t>
            </a:r>
            <a:endParaRPr lang="pl-PL" sz="4250">
              <a:latin typeface="Arial"/>
              <a:cs typeface="Arial"/>
            </a:endParaRPr>
          </a:p>
        </p:txBody>
      </p:sp>
      <p:sp>
        <p:nvSpPr>
          <p:cNvPr id="8" name="Symbol zastępczy tekstu 2">
            <a:extLst>
              <a:ext uri="{FF2B5EF4-FFF2-40B4-BE49-F238E27FC236}">
                <a16:creationId xmlns:a16="http://schemas.microsoft.com/office/drawing/2014/main" id="{3D246D37-8E4B-9115-0885-5188FAFE2EDB}"/>
              </a:ext>
            </a:extLst>
          </p:cNvPr>
          <p:cNvSpPr txBox="1">
            <a:spLocks/>
          </p:cNvSpPr>
          <p:nvPr/>
        </p:nvSpPr>
        <p:spPr>
          <a:xfrm>
            <a:off x="505818" y="3889820"/>
            <a:ext cx="9071643" cy="3371131"/>
          </a:xfrm>
          <a:prstGeom prst="rect">
            <a:avLst/>
          </a:prstGeom>
          <a:noFill/>
          <a:ln>
            <a:noFill/>
          </a:ln>
        </p:spPr>
        <p:txBody>
          <a:bodyPr vert="horz" wrap="square" lIns="0" tIns="0" rIns="0" bIns="0" anchor="t" anchorCtr="0" compatLnSpc="1">
            <a:noAutofit/>
          </a:bodyPr>
          <a:lstStyle>
            <a:lvl1pPr marL="0" marR="0" lvl="0" indent="0" defTabSz="914400" rtl="0" fontAlgn="auto" hangingPunct="0">
              <a:lnSpc>
                <a:spcPct val="100000"/>
              </a:lnSpc>
              <a:spcBef>
                <a:spcPts val="1890"/>
              </a:spcBef>
              <a:spcAft>
                <a:spcPts val="0"/>
              </a:spcAft>
              <a:buNone/>
              <a:tabLst/>
              <a:defRPr lang="pl-PL" sz="4270" b="0" i="0" u="none" strike="noStrike" kern="1200" cap="none" spc="0" baseline="0">
                <a:solidFill>
                  <a:srgbClr val="000000"/>
                </a:solidFill>
                <a:highlight>
                  <a:scrgbClr r="0" g="0" b="0">
                    <a:alpha val="0"/>
                  </a:scrgbClr>
                </a:highlight>
                <a:uFillTx/>
                <a:latin typeface="Liberation Sans" pitchFamily="18"/>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pl-PL" sz="2400" b="0" i="0" u="none" strike="noStrike" kern="1200" cap="none" spc="0" baseline="0">
                <a:solidFill>
                  <a:srgbClr val="000000"/>
                </a:solidFill>
                <a:uFillTx/>
                <a:latin typeface="Calibri"/>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pl-PL" sz="2000" b="0" i="0" u="none" strike="noStrike" kern="1200" cap="none" spc="0" baseline="0">
                <a:solidFill>
                  <a:srgbClr val="000000"/>
                </a:solidFill>
                <a:uFillTx/>
                <a:latin typeface="Calibri"/>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pl-PL" sz="1800" b="0" i="0" u="none" strike="noStrike" kern="1200" cap="none" spc="0" baseline="0">
                <a:solidFill>
                  <a:srgbClr val="000000"/>
                </a:solidFill>
                <a:uFillTx/>
                <a:latin typeface="Calibri"/>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pl-PL" sz="1800" b="0" i="0" u="none" strike="noStrike" kern="1200" cap="none" spc="0" baseline="0">
                <a:solidFill>
                  <a:srgbClr val="000000"/>
                </a:solidFill>
                <a:uFillTx/>
                <a:latin typeface="Calibri"/>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spcBef>
                <a:spcPts val="1889"/>
              </a:spcBef>
            </a:pPr>
            <a:r>
              <a:rPr lang="pl-PL" sz="2000" b="1">
                <a:latin typeface="Arial"/>
                <a:cs typeface="Arial"/>
              </a:rPr>
              <a:t>Testowanie:</a:t>
            </a:r>
            <a:endParaRPr lang="pl-PL" sz="4250">
              <a:latin typeface="Arial"/>
              <a:cs typeface="Arial"/>
            </a:endParaRPr>
          </a:p>
        </p:txBody>
      </p:sp>
      <p:graphicFrame>
        <p:nvGraphicFramePr>
          <p:cNvPr id="11" name="Tabela 10">
            <a:extLst>
              <a:ext uri="{FF2B5EF4-FFF2-40B4-BE49-F238E27FC236}">
                <a16:creationId xmlns:a16="http://schemas.microsoft.com/office/drawing/2014/main" id="{5742F299-8B34-C580-322E-D4D3F3DE20B4}"/>
              </a:ext>
            </a:extLst>
          </p:cNvPr>
          <p:cNvGraphicFramePr>
            <a:graphicFrameLocks noGrp="1"/>
          </p:cNvGraphicFramePr>
          <p:nvPr>
            <p:extLst>
              <p:ext uri="{D42A27DB-BD31-4B8C-83A1-F6EECF244321}">
                <p14:modId xmlns:p14="http://schemas.microsoft.com/office/powerpoint/2010/main" val="954679355"/>
              </p:ext>
            </p:extLst>
          </p:nvPr>
        </p:nvGraphicFramePr>
        <p:xfrm>
          <a:off x="792162" y="1884981"/>
          <a:ext cx="8496299" cy="1900381"/>
        </p:xfrm>
        <a:graphic>
          <a:graphicData uri="http://schemas.openxmlformats.org/drawingml/2006/table">
            <a:tbl>
              <a:tblPr bandRow="1">
                <a:tableStyleId>{5C22544A-7EE6-4342-B048-85BDC9FD1C3A}</a:tableStyleId>
              </a:tblPr>
              <a:tblGrid>
                <a:gridCol w="3427764">
                  <a:extLst>
                    <a:ext uri="{9D8B030D-6E8A-4147-A177-3AD203B41FA5}">
                      <a16:colId xmlns:a16="http://schemas.microsoft.com/office/drawing/2014/main" val="3731750028"/>
                    </a:ext>
                  </a:extLst>
                </a:gridCol>
                <a:gridCol w="5068535">
                  <a:extLst>
                    <a:ext uri="{9D8B030D-6E8A-4147-A177-3AD203B41FA5}">
                      <a16:colId xmlns:a16="http://schemas.microsoft.com/office/drawing/2014/main" val="206036127"/>
                    </a:ext>
                  </a:extLst>
                </a:gridCol>
              </a:tblGrid>
              <a:tr h="388675">
                <a:tc>
                  <a:txBody>
                    <a:bodyPr/>
                    <a:lstStyle/>
                    <a:p>
                      <a:pPr marL="0" indent="0" algn="l" fontAlgn="base">
                        <a:lnSpc>
                          <a:spcPts val="1275"/>
                        </a:lnSpc>
                        <a:buNone/>
                      </a:pPr>
                      <a:r>
                        <a:rPr lang="pl-PL" sz="1800" b="0" i="0">
                          <a:solidFill>
                            <a:schemeClr val="tx1"/>
                          </a:solidFill>
                          <a:effectLst/>
                          <a:latin typeface="Arial"/>
                        </a:rPr>
                        <a:t>API</a:t>
                      </a:r>
                      <a:endParaRPr lang="en-US" sz="1800" b="0" i="0">
                        <a:solidFill>
                          <a:schemeClr val="tx1"/>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indent="0" algn="l" fontAlgn="base">
                        <a:lnSpc>
                          <a:spcPts val="1275"/>
                        </a:lnSpc>
                        <a:buNone/>
                      </a:pPr>
                      <a:r>
                        <a:rPr lang="pl-PL" sz="1800" b="0" i="0">
                          <a:solidFill>
                            <a:schemeClr val="tx1"/>
                          </a:solidFill>
                          <a:effectLst/>
                          <a:latin typeface="Arial"/>
                        </a:rPr>
                        <a:t>Rola</a:t>
                      </a:r>
                      <a:endParaRPr lang="en-US" sz="1800" b="0" i="0">
                        <a:solidFill>
                          <a:schemeClr val="tx1"/>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4233512774"/>
                  </a:ext>
                </a:extLst>
              </a:tr>
              <a:tr h="610775">
                <a:tc>
                  <a:txBody>
                    <a:bodyPr/>
                    <a:lstStyle/>
                    <a:p>
                      <a:pPr marL="0" indent="0" algn="l" fontAlgn="base">
                        <a:lnSpc>
                          <a:spcPts val="1275"/>
                        </a:lnSpc>
                        <a:buNone/>
                      </a:pPr>
                      <a:r>
                        <a:rPr lang="pl-PL" sz="1800" b="1" i="0">
                          <a:solidFill>
                            <a:schemeClr val="tx1"/>
                          </a:solidFill>
                          <a:effectLst/>
                          <a:latin typeface="Arial"/>
                        </a:rPr>
                        <a:t>PayU REST API</a:t>
                      </a:r>
                      <a:endParaRPr lang="pl-PL" sz="1800" b="0" i="0">
                        <a:solidFill>
                          <a:schemeClr val="tx1"/>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indent="0" algn="l" fontAlgn="base">
                        <a:lnSpc>
                          <a:spcPct val="100000"/>
                        </a:lnSpc>
                        <a:buNone/>
                      </a:pPr>
                      <a:r>
                        <a:rPr lang="pl-PL" sz="1800" b="0" i="0">
                          <a:solidFill>
                            <a:schemeClr val="tx1"/>
                          </a:solidFill>
                          <a:effectLst/>
                          <a:latin typeface="Arial"/>
                        </a:rPr>
                        <a:t>Płatności online, tokenizacja kart,</a:t>
                      </a:r>
                      <a:endParaRPr lang="en-US" sz="1800" b="0" i="0">
                        <a:solidFill>
                          <a:schemeClr val="tx1"/>
                        </a:solidFill>
                        <a:effectLst/>
                        <a:latin typeface="Arial"/>
                      </a:endParaRPr>
                    </a:p>
                    <a:p>
                      <a:pPr marL="0" lvl="0" indent="0" algn="l">
                        <a:lnSpc>
                          <a:spcPct val="100000"/>
                        </a:lnSpc>
                        <a:buNone/>
                      </a:pPr>
                      <a:r>
                        <a:rPr lang="pl-PL" sz="1800" b="0" i="0">
                          <a:solidFill>
                            <a:schemeClr val="tx1"/>
                          </a:solidFill>
                          <a:effectLst/>
                          <a:latin typeface="Arial"/>
                        </a:rPr>
                        <a:t>wypłaty sprzedawcom</a:t>
                      </a:r>
                      <a:endParaRPr lang="en-US" sz="1800" b="0" i="0">
                        <a:solidFill>
                          <a:schemeClr val="tx1"/>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1708806365"/>
                  </a:ext>
                </a:extLst>
              </a:tr>
              <a:tr h="810666">
                <a:tc>
                  <a:txBody>
                    <a:bodyPr/>
                    <a:lstStyle/>
                    <a:p>
                      <a:pPr marL="0" indent="0" algn="l" fontAlgn="base">
                        <a:lnSpc>
                          <a:spcPts val="1275"/>
                        </a:lnSpc>
                        <a:buNone/>
                      </a:pPr>
                      <a:r>
                        <a:rPr lang="pl-PL" sz="1800" b="1" i="0">
                          <a:solidFill>
                            <a:schemeClr val="tx1"/>
                          </a:solidFill>
                          <a:effectLst/>
                          <a:latin typeface="Arial"/>
                        </a:rPr>
                        <a:t>Nominatim (OpenStreetMap)</a:t>
                      </a:r>
                      <a:endParaRPr lang="pl-PL" sz="1800" b="0" i="0">
                        <a:solidFill>
                          <a:schemeClr val="tx1"/>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marL="0" indent="0" algn="l" fontAlgn="base">
                        <a:lnSpc>
                          <a:spcPct val="100000"/>
                        </a:lnSpc>
                        <a:buNone/>
                      </a:pPr>
                      <a:r>
                        <a:rPr lang="pl-PL" sz="1800" b="0" i="0">
                          <a:solidFill>
                            <a:schemeClr val="tx1"/>
                          </a:solidFill>
                          <a:effectLst/>
                          <a:latin typeface="Arial"/>
                        </a:rPr>
                        <a:t>Geokodowanie adresów (adres tekstowy → współrzędne GPS)</a:t>
                      </a:r>
                      <a:endParaRPr lang="en-US" sz="1800" b="0" i="0">
                        <a:solidFill>
                          <a:schemeClr val="tx1"/>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extLst>
                  <a:ext uri="{0D108BD9-81ED-4DB2-BD59-A6C34878D82A}">
                    <a16:rowId xmlns:a16="http://schemas.microsoft.com/office/drawing/2014/main" val="3470712779"/>
                  </a:ext>
                </a:extLst>
              </a:tr>
            </a:tbl>
          </a:graphicData>
        </a:graphic>
      </p:graphicFrame>
      <p:graphicFrame>
        <p:nvGraphicFramePr>
          <p:cNvPr id="15" name="Tabela 14">
            <a:extLst>
              <a:ext uri="{FF2B5EF4-FFF2-40B4-BE49-F238E27FC236}">
                <a16:creationId xmlns:a16="http://schemas.microsoft.com/office/drawing/2014/main" id="{B04AF9EE-0CA9-5E35-6D42-07620242C57F}"/>
              </a:ext>
            </a:extLst>
          </p:cNvPr>
          <p:cNvGraphicFramePr>
            <a:graphicFrameLocks noGrp="1"/>
          </p:cNvGraphicFramePr>
          <p:nvPr>
            <p:extLst>
              <p:ext uri="{D42A27DB-BD31-4B8C-83A1-F6EECF244321}">
                <p14:modId xmlns:p14="http://schemas.microsoft.com/office/powerpoint/2010/main" val="4135650736"/>
              </p:ext>
            </p:extLst>
          </p:nvPr>
        </p:nvGraphicFramePr>
        <p:xfrm>
          <a:off x="789501" y="4344816"/>
          <a:ext cx="8504189" cy="2996574"/>
        </p:xfrm>
        <a:graphic>
          <a:graphicData uri="http://schemas.openxmlformats.org/drawingml/2006/table">
            <a:tbl>
              <a:tblPr bandRow="1">
                <a:tableStyleId>{5C22544A-7EE6-4342-B048-85BDC9FD1C3A}</a:tableStyleId>
              </a:tblPr>
              <a:tblGrid>
                <a:gridCol w="2521855">
                  <a:extLst>
                    <a:ext uri="{9D8B030D-6E8A-4147-A177-3AD203B41FA5}">
                      <a16:colId xmlns:a16="http://schemas.microsoft.com/office/drawing/2014/main" val="502960275"/>
                    </a:ext>
                  </a:extLst>
                </a:gridCol>
                <a:gridCol w="5982334">
                  <a:extLst>
                    <a:ext uri="{9D8B030D-6E8A-4147-A177-3AD203B41FA5}">
                      <a16:colId xmlns:a16="http://schemas.microsoft.com/office/drawing/2014/main" val="4099240040"/>
                    </a:ext>
                  </a:extLst>
                </a:gridCol>
              </a:tblGrid>
              <a:tr h="382702">
                <a:tc>
                  <a:txBody>
                    <a:bodyPr/>
                    <a:lstStyle/>
                    <a:p>
                      <a:pPr marL="0" marR="0" algn="l" latinLnBrk="0">
                        <a:buNone/>
                      </a:pPr>
                      <a:r>
                        <a:rPr lang="pl-PL" sz="1800" b="0" i="0">
                          <a:solidFill>
                            <a:schemeClr val="tx1"/>
                          </a:solidFill>
                          <a:effectLst/>
                          <a:latin typeface="Arial"/>
                        </a:rPr>
                        <a:t>Biblioteka</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algn="l" latinLnBrk="0">
                        <a:buNone/>
                      </a:pPr>
                      <a:r>
                        <a:rPr lang="pl-PL" sz="1800" b="0" i="0">
                          <a:solidFill>
                            <a:schemeClr val="tx1"/>
                          </a:solidFill>
                          <a:effectLst/>
                          <a:latin typeface="Arial"/>
                        </a:rPr>
                        <a:t>Rola</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3103197958"/>
                  </a:ext>
                </a:extLst>
              </a:tr>
              <a:tr h="581708">
                <a:tc>
                  <a:txBody>
                    <a:bodyPr/>
                    <a:lstStyle/>
                    <a:p>
                      <a:pPr marL="0" marR="0" algn="l" latinLnBrk="0">
                        <a:buNone/>
                      </a:pPr>
                      <a:r>
                        <a:rPr lang="pl-PL" sz="1800" b="1" i="0">
                          <a:solidFill>
                            <a:schemeClr val="tx1"/>
                          </a:solidFill>
                          <a:effectLst/>
                          <a:latin typeface="Arial"/>
                        </a:rPr>
                        <a:t>xUnit</a:t>
                      </a:r>
                      <a:endParaRPr lang="pl-PL" sz="1800" b="0" i="0">
                        <a:solidFill>
                          <a:schemeClr val="tx1"/>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algn="l" latinLnBrk="0">
                        <a:buNone/>
                      </a:pPr>
                      <a:r>
                        <a:rPr lang="pl-PL" sz="1800" b="0" i="0">
                          <a:solidFill>
                            <a:schemeClr val="tx1"/>
                          </a:solidFill>
                          <a:effectLst/>
                          <a:latin typeface="Arial"/>
                        </a:rPr>
                        <a:t>Framework testów jednostkowych</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1239892968"/>
                  </a:ext>
                </a:extLst>
              </a:tr>
              <a:tr h="382702">
                <a:tc>
                  <a:txBody>
                    <a:bodyPr/>
                    <a:lstStyle/>
                    <a:p>
                      <a:pPr marL="0" marR="0" algn="l" latinLnBrk="0">
                        <a:buNone/>
                      </a:pPr>
                      <a:r>
                        <a:rPr lang="pl-PL" sz="1800" b="1" i="0">
                          <a:solidFill>
                            <a:schemeClr val="tx1"/>
                          </a:solidFill>
                          <a:effectLst/>
                          <a:latin typeface="Arial"/>
                        </a:rPr>
                        <a:t>FluentAssertions</a:t>
                      </a:r>
                      <a:endParaRPr lang="pl-PL" sz="1800" b="0" i="0">
                        <a:solidFill>
                          <a:schemeClr val="tx1"/>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marL="0" marR="0" algn="l" latinLnBrk="0">
                        <a:buNone/>
                      </a:pPr>
                      <a:r>
                        <a:rPr lang="pl-PL" sz="1800" b="0" i="0">
                          <a:solidFill>
                            <a:schemeClr val="tx1"/>
                          </a:solidFill>
                          <a:effectLst/>
                          <a:latin typeface="Arial"/>
                        </a:rPr>
                        <a:t>Asercje w stylu BDD</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extLst>
                  <a:ext uri="{0D108BD9-81ED-4DB2-BD59-A6C34878D82A}">
                    <a16:rowId xmlns:a16="http://schemas.microsoft.com/office/drawing/2014/main" val="733670615"/>
                  </a:ext>
                </a:extLst>
              </a:tr>
              <a:tr h="979718">
                <a:tc>
                  <a:txBody>
                    <a:bodyPr/>
                    <a:lstStyle/>
                    <a:p>
                      <a:pPr marL="0" marR="0" algn="l" latinLnBrk="0">
                        <a:buNone/>
                      </a:pPr>
                      <a:r>
                        <a:rPr lang="pl-PL" sz="1800" b="1" i="0">
                          <a:solidFill>
                            <a:schemeClr val="tx1"/>
                          </a:solidFill>
                          <a:effectLst/>
                          <a:latin typeface="Arial"/>
                        </a:rPr>
                        <a:t>Moq</a:t>
                      </a:r>
                      <a:endParaRPr lang="pl-PL" sz="1800" b="0" i="0">
                        <a:solidFill>
                          <a:schemeClr val="tx1"/>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tc>
                  <a:txBody>
                    <a:bodyPr/>
                    <a:lstStyle/>
                    <a:p>
                      <a:pPr marL="0" marR="0" algn="l" latinLnBrk="0">
                        <a:buNone/>
                      </a:pPr>
                      <a:r>
                        <a:rPr lang="pl-PL" sz="1800" b="0" i="0">
                          <a:solidFill>
                            <a:schemeClr val="tx1"/>
                          </a:solidFill>
                          <a:effectLst/>
                          <a:latin typeface="Arial"/>
                        </a:rPr>
                        <a:t>Mockowanie zależności (IFileService, IGeocodingService, ICardFeeService)</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6F5F4"/>
                    </a:solidFill>
                  </a:tcPr>
                </a:tc>
                <a:extLst>
                  <a:ext uri="{0D108BD9-81ED-4DB2-BD59-A6C34878D82A}">
                    <a16:rowId xmlns:a16="http://schemas.microsoft.com/office/drawing/2014/main" val="1250146701"/>
                  </a:ext>
                </a:extLst>
              </a:tr>
              <a:tr h="581708">
                <a:tc>
                  <a:txBody>
                    <a:bodyPr/>
                    <a:lstStyle/>
                    <a:p>
                      <a:pPr marL="0" marR="0" algn="l" latinLnBrk="0">
                        <a:buNone/>
                      </a:pPr>
                      <a:r>
                        <a:rPr lang="pl-PL" sz="1800" b="1" i="0">
                          <a:solidFill>
                            <a:schemeClr val="tx1"/>
                          </a:solidFill>
                          <a:effectLst/>
                          <a:latin typeface="Arial"/>
                        </a:rPr>
                        <a:t>EF Core InMemory</a:t>
                      </a:r>
                      <a:endParaRPr lang="pl-PL" sz="1800" b="0" i="0">
                        <a:solidFill>
                          <a:schemeClr val="tx1"/>
                        </a:solidFill>
                        <a:effectLst/>
                        <a:latin typeface="Arial"/>
                      </a:endParaRP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tc>
                  <a:txBody>
                    <a:bodyPr/>
                    <a:lstStyle/>
                    <a:p>
                      <a:pPr marL="0" marR="0" algn="l" latinLnBrk="0">
                        <a:buNone/>
                      </a:pPr>
                      <a:r>
                        <a:rPr lang="pl-PL" sz="1800" b="0" i="0">
                          <a:solidFill>
                            <a:schemeClr val="tx1"/>
                          </a:solidFill>
                          <a:effectLst/>
                          <a:latin typeface="Arial"/>
                        </a:rPr>
                        <a:t>Baza danych w pamięci dla testów kontrolerów</a:t>
                      </a:r>
                    </a:p>
                  </a:txBody>
                  <a:tcPr marL="114300" marR="114300" marT="76200" marB="76200" anchor="ctr">
                    <a:lnL w="9525" cap="flat" cmpd="sng" algn="ctr">
                      <a:solidFill>
                        <a:srgbClr val="E3E2DD"/>
                      </a:solidFill>
                      <a:prstDash val="solid"/>
                      <a:round/>
                      <a:headEnd type="none" w="med" len="med"/>
                      <a:tailEnd type="none" w="med" len="med"/>
                    </a:lnL>
                    <a:lnR w="9525" cap="flat" cmpd="sng" algn="ctr">
                      <a:solidFill>
                        <a:srgbClr val="E3E2DD"/>
                      </a:solidFill>
                      <a:prstDash val="solid"/>
                      <a:round/>
                      <a:headEnd type="none" w="med" len="med"/>
                      <a:tailEnd type="none" w="med" len="med"/>
                    </a:lnR>
                    <a:lnT w="9525" cap="flat" cmpd="sng" algn="ctr">
                      <a:solidFill>
                        <a:srgbClr val="E3E2DD"/>
                      </a:solidFill>
                      <a:prstDash val="solid"/>
                      <a:round/>
                      <a:headEnd type="none" w="med" len="med"/>
                      <a:tailEnd type="none" w="med" len="med"/>
                    </a:lnT>
                    <a:lnB w="9525" cap="flat" cmpd="sng" algn="ctr">
                      <a:solidFill>
                        <a:srgbClr val="E3E2DD"/>
                      </a:solidFill>
                      <a:prstDash val="solid"/>
                      <a:round/>
                      <a:headEnd type="none" w="med" len="med"/>
                      <a:tailEnd type="none" w="med" len="med"/>
                    </a:lnB>
                    <a:solidFill>
                      <a:srgbClr val="FAFAF9"/>
                    </a:solidFill>
                  </a:tcPr>
                </a:tc>
                <a:extLst>
                  <a:ext uri="{0D108BD9-81ED-4DB2-BD59-A6C34878D82A}">
                    <a16:rowId xmlns:a16="http://schemas.microsoft.com/office/drawing/2014/main" val="678439152"/>
                  </a:ext>
                </a:extLst>
              </a:tr>
            </a:tbl>
          </a:graphicData>
        </a:graphic>
      </p:graphicFrame>
    </p:spTree>
    <p:extLst>
      <p:ext uri="{BB962C8B-B14F-4D97-AF65-F5344CB8AC3E}">
        <p14:creationId xmlns:p14="http://schemas.microsoft.com/office/powerpoint/2010/main" val="34919845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27D5F-B288-38AA-13D0-E79F2E01770F}"/>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B6C17A78-8846-985B-EB7A-90E107BE2F56}"/>
              </a:ext>
            </a:extLst>
          </p:cNvPr>
          <p:cNvSpPr txBox="1">
            <a:spLocks noGrp="1"/>
          </p:cNvSpPr>
          <p:nvPr>
            <p:ph type="title" idx="4294967295"/>
          </p:nvPr>
        </p:nvSpPr>
        <p:spPr>
          <a:xfrm>
            <a:off x="503998" y="301322"/>
            <a:ext cx="9071643" cy="999387"/>
          </a:xfrm>
        </p:spPr>
        <p:txBody>
          <a:bodyPr/>
          <a:lstStyle/>
          <a:p>
            <a:r>
              <a:rPr lang="pl-PL" sz="5850">
                <a:latin typeface="Arial"/>
                <a:cs typeface="Arial"/>
              </a:rPr>
              <a:t>Implementacja (1⁄6)</a:t>
            </a:r>
          </a:p>
        </p:txBody>
      </p:sp>
      <p:sp>
        <p:nvSpPr>
          <p:cNvPr id="3" name="Symbol zastępczy tekstu 2">
            <a:extLst>
              <a:ext uri="{FF2B5EF4-FFF2-40B4-BE49-F238E27FC236}">
                <a16:creationId xmlns:a16="http://schemas.microsoft.com/office/drawing/2014/main" id="{82ADA070-B8AA-9C74-4C6B-DB5FBA702FD5}"/>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700">
                <a:solidFill>
                  <a:schemeClr val="tx1"/>
                </a:solidFill>
                <a:latin typeface="Arial"/>
                <a:cs typeface="Arial"/>
              </a:rPr>
              <a:t>Uwierzytelnianie i bezpieczeństwo sesji:</a:t>
            </a:r>
            <a:endParaRPr lang="pl-PL" sz="2700">
              <a:solidFill>
                <a:schemeClr val="tx1"/>
              </a:solidFill>
            </a:endParaRPr>
          </a:p>
          <a:p>
            <a:pPr algn="l">
              <a:spcBef>
                <a:spcPts val="1889"/>
              </a:spcBef>
            </a:pPr>
            <a:r>
              <a:rPr lang="pl-PL" sz="2700">
                <a:solidFill>
                  <a:schemeClr val="tx1"/>
                </a:solidFill>
                <a:latin typeface="Arial"/>
                <a:cs typeface="Arial"/>
              </a:rPr>
              <a:t>Autoryzacja oparta jest na ciasteczkach ASP.NET Core (</a:t>
            </a:r>
            <a:r>
              <a:rPr lang="pl-PL" sz="2700">
                <a:solidFill>
                  <a:schemeClr val="tx1"/>
                </a:solidFill>
                <a:latin typeface="Courier New"/>
                <a:cs typeface="Courier New"/>
              </a:rPr>
              <a:t>AddCookie</a:t>
            </a:r>
            <a:r>
              <a:rPr lang="pl-PL" sz="2700">
                <a:solidFill>
                  <a:schemeClr val="tx1"/>
                </a:solidFill>
                <a:latin typeface="Arial"/>
                <a:cs typeface="Arial"/>
              </a:rPr>
              <a:t>) bez użycia Identity. Przy logowaniu </a:t>
            </a:r>
            <a:r>
              <a:rPr lang="pl-PL" sz="2700">
                <a:solidFill>
                  <a:schemeClr val="tx1"/>
                </a:solidFill>
                <a:latin typeface="Courier New"/>
                <a:cs typeface="Courier New"/>
              </a:rPr>
              <a:t>AuthService</a:t>
            </a:r>
            <a:r>
              <a:rPr lang="pl-PL" sz="2700">
                <a:solidFill>
                  <a:schemeClr val="tx1"/>
                </a:solidFill>
                <a:latin typeface="Arial"/>
                <a:cs typeface="Arial"/>
              </a:rPr>
              <a:t> pobiera rekord </a:t>
            </a:r>
            <a:r>
              <a:rPr lang="pl-PL" sz="2700">
                <a:solidFill>
                  <a:schemeClr val="tx1"/>
                </a:solidFill>
                <a:latin typeface="Courier New"/>
                <a:cs typeface="Courier New"/>
              </a:rPr>
              <a:t>UserAuth</a:t>
            </a:r>
            <a:r>
              <a:rPr lang="pl-PL" sz="2700">
                <a:solidFill>
                  <a:schemeClr val="tx1"/>
                </a:solidFill>
                <a:latin typeface="Arial"/>
                <a:cs typeface="Arial"/>
              </a:rPr>
              <a:t>, weryfikuje hasło funkcją </a:t>
            </a:r>
            <a:r>
              <a:rPr lang="pl-PL" sz="2700">
                <a:solidFill>
                  <a:schemeClr val="tx1"/>
                </a:solidFill>
                <a:latin typeface="Courier New"/>
                <a:cs typeface="Courier New"/>
              </a:rPr>
              <a:t>BCrypt.Verify()</a:t>
            </a:r>
            <a:r>
              <a:rPr lang="pl-PL" sz="2700">
                <a:solidFill>
                  <a:schemeClr val="tx1"/>
                </a:solidFill>
                <a:latin typeface="Arial"/>
                <a:cs typeface="Arial"/>
              </a:rPr>
              <a:t> i tworzy </a:t>
            </a:r>
            <a:r>
              <a:rPr lang="pl-PL" sz="2700">
                <a:solidFill>
                  <a:schemeClr val="tx1"/>
                </a:solidFill>
                <a:latin typeface="Courier New"/>
                <a:cs typeface="Courier New"/>
              </a:rPr>
              <a:t>ClaimsPrincipal</a:t>
            </a:r>
            <a:r>
              <a:rPr lang="pl-PL" sz="2700">
                <a:solidFill>
                  <a:schemeClr val="tx1"/>
                </a:solidFill>
                <a:latin typeface="Arial"/>
                <a:cs typeface="Arial"/>
              </a:rPr>
              <a:t> z roszczeniami </a:t>
            </a:r>
            <a:r>
              <a:rPr lang="pl-PL" sz="2700">
                <a:solidFill>
                  <a:schemeClr val="tx1"/>
                </a:solidFill>
                <a:latin typeface="Courier New"/>
                <a:cs typeface="Courier New"/>
              </a:rPr>
              <a:t>NameIdentifier</a:t>
            </a:r>
            <a:r>
              <a:rPr lang="pl-PL" sz="2700">
                <a:solidFill>
                  <a:schemeClr val="tx1"/>
                </a:solidFill>
                <a:latin typeface="Arial"/>
                <a:cs typeface="Arial"/>
              </a:rPr>
              <a:t> (ID), </a:t>
            </a:r>
            <a:r>
              <a:rPr lang="pl-PL" sz="2700">
                <a:solidFill>
                  <a:schemeClr val="tx1"/>
                </a:solidFill>
                <a:latin typeface="Courier New"/>
                <a:cs typeface="Courier New"/>
              </a:rPr>
              <a:t>Name</a:t>
            </a:r>
            <a:r>
              <a:rPr lang="pl-PL" sz="2700">
                <a:solidFill>
                  <a:schemeClr val="tx1"/>
                </a:solidFill>
                <a:latin typeface="Arial"/>
                <a:cs typeface="Arial"/>
              </a:rPr>
              <a:t> (login) i </a:t>
            </a:r>
            <a:r>
              <a:rPr lang="pl-PL" sz="2700">
                <a:solidFill>
                  <a:schemeClr val="tx1"/>
                </a:solidFill>
                <a:latin typeface="Courier New"/>
                <a:cs typeface="Courier New"/>
              </a:rPr>
              <a:t>Role</a:t>
            </a:r>
            <a:r>
              <a:rPr lang="pl-PL" sz="2700">
                <a:solidFill>
                  <a:schemeClr val="tx1"/>
                </a:solidFill>
                <a:latin typeface="Arial"/>
                <a:cs typeface="Arial"/>
              </a:rPr>
              <a:t> (admin/user). Ciasteczko sesji podpisane jest kluczem aplikacji i przesyłane wyłącznie przez HTTPS (flaga </a:t>
            </a:r>
            <a:r>
              <a:rPr lang="pl-PL" sz="2700">
                <a:solidFill>
                  <a:schemeClr val="tx1"/>
                </a:solidFill>
                <a:latin typeface="Courier New"/>
                <a:cs typeface="Courier New"/>
              </a:rPr>
              <a:t>Secure</a:t>
            </a:r>
            <a:r>
              <a:rPr lang="pl-PL" sz="2700">
                <a:solidFill>
                  <a:schemeClr val="tx1"/>
                </a:solidFill>
                <a:latin typeface="Arial"/>
                <a:cs typeface="Arial"/>
              </a:rPr>
              <a:t>). Licznik </a:t>
            </a:r>
            <a:r>
              <a:rPr lang="pl-PL" sz="2700">
                <a:solidFill>
                  <a:schemeClr val="tx1"/>
                </a:solidFill>
                <a:latin typeface="Courier New"/>
                <a:cs typeface="Courier New"/>
              </a:rPr>
              <a:t>FailedAttempts</a:t>
            </a:r>
            <a:r>
              <a:rPr lang="pl-PL" sz="2700">
                <a:solidFill>
                  <a:schemeClr val="tx1"/>
                </a:solidFill>
                <a:latin typeface="Arial"/>
                <a:cs typeface="Arial"/>
              </a:rPr>
              <a:t> jest inkrementowany przy każdym nieudanym logowaniu; po przekroczeniu progu ustawiany jest </a:t>
            </a:r>
            <a:r>
              <a:rPr lang="pl-PL" sz="2700">
                <a:solidFill>
                  <a:schemeClr val="tx1"/>
                </a:solidFill>
                <a:latin typeface="Courier New"/>
                <a:cs typeface="Courier New"/>
              </a:rPr>
              <a:t>LockedUntil</a:t>
            </a:r>
            <a:r>
              <a:rPr lang="pl-PL" sz="2700">
                <a:solidFill>
                  <a:schemeClr val="tx1"/>
                </a:solidFill>
                <a:latin typeface="Arial"/>
                <a:cs typeface="Arial"/>
              </a:rPr>
              <a:t> i konto blokowane na określony czas.</a:t>
            </a:r>
            <a:endParaRPr lang="pl-PL" sz="2700">
              <a:solidFill>
                <a:schemeClr val="tx1"/>
              </a:solidFill>
            </a:endParaRPr>
          </a:p>
          <a:p>
            <a:pPr algn="l">
              <a:spcBef>
                <a:spcPts val="1889"/>
              </a:spcBef>
            </a:pPr>
            <a:endParaRPr lang="pl-PL" sz="2700">
              <a:solidFill>
                <a:schemeClr val="tx1"/>
              </a:solidFill>
              <a:latin typeface="Arial"/>
              <a:cs typeface="Arial"/>
            </a:endParaRPr>
          </a:p>
        </p:txBody>
      </p:sp>
    </p:spTree>
    <p:extLst>
      <p:ext uri="{BB962C8B-B14F-4D97-AF65-F5344CB8AC3E}">
        <p14:creationId xmlns:p14="http://schemas.microsoft.com/office/powerpoint/2010/main" val="369041954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7795F-7960-F71C-7002-3EE10F1E6B0D}"/>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F30F673E-8AEE-C0D2-AFF8-79008252C18C}"/>
              </a:ext>
            </a:extLst>
          </p:cNvPr>
          <p:cNvSpPr txBox="1">
            <a:spLocks noGrp="1"/>
          </p:cNvSpPr>
          <p:nvPr>
            <p:ph type="title" idx="4294967295"/>
          </p:nvPr>
        </p:nvSpPr>
        <p:spPr>
          <a:xfrm>
            <a:off x="503998" y="301322"/>
            <a:ext cx="9071643" cy="999387"/>
          </a:xfrm>
        </p:spPr>
        <p:txBody>
          <a:bodyPr/>
          <a:lstStyle/>
          <a:p>
            <a:r>
              <a:rPr lang="pl-PL" sz="5850">
                <a:latin typeface="Arial"/>
                <a:cs typeface="Arial"/>
              </a:rPr>
              <a:t>Implementacja (2⁄6)</a:t>
            </a:r>
          </a:p>
        </p:txBody>
      </p:sp>
      <p:sp>
        <p:nvSpPr>
          <p:cNvPr id="3" name="Symbol zastępczy tekstu 2">
            <a:extLst>
              <a:ext uri="{FF2B5EF4-FFF2-40B4-BE49-F238E27FC236}">
                <a16:creationId xmlns:a16="http://schemas.microsoft.com/office/drawing/2014/main" id="{F26D2168-C11B-1858-DF16-9513D2CC904B}"/>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850">
                <a:solidFill>
                  <a:schemeClr val="tx1"/>
                </a:solidFill>
                <a:latin typeface="Arial"/>
                <a:cs typeface="Arial"/>
              </a:rPr>
              <a:t>Przepływ płatności PayU:</a:t>
            </a:r>
            <a:endParaRPr lang="pl-PL" sz="1850">
              <a:solidFill>
                <a:schemeClr val="tx1"/>
              </a:solidFill>
            </a:endParaRPr>
          </a:p>
          <a:p>
            <a:pPr algn="l">
              <a:spcBef>
                <a:spcPts val="1889"/>
              </a:spcBef>
            </a:pPr>
            <a:r>
              <a:rPr lang="pl-PL" sz="1850">
                <a:solidFill>
                  <a:schemeClr val="tx1"/>
                </a:solidFill>
                <a:latin typeface="Arial"/>
                <a:cs typeface="Arial"/>
              </a:rPr>
              <a:t>Implementacja webhooka PayU jest kluczowym elementem systemu. </a:t>
            </a:r>
            <a:r>
              <a:rPr lang="pl-PL" sz="1850">
                <a:solidFill>
                  <a:schemeClr val="tx1"/>
                </a:solidFill>
                <a:latin typeface="Courier New"/>
                <a:cs typeface="Courier New"/>
              </a:rPr>
              <a:t>PayuOrderSyncService</a:t>
            </a:r>
            <a:r>
              <a:rPr lang="pl-PL" sz="1850">
                <a:solidFill>
                  <a:schemeClr val="tx1"/>
                </a:solidFill>
                <a:latin typeface="Arial"/>
                <a:cs typeface="Arial"/>
              </a:rPr>
              <a:t> obsługuje powiadomienia w jednym endpoincie dla dwóch scenariuszy:</a:t>
            </a:r>
            <a:endParaRPr lang="pl-PL" sz="1850">
              <a:solidFill>
                <a:schemeClr val="tx1"/>
              </a:solidFill>
            </a:endParaRPr>
          </a:p>
          <a:p>
            <a:pPr marL="285750" indent="-285750" algn="l">
              <a:spcBef>
                <a:spcPts val="1889"/>
              </a:spcBef>
              <a:buFont typeface="Arial"/>
              <a:buChar char="•"/>
            </a:pPr>
            <a:r>
              <a:rPr lang="pl-PL" sz="1850" b="1">
                <a:solidFill>
                  <a:schemeClr val="tx1"/>
                </a:solidFill>
                <a:latin typeface="Arial"/>
                <a:cs typeface="Arial"/>
              </a:rPr>
              <a:t>Płatność standardowa</a:t>
            </a:r>
            <a:r>
              <a:rPr lang="pl-PL" sz="1850">
                <a:solidFill>
                  <a:schemeClr val="tx1"/>
                </a:solidFill>
                <a:latin typeface="Arial"/>
                <a:cs typeface="Arial"/>
              </a:rPr>
              <a:t> — weryfikacja sygnatury </a:t>
            </a:r>
            <a:r>
              <a:rPr lang="pl-PL" sz="1850">
                <a:solidFill>
                  <a:schemeClr val="tx1"/>
                </a:solidFill>
                <a:latin typeface="Courier New"/>
                <a:cs typeface="Courier New"/>
              </a:rPr>
              <a:t>OpenPayU-Signature</a:t>
            </a:r>
            <a:r>
              <a:rPr lang="pl-PL" sz="1850">
                <a:solidFill>
                  <a:schemeClr val="tx1"/>
                </a:solidFill>
                <a:latin typeface="Arial"/>
                <a:cs typeface="Arial"/>
              </a:rPr>
              <a:t> (HMAC-SHA256 z kluczem </a:t>
            </a:r>
            <a:r>
              <a:rPr lang="pl-PL" sz="1850">
                <a:solidFill>
                  <a:schemeClr val="tx1"/>
                </a:solidFill>
                <a:latin typeface="Courier New"/>
                <a:cs typeface="Courier New"/>
              </a:rPr>
              <a:t>MD5</a:t>
            </a:r>
            <a:r>
              <a:rPr lang="pl-PL" sz="1850">
                <a:solidFill>
                  <a:schemeClr val="tx1"/>
                </a:solidFill>
                <a:latin typeface="Arial"/>
                <a:cs typeface="Arial"/>
              </a:rPr>
              <a:t>), zmiana statusu </a:t>
            </a:r>
            <a:r>
              <a:rPr lang="pl-PL" sz="1850">
                <a:solidFill>
                  <a:schemeClr val="tx1"/>
                </a:solidFill>
                <a:latin typeface="Courier New"/>
                <a:cs typeface="Courier New"/>
              </a:rPr>
              <a:t>Order</a:t>
            </a:r>
            <a:r>
              <a:rPr lang="pl-PL" sz="1850">
                <a:solidFill>
                  <a:schemeClr val="tx1"/>
                </a:solidFill>
                <a:latin typeface="Arial"/>
                <a:cs typeface="Arial"/>
              </a:rPr>
              <a:t> na </a:t>
            </a:r>
            <a:r>
              <a:rPr lang="pl-PL" sz="1850">
                <a:solidFill>
                  <a:schemeClr val="tx1"/>
                </a:solidFill>
                <a:latin typeface="Courier New"/>
                <a:cs typeface="Courier New"/>
              </a:rPr>
              <a:t>Paid</a:t>
            </a:r>
            <a:r>
              <a:rPr lang="pl-PL" sz="1850">
                <a:solidFill>
                  <a:schemeClr val="tx1"/>
                </a:solidFill>
                <a:latin typeface="Arial"/>
                <a:cs typeface="Arial"/>
              </a:rPr>
              <a:t>, dekrementacja </a:t>
            </a:r>
            <a:r>
              <a:rPr lang="pl-PL" sz="1850">
                <a:solidFill>
                  <a:schemeClr val="tx1"/>
                </a:solidFill>
                <a:latin typeface="Courier New"/>
                <a:cs typeface="Courier New"/>
              </a:rPr>
              <a:t>StockQuantity</a:t>
            </a:r>
            <a:r>
              <a:rPr lang="pl-PL" sz="1850">
                <a:solidFill>
                  <a:schemeClr val="tx1"/>
                </a:solidFill>
                <a:latin typeface="Arial"/>
                <a:cs typeface="Arial"/>
              </a:rPr>
              <a:t> ogłoszenia, wywołanie </a:t>
            </a:r>
            <a:r>
              <a:rPr lang="pl-PL" sz="1850">
                <a:solidFill>
                  <a:schemeClr val="tx1"/>
                </a:solidFill>
                <a:latin typeface="Courier New"/>
                <a:cs typeface="Courier New"/>
              </a:rPr>
              <a:t>ICardFeeService.TryDispatchPayoutAsync()</a:t>
            </a:r>
            <a:r>
              <a:rPr lang="pl-PL" sz="1850">
                <a:solidFill>
                  <a:schemeClr val="tx1"/>
                </a:solidFill>
                <a:latin typeface="Arial"/>
                <a:cs typeface="Arial"/>
              </a:rPr>
              <a:t> (wypłata 95% kwoty na konto sprzedawcy przez PayU Payout API), wygenerowanie powiadomień.</a:t>
            </a:r>
            <a:endParaRPr lang="pl-PL" sz="1850">
              <a:solidFill>
                <a:schemeClr val="tx1"/>
              </a:solidFill>
            </a:endParaRPr>
          </a:p>
          <a:p>
            <a:pPr marL="285750" indent="-285750" algn="l">
              <a:spcBef>
                <a:spcPts val="1889"/>
              </a:spcBef>
              <a:buFont typeface="Arial"/>
              <a:buChar char="•"/>
            </a:pPr>
            <a:r>
              <a:rPr lang="pl-PL" sz="1850" b="1">
                <a:solidFill>
                  <a:schemeClr val="tx1"/>
                </a:solidFill>
                <a:latin typeface="Arial"/>
                <a:cs typeface="Arial"/>
              </a:rPr>
              <a:t>Tokenizacja karty</a:t>
            </a:r>
            <a:r>
              <a:rPr lang="pl-PL" sz="1850">
                <a:solidFill>
                  <a:schemeClr val="tx1"/>
                </a:solidFill>
                <a:latin typeface="Arial"/>
                <a:cs typeface="Arial"/>
              </a:rPr>
              <a:t> — ten sam endpoint obsługuje callback tokenizacji; jeśli obecne są parametry tokenu (</a:t>
            </a:r>
            <a:r>
              <a:rPr lang="pl-PL" sz="1850">
                <a:solidFill>
                  <a:schemeClr val="tx1"/>
                </a:solidFill>
                <a:latin typeface="Courier New"/>
                <a:cs typeface="Courier New"/>
              </a:rPr>
              <a:t>cardToken</a:t>
            </a:r>
            <a:r>
              <a:rPr lang="pl-PL" sz="1850">
                <a:solidFill>
                  <a:schemeClr val="tx1"/>
                </a:solidFill>
                <a:latin typeface="Arial"/>
                <a:cs typeface="Arial"/>
              </a:rPr>
              <a:t>, </a:t>
            </a:r>
            <a:r>
              <a:rPr lang="pl-PL" sz="1850">
                <a:solidFill>
                  <a:schemeClr val="tx1"/>
                </a:solidFill>
                <a:latin typeface="Courier New"/>
                <a:cs typeface="Courier New"/>
              </a:rPr>
              <a:t>maskedCard</a:t>
            </a:r>
            <a:r>
              <a:rPr lang="pl-PL" sz="1850">
                <a:solidFill>
                  <a:schemeClr val="tx1"/>
                </a:solidFill>
                <a:latin typeface="Arial"/>
                <a:cs typeface="Arial"/>
              </a:rPr>
              <a:t>), serwis zapisuje nowy rekord </a:t>
            </a:r>
            <a:r>
              <a:rPr lang="pl-PL" sz="1850">
                <a:solidFill>
                  <a:schemeClr val="tx1"/>
                </a:solidFill>
                <a:latin typeface="Courier New"/>
                <a:cs typeface="Courier New"/>
              </a:rPr>
              <a:t>SellerCard</a:t>
            </a:r>
            <a:r>
              <a:rPr lang="pl-PL" sz="1850">
                <a:solidFill>
                  <a:schemeClr val="tx1"/>
                </a:solidFill>
                <a:latin typeface="Arial"/>
                <a:cs typeface="Arial"/>
              </a:rPr>
              <a:t> z zaszyfrowanym tokenem zamiast zmieniać status zamówienia.</a:t>
            </a:r>
            <a:endParaRPr lang="pl-PL" sz="1850">
              <a:solidFill>
                <a:schemeClr val="tx1"/>
              </a:solidFill>
            </a:endParaRPr>
          </a:p>
          <a:p>
            <a:pPr algn="l">
              <a:spcBef>
                <a:spcPts val="1889"/>
              </a:spcBef>
            </a:pPr>
            <a:r>
              <a:rPr lang="pl-PL" sz="1850">
                <a:solidFill>
                  <a:schemeClr val="tx1"/>
                </a:solidFill>
                <a:latin typeface="Arial"/>
                <a:cs typeface="Arial"/>
              </a:rPr>
              <a:t>Opłata 0,50 PLN za wystawienie ogłoszenia pobierana jest synchronicznie po </a:t>
            </a:r>
            <a:r>
              <a:rPr lang="pl-PL" sz="1850">
                <a:solidFill>
                  <a:schemeClr val="tx1"/>
                </a:solidFill>
                <a:latin typeface="Courier New"/>
                <a:cs typeface="Courier New"/>
              </a:rPr>
              <a:t>SaveChangesAsync()</a:t>
            </a:r>
            <a:r>
              <a:rPr lang="pl-PL" sz="1850">
                <a:solidFill>
                  <a:schemeClr val="tx1"/>
                </a:solidFill>
                <a:latin typeface="Arial"/>
                <a:cs typeface="Arial"/>
              </a:rPr>
              <a:t> w </a:t>
            </a:r>
            <a:r>
              <a:rPr lang="pl-PL" sz="1850">
                <a:solidFill>
                  <a:schemeClr val="tx1"/>
                </a:solidFill>
                <a:latin typeface="Courier New"/>
                <a:cs typeface="Courier New"/>
              </a:rPr>
              <a:t>ListingsController.Create()</a:t>
            </a:r>
            <a:r>
              <a:rPr lang="pl-PL" sz="1850">
                <a:solidFill>
                  <a:schemeClr val="tx1"/>
                </a:solidFill>
                <a:latin typeface="Arial"/>
                <a:cs typeface="Arial"/>
              </a:rPr>
              <a:t> przez </a:t>
            </a:r>
            <a:r>
              <a:rPr lang="pl-PL" sz="1850">
                <a:solidFill>
                  <a:schemeClr val="tx1"/>
                </a:solidFill>
                <a:latin typeface="Courier New"/>
                <a:cs typeface="Courier New"/>
              </a:rPr>
              <a:t>ICardFeeService.TryChargeListingFeeAsync()</a:t>
            </a:r>
            <a:r>
              <a:rPr lang="pl-PL" sz="1850">
                <a:solidFill>
                  <a:schemeClr val="tx1"/>
                </a:solidFill>
                <a:latin typeface="Arial"/>
                <a:cs typeface="Arial"/>
              </a:rPr>
              <a:t> — niepowodzenie jest nieblokujące (ostrzeżenie przez </a:t>
            </a:r>
            <a:r>
              <a:rPr lang="pl-PL" sz="1850">
                <a:solidFill>
                  <a:schemeClr val="tx1"/>
                </a:solidFill>
                <a:latin typeface="Courier New"/>
                <a:cs typeface="Courier New"/>
              </a:rPr>
              <a:t>TempData</a:t>
            </a:r>
            <a:r>
              <a:rPr lang="pl-PL" sz="1850">
                <a:solidFill>
                  <a:schemeClr val="tx1"/>
                </a:solidFill>
                <a:latin typeface="Arial"/>
                <a:cs typeface="Arial"/>
              </a:rPr>
              <a:t>).</a:t>
            </a:r>
            <a:endParaRPr lang="pl-PL" sz="1850">
              <a:solidFill>
                <a:schemeClr val="tx1"/>
              </a:solidFill>
            </a:endParaRPr>
          </a:p>
          <a:p>
            <a:pPr algn="l">
              <a:spcBef>
                <a:spcPts val="1889"/>
              </a:spcBef>
            </a:pPr>
            <a:endParaRPr lang="pl-PL" sz="1850">
              <a:solidFill>
                <a:schemeClr val="tx1"/>
              </a:solidFill>
              <a:latin typeface="Arial"/>
              <a:cs typeface="Arial"/>
            </a:endParaRPr>
          </a:p>
        </p:txBody>
      </p:sp>
    </p:spTree>
    <p:extLst>
      <p:ext uri="{BB962C8B-B14F-4D97-AF65-F5344CB8AC3E}">
        <p14:creationId xmlns:p14="http://schemas.microsoft.com/office/powerpoint/2010/main" val="29502274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C6347-5E28-96F4-5D7C-6B1B66D4BA00}"/>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23D496A3-D937-FD61-C4F9-A51B43A1042A}"/>
              </a:ext>
            </a:extLst>
          </p:cNvPr>
          <p:cNvSpPr txBox="1">
            <a:spLocks noGrp="1"/>
          </p:cNvSpPr>
          <p:nvPr>
            <p:ph type="title" idx="4294967295"/>
          </p:nvPr>
        </p:nvSpPr>
        <p:spPr>
          <a:xfrm>
            <a:off x="503998" y="301322"/>
            <a:ext cx="9071643" cy="999387"/>
          </a:xfrm>
        </p:spPr>
        <p:txBody>
          <a:bodyPr/>
          <a:lstStyle/>
          <a:p>
            <a:r>
              <a:rPr lang="pl-PL" sz="5850">
                <a:latin typeface="Arial"/>
                <a:cs typeface="Arial"/>
              </a:rPr>
              <a:t>Implementacja (3⁄6)</a:t>
            </a:r>
          </a:p>
        </p:txBody>
      </p:sp>
      <p:sp>
        <p:nvSpPr>
          <p:cNvPr id="3" name="Symbol zastępczy tekstu 2">
            <a:extLst>
              <a:ext uri="{FF2B5EF4-FFF2-40B4-BE49-F238E27FC236}">
                <a16:creationId xmlns:a16="http://schemas.microsoft.com/office/drawing/2014/main" id="{DA54CB07-235F-A35E-59AB-28D2CC311246}"/>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000">
                <a:solidFill>
                  <a:schemeClr val="tx1"/>
                </a:solidFill>
                <a:latin typeface="Arial"/>
                <a:cs typeface="Arial"/>
              </a:rPr>
              <a:t>System propozycji wymiany</a:t>
            </a:r>
            <a:endParaRPr lang="pl-PL" sz="2000">
              <a:solidFill>
                <a:schemeClr val="tx1"/>
              </a:solidFill>
              <a:latin typeface="Liberation Sans"/>
              <a:cs typeface="Arial"/>
            </a:endParaRPr>
          </a:p>
          <a:p>
            <a:pPr algn="l">
              <a:spcBef>
                <a:spcPts val="1889"/>
              </a:spcBef>
            </a:pPr>
            <a:r>
              <a:rPr lang="pl-PL" sz="2000">
                <a:solidFill>
                  <a:schemeClr val="tx1"/>
                </a:solidFill>
                <a:latin typeface="Courier New"/>
                <a:cs typeface="Courier New"/>
              </a:rPr>
              <a:t>TradeProposal</a:t>
            </a:r>
            <a:r>
              <a:rPr lang="pl-PL" sz="2000">
                <a:solidFill>
                  <a:schemeClr val="tx1"/>
                </a:solidFill>
                <a:latin typeface="Arial"/>
                <a:cs typeface="Arial"/>
              </a:rPr>
              <a:t> implementuje drzewo kontrpropozycji przez samoodniesienie (</a:t>
            </a:r>
            <a:r>
              <a:rPr lang="pl-PL" sz="2000">
                <a:solidFill>
                  <a:schemeClr val="tx1"/>
                </a:solidFill>
                <a:latin typeface="Courier New"/>
                <a:cs typeface="Courier New"/>
              </a:rPr>
              <a:t>ParentTradeProposalId</a:t>
            </a:r>
            <a:r>
              <a:rPr lang="pl-PL" sz="2000">
                <a:solidFill>
                  <a:schemeClr val="tx1"/>
                </a:solidFill>
                <a:latin typeface="Arial"/>
                <a:cs typeface="Arial"/>
              </a:rPr>
              <a:t> + </a:t>
            </a:r>
            <a:r>
              <a:rPr lang="pl-PL" sz="2000">
                <a:solidFill>
                  <a:schemeClr val="tx1"/>
                </a:solidFill>
                <a:latin typeface="Courier New"/>
                <a:cs typeface="Courier New"/>
              </a:rPr>
              <a:t>RootTradeProposalId</a:t>
            </a:r>
            <a:r>
              <a:rPr lang="pl-PL" sz="2000">
                <a:solidFill>
                  <a:schemeClr val="tx1"/>
                </a:solidFill>
                <a:latin typeface="Arial"/>
                <a:cs typeface="Arial"/>
              </a:rPr>
              <a:t>). </a:t>
            </a:r>
            <a:r>
              <a:rPr lang="pl-PL" sz="2000">
                <a:solidFill>
                  <a:schemeClr val="tx1"/>
                </a:solidFill>
                <a:latin typeface="Courier New"/>
                <a:cs typeface="Courier New"/>
              </a:rPr>
              <a:t>TradeProposalsController.ValidateAndBuildSides()</a:t>
            </a:r>
            <a:r>
              <a:rPr lang="pl-PL" sz="2000">
                <a:solidFill>
                  <a:schemeClr val="tx1"/>
                </a:solidFill>
                <a:latin typeface="Arial"/>
                <a:cs typeface="Arial"/>
              </a:rPr>
              <a:t> — metoda walidacyjna przyjmująca ID użytkownika i ID korzenia propozycji — buduje dwie strony wymiany (</a:t>
            </a:r>
            <a:r>
              <a:rPr lang="pl-PL" sz="2000">
                <a:solidFill>
                  <a:schemeClr val="tx1"/>
                </a:solidFill>
                <a:latin typeface="Courier New"/>
                <a:cs typeface="Courier New"/>
              </a:rPr>
              <a:t>Initiator</a:t>
            </a:r>
            <a:r>
              <a:rPr lang="pl-PL" sz="2000">
                <a:solidFill>
                  <a:schemeClr val="tx1"/>
                </a:solidFill>
                <a:latin typeface="Arial"/>
                <a:cs typeface="Arial"/>
              </a:rPr>
              <a:t>/</a:t>
            </a:r>
            <a:r>
              <a:rPr lang="pl-PL" sz="2000">
                <a:solidFill>
                  <a:schemeClr val="tx1"/>
                </a:solidFill>
                <a:latin typeface="Courier New"/>
                <a:cs typeface="Courier New"/>
              </a:rPr>
              <a:t>Receiver</a:t>
            </a:r>
            <a:r>
              <a:rPr lang="pl-PL" sz="2000">
                <a:solidFill>
                  <a:schemeClr val="tx1"/>
                </a:solidFill>
                <a:latin typeface="Arial"/>
                <a:cs typeface="Arial"/>
              </a:rPr>
              <a:t>) z listy </a:t>
            </a:r>
            <a:r>
              <a:rPr lang="pl-PL" sz="2000">
                <a:solidFill>
                  <a:schemeClr val="tx1"/>
                </a:solidFill>
                <a:latin typeface="Courier New"/>
                <a:cs typeface="Courier New"/>
              </a:rPr>
              <a:t>TradeProposalItem</a:t>
            </a:r>
            <a:r>
              <a:rPr lang="pl-PL" sz="2000">
                <a:solidFill>
                  <a:schemeClr val="tx1"/>
                </a:solidFill>
                <a:latin typeface="Arial"/>
                <a:cs typeface="Arial"/>
              </a:rPr>
              <a:t>, weryfikując:</a:t>
            </a:r>
            <a:endParaRPr lang="pl-PL" sz="2000">
              <a:solidFill>
                <a:schemeClr val="tx1"/>
              </a:solidFill>
              <a:latin typeface="Liberation Sans"/>
              <a:cs typeface="Arial"/>
            </a:endParaRPr>
          </a:p>
          <a:p>
            <a:pPr marL="285750" indent="-285750" algn="l">
              <a:spcBef>
                <a:spcPts val="1889"/>
              </a:spcBef>
              <a:buFont typeface="Arial"/>
              <a:buChar char="•"/>
            </a:pPr>
            <a:r>
              <a:rPr lang="pl-PL" sz="2000">
                <a:solidFill>
                  <a:schemeClr val="tx1"/>
                </a:solidFill>
                <a:latin typeface="Arial"/>
                <a:cs typeface="Arial"/>
              </a:rPr>
              <a:t>Czy ogłoszenia po stronie inicjatora należą do niego</a:t>
            </a:r>
            <a:endParaRPr lang="pl-PL" sz="2000">
              <a:solidFill>
                <a:schemeClr val="tx1"/>
              </a:solidFill>
              <a:latin typeface="Liberation Sans"/>
              <a:cs typeface="Arial"/>
            </a:endParaRPr>
          </a:p>
          <a:p>
            <a:pPr marL="285750" indent="-285750" algn="l">
              <a:spcBef>
                <a:spcPts val="1889"/>
              </a:spcBef>
              <a:buFont typeface="Arial"/>
              <a:buChar char="•"/>
            </a:pPr>
            <a:r>
              <a:rPr lang="pl-PL" sz="2000">
                <a:solidFill>
                  <a:schemeClr val="tx1"/>
                </a:solidFill>
                <a:latin typeface="Arial"/>
                <a:cs typeface="Arial"/>
              </a:rPr>
              <a:t>Czy ogłoszenie-przedmiot wymiany należy do odbiorcy</a:t>
            </a:r>
            <a:endParaRPr lang="pl-PL" sz="2000">
              <a:solidFill>
                <a:schemeClr val="tx1"/>
              </a:solidFill>
              <a:latin typeface="Liberation Sans"/>
              <a:cs typeface="Arial"/>
            </a:endParaRPr>
          </a:p>
          <a:p>
            <a:pPr marL="285750" indent="-285750" algn="l">
              <a:spcBef>
                <a:spcPts val="1889"/>
              </a:spcBef>
              <a:buFont typeface="Arial"/>
              <a:buChar char="•"/>
            </a:pPr>
            <a:r>
              <a:rPr lang="pl-PL" sz="2000">
                <a:solidFill>
                  <a:schemeClr val="tx1"/>
                </a:solidFill>
                <a:latin typeface="Arial"/>
                <a:cs typeface="Arial"/>
              </a:rPr>
              <a:t>Czy ilości są dodatnie</a:t>
            </a:r>
            <a:endParaRPr lang="pl-PL" sz="2000">
              <a:solidFill>
                <a:schemeClr val="tx1"/>
              </a:solidFill>
              <a:latin typeface="Liberation Sans"/>
              <a:cs typeface="Arial"/>
            </a:endParaRPr>
          </a:p>
          <a:p>
            <a:pPr marL="285750" indent="-285750" algn="l">
              <a:spcBef>
                <a:spcPts val="1889"/>
              </a:spcBef>
              <a:buFont typeface="Arial"/>
              <a:buChar char="•"/>
            </a:pPr>
            <a:r>
              <a:rPr lang="pl-PL" sz="2000">
                <a:solidFill>
                  <a:schemeClr val="tx1"/>
                </a:solidFill>
                <a:latin typeface="Arial"/>
                <a:cs typeface="Arial"/>
              </a:rPr>
              <a:t>Czy pozycje niestandardowe (</a:t>
            </a:r>
            <a:r>
              <a:rPr lang="pl-PL" sz="2000">
                <a:solidFill>
                  <a:schemeClr val="tx1"/>
                </a:solidFill>
                <a:latin typeface="Courier New"/>
                <a:cs typeface="Courier New"/>
              </a:rPr>
              <a:t>CustomOfferTitle</a:t>
            </a:r>
            <a:r>
              <a:rPr lang="pl-PL" sz="2000">
                <a:solidFill>
                  <a:schemeClr val="tx1"/>
                </a:solidFill>
                <a:latin typeface="Arial"/>
                <a:cs typeface="Arial"/>
              </a:rPr>
              <a:t>) mają szacowaną wartość</a:t>
            </a:r>
            <a:endParaRPr lang="pl-PL" sz="2000">
              <a:solidFill>
                <a:schemeClr val="tx1"/>
              </a:solidFill>
              <a:latin typeface="Liberation Sans"/>
              <a:cs typeface="Arial"/>
            </a:endParaRPr>
          </a:p>
          <a:p>
            <a:pPr algn="l">
              <a:spcBef>
                <a:spcPts val="1889"/>
              </a:spcBef>
            </a:pPr>
            <a:r>
              <a:rPr lang="pl-PL" sz="2000">
                <a:solidFill>
                  <a:schemeClr val="tx1"/>
                </a:solidFill>
                <a:latin typeface="Arial"/>
                <a:cs typeface="Arial"/>
              </a:rPr>
              <a:t>Każda zmiana statusu (akceptacja, odrzucenie, kontrpropozycja) zapisywana jest jako </a:t>
            </a:r>
            <a:r>
              <a:rPr lang="pl-PL" sz="2000">
                <a:solidFill>
                  <a:schemeClr val="tx1"/>
                </a:solidFill>
                <a:latin typeface="Courier New"/>
                <a:cs typeface="Courier New"/>
              </a:rPr>
              <a:t>TradeProposalHistoryEntry</a:t>
            </a:r>
            <a:r>
              <a:rPr lang="pl-PL" sz="2000">
                <a:solidFill>
                  <a:schemeClr val="tx1"/>
                </a:solidFill>
                <a:latin typeface="Arial"/>
                <a:cs typeface="Arial"/>
              </a:rPr>
              <a:t> i generuje powiadomienie dla drugiej strony.</a:t>
            </a:r>
            <a:endParaRPr lang="pl-PL" sz="2000">
              <a:solidFill>
                <a:schemeClr val="tx1"/>
              </a:solidFill>
            </a:endParaRPr>
          </a:p>
          <a:p>
            <a:pPr algn="l">
              <a:spcBef>
                <a:spcPts val="1889"/>
              </a:spcBef>
            </a:pPr>
            <a:endParaRPr lang="pl-PL" sz="2000">
              <a:solidFill>
                <a:schemeClr val="tx1"/>
              </a:solidFill>
              <a:latin typeface="Arial"/>
              <a:cs typeface="Arial"/>
            </a:endParaRPr>
          </a:p>
        </p:txBody>
      </p:sp>
    </p:spTree>
    <p:extLst>
      <p:ext uri="{BB962C8B-B14F-4D97-AF65-F5344CB8AC3E}">
        <p14:creationId xmlns:p14="http://schemas.microsoft.com/office/powerpoint/2010/main" val="24744485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F6C7CC-A59F-FF4E-2535-55D1DD704CE3}"/>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F52F7D1E-5F1B-B17F-66FA-6801F4D3EC27}"/>
              </a:ext>
            </a:extLst>
          </p:cNvPr>
          <p:cNvSpPr txBox="1">
            <a:spLocks noGrp="1"/>
          </p:cNvSpPr>
          <p:nvPr>
            <p:ph type="title" idx="4294967295"/>
          </p:nvPr>
        </p:nvSpPr>
        <p:spPr>
          <a:xfrm>
            <a:off x="503998" y="301322"/>
            <a:ext cx="9071643" cy="999387"/>
          </a:xfrm>
        </p:spPr>
        <p:txBody>
          <a:bodyPr/>
          <a:lstStyle/>
          <a:p>
            <a:r>
              <a:rPr lang="pl-PL" sz="5850">
                <a:latin typeface="Arial"/>
                <a:cs typeface="Arial"/>
              </a:rPr>
              <a:t>Implementacja (4⁄6)</a:t>
            </a:r>
          </a:p>
        </p:txBody>
      </p:sp>
      <p:sp>
        <p:nvSpPr>
          <p:cNvPr id="3" name="Symbol zastępczy tekstu 2">
            <a:extLst>
              <a:ext uri="{FF2B5EF4-FFF2-40B4-BE49-F238E27FC236}">
                <a16:creationId xmlns:a16="http://schemas.microsoft.com/office/drawing/2014/main" id="{FE56B2F1-68F1-9D5E-E7F5-92C93D19626B}"/>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500">
                <a:solidFill>
                  <a:schemeClr val="tx1"/>
                </a:solidFill>
                <a:latin typeface="Arial"/>
                <a:cs typeface="Arial"/>
              </a:rPr>
              <a:t>Wyszukiwanie i filtrowanie ogłoszeń:</a:t>
            </a:r>
            <a:endParaRPr lang="pl-PL" sz="2500">
              <a:solidFill>
                <a:schemeClr val="tx1"/>
              </a:solidFill>
            </a:endParaRPr>
          </a:p>
          <a:p>
            <a:pPr algn="l">
              <a:spcBef>
                <a:spcPts val="1889"/>
              </a:spcBef>
            </a:pPr>
            <a:r>
              <a:rPr lang="pl-PL" sz="2500">
                <a:solidFill>
                  <a:schemeClr val="tx1"/>
                </a:solidFill>
                <a:latin typeface="Arial"/>
                <a:cs typeface="Arial"/>
              </a:rPr>
              <a:t>Zapytania budowane są inkrementalnie przez </a:t>
            </a:r>
            <a:r>
              <a:rPr lang="pl-PL" sz="2500">
                <a:solidFill>
                  <a:schemeClr val="tx1"/>
                </a:solidFill>
                <a:latin typeface="Courier New"/>
                <a:cs typeface="Courier New"/>
              </a:rPr>
              <a:t>IQueryable&lt;Listing&gt;</a:t>
            </a:r>
            <a:r>
              <a:rPr lang="pl-PL" sz="2500">
                <a:solidFill>
                  <a:schemeClr val="tx1"/>
                </a:solidFill>
                <a:latin typeface="Arial"/>
                <a:cs typeface="Arial"/>
              </a:rPr>
              <a:t> z warunkami dokładanymi metodą łańcuchową. Wyszukiwanie pełnotekstowe używa </a:t>
            </a:r>
            <a:r>
              <a:rPr lang="pl-PL" sz="2500">
                <a:solidFill>
                  <a:schemeClr val="tx1"/>
                </a:solidFill>
                <a:latin typeface="Courier New"/>
                <a:cs typeface="Courier New"/>
              </a:rPr>
              <a:t>EF.Functions.ILike()</a:t>
            </a:r>
            <a:r>
              <a:rPr lang="pl-PL" sz="2500">
                <a:solidFill>
                  <a:schemeClr val="tx1"/>
                </a:solidFill>
                <a:latin typeface="Arial"/>
                <a:cs typeface="Arial"/>
              </a:rPr>
              <a:t> (case-insensitive </a:t>
            </a:r>
            <a:r>
              <a:rPr lang="pl-PL" sz="2500">
                <a:solidFill>
                  <a:schemeClr val="tx1"/>
                </a:solidFill>
                <a:latin typeface="Courier New"/>
                <a:cs typeface="Courier New"/>
              </a:rPr>
              <a:t>LIKE</a:t>
            </a:r>
            <a:r>
              <a:rPr lang="pl-PL" sz="2500">
                <a:solidFill>
                  <a:schemeClr val="tx1"/>
                </a:solidFill>
                <a:latin typeface="Arial"/>
                <a:cs typeface="Arial"/>
              </a:rPr>
              <a:t> PostgreSQL), przyspieszanego przez indeksy GIN trigram (</a:t>
            </a:r>
            <a:r>
              <a:rPr lang="pl-PL" sz="2500">
                <a:solidFill>
                  <a:schemeClr val="tx1"/>
                </a:solidFill>
                <a:latin typeface="Courier New"/>
                <a:cs typeface="Courier New"/>
              </a:rPr>
              <a:t>pg_trgm</a:t>
            </a:r>
            <a:r>
              <a:rPr lang="pl-PL" sz="2500">
                <a:solidFill>
                  <a:schemeClr val="tx1"/>
                </a:solidFill>
                <a:latin typeface="Arial"/>
                <a:cs typeface="Arial"/>
              </a:rPr>
              <a:t>) na kolumnach </a:t>
            </a:r>
            <a:r>
              <a:rPr lang="pl-PL" sz="2500">
                <a:solidFill>
                  <a:schemeClr val="tx1"/>
                </a:solidFill>
                <a:latin typeface="Courier New"/>
                <a:cs typeface="Courier New"/>
              </a:rPr>
              <a:t>Title</a:t>
            </a:r>
            <a:r>
              <a:rPr lang="pl-PL" sz="2500">
                <a:solidFill>
                  <a:schemeClr val="tx1"/>
                </a:solidFill>
                <a:latin typeface="Arial"/>
                <a:cs typeface="Arial"/>
              </a:rPr>
              <a:t> i </a:t>
            </a:r>
            <a:r>
              <a:rPr lang="pl-PL" sz="2500">
                <a:solidFill>
                  <a:schemeClr val="tx1"/>
                </a:solidFill>
                <a:latin typeface="Courier New"/>
                <a:cs typeface="Courier New"/>
              </a:rPr>
              <a:t>Description</a:t>
            </a:r>
            <a:r>
              <a:rPr lang="pl-PL" sz="2500">
                <a:solidFill>
                  <a:schemeClr val="tx1"/>
                </a:solidFill>
                <a:latin typeface="Arial"/>
                <a:cs typeface="Arial"/>
              </a:rPr>
              <a:t>. Filtrowanie po odległości wykonywane jest </a:t>
            </a:r>
            <a:r>
              <a:rPr lang="pl-PL" sz="2500" b="1">
                <a:solidFill>
                  <a:schemeClr val="tx1"/>
                </a:solidFill>
                <a:latin typeface="Arial"/>
                <a:cs typeface="Arial"/>
              </a:rPr>
              <a:t>po</a:t>
            </a:r>
            <a:r>
              <a:rPr lang="pl-PL" sz="2500">
                <a:solidFill>
                  <a:schemeClr val="tx1"/>
                </a:solidFill>
                <a:latin typeface="Arial"/>
                <a:cs typeface="Arial"/>
              </a:rPr>
              <a:t> pobraniu danych z bazy (</a:t>
            </a:r>
            <a:r>
              <a:rPr lang="pl-PL" sz="2500">
                <a:solidFill>
                  <a:schemeClr val="tx1"/>
                </a:solidFill>
                <a:latin typeface="Courier New"/>
                <a:cs typeface="Courier New"/>
              </a:rPr>
              <a:t>ToListAsync()</a:t>
            </a:r>
            <a:r>
              <a:rPr lang="pl-PL" sz="2500">
                <a:solidFill>
                  <a:schemeClr val="tx1"/>
                </a:solidFill>
                <a:latin typeface="Arial"/>
                <a:cs typeface="Arial"/>
              </a:rPr>
              <a:t>) metodą </a:t>
            </a:r>
            <a:r>
              <a:rPr lang="pl-PL" sz="2500">
                <a:solidFill>
                  <a:schemeClr val="tx1"/>
                </a:solidFill>
                <a:latin typeface="Courier New"/>
                <a:cs typeface="Courier New"/>
              </a:rPr>
              <a:t>GeocodingService.CalculateDistanceKm()</a:t>
            </a:r>
            <a:r>
              <a:rPr lang="pl-PL" sz="2500">
                <a:solidFill>
                  <a:schemeClr val="tx1"/>
                </a:solidFill>
                <a:latin typeface="Arial"/>
                <a:cs typeface="Arial"/>
              </a:rPr>
              <a:t> z formułą Haversine'a — jest to in-memory filter, gdyż obliczenia trygonometryczne nie mogą być efektywnie przekazane do PostgreSQL przez EF Core bez rozszerzeń.</a:t>
            </a:r>
            <a:endParaRPr lang="pl-PL" sz="2500">
              <a:solidFill>
                <a:schemeClr val="tx1"/>
              </a:solidFill>
            </a:endParaRPr>
          </a:p>
          <a:p>
            <a:pPr algn="l">
              <a:spcBef>
                <a:spcPts val="1889"/>
              </a:spcBef>
            </a:pPr>
            <a:endParaRPr lang="pl-PL" sz="2500">
              <a:solidFill>
                <a:schemeClr val="tx1"/>
              </a:solidFill>
              <a:latin typeface="Arial"/>
              <a:cs typeface="Arial"/>
            </a:endParaRPr>
          </a:p>
        </p:txBody>
      </p:sp>
    </p:spTree>
    <p:extLst>
      <p:ext uri="{BB962C8B-B14F-4D97-AF65-F5344CB8AC3E}">
        <p14:creationId xmlns:p14="http://schemas.microsoft.com/office/powerpoint/2010/main" val="110667902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F4C00-4706-E607-FAFD-18F0A139B968}"/>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04AE8B14-1881-C4B0-BD86-035B5E435ADE}"/>
              </a:ext>
            </a:extLst>
          </p:cNvPr>
          <p:cNvSpPr txBox="1">
            <a:spLocks noGrp="1"/>
          </p:cNvSpPr>
          <p:nvPr>
            <p:ph type="title" idx="4294967295"/>
          </p:nvPr>
        </p:nvSpPr>
        <p:spPr>
          <a:xfrm>
            <a:off x="503998" y="301322"/>
            <a:ext cx="9071643" cy="999387"/>
          </a:xfrm>
        </p:spPr>
        <p:txBody>
          <a:bodyPr/>
          <a:lstStyle/>
          <a:p>
            <a:r>
              <a:rPr lang="pl-PL" sz="5850">
                <a:latin typeface="Arial"/>
                <a:cs typeface="Arial"/>
              </a:rPr>
              <a:t>Implementacja (5⁄6)</a:t>
            </a:r>
          </a:p>
        </p:txBody>
      </p:sp>
      <p:sp>
        <p:nvSpPr>
          <p:cNvPr id="3" name="Symbol zastępczy tekstu 2">
            <a:extLst>
              <a:ext uri="{FF2B5EF4-FFF2-40B4-BE49-F238E27FC236}">
                <a16:creationId xmlns:a16="http://schemas.microsoft.com/office/drawing/2014/main" id="{3AFEDAA2-F326-3AE6-9E65-A53C14E87077}"/>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100">
                <a:solidFill>
                  <a:schemeClr val="tx1"/>
                </a:solidFill>
                <a:latin typeface="Arial"/>
                <a:cs typeface="Arial"/>
              </a:rPr>
              <a:t>Generowanie slugów i SEO-friendly URL</a:t>
            </a:r>
            <a:endParaRPr lang="pl-PL" sz="2100">
              <a:solidFill>
                <a:schemeClr val="tx1"/>
              </a:solidFill>
            </a:endParaRPr>
          </a:p>
          <a:p>
            <a:pPr algn="l">
              <a:spcBef>
                <a:spcPts val="1889"/>
              </a:spcBef>
            </a:pPr>
            <a:r>
              <a:rPr lang="pl-PL" sz="2100">
                <a:solidFill>
                  <a:schemeClr val="tx1"/>
                </a:solidFill>
                <a:latin typeface="Courier New"/>
                <a:cs typeface="Courier New"/>
              </a:rPr>
              <a:t>SlugHelper.GenerateSlug(title)</a:t>
            </a:r>
            <a:r>
              <a:rPr lang="pl-PL" sz="2100">
                <a:solidFill>
                  <a:schemeClr val="tx1"/>
                </a:solidFill>
                <a:latin typeface="Arial"/>
                <a:cs typeface="Arial"/>
              </a:rPr>
              <a:t> konwertuje tytuł ogłoszenia na URL-friendly slug (zamiana polskich znaków, lowercase, zamiana spacji na myślniki, usunięcie znaków specjalnych). Szczegóły ogłoszenia dostępne są pod adresem </a:t>
            </a:r>
            <a:r>
              <a:rPr lang="pl-PL" sz="2100">
                <a:solidFill>
                  <a:schemeClr val="tx1"/>
                </a:solidFill>
                <a:latin typeface="Courier New"/>
                <a:cs typeface="Courier New"/>
              </a:rPr>
              <a:t>/Listings/{slug}-{id}</a:t>
            </a:r>
            <a:r>
              <a:rPr lang="pl-PL" sz="2100">
                <a:solidFill>
                  <a:schemeClr val="tx1"/>
                </a:solidFill>
                <a:latin typeface="Arial"/>
                <a:cs typeface="Arial"/>
              </a:rPr>
              <a:t> (routing atrybutowy </a:t>
            </a:r>
            <a:r>
              <a:rPr lang="pl-PL" sz="2100">
                <a:solidFill>
                  <a:schemeClr val="tx1"/>
                </a:solidFill>
                <a:latin typeface="Courier New"/>
                <a:cs typeface="Courier New"/>
              </a:rPr>
              <a:t>[Route("Listings/{slug}-{id:int}")]</a:t>
            </a:r>
            <a:r>
              <a:rPr lang="pl-PL" sz="2100">
                <a:solidFill>
                  <a:schemeClr val="tx1"/>
                </a:solidFill>
                <a:latin typeface="Arial"/>
                <a:cs typeface="Arial"/>
              </a:rPr>
              <a:t>). Bezpośrednie wejście przez stary ID (</a:t>
            </a:r>
            <a:r>
              <a:rPr lang="pl-PL" sz="2100">
                <a:solidFill>
                  <a:schemeClr val="tx1"/>
                </a:solidFill>
                <a:latin typeface="Courier New"/>
                <a:cs typeface="Courier New"/>
              </a:rPr>
              <a:t>/Listings/Details/{id}</a:t>
            </a:r>
            <a:r>
              <a:rPr lang="pl-PL" sz="2100">
                <a:solidFill>
                  <a:schemeClr val="tx1"/>
                </a:solidFill>
                <a:latin typeface="Arial"/>
                <a:cs typeface="Arial"/>
              </a:rPr>
              <a:t>) wykonuje trwałe przekierowanie </a:t>
            </a:r>
            <a:r>
              <a:rPr lang="pl-PL" sz="2100">
                <a:solidFill>
                  <a:schemeClr val="tx1"/>
                </a:solidFill>
                <a:latin typeface="Courier New"/>
                <a:cs typeface="Courier New"/>
              </a:rPr>
              <a:t>301</a:t>
            </a:r>
            <a:r>
              <a:rPr lang="pl-PL" sz="2100">
                <a:solidFill>
                  <a:schemeClr val="tx1"/>
                </a:solidFill>
                <a:latin typeface="Arial"/>
                <a:cs typeface="Arial"/>
              </a:rPr>
              <a:t> na slug-URL.</a:t>
            </a:r>
            <a:endParaRPr lang="pl-PL" sz="2100">
              <a:solidFill>
                <a:schemeClr val="tx1"/>
              </a:solidFill>
            </a:endParaRPr>
          </a:p>
          <a:p>
            <a:pPr algn="l">
              <a:spcBef>
                <a:spcPts val="1889"/>
              </a:spcBef>
            </a:pPr>
            <a:r>
              <a:rPr lang="pl-PL" sz="2100">
                <a:solidFill>
                  <a:schemeClr val="tx1"/>
                </a:solidFill>
                <a:latin typeface="Arial"/>
                <a:cs typeface="Arial"/>
              </a:rPr>
              <a:t>Powiadomienia</a:t>
            </a:r>
            <a:endParaRPr lang="pl-PL" sz="2100">
              <a:solidFill>
                <a:schemeClr val="tx1"/>
              </a:solidFill>
            </a:endParaRPr>
          </a:p>
          <a:p>
            <a:pPr algn="l">
              <a:spcBef>
                <a:spcPts val="1889"/>
              </a:spcBef>
            </a:pPr>
            <a:r>
              <a:rPr lang="pl-PL" sz="2100">
                <a:solidFill>
                  <a:schemeClr val="tx1"/>
                </a:solidFill>
                <a:latin typeface="Courier New"/>
                <a:cs typeface="Courier New"/>
              </a:rPr>
              <a:t>NotificationService</a:t>
            </a:r>
            <a:r>
              <a:rPr lang="pl-PL" sz="2100">
                <a:solidFill>
                  <a:schemeClr val="tx1"/>
                </a:solidFill>
                <a:latin typeface="Arial"/>
                <a:cs typeface="Arial"/>
              </a:rPr>
              <a:t> implementuje </a:t>
            </a:r>
            <a:r>
              <a:rPr lang="pl-PL" sz="2100">
                <a:solidFill>
                  <a:schemeClr val="tx1"/>
                </a:solidFill>
                <a:latin typeface="Courier New"/>
                <a:cs typeface="Courier New"/>
              </a:rPr>
              <a:t>INotificationService</a:t>
            </a:r>
            <a:r>
              <a:rPr lang="pl-PL" sz="2100">
                <a:solidFill>
                  <a:schemeClr val="tx1"/>
                </a:solidFill>
                <a:latin typeface="Arial"/>
                <a:cs typeface="Arial"/>
              </a:rPr>
              <a:t> z metodami tworzącymi powiadomienia dla konkretnych zdarzeń (</a:t>
            </a:r>
            <a:r>
              <a:rPr lang="pl-PL" sz="2100">
                <a:solidFill>
                  <a:schemeClr val="tx1"/>
                </a:solidFill>
                <a:latin typeface="Courier New"/>
                <a:cs typeface="Courier New"/>
              </a:rPr>
              <a:t>NotifyNewMessage</a:t>
            </a:r>
            <a:r>
              <a:rPr lang="pl-PL" sz="2100">
                <a:solidFill>
                  <a:schemeClr val="tx1"/>
                </a:solidFill>
                <a:latin typeface="Arial"/>
                <a:cs typeface="Arial"/>
              </a:rPr>
              <a:t>, </a:t>
            </a:r>
            <a:r>
              <a:rPr lang="pl-PL" sz="2100">
                <a:solidFill>
                  <a:schemeClr val="tx1"/>
                </a:solidFill>
                <a:latin typeface="Courier New"/>
                <a:cs typeface="Courier New"/>
              </a:rPr>
              <a:t>NotifyOrderPaid</a:t>
            </a:r>
            <a:r>
              <a:rPr lang="pl-PL" sz="2100">
                <a:solidFill>
                  <a:schemeClr val="tx1"/>
                </a:solidFill>
                <a:latin typeface="Arial"/>
                <a:cs typeface="Arial"/>
              </a:rPr>
              <a:t>, </a:t>
            </a:r>
            <a:r>
              <a:rPr lang="pl-PL" sz="2100">
                <a:solidFill>
                  <a:schemeClr val="tx1"/>
                </a:solidFill>
                <a:latin typeface="Courier New"/>
                <a:cs typeface="Courier New"/>
              </a:rPr>
              <a:t>NotifyTradeProposalStatusChange</a:t>
            </a:r>
            <a:r>
              <a:rPr lang="pl-PL" sz="2100">
                <a:solidFill>
                  <a:schemeClr val="tx1"/>
                </a:solidFill>
                <a:latin typeface="Arial"/>
                <a:cs typeface="Arial"/>
              </a:rPr>
              <a:t>). Liczba nieprzeczytanych powiadomień pobierana jest przy każdym żądaniu przez zapytanie z indeksem złożonym </a:t>
            </a:r>
            <a:r>
              <a:rPr lang="pl-PL" sz="2100">
                <a:solidFill>
                  <a:schemeClr val="tx1"/>
                </a:solidFill>
                <a:latin typeface="Courier New"/>
                <a:cs typeface="Courier New"/>
              </a:rPr>
              <a:t>(UserId, IsRead)</a:t>
            </a:r>
            <a:r>
              <a:rPr lang="pl-PL" sz="2100">
                <a:solidFill>
                  <a:schemeClr val="tx1"/>
                </a:solidFill>
                <a:latin typeface="Arial"/>
                <a:cs typeface="Arial"/>
              </a:rPr>
              <a:t> — optymalizacja krytyczna dla wydajności nagłówka strony.</a:t>
            </a:r>
            <a:endParaRPr lang="pl-PL" sz="2100">
              <a:solidFill>
                <a:schemeClr val="tx1"/>
              </a:solidFill>
            </a:endParaRPr>
          </a:p>
          <a:p>
            <a:pPr algn="l">
              <a:spcBef>
                <a:spcPts val="1889"/>
              </a:spcBef>
            </a:pPr>
            <a:endParaRPr lang="pl-PL" sz="2100">
              <a:solidFill>
                <a:schemeClr val="tx1"/>
              </a:solidFill>
              <a:latin typeface="Arial"/>
              <a:cs typeface="Arial"/>
            </a:endParaRPr>
          </a:p>
        </p:txBody>
      </p:sp>
    </p:spTree>
    <p:extLst>
      <p:ext uri="{BB962C8B-B14F-4D97-AF65-F5344CB8AC3E}">
        <p14:creationId xmlns:p14="http://schemas.microsoft.com/office/powerpoint/2010/main" val="364031037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D0BFE-3C29-C89C-D710-A8AE322C9920}"/>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8C07ED57-3F9D-F0B7-2BE2-7E0D000253B9}"/>
              </a:ext>
            </a:extLst>
          </p:cNvPr>
          <p:cNvSpPr txBox="1">
            <a:spLocks noGrp="1"/>
          </p:cNvSpPr>
          <p:nvPr>
            <p:ph type="title" idx="4294967295"/>
          </p:nvPr>
        </p:nvSpPr>
        <p:spPr>
          <a:xfrm>
            <a:off x="503998" y="301322"/>
            <a:ext cx="9071643" cy="999387"/>
          </a:xfrm>
        </p:spPr>
        <p:txBody>
          <a:bodyPr/>
          <a:lstStyle/>
          <a:p>
            <a:r>
              <a:rPr lang="pl-PL" sz="5850">
                <a:latin typeface="Arial"/>
                <a:cs typeface="Arial"/>
              </a:rPr>
              <a:t>Implementacja (6⁄6)</a:t>
            </a:r>
          </a:p>
        </p:txBody>
      </p:sp>
      <p:sp>
        <p:nvSpPr>
          <p:cNvPr id="3" name="Symbol zastępczy tekstu 2">
            <a:extLst>
              <a:ext uri="{FF2B5EF4-FFF2-40B4-BE49-F238E27FC236}">
                <a16:creationId xmlns:a16="http://schemas.microsoft.com/office/drawing/2014/main" id="{731F2C4E-4624-064A-6A1D-72C2FCBC854C}"/>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600">
                <a:solidFill>
                  <a:schemeClr val="tx1"/>
                </a:solidFill>
                <a:latin typeface="Arial"/>
                <a:cs typeface="Arial"/>
              </a:rPr>
              <a:t>Struktura kontrolerów:</a:t>
            </a:r>
            <a:endParaRPr lang="pl-PL" sz="1600">
              <a:solidFill>
                <a:schemeClr val="tx1"/>
              </a:solidFill>
            </a:endParaRPr>
          </a:p>
          <a:p>
            <a:pPr algn="l">
              <a:spcBef>
                <a:spcPts val="1889"/>
              </a:spcBef>
            </a:pPr>
            <a:r>
              <a:rPr lang="pl-PL" sz="1600">
                <a:solidFill>
                  <a:schemeClr val="tx1"/>
                </a:solidFill>
                <a:latin typeface="Courier New"/>
                <a:cs typeface="Courier New"/>
              </a:rPr>
              <a:t>Controllers/</a:t>
            </a:r>
            <a:br>
              <a:rPr lang="pl-PL" sz="1600">
                <a:latin typeface="Courier New"/>
                <a:cs typeface="Courier New"/>
              </a:rPr>
            </a:br>
            <a:r>
              <a:rPr lang="pl-PL" sz="1600">
                <a:solidFill>
                  <a:schemeClr val="tx1"/>
                </a:solidFill>
                <a:latin typeface="Courier New"/>
                <a:cs typeface="Courier New"/>
              </a:rPr>
              <a:t> User/</a:t>
            </a:r>
            <a:br>
              <a:rPr lang="pl-PL" sz="1600">
                <a:latin typeface="Courier New"/>
                <a:cs typeface="Courier New"/>
              </a:rPr>
            </a:br>
            <a:r>
              <a:rPr lang="pl-PL" sz="1600">
                <a:solidFill>
                  <a:schemeClr val="tx1"/>
                </a:solidFill>
                <a:latin typeface="Courier New"/>
                <a:cs typeface="Courier New"/>
              </a:rPr>
              <a:t>   ListingsController      — przeglądanie, szczegóły, tworzenie, edycja ogłoszeń</a:t>
            </a:r>
            <a:br>
              <a:rPr lang="pl-PL" sz="1600">
                <a:latin typeface="Courier New"/>
                <a:cs typeface="Courier New"/>
              </a:rPr>
            </a:br>
            <a:r>
              <a:rPr lang="pl-PL" sz="1600">
                <a:solidFill>
                  <a:schemeClr val="tx1"/>
                </a:solidFill>
                <a:latin typeface="Courier New"/>
                <a:cs typeface="Courier New"/>
              </a:rPr>
              <a:t>   PaymentController       — inicjowanie zamówień PayU, webhook Notify</a:t>
            </a:r>
            <a:br>
              <a:rPr lang="pl-PL" sz="1600">
                <a:latin typeface="Courier New"/>
                <a:cs typeface="Courier New"/>
              </a:rPr>
            </a:br>
            <a:r>
              <a:rPr lang="pl-PL" sz="1600">
                <a:solidFill>
                  <a:schemeClr val="tx1"/>
                </a:solidFill>
                <a:latin typeface="Courier New"/>
                <a:cs typeface="Courier New"/>
              </a:rPr>
              <a:t>   TradeProposalsController — tworzenie i odpowiedź na propozycje wymiany</a:t>
            </a:r>
            <a:br>
              <a:rPr lang="pl-PL" sz="1600">
                <a:latin typeface="Courier New"/>
                <a:cs typeface="Courier New"/>
              </a:rPr>
            </a:br>
            <a:r>
              <a:rPr lang="pl-PL" sz="1600">
                <a:solidFill>
                  <a:schemeClr val="tx1"/>
                </a:solidFill>
                <a:latin typeface="Courier New"/>
                <a:cs typeface="Courier New"/>
              </a:rPr>
              <a:t>   MessagesController      — skrzynka, wątki, wysyłka</a:t>
            </a:r>
            <a:br>
              <a:rPr lang="pl-PL" sz="1600">
                <a:latin typeface="Courier New"/>
                <a:cs typeface="Courier New"/>
              </a:rPr>
            </a:br>
            <a:r>
              <a:rPr lang="pl-PL" sz="1600">
                <a:solidFill>
                  <a:schemeClr val="tx1"/>
                </a:solidFill>
                <a:latin typeface="Courier New"/>
                <a:cs typeface="Courier New"/>
              </a:rPr>
              <a:t>   ReviewsController       — wystawianie i głosowanie na recenzje</a:t>
            </a:r>
            <a:br>
              <a:rPr lang="pl-PL" sz="1600">
                <a:latin typeface="Courier New"/>
                <a:cs typeface="Courier New"/>
              </a:rPr>
            </a:br>
            <a:r>
              <a:rPr lang="pl-PL" sz="1600">
                <a:solidFill>
                  <a:schemeClr val="tx1"/>
                </a:solidFill>
                <a:latin typeface="Courier New"/>
                <a:cs typeface="Courier New"/>
              </a:rPr>
              <a:t>   TicketsController       — zgłoszenia wsparcia</a:t>
            </a:r>
            <a:br>
              <a:rPr lang="pl-PL" sz="1600">
                <a:latin typeface="Courier New"/>
                <a:cs typeface="Courier New"/>
              </a:rPr>
            </a:br>
            <a:r>
              <a:rPr lang="pl-PL" sz="1600">
                <a:solidFill>
                  <a:schemeClr val="tx1"/>
                </a:solidFill>
                <a:latin typeface="Courier New"/>
                <a:cs typeface="Courier New"/>
              </a:rPr>
              <a:t>   NotificationsController — lista i oznaczanie jako przeczytane</a:t>
            </a:r>
            <a:br>
              <a:rPr lang="pl-PL" sz="1600">
                <a:latin typeface="Courier New"/>
                <a:cs typeface="Courier New"/>
              </a:rPr>
            </a:br>
            <a:r>
              <a:rPr lang="pl-PL" sz="1600">
                <a:solidFill>
                  <a:schemeClr val="tx1"/>
                </a:solidFill>
                <a:latin typeface="Courier New"/>
                <a:cs typeface="Courier New"/>
              </a:rPr>
              <a:t>   MyProfileController     — edycja profilu, karta płatnicza</a:t>
            </a:r>
            <a:br>
              <a:rPr lang="pl-PL" sz="1600">
                <a:latin typeface="Courier New"/>
                <a:cs typeface="Courier New"/>
              </a:rPr>
            </a:br>
            <a:r>
              <a:rPr lang="pl-PL" sz="1600">
                <a:solidFill>
                  <a:schemeClr val="tx1"/>
                </a:solidFill>
                <a:latin typeface="Courier New"/>
                <a:cs typeface="Courier New"/>
              </a:rPr>
              <a:t>   UserProfilesController  — publiczny profil innego użytkownika</a:t>
            </a:r>
            <a:br>
              <a:rPr lang="pl-PL" sz="1600">
                <a:latin typeface="Courier New"/>
                <a:cs typeface="Courier New"/>
              </a:rPr>
            </a:br>
            <a:r>
              <a:rPr lang="pl-PL" sz="1600">
                <a:solidFill>
                  <a:schemeClr val="tx1"/>
                </a:solidFill>
                <a:latin typeface="Courier New"/>
                <a:cs typeface="Courier New"/>
              </a:rPr>
              <a:t>   SellerCardController    — tokenizacja karty (redirect PayU + callback)</a:t>
            </a:r>
            <a:br>
              <a:rPr lang="pl-PL" sz="1600">
                <a:latin typeface="Courier New"/>
                <a:cs typeface="Courier New"/>
              </a:rPr>
            </a:br>
            <a:r>
              <a:rPr lang="pl-PL" sz="1600">
                <a:solidFill>
                  <a:schemeClr val="tx1"/>
                </a:solidFill>
                <a:latin typeface="Courier New"/>
                <a:cs typeface="Courier New"/>
              </a:rPr>
              <a:t> Admin/</a:t>
            </a:r>
            <a:br>
              <a:rPr lang="pl-PL" sz="1600">
                <a:latin typeface="Courier New"/>
                <a:cs typeface="Courier New"/>
              </a:rPr>
            </a:br>
            <a:r>
              <a:rPr lang="pl-PL" sz="1600">
                <a:solidFill>
                  <a:schemeClr val="tx1"/>
                </a:solidFill>
                <a:latin typeface="Courier New"/>
                <a:cs typeface="Courier New"/>
              </a:rPr>
              <a:t>   ListingManageController — archiwizacja, wyróżnianie, przywracanie ogłoszeń</a:t>
            </a:r>
            <a:br>
              <a:rPr lang="pl-PL" sz="1600">
                <a:latin typeface="Courier New"/>
                <a:cs typeface="Courier New"/>
              </a:rPr>
            </a:br>
            <a:r>
              <a:rPr lang="pl-PL" sz="1600">
                <a:solidFill>
                  <a:schemeClr val="tx1"/>
                </a:solidFill>
                <a:latin typeface="Courier New"/>
                <a:cs typeface="Courier New"/>
              </a:rPr>
              <a:t>   UserManageController    — zarządzanie kontami użytkowników</a:t>
            </a:r>
            <a:br>
              <a:rPr lang="pl-PL" sz="1600">
                <a:latin typeface="Courier New"/>
                <a:cs typeface="Courier New"/>
              </a:rPr>
            </a:br>
            <a:r>
              <a:rPr lang="pl-PL" sz="1600">
                <a:solidFill>
                  <a:schemeClr val="tx1"/>
                </a:solidFill>
                <a:latin typeface="Courier New"/>
                <a:cs typeface="Courier New"/>
              </a:rPr>
              <a:t>   TicketManageController  — panel obsługi ticketów</a:t>
            </a:r>
            <a:br>
              <a:rPr lang="pl-PL" sz="1600">
                <a:latin typeface="Courier New"/>
                <a:cs typeface="Courier New"/>
              </a:rPr>
            </a:br>
            <a:r>
              <a:rPr lang="pl-PL" sz="1600">
                <a:solidFill>
                  <a:schemeClr val="tx1"/>
                </a:solidFill>
                <a:latin typeface="Courier New"/>
                <a:cs typeface="Courier New"/>
              </a:rPr>
              <a:t> HomeController            — strona główna (wyróżnione + najnowsze)</a:t>
            </a:r>
            <a:br>
              <a:rPr lang="pl-PL" sz="1600">
                <a:latin typeface="Courier New"/>
                <a:cs typeface="Courier New"/>
              </a:rPr>
            </a:br>
            <a:r>
              <a:rPr lang="pl-PL" sz="1600">
                <a:solidFill>
                  <a:schemeClr val="tx1"/>
                </a:solidFill>
                <a:latin typeface="Courier New"/>
                <a:cs typeface="Courier New"/>
              </a:rPr>
              <a:t> AccountController         — logowanie, rejestracja, wylogowanie</a:t>
            </a:r>
            <a:endParaRPr lang="pl-PL" sz="1600">
              <a:solidFill>
                <a:schemeClr val="tx1"/>
              </a:solidFill>
            </a:endParaRPr>
          </a:p>
          <a:p>
            <a:pPr algn="l">
              <a:spcBef>
                <a:spcPts val="1889"/>
              </a:spcBef>
            </a:pPr>
            <a:endParaRPr lang="pl-PL" sz="1600">
              <a:solidFill>
                <a:schemeClr val="tx1"/>
              </a:solidFill>
              <a:latin typeface="Arial"/>
              <a:cs typeface="Arial"/>
            </a:endParaRPr>
          </a:p>
        </p:txBody>
      </p:sp>
    </p:spTree>
    <p:extLst>
      <p:ext uri="{BB962C8B-B14F-4D97-AF65-F5344CB8AC3E}">
        <p14:creationId xmlns:p14="http://schemas.microsoft.com/office/powerpoint/2010/main" val="24605138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1EDB0-CF9B-23C4-334B-6303857780BB}"/>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56F3BAEA-15D3-EF58-23F1-46B9334B9968}"/>
              </a:ext>
            </a:extLst>
          </p:cNvPr>
          <p:cNvSpPr txBox="1">
            <a:spLocks noGrp="1"/>
          </p:cNvSpPr>
          <p:nvPr>
            <p:ph type="title" idx="4294967295"/>
          </p:nvPr>
        </p:nvSpPr>
        <p:spPr>
          <a:xfrm>
            <a:off x="503998" y="301322"/>
            <a:ext cx="9071643" cy="999387"/>
          </a:xfrm>
        </p:spPr>
        <p:txBody>
          <a:bodyPr/>
          <a:lstStyle/>
          <a:p>
            <a:r>
              <a:rPr lang="pl-PL" sz="5850">
                <a:latin typeface="Arial"/>
                <a:cs typeface="Arial"/>
              </a:rPr>
              <a:t>Interfejs użytkownika (1⁄3)</a:t>
            </a:r>
          </a:p>
        </p:txBody>
      </p:sp>
      <p:sp>
        <p:nvSpPr>
          <p:cNvPr id="3" name="Symbol zastępczy tekstu 2">
            <a:extLst>
              <a:ext uri="{FF2B5EF4-FFF2-40B4-BE49-F238E27FC236}">
                <a16:creationId xmlns:a16="http://schemas.microsoft.com/office/drawing/2014/main" id="{443BF25A-5C69-F33E-6758-0FE01010CB0F}"/>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900">
                <a:solidFill>
                  <a:schemeClr val="tx1"/>
                </a:solidFill>
                <a:latin typeface="Arial"/>
                <a:cs typeface="Arial"/>
              </a:rPr>
              <a:t>Ogólne założenia wizualne:</a:t>
            </a:r>
            <a:endParaRPr lang="pl-PL" sz="1900">
              <a:solidFill>
                <a:schemeClr val="tx1"/>
              </a:solidFill>
            </a:endParaRPr>
          </a:p>
          <a:p>
            <a:pPr algn="l">
              <a:spcBef>
                <a:spcPts val="1889"/>
              </a:spcBef>
            </a:pPr>
            <a:r>
              <a:rPr lang="pl-PL" sz="1900">
                <a:solidFill>
                  <a:schemeClr val="tx1"/>
                </a:solidFill>
                <a:latin typeface="Arial"/>
                <a:cs typeface="Arial"/>
              </a:rPr>
              <a:t>Interfejs oparty jest na </a:t>
            </a:r>
            <a:r>
              <a:rPr lang="pl-PL" sz="1900" b="1">
                <a:solidFill>
                  <a:schemeClr val="tx1"/>
                </a:solidFill>
                <a:latin typeface="Arial"/>
                <a:cs typeface="Arial"/>
              </a:rPr>
              <a:t>Bootstrap 5</a:t>
            </a:r>
            <a:r>
              <a:rPr lang="pl-PL" sz="1900">
                <a:solidFill>
                  <a:schemeClr val="tx1"/>
                </a:solidFill>
                <a:latin typeface="Arial"/>
                <a:cs typeface="Arial"/>
              </a:rPr>
              <a:t> z serwerowym renderowaniem Razor. Strony są w pełni </a:t>
            </a:r>
            <a:r>
              <a:rPr lang="pl-PL" sz="1900" b="1">
                <a:solidFill>
                  <a:schemeClr val="tx1"/>
                </a:solidFill>
                <a:latin typeface="Arial"/>
                <a:cs typeface="Arial"/>
              </a:rPr>
              <a:t>responsywne</a:t>
            </a:r>
            <a:r>
              <a:rPr lang="pl-PL" sz="1900">
                <a:solidFill>
                  <a:schemeClr val="tx1"/>
                </a:solidFill>
                <a:latin typeface="Arial"/>
                <a:cs typeface="Arial"/>
              </a:rPr>
              <a:t> — układ dostosowuje się do ekranów mobilnych, tabletów i desktopów bez osobnej wersji mobilnej. Kolorystyka oparta na paletce Bootstrap: akcenty niebieski (</a:t>
            </a:r>
            <a:r>
              <a:rPr lang="pl-PL" sz="1900">
                <a:solidFill>
                  <a:schemeClr val="tx1"/>
                </a:solidFill>
                <a:latin typeface="Courier New"/>
                <a:cs typeface="Courier New"/>
              </a:rPr>
              <a:t>btn-primary</a:t>
            </a:r>
            <a:r>
              <a:rPr lang="pl-PL" sz="1900">
                <a:solidFill>
                  <a:schemeClr val="tx1"/>
                </a:solidFill>
                <a:latin typeface="Arial"/>
                <a:cs typeface="Arial"/>
              </a:rPr>
              <a:t>) dla akcji, żółty (</a:t>
            </a:r>
            <a:r>
              <a:rPr lang="pl-PL" sz="1900">
                <a:solidFill>
                  <a:schemeClr val="tx1"/>
                </a:solidFill>
                <a:latin typeface="Courier New"/>
                <a:cs typeface="Courier New"/>
              </a:rPr>
              <a:t>border-warning</a:t>
            </a:r>
            <a:r>
              <a:rPr lang="pl-PL" sz="1900">
                <a:solidFill>
                  <a:schemeClr val="tx1"/>
                </a:solidFill>
                <a:latin typeface="Arial"/>
                <a:cs typeface="Arial"/>
              </a:rPr>
              <a:t>) dla wyróżnionych ogłoszeń, szary dla metadanych. Nawigacja zawiera pasek wyszukiwania, licznik powiadomień i menu użytkownika dostępne po zalogowaniu.</a:t>
            </a:r>
            <a:endParaRPr lang="pl-PL" sz="1900">
              <a:solidFill>
                <a:schemeClr val="tx1"/>
              </a:solidFill>
            </a:endParaRPr>
          </a:p>
          <a:p>
            <a:pPr algn="l">
              <a:spcBef>
                <a:spcPts val="1889"/>
              </a:spcBef>
            </a:pPr>
            <a:r>
              <a:rPr lang="pl-PL" sz="1900">
                <a:solidFill>
                  <a:schemeClr val="tx1"/>
                </a:solidFill>
                <a:latin typeface="Arial"/>
                <a:cs typeface="Arial"/>
              </a:rPr>
              <a:t>Kluczowe ekrany:</a:t>
            </a:r>
            <a:endParaRPr lang="pl-PL" sz="1900">
              <a:solidFill>
                <a:schemeClr val="tx1"/>
              </a:solidFill>
            </a:endParaRPr>
          </a:p>
          <a:p>
            <a:pPr algn="l">
              <a:spcBef>
                <a:spcPts val="1889"/>
              </a:spcBef>
            </a:pPr>
            <a:r>
              <a:rPr lang="pl-PL" sz="1900" b="1">
                <a:solidFill>
                  <a:schemeClr val="tx1"/>
                </a:solidFill>
                <a:latin typeface="Arial"/>
                <a:cs typeface="Arial"/>
              </a:rPr>
              <a:t>Strona główna</a:t>
            </a:r>
            <a:r>
              <a:rPr lang="pl-PL" sz="1900">
                <a:solidFill>
                  <a:schemeClr val="tx1"/>
                </a:solidFill>
                <a:latin typeface="Arial"/>
                <a:cs typeface="Arial"/>
              </a:rPr>
              <a:t> — sekcja wyróżnionych ogłoszeń (karta pozioma z głównym zdjęciem, tytułem i ceną) oraz siatka najnowszych ogłoszeń. Przyciski CTA do rejestracji dla niezalogowanych.</a:t>
            </a:r>
            <a:endParaRPr lang="pl-PL" sz="1900">
              <a:solidFill>
                <a:schemeClr val="tx1"/>
              </a:solidFill>
            </a:endParaRPr>
          </a:p>
          <a:p>
            <a:pPr algn="l">
              <a:spcBef>
                <a:spcPts val="1889"/>
              </a:spcBef>
            </a:pPr>
            <a:r>
              <a:rPr lang="pl-PL" sz="1900" b="1">
                <a:solidFill>
                  <a:schemeClr val="tx1"/>
                </a:solidFill>
                <a:latin typeface="Arial"/>
                <a:cs typeface="Arial"/>
              </a:rPr>
              <a:t>Lista ogłoszeń (</a:t>
            </a:r>
            <a:r>
              <a:rPr lang="pl-PL" sz="1900" b="1">
                <a:solidFill>
                  <a:schemeClr val="tx1"/>
                </a:solidFill>
                <a:latin typeface="Courier New"/>
                <a:cs typeface="Courier New"/>
              </a:rPr>
              <a:t>/Listings</a:t>
            </a:r>
            <a:r>
              <a:rPr lang="pl-PL" sz="1900" b="1">
                <a:solidFill>
                  <a:schemeClr val="tx1"/>
                </a:solidFill>
                <a:latin typeface="Arial"/>
                <a:cs typeface="Arial"/>
              </a:rPr>
              <a:t>)</a:t>
            </a:r>
            <a:r>
              <a:rPr lang="pl-PL" sz="1900">
                <a:solidFill>
                  <a:schemeClr val="tx1"/>
                </a:solidFill>
                <a:latin typeface="Arial"/>
                <a:cs typeface="Arial"/>
              </a:rPr>
              <a:t> — pasek wyszukiwania na górze, panel filtrów jako sidebar (desktop) lub panel offcanvas Bootstrap (mobilny, otwierany przyciskiem). Wyniki w siatce kart (2 kolumny na tablet, 3 na desktop) z miniaturą zdjęcia, tytułem, tagami, ceną i średnią oceną sprzedawcy. Licznik wyników i komunikat przy braku dopasowań.</a:t>
            </a:r>
            <a:endParaRPr lang="pl-PL" sz="1900">
              <a:solidFill>
                <a:schemeClr val="tx1"/>
              </a:solidFill>
            </a:endParaRPr>
          </a:p>
          <a:p>
            <a:pPr algn="l">
              <a:spcBef>
                <a:spcPts val="1889"/>
              </a:spcBef>
            </a:pPr>
            <a:endParaRPr lang="pl-PL" sz="1900">
              <a:solidFill>
                <a:schemeClr val="tx1"/>
              </a:solidFill>
              <a:latin typeface="Arial"/>
              <a:cs typeface="Arial"/>
            </a:endParaRPr>
          </a:p>
        </p:txBody>
      </p:sp>
    </p:spTree>
    <p:extLst>
      <p:ext uri="{BB962C8B-B14F-4D97-AF65-F5344CB8AC3E}">
        <p14:creationId xmlns:p14="http://schemas.microsoft.com/office/powerpoint/2010/main" val="120040896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0E784-AC9F-A6B8-D32A-AF2D47D6B1A1}"/>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268A0C4F-778A-CD2C-F3B9-32B080443128}"/>
              </a:ext>
            </a:extLst>
          </p:cNvPr>
          <p:cNvSpPr txBox="1">
            <a:spLocks noGrp="1"/>
          </p:cNvSpPr>
          <p:nvPr>
            <p:ph type="title" idx="4294967295"/>
          </p:nvPr>
        </p:nvSpPr>
        <p:spPr>
          <a:xfrm>
            <a:off x="503998" y="301322"/>
            <a:ext cx="9071643" cy="999387"/>
          </a:xfrm>
        </p:spPr>
        <p:txBody>
          <a:bodyPr/>
          <a:lstStyle/>
          <a:p>
            <a:r>
              <a:rPr lang="pl-PL" sz="5850">
                <a:latin typeface="Arial"/>
                <a:cs typeface="Arial"/>
              </a:rPr>
              <a:t>Interfejs użytkownika (2⁄3)</a:t>
            </a:r>
          </a:p>
        </p:txBody>
      </p:sp>
      <p:sp>
        <p:nvSpPr>
          <p:cNvPr id="3" name="Symbol zastępczy tekstu 2">
            <a:extLst>
              <a:ext uri="{FF2B5EF4-FFF2-40B4-BE49-F238E27FC236}">
                <a16:creationId xmlns:a16="http://schemas.microsoft.com/office/drawing/2014/main" id="{615C5ABF-EA3F-C110-9B79-088C43590A1D}"/>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950" b="1">
                <a:solidFill>
                  <a:schemeClr val="tx1"/>
                </a:solidFill>
                <a:latin typeface="Arial"/>
                <a:cs typeface="Arial"/>
              </a:rPr>
              <a:t>Szczegóły ogłoszenia</a:t>
            </a:r>
            <a:r>
              <a:rPr lang="pl-PL" sz="1950">
                <a:solidFill>
                  <a:schemeClr val="tx1"/>
                </a:solidFill>
                <a:latin typeface="Arial"/>
                <a:cs typeface="Arial"/>
              </a:rPr>
              <a:t> — galeria zdjęć, pełny opis, opcje dostawy, mapa lokalizacji, panel boczny ze sprzedawcą (avatar, nazwa, średnia ocena, liczba recenzji) i przyciskami akcji: „Kup teraz" (dla sprzedaży) lub „Zaproponuj wymianę" (dla wymiany). Sekcja recenzji z gwiazdkami i przyciskami głosowania.</a:t>
            </a:r>
            <a:endParaRPr lang="pl-PL" sz="1950">
              <a:solidFill>
                <a:schemeClr val="tx1"/>
              </a:solidFill>
              <a:latin typeface="Liberation Sans"/>
              <a:cs typeface="Arial"/>
            </a:endParaRPr>
          </a:p>
          <a:p>
            <a:pPr algn="l">
              <a:spcBef>
                <a:spcPts val="1889"/>
              </a:spcBef>
            </a:pPr>
            <a:r>
              <a:rPr lang="pl-PL" sz="1950" b="1">
                <a:solidFill>
                  <a:schemeClr val="tx1"/>
                </a:solidFill>
                <a:latin typeface="Arial"/>
                <a:cs typeface="Arial"/>
              </a:rPr>
              <a:t>Tworzenie / edycja ogłoszenia</a:t>
            </a:r>
            <a:r>
              <a:rPr lang="pl-PL" sz="1950">
                <a:solidFill>
                  <a:schemeClr val="tx1"/>
                </a:solidFill>
                <a:latin typeface="Arial"/>
                <a:cs typeface="Arial"/>
              </a:rPr>
              <a:t> — wielosekcyjny formularz: dane podstawowe, typ (Sale/Trade) z warunkowym rozwijaniem pól dla wymiany, przesyłanie zdjęć (drag &amp; drop), dodawanie tagów przez select, dynamiczna lista opcji dostawy (dodawanie/usuwanie wierszy przez JavaScript).</a:t>
            </a:r>
            <a:endParaRPr lang="pl-PL" sz="1950">
              <a:solidFill>
                <a:schemeClr val="tx1"/>
              </a:solidFill>
              <a:latin typeface="Liberation Sans"/>
              <a:cs typeface="Arial"/>
            </a:endParaRPr>
          </a:p>
          <a:p>
            <a:pPr algn="l">
              <a:spcBef>
                <a:spcPts val="1889"/>
              </a:spcBef>
            </a:pPr>
            <a:r>
              <a:rPr lang="pl-PL" sz="1950" b="1">
                <a:solidFill>
                  <a:schemeClr val="tx1"/>
                </a:solidFill>
                <a:latin typeface="Arial"/>
                <a:cs typeface="Arial"/>
              </a:rPr>
              <a:t>Propozycja wymiany</a:t>
            </a:r>
            <a:r>
              <a:rPr lang="pl-PL" sz="1950">
                <a:solidFill>
                  <a:schemeClr val="tx1"/>
                </a:solidFill>
                <a:latin typeface="Arial"/>
                <a:cs typeface="Arial"/>
              </a:rPr>
              <a:t> — dwukolumnowy widok: lewa strona (oferta inicjatora), prawa strona (ogłoszenie będące przedmiotem wymiany). Lista wyboru ogłoszeń własnych z checkbox, możliwość tworzenia nowego prywatnego ogłoszenia inline, pole dopłaty gotówkowej. Historia negocjacji wyświetlana chronologicznie poniżej.</a:t>
            </a:r>
          </a:p>
          <a:p>
            <a:pPr algn="l">
              <a:spcBef>
                <a:spcPts val="1889"/>
              </a:spcBef>
            </a:pPr>
            <a:r>
              <a:rPr lang="pl-PL" sz="1950" b="1">
                <a:solidFill>
                  <a:schemeClr val="tx1"/>
                </a:solidFill>
                <a:latin typeface="Arial"/>
                <a:cs typeface="Arial"/>
              </a:rPr>
              <a:t>Skrzynka wiadomości</a:t>
            </a:r>
            <a:r>
              <a:rPr lang="pl-PL" sz="1950">
                <a:solidFill>
                  <a:schemeClr val="tx1"/>
                </a:solidFill>
                <a:latin typeface="Arial"/>
                <a:cs typeface="Arial"/>
              </a:rPr>
              <a:t> — lista wątków po lewej (rozmówca, ostatnia wiadomość, znacznik czasu), widok wątku po prawej z chronologiczną listą wiadomości, obsługa cytowania (ReplyTo) i dołączania zdjęć. Nowe wiadomości oznaczone pogrubieniem.</a:t>
            </a:r>
            <a:endParaRPr lang="pl-PL" sz="1950">
              <a:solidFill>
                <a:schemeClr val="tx1"/>
              </a:solidFill>
            </a:endParaRPr>
          </a:p>
          <a:p>
            <a:pPr algn="l">
              <a:spcBef>
                <a:spcPts val="1889"/>
              </a:spcBef>
            </a:pPr>
            <a:endParaRPr lang="pl-PL" sz="1950">
              <a:solidFill>
                <a:schemeClr val="tx1"/>
              </a:solidFill>
              <a:latin typeface="Arial"/>
              <a:cs typeface="Arial"/>
            </a:endParaRPr>
          </a:p>
        </p:txBody>
      </p:sp>
    </p:spTree>
    <p:extLst>
      <p:ext uri="{BB962C8B-B14F-4D97-AF65-F5344CB8AC3E}">
        <p14:creationId xmlns:p14="http://schemas.microsoft.com/office/powerpoint/2010/main" val="385766550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674FF-3685-1935-8220-AA0F7D8CC99A}"/>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E5C16042-AE0E-A937-BDF0-4EE992762D23}"/>
              </a:ext>
            </a:extLst>
          </p:cNvPr>
          <p:cNvSpPr txBox="1">
            <a:spLocks noGrp="1"/>
          </p:cNvSpPr>
          <p:nvPr>
            <p:ph type="title" idx="4294967295"/>
          </p:nvPr>
        </p:nvSpPr>
        <p:spPr>
          <a:xfrm>
            <a:off x="503998" y="301322"/>
            <a:ext cx="9071643" cy="999387"/>
          </a:xfrm>
        </p:spPr>
        <p:txBody>
          <a:bodyPr/>
          <a:lstStyle/>
          <a:p>
            <a:r>
              <a:rPr lang="pl-PL" sz="5850">
                <a:latin typeface="Arial"/>
                <a:cs typeface="Arial"/>
              </a:rPr>
              <a:t>Interfejs użytkownika (3⁄3)</a:t>
            </a:r>
          </a:p>
        </p:txBody>
      </p:sp>
      <p:sp>
        <p:nvSpPr>
          <p:cNvPr id="3" name="Symbol zastępczy tekstu 2">
            <a:extLst>
              <a:ext uri="{FF2B5EF4-FFF2-40B4-BE49-F238E27FC236}">
                <a16:creationId xmlns:a16="http://schemas.microsoft.com/office/drawing/2014/main" id="{31393A39-175C-B454-F7CC-082F7E4D87EC}"/>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900" b="1">
                <a:solidFill>
                  <a:schemeClr val="tx1"/>
                </a:solidFill>
                <a:latin typeface="Arial"/>
                <a:cs typeface="Arial"/>
              </a:rPr>
              <a:t>Panel administracyjny</a:t>
            </a:r>
            <a:r>
              <a:rPr lang="pl-PL" sz="1900">
                <a:solidFill>
                  <a:schemeClr val="tx1"/>
                </a:solidFill>
                <a:latin typeface="Arial"/>
                <a:cs typeface="Arial"/>
              </a:rPr>
              <a:t> — tabelaryczna lista ogłoszeń z filtrami statusu, przyciski akcji inline (Wyróżnij / Cofnij wyróżnienie, Archiwizuj / Przywróć). Analogicznie lista użytkowników z możliwością blokady i nadania uprawnień admina. Lista ticketów z filtrem statusu i kategorii.</a:t>
            </a:r>
            <a:endParaRPr lang="pl-PL" sz="1900">
              <a:solidFill>
                <a:schemeClr val="tx1"/>
              </a:solidFill>
            </a:endParaRPr>
          </a:p>
          <a:p>
            <a:pPr algn="l">
              <a:spcBef>
                <a:spcPts val="1889"/>
              </a:spcBef>
            </a:pPr>
            <a:r>
              <a:rPr lang="pl-PL" sz="1900" b="1">
                <a:solidFill>
                  <a:schemeClr val="tx1"/>
                </a:solidFill>
                <a:latin typeface="Arial"/>
                <a:cs typeface="Arial"/>
              </a:rPr>
              <a:t>Profil użytkownika</a:t>
            </a:r>
            <a:r>
              <a:rPr lang="pl-PL" sz="1900">
                <a:solidFill>
                  <a:schemeClr val="tx1"/>
                </a:solidFill>
                <a:latin typeface="Arial"/>
                <a:cs typeface="Arial"/>
              </a:rPr>
              <a:t> — karta z danymi profilowymi, statystykami (liczba ogłoszeń, średnia ocena), lista wystawionych ogłoszeń i sekcja recenzji wystawionych przez kupujących.</a:t>
            </a:r>
            <a:endParaRPr lang="pl-PL" sz="1900">
              <a:solidFill>
                <a:schemeClr val="tx1"/>
              </a:solidFill>
            </a:endParaRPr>
          </a:p>
          <a:p>
            <a:pPr algn="l">
              <a:spcBef>
                <a:spcPts val="1889"/>
              </a:spcBef>
            </a:pPr>
            <a:r>
              <a:rPr lang="pl-PL" sz="1900">
                <a:solidFill>
                  <a:schemeClr val="tx1"/>
                </a:solidFill>
                <a:latin typeface="Arial"/>
                <a:cs typeface="Arial"/>
              </a:rPr>
              <a:t>Obsługa stanu i informacja zwrotna dla użytkownika</a:t>
            </a:r>
            <a:endParaRPr lang="pl-PL" sz="1900">
              <a:solidFill>
                <a:schemeClr val="tx1"/>
              </a:solidFill>
            </a:endParaRPr>
          </a:p>
          <a:p>
            <a:pPr algn="l">
              <a:spcBef>
                <a:spcPts val="1889"/>
              </a:spcBef>
            </a:pPr>
            <a:r>
              <a:rPr lang="pl-PL" sz="1900">
                <a:solidFill>
                  <a:schemeClr val="tx1"/>
                </a:solidFill>
                <a:latin typeface="Arial"/>
                <a:cs typeface="Arial"/>
              </a:rPr>
              <a:t>• Błędy walidacji formularzy wyświetlane </a:t>
            </a:r>
            <a:r>
              <a:rPr lang="pl-PL" sz="1900" b="1">
                <a:solidFill>
                  <a:schemeClr val="tx1"/>
                </a:solidFill>
                <a:latin typeface="Arial"/>
                <a:cs typeface="Arial"/>
              </a:rPr>
              <a:t>inline</a:t>
            </a:r>
            <a:r>
              <a:rPr lang="pl-PL" sz="1900">
                <a:solidFill>
                  <a:schemeClr val="tx1"/>
                </a:solidFill>
                <a:latin typeface="Arial"/>
                <a:cs typeface="Arial"/>
              </a:rPr>
              <a:t> przy polach (</a:t>
            </a:r>
            <a:r>
              <a:rPr lang="pl-PL" sz="1900">
                <a:solidFill>
                  <a:schemeClr val="tx1"/>
                </a:solidFill>
                <a:latin typeface="Courier New"/>
                <a:cs typeface="Courier New"/>
              </a:rPr>
              <a:t>asp-validation-for</a:t>
            </a:r>
            <a:r>
              <a:rPr lang="pl-PL" sz="1900">
                <a:solidFill>
                  <a:schemeClr val="tx1"/>
                </a:solidFill>
                <a:latin typeface="Arial"/>
                <a:cs typeface="Arial"/>
              </a:rPr>
              <a:t>) bez utraty wpisanych danych</a:t>
            </a:r>
            <a:br>
              <a:rPr lang="pl-PL" sz="1900">
                <a:solidFill>
                  <a:schemeClr val="tx1"/>
                </a:solidFill>
                <a:latin typeface="Arial"/>
                <a:cs typeface="Arial"/>
              </a:rPr>
            </a:br>
            <a:r>
              <a:rPr lang="pl-PL" sz="1900">
                <a:solidFill>
                  <a:schemeClr val="tx1"/>
                </a:solidFill>
                <a:latin typeface="Arial"/>
                <a:cs typeface="Arial"/>
              </a:rPr>
              <a:t>• Komunikaty sukcesu i błędu przez </a:t>
            </a:r>
            <a:r>
              <a:rPr lang="pl-PL" sz="1900">
                <a:solidFill>
                  <a:schemeClr val="tx1"/>
                </a:solidFill>
                <a:latin typeface="Courier New"/>
                <a:cs typeface="Courier New"/>
              </a:rPr>
              <a:t>TempData</a:t>
            </a:r>
            <a:r>
              <a:rPr lang="pl-PL" sz="1900">
                <a:solidFill>
                  <a:schemeClr val="tx1"/>
                </a:solidFill>
                <a:latin typeface="Arial"/>
                <a:cs typeface="Arial"/>
              </a:rPr>
              <a:t> / Bootstrap </a:t>
            </a:r>
            <a:r>
              <a:rPr lang="pl-PL" sz="1900">
                <a:solidFill>
                  <a:schemeClr val="tx1"/>
                </a:solidFill>
                <a:latin typeface="Courier New"/>
                <a:cs typeface="Courier New"/>
              </a:rPr>
              <a:t>alert</a:t>
            </a:r>
            <a:r>
              <a:rPr lang="pl-PL" sz="1900">
                <a:solidFill>
                  <a:schemeClr val="tx1"/>
                </a:solidFill>
                <a:latin typeface="Arial"/>
                <a:cs typeface="Arial"/>
              </a:rPr>
              <a:t> (</a:t>
            </a:r>
            <a:r>
              <a:rPr lang="pl-PL" sz="1900">
                <a:solidFill>
                  <a:schemeClr val="tx1"/>
                </a:solidFill>
                <a:latin typeface="Courier New"/>
                <a:cs typeface="Courier New"/>
              </a:rPr>
              <a:t>alert-success</a:t>
            </a:r>
            <a:r>
              <a:rPr lang="pl-PL" sz="1900">
                <a:solidFill>
                  <a:schemeClr val="tx1"/>
                </a:solidFill>
                <a:latin typeface="Arial"/>
                <a:cs typeface="Arial"/>
              </a:rPr>
              <a:t>, </a:t>
            </a:r>
            <a:r>
              <a:rPr lang="pl-PL" sz="1900">
                <a:solidFill>
                  <a:schemeClr val="tx1"/>
                </a:solidFill>
                <a:latin typeface="Courier New"/>
                <a:cs typeface="Courier New"/>
              </a:rPr>
              <a:t>alert-danger</a:t>
            </a:r>
            <a:r>
              <a:rPr lang="pl-PL" sz="1900">
                <a:solidFill>
                  <a:schemeClr val="tx1"/>
                </a:solidFill>
                <a:latin typeface="Arial"/>
                <a:cs typeface="Arial"/>
              </a:rPr>
              <a:t>, </a:t>
            </a:r>
            <a:r>
              <a:rPr lang="pl-PL" sz="1900">
                <a:solidFill>
                  <a:schemeClr val="tx1"/>
                </a:solidFill>
                <a:latin typeface="Courier New"/>
                <a:cs typeface="Courier New"/>
              </a:rPr>
              <a:t>alert-warning</a:t>
            </a:r>
            <a:r>
              <a:rPr lang="pl-PL" sz="1900">
                <a:solidFill>
                  <a:schemeClr val="tx1"/>
                </a:solidFill>
                <a:latin typeface="Arial"/>
                <a:cs typeface="Arial"/>
              </a:rPr>
              <a:t>) wyświetlane jednorazowo po przekierowaniu</a:t>
            </a:r>
            <a:br>
              <a:rPr lang="pl-PL" sz="1900">
                <a:solidFill>
                  <a:schemeClr val="tx1"/>
                </a:solidFill>
                <a:latin typeface="Arial"/>
                <a:cs typeface="Arial"/>
              </a:rPr>
            </a:br>
            <a:r>
              <a:rPr lang="pl-PL" sz="1900">
                <a:solidFill>
                  <a:schemeClr val="tx1"/>
                </a:solidFill>
                <a:latin typeface="Arial"/>
                <a:cs typeface="Arial"/>
              </a:rPr>
              <a:t>• Licznik powiadomień w nagłówku aktualizowany przy każdym pełnym żądaniu strony</a:t>
            </a:r>
            <a:br>
              <a:rPr lang="pl-PL" sz="1900">
                <a:solidFill>
                  <a:schemeClr val="tx1"/>
                </a:solidFill>
                <a:latin typeface="Arial"/>
                <a:cs typeface="Arial"/>
              </a:rPr>
            </a:br>
            <a:r>
              <a:rPr lang="pl-PL" sz="1900">
                <a:solidFill>
                  <a:schemeClr val="tx1"/>
                </a:solidFill>
                <a:latin typeface="Arial"/>
                <a:cs typeface="Arial"/>
              </a:rPr>
              <a:t>• Strony błędów dedykowane: </a:t>
            </a:r>
            <a:r>
              <a:rPr lang="pl-PL" sz="1900">
                <a:solidFill>
                  <a:schemeClr val="tx1"/>
                </a:solidFill>
                <a:latin typeface="Courier New"/>
                <a:cs typeface="Courier New"/>
              </a:rPr>
              <a:t>NotFound.cshtml</a:t>
            </a:r>
            <a:r>
              <a:rPr lang="pl-PL" sz="1900">
                <a:solidFill>
                  <a:schemeClr val="tx1"/>
                </a:solidFill>
                <a:latin typeface="Arial"/>
                <a:cs typeface="Arial"/>
              </a:rPr>
              <a:t> (404), </a:t>
            </a:r>
            <a:r>
              <a:rPr lang="pl-PL" sz="1900">
                <a:solidFill>
                  <a:schemeClr val="tx1"/>
                </a:solidFill>
                <a:latin typeface="Courier New"/>
                <a:cs typeface="Courier New"/>
              </a:rPr>
              <a:t>Deleted.cshtml</a:t>
            </a:r>
            <a:r>
              <a:rPr lang="pl-PL" sz="1900">
                <a:solidFill>
                  <a:schemeClr val="tx1"/>
                </a:solidFill>
                <a:latin typeface="Arial"/>
                <a:cs typeface="Arial"/>
              </a:rPr>
              <a:t> (dla usuniętych ogłoszeń), </a:t>
            </a:r>
            <a:r>
              <a:rPr lang="pl-PL" sz="1900">
                <a:solidFill>
                  <a:schemeClr val="tx1"/>
                </a:solidFill>
                <a:latin typeface="Courier New"/>
                <a:cs typeface="Courier New"/>
              </a:rPr>
              <a:t>Error.cshtml</a:t>
            </a:r>
            <a:r>
              <a:rPr lang="pl-PL" sz="1900">
                <a:solidFill>
                  <a:schemeClr val="tx1"/>
                </a:solidFill>
                <a:latin typeface="Arial"/>
                <a:cs typeface="Arial"/>
              </a:rPr>
              <a:t> (5xx)</a:t>
            </a:r>
            <a:endParaRPr lang="pl-PL" sz="1900">
              <a:solidFill>
                <a:schemeClr val="tx1"/>
              </a:solidFill>
            </a:endParaRPr>
          </a:p>
          <a:p>
            <a:pPr algn="l">
              <a:spcBef>
                <a:spcPts val="1889"/>
              </a:spcBef>
            </a:pPr>
            <a:endParaRPr lang="pl-PL" sz="1900">
              <a:solidFill>
                <a:schemeClr val="tx1"/>
              </a:solidFill>
              <a:latin typeface="Arial"/>
              <a:cs typeface="Arial"/>
            </a:endParaRPr>
          </a:p>
        </p:txBody>
      </p:sp>
    </p:spTree>
    <p:extLst>
      <p:ext uri="{BB962C8B-B14F-4D97-AF65-F5344CB8AC3E}">
        <p14:creationId xmlns:p14="http://schemas.microsoft.com/office/powerpoint/2010/main" val="348816690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A21BA-A358-C70A-31F4-DAA605E7384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F490DAA9-9B07-0C77-3732-1F37FC9403BF}"/>
              </a:ext>
            </a:extLst>
          </p:cNvPr>
          <p:cNvSpPr txBox="1">
            <a:spLocks noGrp="1"/>
          </p:cNvSpPr>
          <p:nvPr>
            <p:ph type="title" idx="4294967295"/>
          </p:nvPr>
        </p:nvSpPr>
        <p:spPr>
          <a:xfrm>
            <a:off x="503998" y="301322"/>
            <a:ext cx="9071643" cy="999387"/>
          </a:xfrm>
        </p:spPr>
        <p:txBody>
          <a:bodyPr/>
          <a:lstStyle/>
          <a:p>
            <a:r>
              <a:rPr lang="pl-PL" sz="5850">
                <a:latin typeface="Arial"/>
                <a:cs typeface="Arial"/>
              </a:rPr>
              <a:t>Demonstracja działania (1⁄4)</a:t>
            </a:r>
          </a:p>
        </p:txBody>
      </p:sp>
      <p:sp>
        <p:nvSpPr>
          <p:cNvPr id="3" name="Symbol zastępczy tekstu 2">
            <a:extLst>
              <a:ext uri="{FF2B5EF4-FFF2-40B4-BE49-F238E27FC236}">
                <a16:creationId xmlns:a16="http://schemas.microsoft.com/office/drawing/2014/main" id="{B85EF52E-D274-DA55-E3B7-AEDF7D0B0E16}"/>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000">
                <a:solidFill>
                  <a:schemeClr val="tx1"/>
                </a:solidFill>
                <a:latin typeface="Arial"/>
                <a:cs typeface="Arial"/>
              </a:rPr>
              <a:t>Scenariusz 1: Rejestracja i publikacja ogłoszenia</a:t>
            </a:r>
            <a:endParaRPr lang="pl-PL" sz="2000">
              <a:solidFill>
                <a:schemeClr val="tx1"/>
              </a:solidFill>
            </a:endParaRPr>
          </a:p>
          <a:p>
            <a:pPr marL="285750" indent="-285750" algn="l">
              <a:spcBef>
                <a:spcPts val="1889"/>
              </a:spcBef>
              <a:buFont typeface="Arial"/>
              <a:buChar char="•"/>
            </a:pPr>
            <a:r>
              <a:rPr lang="pl-PL" sz="2000">
                <a:solidFill>
                  <a:schemeClr val="tx1"/>
                </a:solidFill>
                <a:latin typeface="Arial"/>
                <a:cs typeface="Arial"/>
              </a:rPr>
              <a:t>Nowy użytkownik otwiera stronę główną i klika </a:t>
            </a:r>
            <a:r>
              <a:rPr lang="pl-PL" sz="2000" b="1">
                <a:solidFill>
                  <a:schemeClr val="tx1"/>
                </a:solidFill>
                <a:latin typeface="Arial"/>
                <a:cs typeface="Arial"/>
              </a:rPr>
              <a:t>"Zarejestruj się"</a:t>
            </a:r>
            <a:endParaRPr lang="pl-PL" sz="2000">
              <a:solidFill>
                <a:schemeClr val="tx1"/>
              </a:solidFill>
            </a:endParaRPr>
          </a:p>
          <a:p>
            <a:pPr marL="285750" indent="-285750" algn="l">
              <a:spcBef>
                <a:spcPts val="1889"/>
              </a:spcBef>
              <a:buFont typeface="Arial"/>
              <a:buChar char="•"/>
            </a:pPr>
            <a:r>
              <a:rPr lang="pl-PL" sz="2000">
                <a:solidFill>
                  <a:schemeClr val="tx1"/>
                </a:solidFill>
                <a:latin typeface="Arial"/>
                <a:cs typeface="Arial"/>
              </a:rPr>
              <a:t>Wypełnia formularz rejestracji (login, hasło, e-mail) → system waliduje unikalność loginu i e-maila, hashuje hasło bcrypt i tworzy konto; użytkownik zostaje automatycznie zalogowany</a:t>
            </a:r>
            <a:endParaRPr lang="pl-PL" sz="2000">
              <a:solidFill>
                <a:schemeClr val="tx1"/>
              </a:solidFill>
            </a:endParaRPr>
          </a:p>
          <a:p>
            <a:pPr marL="285750" indent="-285750" algn="l">
              <a:spcBef>
                <a:spcPts val="1889"/>
              </a:spcBef>
              <a:buFont typeface="Arial"/>
              <a:buChar char="•"/>
            </a:pPr>
            <a:r>
              <a:rPr lang="pl-PL" sz="2000">
                <a:solidFill>
                  <a:schemeClr val="tx1"/>
                </a:solidFill>
                <a:latin typeface="Arial"/>
                <a:cs typeface="Arial"/>
              </a:rPr>
              <a:t>Przechodzi do </a:t>
            </a:r>
            <a:r>
              <a:rPr lang="pl-PL" sz="2000" b="1">
                <a:solidFill>
                  <a:schemeClr val="tx1"/>
                </a:solidFill>
                <a:latin typeface="Arial"/>
                <a:cs typeface="Arial"/>
              </a:rPr>
              <a:t>"Mój profil → Edytuj"</a:t>
            </a:r>
            <a:r>
              <a:rPr lang="pl-PL" sz="2000">
                <a:solidFill>
                  <a:schemeClr val="tx1"/>
                </a:solidFill>
                <a:latin typeface="Arial"/>
                <a:cs typeface="Arial"/>
              </a:rPr>
              <a:t>, wpisuje adres (np. „Kraków, ul. Floriańska 1") → system wywołuje Nominatim API i zapisuje współrzędne GPS</a:t>
            </a:r>
            <a:endParaRPr lang="pl-PL" sz="2000">
              <a:solidFill>
                <a:schemeClr val="tx1"/>
              </a:solidFill>
            </a:endParaRPr>
          </a:p>
          <a:p>
            <a:pPr marL="285750" indent="-285750" algn="l">
              <a:spcBef>
                <a:spcPts val="1889"/>
              </a:spcBef>
              <a:buFont typeface="Arial"/>
              <a:buChar char="•"/>
            </a:pPr>
            <a:r>
              <a:rPr lang="pl-PL" sz="2000">
                <a:solidFill>
                  <a:schemeClr val="tx1"/>
                </a:solidFill>
                <a:latin typeface="Arial"/>
                <a:cs typeface="Arial"/>
              </a:rPr>
              <a:t>Klika </a:t>
            </a:r>
            <a:r>
              <a:rPr lang="pl-PL" sz="2000" b="1">
                <a:solidFill>
                  <a:schemeClr val="tx1"/>
                </a:solidFill>
                <a:latin typeface="Arial"/>
                <a:cs typeface="Arial"/>
              </a:rPr>
              <a:t>"Dodaj ogłoszenie"</a:t>
            </a:r>
            <a:r>
              <a:rPr lang="pl-PL" sz="2000">
                <a:solidFill>
                  <a:schemeClr val="tx1"/>
                </a:solidFill>
                <a:latin typeface="Arial"/>
                <a:cs typeface="Arial"/>
              </a:rPr>
              <a:t>, wypełnia formularz: tytuł, opis, typ „Sprzedaż", cena 250,00 PLN, lokalizacja, opcje dostawy (InPost 12,99 PLN + odbiór osobisty 0 PLN), dodaje 3 zdjęcia, wybiera tagi kategorii</a:t>
            </a:r>
            <a:endParaRPr lang="pl-PL" sz="2000">
              <a:solidFill>
                <a:schemeClr val="tx1"/>
              </a:solidFill>
            </a:endParaRPr>
          </a:p>
          <a:p>
            <a:pPr marL="285750" indent="-285750" algn="l">
              <a:spcBef>
                <a:spcPts val="1889"/>
              </a:spcBef>
              <a:buFont typeface="Arial"/>
              <a:buChar char="•"/>
            </a:pPr>
            <a:r>
              <a:rPr lang="pl-PL" sz="2000">
                <a:solidFill>
                  <a:schemeClr val="tx1"/>
                </a:solidFill>
                <a:latin typeface="Arial"/>
                <a:cs typeface="Arial"/>
              </a:rPr>
              <a:t>Klika </a:t>
            </a:r>
            <a:r>
              <a:rPr lang="pl-PL" sz="2000" b="1">
                <a:solidFill>
                  <a:schemeClr val="tx1"/>
                </a:solidFill>
                <a:latin typeface="Arial"/>
                <a:cs typeface="Arial"/>
              </a:rPr>
              <a:t>"Opublikuj"</a:t>
            </a:r>
            <a:r>
              <a:rPr lang="pl-PL" sz="2000">
                <a:solidFill>
                  <a:schemeClr val="tx1"/>
                </a:solidFill>
                <a:latin typeface="Arial"/>
                <a:cs typeface="Arial"/>
              </a:rPr>
              <a:t> → system zapisuje ogłoszenie, pobiera opłatę 0,50 PLN z przypiętej karty; użytkownik zostaje przekierowany do strony szczegółów nowego ogłoszenia</a:t>
            </a:r>
            <a:endParaRPr lang="pl-PL" sz="2000">
              <a:solidFill>
                <a:schemeClr val="tx1"/>
              </a:solidFill>
            </a:endParaRPr>
          </a:p>
          <a:p>
            <a:pPr algn="l">
              <a:spcBef>
                <a:spcPts val="1889"/>
              </a:spcBef>
            </a:pPr>
            <a:endParaRPr lang="pl-PL" sz="2000">
              <a:solidFill>
                <a:schemeClr val="tx1"/>
              </a:solidFill>
              <a:latin typeface="Arial"/>
              <a:cs typeface="Arial"/>
            </a:endParaRPr>
          </a:p>
        </p:txBody>
      </p:sp>
    </p:spTree>
    <p:extLst>
      <p:ext uri="{BB962C8B-B14F-4D97-AF65-F5344CB8AC3E}">
        <p14:creationId xmlns:p14="http://schemas.microsoft.com/office/powerpoint/2010/main" val="22212253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3EAD6-CDF6-11CB-E01A-2FF20FF2F358}"/>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8FF3157E-E183-4644-BD1F-55411C4571E2}"/>
              </a:ext>
            </a:extLst>
          </p:cNvPr>
          <p:cNvSpPr txBox="1">
            <a:spLocks noGrp="1"/>
          </p:cNvSpPr>
          <p:nvPr>
            <p:ph type="title" idx="4294967295"/>
          </p:nvPr>
        </p:nvSpPr>
        <p:spPr>
          <a:xfrm>
            <a:off x="503998" y="301322"/>
            <a:ext cx="9071643" cy="999387"/>
          </a:xfrm>
        </p:spPr>
        <p:txBody>
          <a:bodyPr/>
          <a:lstStyle/>
          <a:p>
            <a:r>
              <a:rPr lang="pl-PL" sz="5850">
                <a:latin typeface="Arial"/>
                <a:cs typeface="Arial"/>
              </a:rPr>
              <a:t>Demonstracja działania (2⁄4)</a:t>
            </a:r>
          </a:p>
        </p:txBody>
      </p:sp>
      <p:sp>
        <p:nvSpPr>
          <p:cNvPr id="3" name="Symbol zastępczy tekstu 2">
            <a:extLst>
              <a:ext uri="{FF2B5EF4-FFF2-40B4-BE49-F238E27FC236}">
                <a16:creationId xmlns:a16="http://schemas.microsoft.com/office/drawing/2014/main" id="{E5BE965D-0FA8-1EBF-26ED-CAB3F4346FEE}"/>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300">
                <a:solidFill>
                  <a:schemeClr val="tx1"/>
                </a:solidFill>
                <a:latin typeface="Arial"/>
                <a:cs typeface="Arial"/>
              </a:rPr>
              <a:t>Scenariusz 2: Zakup ogłoszenia</a:t>
            </a:r>
            <a:endParaRPr lang="pl-PL" sz="2300">
              <a:solidFill>
                <a:schemeClr val="tx1"/>
              </a:solidFill>
            </a:endParaRPr>
          </a:p>
          <a:p>
            <a:pPr marL="285750" indent="-285750" algn="l">
              <a:spcBef>
                <a:spcPts val="1889"/>
              </a:spcBef>
              <a:buFont typeface="Arial"/>
              <a:buChar char="•"/>
            </a:pPr>
            <a:r>
              <a:rPr lang="pl-PL" sz="2300">
                <a:solidFill>
                  <a:schemeClr val="tx1"/>
                </a:solidFill>
                <a:latin typeface="Arial"/>
                <a:cs typeface="Arial"/>
              </a:rPr>
              <a:t>Kupujący (zalogowany) wyszukuje ogłoszenie wpisując frazę w pasek wyszukiwania; może zawęzić wyniki przez panel filtrów (typ, zakres cen, tagi, maksymalna odległość)</a:t>
            </a:r>
            <a:endParaRPr lang="pl-PL" sz="2300">
              <a:solidFill>
                <a:schemeClr val="tx1"/>
              </a:solidFill>
            </a:endParaRPr>
          </a:p>
          <a:p>
            <a:pPr marL="285750" indent="-285750" algn="l">
              <a:spcBef>
                <a:spcPts val="1889"/>
              </a:spcBef>
              <a:buFont typeface="Arial"/>
              <a:buChar char="•"/>
            </a:pPr>
            <a:r>
              <a:rPr lang="pl-PL" sz="2300">
                <a:solidFill>
                  <a:schemeClr val="tx1"/>
                </a:solidFill>
                <a:latin typeface="Arial"/>
                <a:cs typeface="Arial"/>
              </a:rPr>
              <a:t>Klika wybraną ofertę → wyświetla się strona szczegółów: galeria zdjęć, opis, opcje dostawy, dane sprzedawcy ze średnią oceną</a:t>
            </a:r>
            <a:endParaRPr lang="pl-PL" sz="2300">
              <a:solidFill>
                <a:schemeClr val="tx1"/>
              </a:solidFill>
            </a:endParaRPr>
          </a:p>
          <a:p>
            <a:pPr marL="285750" indent="-285750" algn="l">
              <a:spcBef>
                <a:spcPts val="1889"/>
              </a:spcBef>
              <a:buFont typeface="Arial"/>
              <a:buChar char="•"/>
            </a:pPr>
            <a:r>
              <a:rPr lang="pl-PL" sz="2300">
                <a:solidFill>
                  <a:schemeClr val="tx1"/>
                </a:solidFill>
                <a:latin typeface="Arial"/>
                <a:cs typeface="Arial"/>
              </a:rPr>
              <a:t>Wybiera opcję dostawy, klienta „Kup teraz (1 szt.)" → system tworzy zamówienie i przekierowuje na stronę płatności PayU</a:t>
            </a:r>
            <a:endParaRPr lang="pl-PL" sz="2300">
              <a:solidFill>
                <a:schemeClr val="tx1"/>
              </a:solidFill>
            </a:endParaRPr>
          </a:p>
          <a:p>
            <a:pPr marL="285750" indent="-285750" algn="l">
              <a:spcBef>
                <a:spcPts val="1889"/>
              </a:spcBef>
              <a:buFont typeface="Arial"/>
              <a:buChar char="•"/>
            </a:pPr>
            <a:r>
              <a:rPr lang="pl-PL" sz="2300">
                <a:solidFill>
                  <a:schemeClr val="tx1"/>
                </a:solidFill>
                <a:latin typeface="Arial"/>
                <a:cs typeface="Arial"/>
              </a:rPr>
              <a:t>Kupujący dokonuje płatności kartą na stronie PayU</a:t>
            </a:r>
            <a:endParaRPr lang="pl-PL" sz="2300">
              <a:solidFill>
                <a:schemeClr val="tx1"/>
              </a:solidFill>
            </a:endParaRPr>
          </a:p>
          <a:p>
            <a:pPr marL="285750" indent="-285750" algn="l">
              <a:spcBef>
                <a:spcPts val="1889"/>
              </a:spcBef>
              <a:buFont typeface="Arial"/>
              <a:buChar char="•"/>
            </a:pPr>
            <a:r>
              <a:rPr lang="pl-PL" sz="2300">
                <a:solidFill>
                  <a:schemeClr val="tx1"/>
                </a:solidFill>
                <a:latin typeface="Arial"/>
                <a:cs typeface="Arial"/>
              </a:rPr>
              <a:t>PayU wysyła webhook do systemu → zamówienie zmienia status na </a:t>
            </a:r>
            <a:r>
              <a:rPr lang="pl-PL" sz="2300" b="1">
                <a:solidFill>
                  <a:schemeClr val="tx1"/>
                </a:solidFill>
                <a:latin typeface="Arial"/>
                <a:cs typeface="Arial"/>
              </a:rPr>
              <a:t>"Zapłacone"</a:t>
            </a:r>
            <a:r>
              <a:rPr lang="pl-PL" sz="2300">
                <a:solidFill>
                  <a:schemeClr val="tx1"/>
                </a:solidFill>
                <a:latin typeface="Arial"/>
                <a:cs typeface="Arial"/>
              </a:rPr>
              <a:t>, stan magazynowy ogłoszenia spada, sprzedawca i kupujący otrzymują powiadomienia; kupujący może teraz wystawić recenzję</a:t>
            </a:r>
            <a:endParaRPr lang="pl-PL" sz="2300">
              <a:solidFill>
                <a:schemeClr val="tx1"/>
              </a:solidFill>
            </a:endParaRPr>
          </a:p>
          <a:p>
            <a:pPr algn="l">
              <a:spcBef>
                <a:spcPts val="1889"/>
              </a:spcBef>
            </a:pPr>
            <a:endParaRPr lang="pl-PL" sz="2300">
              <a:solidFill>
                <a:schemeClr val="tx1"/>
              </a:solidFill>
              <a:latin typeface="Arial"/>
              <a:cs typeface="Arial"/>
            </a:endParaRPr>
          </a:p>
        </p:txBody>
      </p:sp>
    </p:spTree>
    <p:extLst>
      <p:ext uri="{BB962C8B-B14F-4D97-AF65-F5344CB8AC3E}">
        <p14:creationId xmlns:p14="http://schemas.microsoft.com/office/powerpoint/2010/main" val="244544327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4A943-3C9E-3C56-A4A5-72C4362ADF01}"/>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BDCC6BB1-BE92-47AB-0CB7-1BC3C675A2EE}"/>
              </a:ext>
            </a:extLst>
          </p:cNvPr>
          <p:cNvSpPr txBox="1">
            <a:spLocks noGrp="1"/>
          </p:cNvSpPr>
          <p:nvPr>
            <p:ph type="title" idx="4294967295"/>
          </p:nvPr>
        </p:nvSpPr>
        <p:spPr>
          <a:xfrm>
            <a:off x="503998" y="301322"/>
            <a:ext cx="9071643" cy="999387"/>
          </a:xfrm>
        </p:spPr>
        <p:txBody>
          <a:bodyPr/>
          <a:lstStyle/>
          <a:p>
            <a:r>
              <a:rPr lang="pl-PL" sz="5850">
                <a:latin typeface="Arial"/>
                <a:cs typeface="Arial"/>
              </a:rPr>
              <a:t>Demonstracja działania (3⁄4)</a:t>
            </a:r>
          </a:p>
        </p:txBody>
      </p:sp>
      <p:sp>
        <p:nvSpPr>
          <p:cNvPr id="3" name="Symbol zastępczy tekstu 2">
            <a:extLst>
              <a:ext uri="{FF2B5EF4-FFF2-40B4-BE49-F238E27FC236}">
                <a16:creationId xmlns:a16="http://schemas.microsoft.com/office/drawing/2014/main" id="{C8B1928F-D12B-D2E1-220A-C3CA6060A4C8}"/>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300">
                <a:solidFill>
                  <a:schemeClr val="tx1"/>
                </a:solidFill>
                <a:latin typeface="Arial"/>
                <a:cs typeface="Arial"/>
              </a:rPr>
              <a:t>Scenariusz 3: Propozycja wymiany</a:t>
            </a:r>
            <a:endParaRPr lang="pl-PL" sz="2300">
              <a:solidFill>
                <a:schemeClr val="tx1"/>
              </a:solidFill>
            </a:endParaRPr>
          </a:p>
          <a:p>
            <a:pPr marL="285750" indent="-285750" algn="l">
              <a:spcBef>
                <a:spcPts val="1889"/>
              </a:spcBef>
              <a:buFont typeface="Arial"/>
              <a:buChar char="•"/>
            </a:pPr>
            <a:r>
              <a:rPr lang="pl-PL" sz="2300">
                <a:solidFill>
                  <a:schemeClr val="tx1"/>
                </a:solidFill>
                <a:latin typeface="Arial"/>
                <a:cs typeface="Arial"/>
              </a:rPr>
              <a:t>Użytkownik A otwiera ogłoszenie typy „Wymiana" użytkownika B, klika </a:t>
            </a:r>
            <a:r>
              <a:rPr lang="pl-PL" sz="2300" b="1">
                <a:solidFill>
                  <a:schemeClr val="tx1"/>
                </a:solidFill>
                <a:latin typeface="Arial"/>
                <a:cs typeface="Arial"/>
              </a:rPr>
              <a:t>"Zaproponuj wymianę"</a:t>
            </a:r>
            <a:endParaRPr lang="pl-PL" sz="2300">
              <a:solidFill>
                <a:schemeClr val="tx1"/>
              </a:solidFill>
            </a:endParaRPr>
          </a:p>
          <a:p>
            <a:pPr marL="285750" indent="-285750" algn="l">
              <a:spcBef>
                <a:spcPts val="1889"/>
              </a:spcBef>
              <a:buFont typeface="Arial"/>
              <a:buChar char="•"/>
            </a:pPr>
            <a:r>
              <a:rPr lang="pl-PL" sz="2300">
                <a:solidFill>
                  <a:schemeClr val="tx1"/>
                </a:solidFill>
                <a:latin typeface="Arial"/>
                <a:cs typeface="Arial"/>
              </a:rPr>
              <a:t>W formularzu wybiera z listy własnych ogłoszeń co chce zaoferować w zamian; może też stworzyć nowe prywatne ogłoszenie „na tę wymianę" inline; opcjonalnie wpisuje dopłatę gotówkową</a:t>
            </a:r>
            <a:endParaRPr lang="pl-PL" sz="2300">
              <a:solidFill>
                <a:schemeClr val="tx1"/>
              </a:solidFill>
            </a:endParaRPr>
          </a:p>
          <a:p>
            <a:pPr marL="285750" indent="-285750" algn="l">
              <a:spcBef>
                <a:spcPts val="1889"/>
              </a:spcBef>
              <a:buFont typeface="Arial"/>
              <a:buChar char="•"/>
            </a:pPr>
            <a:r>
              <a:rPr lang="pl-PL" sz="2300">
                <a:solidFill>
                  <a:schemeClr val="tx1"/>
                </a:solidFill>
                <a:latin typeface="Arial"/>
                <a:cs typeface="Arial"/>
              </a:rPr>
              <a:t>Zatwierdza propozycję → użytkownik B dostaje powiadomienie</a:t>
            </a:r>
            <a:endParaRPr lang="pl-PL" sz="2300">
              <a:solidFill>
                <a:schemeClr val="tx1"/>
              </a:solidFill>
            </a:endParaRPr>
          </a:p>
          <a:p>
            <a:pPr marL="285750" indent="-285750" algn="l">
              <a:spcBef>
                <a:spcPts val="1889"/>
              </a:spcBef>
              <a:buFont typeface="Arial"/>
              <a:buChar char="•"/>
            </a:pPr>
            <a:r>
              <a:rPr lang="pl-PL" sz="2300">
                <a:solidFill>
                  <a:schemeClr val="tx1"/>
                </a:solidFill>
                <a:latin typeface="Arial"/>
                <a:cs typeface="Arial"/>
              </a:rPr>
              <a:t>Użytkownik B otwiera propozycję, nie zgadza się w pełni → klika </a:t>
            </a:r>
            <a:r>
              <a:rPr lang="pl-PL" sz="2300" b="1">
                <a:solidFill>
                  <a:schemeClr val="tx1"/>
                </a:solidFill>
                <a:latin typeface="Arial"/>
                <a:cs typeface="Arial"/>
              </a:rPr>
              <a:t>"Złóż kontrpropozycję"</a:t>
            </a:r>
            <a:r>
              <a:rPr lang="pl-PL" sz="2300">
                <a:solidFill>
                  <a:schemeClr val="tx1"/>
                </a:solidFill>
                <a:latin typeface="Arial"/>
                <a:cs typeface="Arial"/>
              </a:rPr>
              <a:t>, modyfikuje skład oferty</a:t>
            </a:r>
            <a:endParaRPr lang="pl-PL" sz="2300">
              <a:solidFill>
                <a:schemeClr val="tx1"/>
              </a:solidFill>
            </a:endParaRPr>
          </a:p>
          <a:p>
            <a:pPr marL="285750" indent="-285750" algn="l">
              <a:spcBef>
                <a:spcPts val="1889"/>
              </a:spcBef>
              <a:buFont typeface="Arial"/>
              <a:buChar char="•"/>
            </a:pPr>
            <a:r>
              <a:rPr lang="pl-PL" sz="2300">
                <a:solidFill>
                  <a:schemeClr val="tx1"/>
                </a:solidFill>
                <a:latin typeface="Arial"/>
                <a:cs typeface="Arial"/>
              </a:rPr>
              <a:t>Użytkownik A akceptuje kontrpropozycję → wymiana zostaje sfinalizowana; historia negocjacji widoczna jest w widoku szczegółów propozycji</a:t>
            </a:r>
            <a:endParaRPr lang="pl-PL" sz="2300">
              <a:solidFill>
                <a:schemeClr val="tx1"/>
              </a:solidFill>
            </a:endParaRPr>
          </a:p>
          <a:p>
            <a:pPr algn="l">
              <a:spcBef>
                <a:spcPts val="1889"/>
              </a:spcBef>
            </a:pPr>
            <a:endParaRPr lang="pl-PL" sz="2300">
              <a:solidFill>
                <a:schemeClr val="tx1"/>
              </a:solidFill>
              <a:latin typeface="Arial"/>
              <a:cs typeface="Arial"/>
            </a:endParaRPr>
          </a:p>
        </p:txBody>
      </p:sp>
    </p:spTree>
    <p:extLst>
      <p:ext uri="{BB962C8B-B14F-4D97-AF65-F5344CB8AC3E}">
        <p14:creationId xmlns:p14="http://schemas.microsoft.com/office/powerpoint/2010/main" val="11390745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60326-06F7-2540-E4B9-957B65CF4DD4}"/>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8B8ACA00-EA64-9EA6-1FF0-12FDC9B1A6CE}"/>
              </a:ext>
            </a:extLst>
          </p:cNvPr>
          <p:cNvSpPr txBox="1">
            <a:spLocks noGrp="1"/>
          </p:cNvSpPr>
          <p:nvPr>
            <p:ph type="title" idx="4294967295"/>
          </p:nvPr>
        </p:nvSpPr>
        <p:spPr>
          <a:xfrm>
            <a:off x="503998" y="301322"/>
            <a:ext cx="9071643" cy="999387"/>
          </a:xfrm>
        </p:spPr>
        <p:txBody>
          <a:bodyPr/>
          <a:lstStyle/>
          <a:p>
            <a:r>
              <a:rPr lang="pl-PL" sz="5850">
                <a:latin typeface="Arial"/>
                <a:cs typeface="Arial"/>
              </a:rPr>
              <a:t>Demonstracja działania (4⁄4)</a:t>
            </a:r>
          </a:p>
        </p:txBody>
      </p:sp>
      <p:sp>
        <p:nvSpPr>
          <p:cNvPr id="3" name="Symbol zastępczy tekstu 2">
            <a:extLst>
              <a:ext uri="{FF2B5EF4-FFF2-40B4-BE49-F238E27FC236}">
                <a16:creationId xmlns:a16="http://schemas.microsoft.com/office/drawing/2014/main" id="{9C4121DD-725C-FC29-5119-9613FFA2172F}"/>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600">
                <a:solidFill>
                  <a:schemeClr val="tx1"/>
                </a:solidFill>
                <a:latin typeface="Arial"/>
                <a:cs typeface="Arial"/>
              </a:rPr>
              <a:t>Scenariusz 4: Panel administracyjny</a:t>
            </a:r>
            <a:endParaRPr lang="pl-PL" sz="2600">
              <a:solidFill>
                <a:schemeClr val="tx1"/>
              </a:solidFill>
            </a:endParaRPr>
          </a:p>
          <a:p>
            <a:pPr marL="285750" indent="-285750" algn="l">
              <a:spcBef>
                <a:spcPts val="1889"/>
              </a:spcBef>
              <a:buFont typeface="Arial"/>
              <a:buChar char="•"/>
            </a:pPr>
            <a:r>
              <a:rPr lang="pl-PL" sz="2600">
                <a:solidFill>
                  <a:schemeClr val="tx1"/>
                </a:solidFill>
                <a:latin typeface="Arial"/>
                <a:cs typeface="Arial"/>
              </a:rPr>
              <a:t>Administrator loguje się — widzi dodatkową pozycję </a:t>
            </a:r>
            <a:r>
              <a:rPr lang="pl-PL" sz="2600" b="1">
                <a:solidFill>
                  <a:schemeClr val="tx1"/>
                </a:solidFill>
                <a:latin typeface="Arial"/>
                <a:cs typeface="Arial"/>
              </a:rPr>
              <a:t>"Admin"</a:t>
            </a:r>
            <a:r>
              <a:rPr lang="pl-PL" sz="2600">
                <a:solidFill>
                  <a:schemeClr val="tx1"/>
                </a:solidFill>
                <a:latin typeface="Arial"/>
                <a:cs typeface="Arial"/>
              </a:rPr>
              <a:t> w menu</a:t>
            </a:r>
            <a:endParaRPr lang="pl-PL" sz="2600">
              <a:solidFill>
                <a:schemeClr val="tx1"/>
              </a:solidFill>
            </a:endParaRPr>
          </a:p>
          <a:p>
            <a:pPr marL="285750" indent="-285750" algn="l">
              <a:spcBef>
                <a:spcPts val="1889"/>
              </a:spcBef>
              <a:buFont typeface="Arial"/>
              <a:buChar char="•"/>
            </a:pPr>
            <a:r>
              <a:rPr lang="pl-PL" sz="2600">
                <a:solidFill>
                  <a:schemeClr val="tx1"/>
                </a:solidFill>
                <a:latin typeface="Arial"/>
                <a:cs typeface="Arial"/>
              </a:rPr>
              <a:t>W liście ogłoszeń może wyróżnić ogłoszenie (pojawi się na stronie głównej z oznaczeniem ★), zarchiwizować je (zniknie z publicznego widoku) lub przywrócić zarchiwizowane</a:t>
            </a:r>
            <a:endParaRPr lang="pl-PL" sz="2600">
              <a:solidFill>
                <a:schemeClr val="tx1"/>
              </a:solidFill>
            </a:endParaRPr>
          </a:p>
          <a:p>
            <a:pPr marL="285750" indent="-285750" algn="l">
              <a:spcBef>
                <a:spcPts val="1889"/>
              </a:spcBef>
              <a:buFont typeface="Arial"/>
              <a:buChar char="•"/>
            </a:pPr>
            <a:r>
              <a:rPr lang="pl-PL" sz="2600">
                <a:solidFill>
                  <a:schemeClr val="tx1"/>
                </a:solidFill>
                <a:latin typeface="Arial"/>
                <a:cs typeface="Arial"/>
              </a:rPr>
              <a:t>W liście użytkowników może zablokować konto lub nadać uprawnienia administratora</a:t>
            </a:r>
            <a:endParaRPr lang="pl-PL" sz="2600">
              <a:solidFill>
                <a:schemeClr val="tx1"/>
              </a:solidFill>
            </a:endParaRPr>
          </a:p>
          <a:p>
            <a:pPr marL="285750" indent="-285750" algn="l">
              <a:spcBef>
                <a:spcPts val="1889"/>
              </a:spcBef>
              <a:buFont typeface="Arial"/>
              <a:buChar char="•"/>
            </a:pPr>
            <a:r>
              <a:rPr lang="pl-PL" sz="2600">
                <a:solidFill>
                  <a:schemeClr val="tx1"/>
                </a:solidFill>
                <a:latin typeface="Arial"/>
                <a:cs typeface="Arial"/>
              </a:rPr>
              <a:t>Otwiera nowe zgłoszenie wsparcia (ticket), zmienia status z "Otwarte" na "W trakcie" i dodaje odpowiedź dla zgłaszającego</a:t>
            </a:r>
            <a:endParaRPr lang="pl-PL" sz="2600">
              <a:solidFill>
                <a:schemeClr val="tx1"/>
              </a:solidFill>
            </a:endParaRPr>
          </a:p>
          <a:p>
            <a:pPr algn="l">
              <a:spcBef>
                <a:spcPts val="1889"/>
              </a:spcBef>
            </a:pPr>
            <a:endParaRPr lang="pl-PL" sz="2600">
              <a:solidFill>
                <a:schemeClr val="tx1"/>
              </a:solidFill>
              <a:latin typeface="Arial"/>
              <a:cs typeface="Arial"/>
            </a:endParaRPr>
          </a:p>
        </p:txBody>
      </p:sp>
    </p:spTree>
    <p:extLst>
      <p:ext uri="{BB962C8B-B14F-4D97-AF65-F5344CB8AC3E}">
        <p14:creationId xmlns:p14="http://schemas.microsoft.com/office/powerpoint/2010/main" val="156689646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F52FF-420E-4C0D-97B5-FB4C2563A855}"/>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9FDCB655-FD0E-27D8-48B4-5B6FE7416ABF}"/>
              </a:ext>
            </a:extLst>
          </p:cNvPr>
          <p:cNvSpPr txBox="1">
            <a:spLocks noGrp="1"/>
          </p:cNvSpPr>
          <p:nvPr>
            <p:ph type="title" idx="4294967295"/>
          </p:nvPr>
        </p:nvSpPr>
        <p:spPr>
          <a:xfrm>
            <a:off x="503998" y="301322"/>
            <a:ext cx="9071643" cy="999387"/>
          </a:xfrm>
        </p:spPr>
        <p:txBody>
          <a:bodyPr/>
          <a:lstStyle/>
          <a:p>
            <a:r>
              <a:rPr lang="pl-PL" sz="5850">
                <a:latin typeface="Arial"/>
                <a:cs typeface="Arial"/>
              </a:rPr>
              <a:t>Testowanie (1⁄4)</a:t>
            </a:r>
          </a:p>
        </p:txBody>
      </p:sp>
      <p:sp>
        <p:nvSpPr>
          <p:cNvPr id="3" name="Symbol zastępczy tekstu 2">
            <a:extLst>
              <a:ext uri="{FF2B5EF4-FFF2-40B4-BE49-F238E27FC236}">
                <a16:creationId xmlns:a16="http://schemas.microsoft.com/office/drawing/2014/main" id="{3D30928B-1FCA-0286-2F08-7DAAB3796B9A}"/>
              </a:ext>
            </a:extLst>
          </p:cNvPr>
          <p:cNvSpPr txBox="1">
            <a:spLocks noGrp="1"/>
          </p:cNvSpPr>
          <p:nvPr>
            <p:ph type="body" idx="4294967295"/>
          </p:nvPr>
        </p:nvSpPr>
        <p:spPr>
          <a:xfrm>
            <a:off x="503998" y="1411174"/>
            <a:ext cx="9071643" cy="1082013"/>
          </a:xfrm>
        </p:spPr>
        <p:txBody>
          <a:bodyPr>
            <a:noAutofit/>
          </a:bodyPr>
          <a:lstStyle/>
          <a:p>
            <a:pPr algn="l">
              <a:spcBef>
                <a:spcPts val="0"/>
              </a:spcBef>
            </a:pPr>
            <a:r>
              <a:rPr lang="en-US" sz="1800" err="1">
                <a:solidFill>
                  <a:schemeClr val="tx1"/>
                </a:solidFill>
                <a:latin typeface="Arial"/>
                <a:cs typeface="Arial"/>
              </a:rPr>
              <a:t>Zakres</a:t>
            </a:r>
            <a:r>
              <a:rPr lang="en-US" sz="1800">
                <a:solidFill>
                  <a:schemeClr val="tx1"/>
                </a:solidFill>
                <a:latin typeface="Arial"/>
                <a:cs typeface="Arial"/>
              </a:rPr>
              <a:t> </a:t>
            </a:r>
            <a:r>
              <a:rPr lang="en-US" sz="1800" err="1">
                <a:solidFill>
                  <a:schemeClr val="tx1"/>
                </a:solidFill>
                <a:latin typeface="Arial"/>
                <a:cs typeface="Arial"/>
              </a:rPr>
              <a:t>i</a:t>
            </a:r>
            <a:r>
              <a:rPr lang="en-US" sz="1800">
                <a:solidFill>
                  <a:schemeClr val="tx1"/>
                </a:solidFill>
                <a:latin typeface="Arial"/>
                <a:cs typeface="Arial"/>
              </a:rPr>
              <a:t> </a:t>
            </a:r>
            <a:r>
              <a:rPr lang="en-US" sz="1800" err="1">
                <a:solidFill>
                  <a:schemeClr val="tx1"/>
                </a:solidFill>
                <a:latin typeface="Arial"/>
                <a:cs typeface="Arial"/>
              </a:rPr>
              <a:t>organizacja</a:t>
            </a:r>
            <a:r>
              <a:rPr lang="en-US" sz="1800">
                <a:solidFill>
                  <a:schemeClr val="tx1"/>
                </a:solidFill>
                <a:latin typeface="Arial"/>
                <a:cs typeface="Arial"/>
              </a:rPr>
              <a:t> </a:t>
            </a:r>
            <a:r>
              <a:rPr lang="en-US" sz="1800" err="1">
                <a:solidFill>
                  <a:schemeClr val="tx1"/>
                </a:solidFill>
                <a:latin typeface="Arial"/>
                <a:cs typeface="Arial"/>
              </a:rPr>
              <a:t>testów</a:t>
            </a:r>
            <a:endParaRPr lang="en-US" sz="1800">
              <a:solidFill>
                <a:schemeClr val="tx1"/>
              </a:solidFill>
              <a:latin typeface="Arial"/>
              <a:cs typeface="Arial"/>
            </a:endParaRPr>
          </a:p>
          <a:p>
            <a:pPr algn="l">
              <a:spcBef>
                <a:spcPts val="0"/>
              </a:spcBef>
            </a:pPr>
            <a:r>
              <a:rPr lang="en-US" sz="1800">
                <a:solidFill>
                  <a:schemeClr val="tx1"/>
                </a:solidFill>
                <a:latin typeface="Arial"/>
                <a:cs typeface="Arial"/>
              </a:rPr>
              <a:t>Projekt </a:t>
            </a:r>
            <a:r>
              <a:rPr lang="en-US" sz="1800" err="1">
                <a:solidFill>
                  <a:schemeClr val="tx1"/>
                </a:solidFill>
                <a:latin typeface="Arial"/>
                <a:cs typeface="Arial"/>
              </a:rPr>
              <a:t>posiada</a:t>
            </a:r>
            <a:r>
              <a:rPr lang="en-US" sz="1800">
                <a:solidFill>
                  <a:schemeClr val="tx1"/>
                </a:solidFill>
                <a:latin typeface="Arial"/>
                <a:cs typeface="Arial"/>
              </a:rPr>
              <a:t> </a:t>
            </a:r>
            <a:r>
              <a:rPr lang="en-US" sz="1800" b="1">
                <a:solidFill>
                  <a:schemeClr val="tx1"/>
                </a:solidFill>
                <a:latin typeface="Arial"/>
                <a:cs typeface="Arial"/>
              </a:rPr>
              <a:t>115 </a:t>
            </a:r>
            <a:r>
              <a:rPr lang="en-US" sz="1800" b="1" err="1">
                <a:solidFill>
                  <a:schemeClr val="tx1"/>
                </a:solidFill>
                <a:latin typeface="Arial"/>
                <a:cs typeface="Arial"/>
              </a:rPr>
              <a:t>przypadków</a:t>
            </a:r>
            <a:r>
              <a:rPr lang="en-US" sz="1800" b="1">
                <a:solidFill>
                  <a:schemeClr val="tx1"/>
                </a:solidFill>
                <a:latin typeface="Arial"/>
                <a:cs typeface="Arial"/>
              </a:rPr>
              <a:t> </a:t>
            </a:r>
            <a:r>
              <a:rPr lang="en-US" sz="1800" b="1" err="1">
                <a:solidFill>
                  <a:schemeClr val="tx1"/>
                </a:solidFill>
                <a:latin typeface="Arial"/>
                <a:cs typeface="Arial"/>
              </a:rPr>
              <a:t>testowych</a:t>
            </a:r>
            <a:r>
              <a:rPr lang="en-US" sz="1800">
                <a:solidFill>
                  <a:schemeClr val="tx1"/>
                </a:solidFill>
                <a:latin typeface="Arial"/>
                <a:cs typeface="Arial"/>
              </a:rPr>
              <a:t> ([Fact]) </a:t>
            </a:r>
            <a:r>
              <a:rPr lang="en-US" sz="1800" err="1">
                <a:solidFill>
                  <a:schemeClr val="tx1"/>
                </a:solidFill>
                <a:latin typeface="Arial"/>
                <a:cs typeface="Arial"/>
              </a:rPr>
              <a:t>podzielonych</a:t>
            </a:r>
            <a:r>
              <a:rPr lang="en-US" sz="1800">
                <a:solidFill>
                  <a:schemeClr val="tx1"/>
                </a:solidFill>
                <a:latin typeface="Arial"/>
                <a:cs typeface="Arial"/>
              </a:rPr>
              <a:t> </a:t>
            </a:r>
            <a:r>
              <a:rPr lang="en-US" sz="1800" err="1">
                <a:solidFill>
                  <a:schemeClr val="tx1"/>
                </a:solidFill>
                <a:latin typeface="Arial"/>
                <a:cs typeface="Arial"/>
              </a:rPr>
              <a:t>na</a:t>
            </a:r>
            <a:r>
              <a:rPr lang="en-US" sz="1800">
                <a:solidFill>
                  <a:schemeClr val="tx1"/>
                </a:solidFill>
                <a:latin typeface="Arial"/>
                <a:cs typeface="Arial"/>
              </a:rPr>
              <a:t> </a:t>
            </a:r>
            <a:r>
              <a:rPr lang="en-US" sz="1800" err="1">
                <a:solidFill>
                  <a:schemeClr val="tx1"/>
                </a:solidFill>
                <a:latin typeface="Arial"/>
                <a:cs typeface="Arial"/>
              </a:rPr>
              <a:t>pięć</a:t>
            </a:r>
            <a:r>
              <a:rPr lang="en-US" sz="1800">
                <a:solidFill>
                  <a:schemeClr val="tx1"/>
                </a:solidFill>
                <a:latin typeface="Arial"/>
                <a:cs typeface="Arial"/>
              </a:rPr>
              <a:t> </a:t>
            </a:r>
            <a:r>
              <a:rPr lang="en-US" sz="1800" err="1">
                <a:solidFill>
                  <a:schemeClr val="tx1"/>
                </a:solidFill>
                <a:latin typeface="Arial"/>
                <a:cs typeface="Arial"/>
              </a:rPr>
              <a:t>kategorii</a:t>
            </a:r>
            <a:r>
              <a:rPr lang="en-US" sz="1800">
                <a:solidFill>
                  <a:schemeClr val="tx1"/>
                </a:solidFill>
                <a:latin typeface="Arial"/>
                <a:cs typeface="Arial"/>
              </a:rPr>
              <a:t>:</a:t>
            </a:r>
          </a:p>
          <a:p>
            <a:pPr algn="l">
              <a:spcBef>
                <a:spcPts val="0"/>
              </a:spcBef>
            </a:pPr>
            <a:endParaRPr lang="en-US" sz="1800">
              <a:solidFill>
                <a:schemeClr val="tx1"/>
              </a:solidFill>
              <a:latin typeface="Arial"/>
              <a:cs typeface="Arial"/>
            </a:endParaRPr>
          </a:p>
        </p:txBody>
      </p:sp>
      <p:graphicFrame>
        <p:nvGraphicFramePr>
          <p:cNvPr id="5" name="Tabela 4">
            <a:extLst>
              <a:ext uri="{FF2B5EF4-FFF2-40B4-BE49-F238E27FC236}">
                <a16:creationId xmlns:a16="http://schemas.microsoft.com/office/drawing/2014/main" id="{49C89900-A37F-3148-F532-0B01287E33CA}"/>
              </a:ext>
            </a:extLst>
          </p:cNvPr>
          <p:cNvGraphicFramePr>
            <a:graphicFrameLocks noGrp="1"/>
          </p:cNvGraphicFramePr>
          <p:nvPr>
            <p:extLst>
              <p:ext uri="{D42A27DB-BD31-4B8C-83A1-F6EECF244321}">
                <p14:modId xmlns:p14="http://schemas.microsoft.com/office/powerpoint/2010/main" val="4117983892"/>
              </p:ext>
            </p:extLst>
          </p:nvPr>
        </p:nvGraphicFramePr>
        <p:xfrm>
          <a:off x="519101" y="2059564"/>
          <a:ext cx="9035589" cy="3567604"/>
        </p:xfrm>
        <a:graphic>
          <a:graphicData uri="http://schemas.openxmlformats.org/drawingml/2006/table">
            <a:tbl>
              <a:tblPr bandRow="1">
                <a:tableStyleId>{5C22544A-7EE6-4342-B048-85BDC9FD1C3A}</a:tableStyleId>
              </a:tblPr>
              <a:tblGrid>
                <a:gridCol w="2007690">
                  <a:extLst>
                    <a:ext uri="{9D8B030D-6E8A-4147-A177-3AD203B41FA5}">
                      <a16:colId xmlns:a16="http://schemas.microsoft.com/office/drawing/2014/main" val="2740734120"/>
                    </a:ext>
                  </a:extLst>
                </a:gridCol>
                <a:gridCol w="5717022">
                  <a:extLst>
                    <a:ext uri="{9D8B030D-6E8A-4147-A177-3AD203B41FA5}">
                      <a16:colId xmlns:a16="http://schemas.microsoft.com/office/drawing/2014/main" val="3049766107"/>
                    </a:ext>
                  </a:extLst>
                </a:gridCol>
                <a:gridCol w="1310877">
                  <a:extLst>
                    <a:ext uri="{9D8B030D-6E8A-4147-A177-3AD203B41FA5}">
                      <a16:colId xmlns:a16="http://schemas.microsoft.com/office/drawing/2014/main" val="3668137077"/>
                    </a:ext>
                  </a:extLst>
                </a:gridCol>
              </a:tblGrid>
              <a:tr h="340528">
                <a:tc>
                  <a:txBody>
                    <a:bodyPr/>
                    <a:lstStyle/>
                    <a:p>
                      <a:pPr marL="0" marR="0" lvl="0">
                        <a:buNone/>
                      </a:pPr>
                      <a:r>
                        <a:rPr lang="en-US" sz="1400" dirty="0" err="1">
                          <a:solidFill>
                            <a:srgbClr val="0E0E0F"/>
                          </a:solidFill>
                          <a:effectLst/>
                          <a:latin typeface="Arial"/>
                        </a:rPr>
                        <a:t>Kategoria</a:t>
                      </a:r>
                      <a:endParaRPr lang="en-US" dirty="0" err="1">
                        <a:solidFill>
                          <a:srgbClr val="0E0E0F"/>
                        </a:solidFill>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tc>
                  <a:txBody>
                    <a:bodyPr/>
                    <a:lstStyle/>
                    <a:p>
                      <a:pPr marL="0" marR="0" lvl="0">
                        <a:buNone/>
                      </a:pPr>
                      <a:r>
                        <a:rPr lang="en-US" sz="1400" dirty="0" err="1">
                          <a:solidFill>
                            <a:srgbClr val="0E0E0F"/>
                          </a:solidFill>
                          <a:effectLst/>
                          <a:latin typeface="Arial"/>
                        </a:rPr>
                        <a:t>Pliki</a:t>
                      </a:r>
                      <a:endParaRPr lang="en-US" dirty="0" err="1">
                        <a:solidFill>
                          <a:srgbClr val="0E0E0F"/>
                        </a:solidFill>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tc>
                  <a:txBody>
                    <a:bodyPr/>
                    <a:lstStyle/>
                    <a:p>
                      <a:pPr marL="0" marR="0" lvl="0">
                        <a:buNone/>
                      </a:pPr>
                      <a:r>
                        <a:rPr lang="en-US" sz="1400" dirty="0" err="1">
                          <a:solidFill>
                            <a:srgbClr val="0E0E0F"/>
                          </a:solidFill>
                          <a:effectLst/>
                          <a:latin typeface="Arial"/>
                        </a:rPr>
                        <a:t>Przykładowa</a:t>
                      </a:r>
                      <a:r>
                        <a:rPr lang="en-US" sz="1400" dirty="0">
                          <a:solidFill>
                            <a:srgbClr val="0E0E0F"/>
                          </a:solidFill>
                          <a:effectLst/>
                          <a:latin typeface="Arial"/>
                        </a:rPr>
                        <a:t> </a:t>
                      </a:r>
                      <a:r>
                        <a:rPr lang="en-US" sz="1400" dirty="0" err="1">
                          <a:solidFill>
                            <a:srgbClr val="0E0E0F"/>
                          </a:solidFill>
                          <a:effectLst/>
                          <a:latin typeface="Arial"/>
                        </a:rPr>
                        <a:t>liczba</a:t>
                      </a:r>
                      <a:r>
                        <a:rPr lang="en-US" sz="1400" dirty="0">
                          <a:solidFill>
                            <a:srgbClr val="0E0E0F"/>
                          </a:solidFill>
                          <a:effectLst/>
                          <a:latin typeface="Arial"/>
                        </a:rPr>
                        <a:t> </a:t>
                      </a:r>
                      <a:r>
                        <a:rPr lang="en-US" sz="1400" dirty="0" err="1">
                          <a:solidFill>
                            <a:srgbClr val="0E0E0F"/>
                          </a:solidFill>
                          <a:effectLst/>
                          <a:latin typeface="Arial"/>
                        </a:rPr>
                        <a:t>testów</a:t>
                      </a:r>
                      <a:endParaRPr lang="en-US" dirty="0" err="1">
                        <a:solidFill>
                          <a:srgbClr val="0E0E0F"/>
                        </a:solidFill>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extLst>
                  <a:ext uri="{0D108BD9-81ED-4DB2-BD59-A6C34878D82A}">
                    <a16:rowId xmlns:a16="http://schemas.microsoft.com/office/drawing/2014/main" val="4161238369"/>
                  </a:ext>
                </a:extLst>
              </a:tr>
              <a:tr h="550084">
                <a:tc>
                  <a:txBody>
                    <a:bodyPr/>
                    <a:lstStyle/>
                    <a:p>
                      <a:pPr marL="0" marR="0" lvl="0">
                        <a:buNone/>
                      </a:pPr>
                      <a:r>
                        <a:rPr lang="en-US" sz="1400" dirty="0">
                          <a:solidFill>
                            <a:srgbClr val="0E0E0F"/>
                          </a:solidFill>
                          <a:effectLst/>
                          <a:latin typeface="Arial"/>
                        </a:rPr>
                        <a:t>Testy </a:t>
                      </a:r>
                      <a:r>
                        <a:rPr lang="en-US" sz="1400" dirty="0" err="1">
                          <a:solidFill>
                            <a:srgbClr val="0E0E0F"/>
                          </a:solidFill>
                          <a:effectLst/>
                          <a:latin typeface="Arial"/>
                        </a:rPr>
                        <a:t>serwisów</a:t>
                      </a:r>
                      <a:endParaRPr lang="en-US" dirty="0" err="1">
                        <a:solidFill>
                          <a:srgbClr val="0E0E0F"/>
                        </a:solidFill>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tc>
                  <a:txBody>
                    <a:bodyPr/>
                    <a:lstStyle/>
                    <a:p>
                      <a:pPr marL="0" marR="0" lvl="0">
                        <a:buNone/>
                      </a:pPr>
                      <a:r>
                        <a:rPr lang="en-US" sz="1400" dirty="0" err="1">
                          <a:solidFill>
                            <a:srgbClr val="0E0E0F"/>
                          </a:solidFill>
                          <a:effectLst/>
                          <a:latin typeface="Courier New"/>
                        </a:rPr>
                        <a:t>AuthServiceTests</a:t>
                      </a:r>
                      <a:r>
                        <a:rPr lang="en-US" sz="1400" dirty="0">
                          <a:solidFill>
                            <a:srgbClr val="0E0E0F"/>
                          </a:solidFill>
                          <a:effectLst/>
                          <a:latin typeface="Arial"/>
                        </a:rPr>
                        <a:t>, </a:t>
                      </a:r>
                      <a:r>
                        <a:rPr lang="en-US" sz="1400" dirty="0" err="1">
                          <a:solidFill>
                            <a:srgbClr val="0E0E0F"/>
                          </a:solidFill>
                          <a:effectLst/>
                          <a:latin typeface="Courier New"/>
                        </a:rPr>
                        <a:t>SlugHelperTests</a:t>
                      </a:r>
                      <a:r>
                        <a:rPr lang="en-US" sz="1400" dirty="0">
                          <a:solidFill>
                            <a:srgbClr val="0E0E0F"/>
                          </a:solidFill>
                          <a:effectLst/>
                          <a:latin typeface="Arial"/>
                        </a:rPr>
                        <a:t>, </a:t>
                      </a:r>
                      <a:r>
                        <a:rPr lang="en-US" sz="1400" dirty="0" err="1">
                          <a:solidFill>
                            <a:srgbClr val="0E0E0F"/>
                          </a:solidFill>
                          <a:effectLst/>
                          <a:latin typeface="Courier New"/>
                        </a:rPr>
                        <a:t>HelperServiceTests</a:t>
                      </a:r>
                      <a:r>
                        <a:rPr lang="en-US" sz="1400" dirty="0">
                          <a:solidFill>
                            <a:srgbClr val="0E0E0F"/>
                          </a:solidFill>
                          <a:effectLst/>
                          <a:latin typeface="Arial"/>
                        </a:rPr>
                        <a:t>, </a:t>
                      </a:r>
                      <a:r>
                        <a:rPr lang="en-US" sz="1400" dirty="0" err="1">
                          <a:solidFill>
                            <a:srgbClr val="0E0E0F"/>
                          </a:solidFill>
                          <a:effectLst/>
                          <a:latin typeface="Courier New"/>
                        </a:rPr>
                        <a:t>PriceHelperTests</a:t>
                      </a:r>
                      <a:r>
                        <a:rPr lang="en-US" sz="1400" dirty="0">
                          <a:solidFill>
                            <a:srgbClr val="0E0E0F"/>
                          </a:solidFill>
                          <a:effectLst/>
                          <a:latin typeface="Arial"/>
                        </a:rPr>
                        <a:t>, </a:t>
                      </a:r>
                      <a:r>
                        <a:rPr lang="en-US" sz="1400" dirty="0" err="1">
                          <a:solidFill>
                            <a:srgbClr val="0E0E0F"/>
                          </a:solidFill>
                          <a:effectLst/>
                          <a:latin typeface="Courier New"/>
                        </a:rPr>
                        <a:t>EmailServiceTests</a:t>
                      </a:r>
                      <a:endParaRPr lang="en-US" dirty="0" err="1">
                        <a:solidFill>
                          <a:srgbClr val="0E0E0F"/>
                        </a:solidFill>
                        <a:latin typeface="Courier New"/>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tc>
                  <a:txBody>
                    <a:bodyPr/>
                    <a:lstStyle/>
                    <a:p>
                      <a:pPr marL="0" marR="0" lvl="0">
                        <a:buNone/>
                      </a:pPr>
                      <a:r>
                        <a:rPr lang="en-US" sz="1400">
                          <a:solidFill>
                            <a:srgbClr val="0E0E0F"/>
                          </a:solidFill>
                          <a:effectLst/>
                          <a:latin typeface="Arial"/>
                        </a:rPr>
                        <a:t>~30</a:t>
                      </a:r>
                      <a:endParaRPr lang="en-US" sz="1400" dirty="0">
                        <a:solidFill>
                          <a:srgbClr val="0E0E0F"/>
                        </a:solidFill>
                        <a:effectLst/>
                        <a:latin typeface="Arial"/>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extLst>
                  <a:ext uri="{0D108BD9-81ED-4DB2-BD59-A6C34878D82A}">
                    <a16:rowId xmlns:a16="http://schemas.microsoft.com/office/drawing/2014/main" val="3282435489"/>
                  </a:ext>
                </a:extLst>
              </a:tr>
              <a:tr h="698519">
                <a:tc>
                  <a:txBody>
                    <a:bodyPr/>
                    <a:lstStyle/>
                    <a:p>
                      <a:pPr marL="0" marR="0" lvl="0">
                        <a:buNone/>
                      </a:pPr>
                      <a:r>
                        <a:rPr lang="en-US" sz="1400" dirty="0">
                          <a:solidFill>
                            <a:srgbClr val="0E0E0F"/>
                          </a:solidFill>
                          <a:effectLst/>
                          <a:latin typeface="Arial"/>
                        </a:rPr>
                        <a:t>Testy </a:t>
                      </a:r>
                      <a:r>
                        <a:rPr lang="en-US" sz="1400" dirty="0" err="1">
                          <a:solidFill>
                            <a:srgbClr val="0E0E0F"/>
                          </a:solidFill>
                          <a:effectLst/>
                          <a:latin typeface="Arial"/>
                        </a:rPr>
                        <a:t>modeli</a:t>
                      </a:r>
                      <a:endParaRPr lang="en-US" dirty="0" err="1">
                        <a:solidFill>
                          <a:srgbClr val="0E0E0F"/>
                        </a:solidFill>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tc>
                  <a:txBody>
                    <a:bodyPr/>
                    <a:lstStyle/>
                    <a:p>
                      <a:pPr marL="0" marR="0" lvl="0">
                        <a:buNone/>
                      </a:pPr>
                      <a:r>
                        <a:rPr lang="en-US" sz="1400" dirty="0" err="1">
                          <a:solidFill>
                            <a:srgbClr val="0E0E0F"/>
                          </a:solidFill>
                          <a:effectLst/>
                          <a:latin typeface="Courier New"/>
                        </a:rPr>
                        <a:t>ListingTests</a:t>
                      </a:r>
                      <a:r>
                        <a:rPr lang="en-US" sz="1400" dirty="0">
                          <a:solidFill>
                            <a:srgbClr val="0E0E0F"/>
                          </a:solidFill>
                          <a:effectLst/>
                          <a:latin typeface="Arial"/>
                        </a:rPr>
                        <a:t>, </a:t>
                      </a:r>
                      <a:r>
                        <a:rPr lang="en-US" sz="1400" dirty="0" err="1">
                          <a:solidFill>
                            <a:srgbClr val="0E0E0F"/>
                          </a:solidFill>
                          <a:effectLst/>
                          <a:latin typeface="Courier New"/>
                        </a:rPr>
                        <a:t>MessageTests</a:t>
                      </a:r>
                      <a:r>
                        <a:rPr lang="en-US" sz="1400" dirty="0">
                          <a:solidFill>
                            <a:srgbClr val="0E0E0F"/>
                          </a:solidFill>
                          <a:effectLst/>
                          <a:latin typeface="Arial"/>
                        </a:rPr>
                        <a:t>, </a:t>
                      </a:r>
                      <a:r>
                        <a:rPr lang="en-US" sz="1400" dirty="0" err="1">
                          <a:solidFill>
                            <a:srgbClr val="0E0E0F"/>
                          </a:solidFill>
                          <a:effectLst/>
                          <a:latin typeface="Courier New"/>
                        </a:rPr>
                        <a:t>TicketTests</a:t>
                      </a:r>
                      <a:r>
                        <a:rPr lang="en-US" sz="1400" dirty="0">
                          <a:solidFill>
                            <a:srgbClr val="0E0E0F"/>
                          </a:solidFill>
                          <a:effectLst/>
                          <a:latin typeface="Arial"/>
                        </a:rPr>
                        <a:t>, </a:t>
                      </a:r>
                      <a:r>
                        <a:rPr lang="en-US" sz="1400" dirty="0" err="1">
                          <a:solidFill>
                            <a:srgbClr val="0E0E0F"/>
                          </a:solidFill>
                          <a:effectLst/>
                          <a:latin typeface="Courier New"/>
                        </a:rPr>
                        <a:t>ListingStockHelperTests</a:t>
                      </a:r>
                      <a:r>
                        <a:rPr lang="en-US" sz="1400" dirty="0">
                          <a:solidFill>
                            <a:srgbClr val="0E0E0F"/>
                          </a:solidFill>
                          <a:effectLst/>
                          <a:latin typeface="Arial"/>
                        </a:rPr>
                        <a:t>, </a:t>
                      </a:r>
                      <a:r>
                        <a:rPr lang="en-US" sz="1400" dirty="0" err="1">
                          <a:solidFill>
                            <a:srgbClr val="0E0E0F"/>
                          </a:solidFill>
                          <a:effectLst/>
                          <a:latin typeface="Courier New"/>
                        </a:rPr>
                        <a:t>UserUsernameTests</a:t>
                      </a:r>
                      <a:r>
                        <a:rPr lang="en-US" sz="1400" dirty="0">
                          <a:solidFill>
                            <a:srgbClr val="0E0E0F"/>
                          </a:solidFill>
                          <a:effectLst/>
                          <a:latin typeface="Arial"/>
                        </a:rPr>
                        <a:t>, </a:t>
                      </a:r>
                      <a:r>
                        <a:rPr lang="en-US" sz="1400" dirty="0" err="1">
                          <a:solidFill>
                            <a:srgbClr val="0E0E0F"/>
                          </a:solidFill>
                          <a:effectLst/>
                          <a:latin typeface="Courier New"/>
                        </a:rPr>
                        <a:t>MyDBContextQueryFilterTests</a:t>
                      </a:r>
                      <a:endParaRPr lang="en-US">
                        <a:solidFill>
                          <a:srgbClr val="0E0E0F"/>
                        </a:solidFill>
                        <a:latin typeface="Courier New"/>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tc>
                  <a:txBody>
                    <a:bodyPr/>
                    <a:lstStyle/>
                    <a:p>
                      <a:pPr marL="0" marR="0" lvl="0">
                        <a:buNone/>
                      </a:pPr>
                      <a:r>
                        <a:rPr lang="en-US" sz="1400">
                          <a:solidFill>
                            <a:srgbClr val="0E0E0F"/>
                          </a:solidFill>
                          <a:effectLst/>
                          <a:latin typeface="Arial"/>
                        </a:rPr>
                        <a:t>~25</a:t>
                      </a:r>
                      <a:endParaRPr lang="en-US" sz="1400" dirty="0">
                        <a:solidFill>
                          <a:srgbClr val="0E0E0F"/>
                        </a:solidFill>
                        <a:effectLst/>
                        <a:latin typeface="Arial"/>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extLst>
                  <a:ext uri="{0D108BD9-81ED-4DB2-BD59-A6C34878D82A}">
                    <a16:rowId xmlns:a16="http://schemas.microsoft.com/office/drawing/2014/main" val="893635319"/>
                  </a:ext>
                </a:extLst>
              </a:tr>
              <a:tr h="1143825">
                <a:tc>
                  <a:txBody>
                    <a:bodyPr/>
                    <a:lstStyle/>
                    <a:p>
                      <a:pPr marL="0" marR="0" lvl="0">
                        <a:buNone/>
                      </a:pPr>
                      <a:r>
                        <a:rPr lang="en-US" sz="1400" dirty="0">
                          <a:solidFill>
                            <a:srgbClr val="0E0E0F"/>
                          </a:solidFill>
                          <a:effectLst/>
                          <a:latin typeface="Arial"/>
                        </a:rPr>
                        <a:t>Testy </a:t>
                      </a:r>
                      <a:r>
                        <a:rPr lang="en-US" sz="1400" dirty="0" err="1">
                          <a:solidFill>
                            <a:srgbClr val="0E0E0F"/>
                          </a:solidFill>
                          <a:effectLst/>
                          <a:latin typeface="Arial"/>
                        </a:rPr>
                        <a:t>kontrolerów</a:t>
                      </a:r>
                      <a:endParaRPr lang="en-US" dirty="0" err="1">
                        <a:solidFill>
                          <a:srgbClr val="0E0E0F"/>
                        </a:solidFill>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tc>
                  <a:txBody>
                    <a:bodyPr/>
                    <a:lstStyle/>
                    <a:p>
                      <a:pPr marL="0" marR="0" lvl="0">
                        <a:buNone/>
                      </a:pPr>
                      <a:r>
                        <a:rPr lang="en-US" sz="1400" dirty="0" err="1">
                          <a:solidFill>
                            <a:srgbClr val="0E0E0F"/>
                          </a:solidFill>
                          <a:effectLst/>
                          <a:latin typeface="Courier New"/>
                        </a:rPr>
                        <a:t>ListingsController</a:t>
                      </a:r>
                      <a:r>
                        <a:rPr lang="en-US" sz="1400" dirty="0">
                          <a:solidFill>
                            <a:srgbClr val="0E0E0F"/>
                          </a:solidFill>
                          <a:effectLst/>
                          <a:latin typeface="Arial"/>
                        </a:rPr>
                        <a:t>, </a:t>
                      </a:r>
                      <a:r>
                        <a:rPr lang="en-US" sz="1400" dirty="0" err="1">
                          <a:solidFill>
                            <a:srgbClr val="0E0E0F"/>
                          </a:solidFill>
                          <a:effectLst/>
                          <a:latin typeface="Courier New"/>
                        </a:rPr>
                        <a:t>PaymentController</a:t>
                      </a:r>
                      <a:r>
                        <a:rPr lang="en-US" sz="1400" dirty="0">
                          <a:solidFill>
                            <a:srgbClr val="0E0E0F"/>
                          </a:solidFill>
                          <a:effectLst/>
                          <a:latin typeface="Arial"/>
                        </a:rPr>
                        <a:t>, </a:t>
                      </a:r>
                      <a:r>
                        <a:rPr lang="en-US" sz="1400" dirty="0" err="1">
                          <a:solidFill>
                            <a:srgbClr val="0E0E0F"/>
                          </a:solidFill>
                          <a:effectLst/>
                          <a:latin typeface="Courier New"/>
                        </a:rPr>
                        <a:t>TradeProposalsController</a:t>
                      </a:r>
                      <a:r>
                        <a:rPr lang="en-US" sz="1400" dirty="0">
                          <a:solidFill>
                            <a:srgbClr val="0E0E0F"/>
                          </a:solidFill>
                          <a:effectLst/>
                          <a:latin typeface="Arial"/>
                        </a:rPr>
                        <a:t>, </a:t>
                      </a:r>
                      <a:r>
                        <a:rPr lang="en-US" sz="1400" dirty="0" err="1">
                          <a:solidFill>
                            <a:srgbClr val="0E0E0F"/>
                          </a:solidFill>
                          <a:effectLst/>
                          <a:latin typeface="Courier New"/>
                        </a:rPr>
                        <a:t>MessagesController</a:t>
                      </a:r>
                      <a:r>
                        <a:rPr lang="en-US" sz="1400" dirty="0">
                          <a:solidFill>
                            <a:srgbClr val="0E0E0F"/>
                          </a:solidFill>
                          <a:effectLst/>
                          <a:latin typeface="Arial"/>
                        </a:rPr>
                        <a:t>, </a:t>
                      </a:r>
                      <a:r>
                        <a:rPr lang="en-US" sz="1400" dirty="0" err="1">
                          <a:solidFill>
                            <a:srgbClr val="0E0E0F"/>
                          </a:solidFill>
                          <a:effectLst/>
                          <a:latin typeface="Courier New"/>
                        </a:rPr>
                        <a:t>ReviewsController</a:t>
                      </a:r>
                      <a:r>
                        <a:rPr lang="en-US" sz="1400" dirty="0">
                          <a:solidFill>
                            <a:srgbClr val="0E0E0F"/>
                          </a:solidFill>
                          <a:effectLst/>
                          <a:latin typeface="Arial"/>
                        </a:rPr>
                        <a:t>, </a:t>
                      </a:r>
                      <a:r>
                        <a:rPr lang="en-US" sz="1400" dirty="0" err="1">
                          <a:solidFill>
                            <a:srgbClr val="0E0E0F"/>
                          </a:solidFill>
                          <a:effectLst/>
                          <a:latin typeface="Courier New"/>
                        </a:rPr>
                        <a:t>NotificationsController</a:t>
                      </a:r>
                      <a:r>
                        <a:rPr lang="en-US" sz="1400" dirty="0">
                          <a:solidFill>
                            <a:srgbClr val="0E0E0F"/>
                          </a:solidFill>
                          <a:effectLst/>
                          <a:latin typeface="Arial"/>
                        </a:rPr>
                        <a:t>, </a:t>
                      </a:r>
                      <a:r>
                        <a:rPr lang="en-US" sz="1400" dirty="0" err="1">
                          <a:solidFill>
                            <a:srgbClr val="0E0E0F"/>
                          </a:solidFill>
                          <a:effectLst/>
                          <a:latin typeface="Courier New"/>
                        </a:rPr>
                        <a:t>TicketsController</a:t>
                      </a:r>
                      <a:r>
                        <a:rPr lang="en-US" sz="1400" dirty="0">
                          <a:solidFill>
                            <a:srgbClr val="0E0E0F"/>
                          </a:solidFill>
                          <a:effectLst/>
                          <a:latin typeface="Arial"/>
                        </a:rPr>
                        <a:t>, </a:t>
                      </a:r>
                      <a:r>
                        <a:rPr lang="en-US" sz="1400" dirty="0" err="1">
                          <a:solidFill>
                            <a:srgbClr val="0E0E0F"/>
                          </a:solidFill>
                          <a:effectLst/>
                          <a:latin typeface="Courier New"/>
                        </a:rPr>
                        <a:t>HomeController</a:t>
                      </a:r>
                      <a:r>
                        <a:rPr lang="en-US" sz="1400" dirty="0">
                          <a:solidFill>
                            <a:srgbClr val="0E0E0F"/>
                          </a:solidFill>
                          <a:effectLst/>
                          <a:latin typeface="Arial"/>
                        </a:rPr>
                        <a:t>, </a:t>
                      </a:r>
                      <a:r>
                        <a:rPr lang="en-US" sz="1400" dirty="0" err="1">
                          <a:solidFill>
                            <a:srgbClr val="0E0E0F"/>
                          </a:solidFill>
                          <a:effectLst/>
                          <a:latin typeface="Courier New"/>
                        </a:rPr>
                        <a:t>MyProfileController</a:t>
                      </a:r>
                      <a:r>
                        <a:rPr lang="en-US" sz="1400" dirty="0">
                          <a:solidFill>
                            <a:srgbClr val="0E0E0F"/>
                          </a:solidFill>
                          <a:effectLst/>
                          <a:latin typeface="Arial"/>
                        </a:rPr>
                        <a:t>, </a:t>
                      </a:r>
                      <a:r>
                        <a:rPr lang="en-US" sz="1400" dirty="0" err="1">
                          <a:solidFill>
                            <a:srgbClr val="0E0E0F"/>
                          </a:solidFill>
                          <a:effectLst/>
                          <a:latin typeface="Courier New"/>
                        </a:rPr>
                        <a:t>UserProfileController</a:t>
                      </a:r>
                      <a:r>
                        <a:rPr lang="en-US" sz="1400" dirty="0">
                          <a:solidFill>
                            <a:srgbClr val="0E0E0F"/>
                          </a:solidFill>
                          <a:effectLst/>
                          <a:latin typeface="Arial"/>
                        </a:rPr>
                        <a:t> + 3 </a:t>
                      </a:r>
                      <a:r>
                        <a:rPr lang="en-US" sz="1400" dirty="0" err="1">
                          <a:solidFill>
                            <a:srgbClr val="0E0E0F"/>
                          </a:solidFill>
                          <a:effectLst/>
                          <a:latin typeface="Arial"/>
                        </a:rPr>
                        <a:t>kontrolery</a:t>
                      </a:r>
                      <a:r>
                        <a:rPr lang="en-US" sz="1400" dirty="0">
                          <a:solidFill>
                            <a:srgbClr val="0E0E0F"/>
                          </a:solidFill>
                          <a:effectLst/>
                          <a:latin typeface="Arial"/>
                        </a:rPr>
                        <a:t> Admin</a:t>
                      </a:r>
                      <a:endParaRPr lang="en-US" dirty="0">
                        <a:solidFill>
                          <a:srgbClr val="0E0E0F"/>
                        </a:solidFill>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tc>
                  <a:txBody>
                    <a:bodyPr/>
                    <a:lstStyle/>
                    <a:p>
                      <a:pPr marL="0" marR="0" lvl="0">
                        <a:buNone/>
                      </a:pPr>
                      <a:r>
                        <a:rPr lang="en-US" sz="1400">
                          <a:solidFill>
                            <a:srgbClr val="0E0E0F"/>
                          </a:solidFill>
                          <a:effectLst/>
                          <a:latin typeface="Arial"/>
                        </a:rPr>
                        <a:t>~45</a:t>
                      </a:r>
                      <a:endParaRPr lang="en-US" sz="1400" dirty="0">
                        <a:solidFill>
                          <a:srgbClr val="0E0E0F"/>
                        </a:solidFill>
                        <a:effectLst/>
                        <a:latin typeface="Arial"/>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extLst>
                  <a:ext uri="{0D108BD9-81ED-4DB2-BD59-A6C34878D82A}">
                    <a16:rowId xmlns:a16="http://schemas.microsoft.com/office/drawing/2014/main" val="1384717590"/>
                  </a:ext>
                </a:extLst>
              </a:tr>
              <a:tr h="253213">
                <a:tc>
                  <a:txBody>
                    <a:bodyPr/>
                    <a:lstStyle/>
                    <a:p>
                      <a:pPr marL="0" marR="0" lvl="0">
                        <a:buNone/>
                      </a:pPr>
                      <a:r>
                        <a:rPr lang="en-US" sz="1400" dirty="0">
                          <a:solidFill>
                            <a:srgbClr val="0E0E0F"/>
                          </a:solidFill>
                          <a:effectLst/>
                          <a:latin typeface="Arial"/>
                        </a:rPr>
                        <a:t>Testy </a:t>
                      </a:r>
                      <a:r>
                        <a:rPr lang="en-US" sz="1400" dirty="0" err="1">
                          <a:solidFill>
                            <a:srgbClr val="0E0E0F"/>
                          </a:solidFill>
                          <a:effectLst/>
                          <a:latin typeface="Arial"/>
                        </a:rPr>
                        <a:t>integracyjne</a:t>
                      </a:r>
                      <a:endParaRPr lang="en-US" dirty="0" err="1">
                        <a:solidFill>
                          <a:srgbClr val="0E0E0F"/>
                        </a:solidFill>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tc>
                  <a:txBody>
                    <a:bodyPr/>
                    <a:lstStyle/>
                    <a:p>
                      <a:pPr marL="0" marR="0" lvl="0">
                        <a:buNone/>
                      </a:pPr>
                      <a:r>
                        <a:rPr lang="en-US" sz="1400" dirty="0" err="1">
                          <a:solidFill>
                            <a:srgbClr val="0E0E0F"/>
                          </a:solidFill>
                          <a:effectLst/>
                          <a:latin typeface="Courier New"/>
                        </a:rPr>
                        <a:t>UserRegistrationFlowTests</a:t>
                      </a:r>
                      <a:endParaRPr lang="en-US" dirty="0" err="1">
                        <a:solidFill>
                          <a:srgbClr val="0E0E0F"/>
                        </a:solidFill>
                        <a:latin typeface="Courier New"/>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tc>
                  <a:txBody>
                    <a:bodyPr/>
                    <a:lstStyle/>
                    <a:p>
                      <a:pPr marL="0" marR="0" lvl="0">
                        <a:buNone/>
                      </a:pPr>
                      <a:r>
                        <a:rPr lang="en-US" sz="1400">
                          <a:solidFill>
                            <a:srgbClr val="0E0E0F"/>
                          </a:solidFill>
                          <a:effectLst/>
                          <a:latin typeface="Arial"/>
                        </a:rPr>
                        <a:t>~3</a:t>
                      </a:r>
                      <a:endParaRPr lang="en-US" sz="1400" dirty="0">
                        <a:solidFill>
                          <a:srgbClr val="0E0E0F"/>
                        </a:solidFill>
                        <a:effectLst/>
                        <a:latin typeface="Arial"/>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extLst>
                  <a:ext uri="{0D108BD9-81ED-4DB2-BD59-A6C34878D82A}">
                    <a16:rowId xmlns:a16="http://schemas.microsoft.com/office/drawing/2014/main" val="1895344530"/>
                  </a:ext>
                </a:extLst>
              </a:tr>
              <a:tr h="253213">
                <a:tc>
                  <a:txBody>
                    <a:bodyPr/>
                    <a:lstStyle/>
                    <a:p>
                      <a:pPr marL="0" marR="0" lvl="0">
                        <a:buNone/>
                      </a:pPr>
                      <a:r>
                        <a:rPr lang="en-US" sz="1400" dirty="0" err="1">
                          <a:solidFill>
                            <a:srgbClr val="0E0E0F"/>
                          </a:solidFill>
                          <a:effectLst/>
                          <a:latin typeface="Arial"/>
                        </a:rPr>
                        <a:t>Przypadki</a:t>
                      </a:r>
                      <a:r>
                        <a:rPr lang="en-US" sz="1400" dirty="0">
                          <a:solidFill>
                            <a:srgbClr val="0E0E0F"/>
                          </a:solidFill>
                          <a:effectLst/>
                          <a:latin typeface="Arial"/>
                        </a:rPr>
                        <a:t> </a:t>
                      </a:r>
                      <a:r>
                        <a:rPr lang="en-US" sz="1400" dirty="0" err="1">
                          <a:solidFill>
                            <a:srgbClr val="0E0E0F"/>
                          </a:solidFill>
                          <a:effectLst/>
                          <a:latin typeface="Arial"/>
                        </a:rPr>
                        <a:t>brzegowe</a:t>
                      </a:r>
                      <a:endParaRPr lang="en-US" dirty="0" err="1">
                        <a:solidFill>
                          <a:srgbClr val="0E0E0F"/>
                        </a:solidFill>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tc>
                  <a:txBody>
                    <a:bodyPr/>
                    <a:lstStyle/>
                    <a:p>
                      <a:pPr marL="0" marR="0" lvl="0">
                        <a:buNone/>
                      </a:pPr>
                      <a:r>
                        <a:rPr lang="en-US" sz="1400" dirty="0" err="1">
                          <a:solidFill>
                            <a:srgbClr val="0E0E0F"/>
                          </a:solidFill>
                          <a:effectLst/>
                          <a:latin typeface="Courier New"/>
                        </a:rPr>
                        <a:t>EdgeCaseTests</a:t>
                      </a:r>
                      <a:endParaRPr lang="en-US" dirty="0" err="1">
                        <a:solidFill>
                          <a:srgbClr val="0E0E0F"/>
                        </a:solidFill>
                        <a:latin typeface="Courier New"/>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tc>
                  <a:txBody>
                    <a:bodyPr/>
                    <a:lstStyle/>
                    <a:p>
                      <a:pPr marL="0" marR="0" lvl="0">
                        <a:buNone/>
                      </a:pPr>
                      <a:r>
                        <a:rPr lang="en-US" sz="1400">
                          <a:solidFill>
                            <a:srgbClr val="0E0E0F"/>
                          </a:solidFill>
                          <a:effectLst/>
                          <a:latin typeface="Arial"/>
                        </a:rPr>
                        <a:t>~7</a:t>
                      </a:r>
                      <a:endParaRPr lang="en-US" sz="1400" dirty="0">
                        <a:solidFill>
                          <a:srgbClr val="0E0E0F"/>
                        </a:solidFill>
                        <a:effectLst/>
                        <a:latin typeface="Arial"/>
                      </a:endParaRPr>
                    </a:p>
                  </a:txBody>
                  <a:tcPr anchor="ctr">
                    <a:lnL w="9524">
                      <a:solidFill>
                        <a:srgbClr val="E3E2DD"/>
                      </a:solidFill>
                    </a:lnL>
                    <a:lnR w="9524">
                      <a:solidFill>
                        <a:srgbClr val="E3E2DD"/>
                      </a:solidFill>
                    </a:lnR>
                    <a:lnT w="9524">
                      <a:solidFill>
                        <a:srgbClr val="E3E2DD"/>
                      </a:solidFill>
                    </a:lnT>
                    <a:lnB w="9524">
                      <a:solidFill>
                        <a:srgbClr val="E3E2DD"/>
                      </a:solidFill>
                    </a:lnB>
                    <a:solidFill>
                      <a:srgbClr val="F6F5F4"/>
                    </a:solidFill>
                  </a:tcPr>
                </a:tc>
                <a:extLst>
                  <a:ext uri="{0D108BD9-81ED-4DB2-BD59-A6C34878D82A}">
                    <a16:rowId xmlns:a16="http://schemas.microsoft.com/office/drawing/2014/main" val="2289276014"/>
                  </a:ext>
                </a:extLst>
              </a:tr>
            </a:tbl>
          </a:graphicData>
        </a:graphic>
      </p:graphicFrame>
      <p:sp>
        <p:nvSpPr>
          <p:cNvPr id="8" name="Symbol zastępczy tekstu 2">
            <a:extLst>
              <a:ext uri="{FF2B5EF4-FFF2-40B4-BE49-F238E27FC236}">
                <a16:creationId xmlns:a16="http://schemas.microsoft.com/office/drawing/2014/main" id="{C1B11E80-CABF-BF43-DBE2-7DA182634845}"/>
              </a:ext>
            </a:extLst>
          </p:cNvPr>
          <p:cNvSpPr txBox="1">
            <a:spLocks/>
          </p:cNvSpPr>
          <p:nvPr/>
        </p:nvSpPr>
        <p:spPr>
          <a:xfrm>
            <a:off x="505818" y="5873797"/>
            <a:ext cx="9071643" cy="1400257"/>
          </a:xfrm>
          <a:prstGeom prst="rect">
            <a:avLst/>
          </a:prstGeom>
          <a:noFill/>
          <a:ln>
            <a:noFill/>
          </a:ln>
        </p:spPr>
        <p:txBody>
          <a:bodyPr vert="horz" wrap="square" lIns="0" tIns="0" rIns="0" bIns="0" anchor="t" anchorCtr="0" compatLnSpc="1">
            <a:noAutofit/>
          </a:bodyPr>
          <a:lstStyle>
            <a:lvl1pPr marL="0" marR="0" lvl="0" indent="0" defTabSz="914400" rtl="0" fontAlgn="auto" hangingPunct="0">
              <a:lnSpc>
                <a:spcPct val="100000"/>
              </a:lnSpc>
              <a:spcBef>
                <a:spcPts val="1890"/>
              </a:spcBef>
              <a:spcAft>
                <a:spcPts val="0"/>
              </a:spcAft>
              <a:buNone/>
              <a:tabLst/>
              <a:defRPr lang="pl-PL" sz="4270" b="0" i="0" u="none" strike="noStrike" kern="1200" cap="none" spc="0" baseline="0">
                <a:solidFill>
                  <a:srgbClr val="000000"/>
                </a:solidFill>
                <a:highlight>
                  <a:scrgbClr r="0" g="0" b="0">
                    <a:alpha val="0"/>
                  </a:scrgbClr>
                </a:highlight>
                <a:uFillTx/>
                <a:latin typeface="Liberation Sans" pitchFamily="18"/>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pl-PL" sz="2400" b="0" i="0" u="none" strike="noStrike" kern="1200" cap="none" spc="0" baseline="0">
                <a:solidFill>
                  <a:srgbClr val="000000"/>
                </a:solidFill>
                <a:uFillTx/>
                <a:latin typeface="Calibri"/>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pl-PL" sz="2000" b="0" i="0" u="none" strike="noStrike" kern="1200" cap="none" spc="0" baseline="0">
                <a:solidFill>
                  <a:srgbClr val="000000"/>
                </a:solidFill>
                <a:uFillTx/>
                <a:latin typeface="Calibri"/>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pl-PL" sz="1800" b="0" i="0" u="none" strike="noStrike" kern="1200" cap="none" spc="0" baseline="0">
                <a:solidFill>
                  <a:srgbClr val="000000"/>
                </a:solidFill>
                <a:uFillTx/>
                <a:latin typeface="Calibri"/>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pl-PL" sz="1800" b="0" i="0" u="none" strike="noStrike" kern="1200" cap="none" spc="0" baseline="0">
                <a:solidFill>
                  <a:srgbClr val="000000"/>
                </a:solidFill>
                <a:uFillTx/>
                <a:latin typeface="Calibri"/>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spcBef>
                <a:spcPts val="0"/>
              </a:spcBef>
            </a:pPr>
            <a:r>
              <a:rPr lang="en-US" sz="1800">
                <a:solidFill>
                  <a:schemeClr val="tx1"/>
                </a:solidFill>
                <a:latin typeface="Arial"/>
                <a:cs typeface="Arial"/>
              </a:rPr>
              <a:t>Testy </a:t>
            </a:r>
            <a:r>
              <a:rPr lang="en-US" sz="1800" err="1">
                <a:solidFill>
                  <a:schemeClr val="tx1"/>
                </a:solidFill>
                <a:latin typeface="Arial"/>
                <a:cs typeface="Arial"/>
              </a:rPr>
              <a:t>uruchamiane</a:t>
            </a:r>
            <a:r>
              <a:rPr lang="en-US" sz="1800">
                <a:solidFill>
                  <a:schemeClr val="tx1"/>
                </a:solidFill>
                <a:latin typeface="Arial"/>
                <a:cs typeface="Arial"/>
              </a:rPr>
              <a:t> </a:t>
            </a:r>
            <a:r>
              <a:rPr lang="en-US" sz="1800" err="1">
                <a:solidFill>
                  <a:schemeClr val="tx1"/>
                </a:solidFill>
                <a:latin typeface="Arial"/>
                <a:cs typeface="Arial"/>
              </a:rPr>
              <a:t>są</a:t>
            </a:r>
            <a:r>
              <a:rPr lang="en-US" sz="1800">
                <a:solidFill>
                  <a:schemeClr val="tx1"/>
                </a:solidFill>
                <a:latin typeface="Arial"/>
                <a:cs typeface="Arial"/>
              </a:rPr>
              <a:t> </a:t>
            </a:r>
            <a:r>
              <a:rPr lang="en-US" sz="1800" err="1">
                <a:solidFill>
                  <a:schemeClr val="tx1"/>
                </a:solidFill>
                <a:latin typeface="Arial"/>
                <a:cs typeface="Arial"/>
              </a:rPr>
              <a:t>na</a:t>
            </a:r>
            <a:r>
              <a:rPr lang="en-US" sz="1800">
                <a:solidFill>
                  <a:schemeClr val="tx1"/>
                </a:solidFill>
                <a:latin typeface="Arial"/>
                <a:cs typeface="Arial"/>
              </a:rPr>
              <a:t> </a:t>
            </a:r>
            <a:r>
              <a:rPr lang="en-US" sz="1800" b="1" err="1">
                <a:solidFill>
                  <a:schemeClr val="tx1"/>
                </a:solidFill>
                <a:latin typeface="Arial"/>
                <a:cs typeface="Arial"/>
              </a:rPr>
              <a:t>bazie</a:t>
            </a:r>
            <a:r>
              <a:rPr lang="en-US" sz="1800" b="1">
                <a:solidFill>
                  <a:schemeClr val="tx1"/>
                </a:solidFill>
                <a:latin typeface="Arial"/>
                <a:cs typeface="Arial"/>
              </a:rPr>
              <a:t> </a:t>
            </a:r>
            <a:r>
              <a:rPr lang="en-US" sz="1800" b="1" err="1">
                <a:solidFill>
                  <a:schemeClr val="tx1"/>
                </a:solidFill>
                <a:latin typeface="Arial"/>
                <a:cs typeface="Arial"/>
              </a:rPr>
              <a:t>InMemory</a:t>
            </a:r>
            <a:r>
              <a:rPr lang="en-US" sz="1800" b="1">
                <a:solidFill>
                  <a:schemeClr val="tx1"/>
                </a:solidFill>
                <a:latin typeface="Arial"/>
                <a:cs typeface="Arial"/>
              </a:rPr>
              <a:t> EF Core</a:t>
            </a:r>
            <a:r>
              <a:rPr lang="en-US" sz="1800">
                <a:solidFill>
                  <a:schemeClr val="tx1"/>
                </a:solidFill>
                <a:latin typeface="Arial"/>
                <a:cs typeface="Arial"/>
              </a:rPr>
              <a:t> (</a:t>
            </a:r>
            <a:r>
              <a:rPr lang="en-US" sz="1800" err="1">
                <a:solidFill>
                  <a:schemeClr val="tx1"/>
                </a:solidFill>
                <a:latin typeface="Arial"/>
                <a:cs typeface="Arial"/>
              </a:rPr>
              <a:t>izolacja</a:t>
            </a:r>
            <a:r>
              <a:rPr lang="en-US" sz="1800">
                <a:solidFill>
                  <a:schemeClr val="tx1"/>
                </a:solidFill>
                <a:latin typeface="Arial"/>
                <a:cs typeface="Arial"/>
              </a:rPr>
              <a:t>, bez </a:t>
            </a:r>
            <a:r>
              <a:rPr lang="en-US" sz="1800" err="1">
                <a:solidFill>
                  <a:schemeClr val="tx1"/>
                </a:solidFill>
                <a:latin typeface="Arial"/>
                <a:cs typeface="Arial"/>
              </a:rPr>
              <a:t>potrzeby</a:t>
            </a:r>
            <a:r>
              <a:rPr lang="en-US" sz="1800">
                <a:solidFill>
                  <a:schemeClr val="tx1"/>
                </a:solidFill>
                <a:latin typeface="Arial"/>
                <a:cs typeface="Arial"/>
              </a:rPr>
              <a:t> PostgreSQL w CI), z </a:t>
            </a:r>
            <a:r>
              <a:rPr lang="en-US" sz="1800" err="1">
                <a:solidFill>
                  <a:schemeClr val="tx1"/>
                </a:solidFill>
                <a:latin typeface="Arial"/>
                <a:cs typeface="Arial"/>
              </a:rPr>
              <a:t>mockowaniem</a:t>
            </a:r>
            <a:r>
              <a:rPr lang="en-US" sz="1800">
                <a:solidFill>
                  <a:schemeClr val="tx1"/>
                </a:solidFill>
                <a:latin typeface="Arial"/>
                <a:cs typeface="Arial"/>
              </a:rPr>
              <a:t> </a:t>
            </a:r>
            <a:r>
              <a:rPr lang="en-US" sz="1800" err="1">
                <a:solidFill>
                  <a:schemeClr val="tx1"/>
                </a:solidFill>
                <a:latin typeface="Arial"/>
                <a:cs typeface="Arial"/>
              </a:rPr>
              <a:t>zewnętrznych</a:t>
            </a:r>
            <a:r>
              <a:rPr lang="en-US" sz="1800">
                <a:solidFill>
                  <a:schemeClr val="tx1"/>
                </a:solidFill>
                <a:latin typeface="Arial"/>
                <a:cs typeface="Arial"/>
              </a:rPr>
              <a:t> </a:t>
            </a:r>
            <a:r>
              <a:rPr lang="en-US" sz="1800" err="1">
                <a:solidFill>
                  <a:schemeClr val="tx1"/>
                </a:solidFill>
                <a:latin typeface="Arial"/>
                <a:cs typeface="Arial"/>
              </a:rPr>
              <a:t>zależności</a:t>
            </a:r>
            <a:r>
              <a:rPr lang="en-US" sz="1800">
                <a:solidFill>
                  <a:schemeClr val="tx1"/>
                </a:solidFill>
                <a:latin typeface="Arial"/>
                <a:cs typeface="Arial"/>
              </a:rPr>
              <a:t> </a:t>
            </a:r>
            <a:r>
              <a:rPr lang="en-US" sz="1800" err="1">
                <a:solidFill>
                  <a:schemeClr val="tx1"/>
                </a:solidFill>
                <a:latin typeface="Arial"/>
                <a:cs typeface="Arial"/>
              </a:rPr>
              <a:t>przez</a:t>
            </a:r>
            <a:r>
              <a:rPr lang="en-US" sz="1800">
                <a:solidFill>
                  <a:schemeClr val="tx1"/>
                </a:solidFill>
                <a:latin typeface="Arial"/>
                <a:cs typeface="Arial"/>
              </a:rPr>
              <a:t> </a:t>
            </a:r>
            <a:r>
              <a:rPr lang="en-US" sz="1800" b="1" err="1">
                <a:solidFill>
                  <a:schemeClr val="tx1"/>
                </a:solidFill>
                <a:latin typeface="Arial"/>
                <a:cs typeface="Arial"/>
              </a:rPr>
              <a:t>Moq</a:t>
            </a:r>
            <a:r>
              <a:rPr lang="en-US" sz="1800">
                <a:solidFill>
                  <a:schemeClr val="tx1"/>
                </a:solidFill>
                <a:latin typeface="Arial"/>
                <a:cs typeface="Arial"/>
              </a:rPr>
              <a:t> (</a:t>
            </a:r>
            <a:r>
              <a:rPr lang="en-US" sz="1800" err="1">
                <a:solidFill>
                  <a:schemeClr val="tx1"/>
                </a:solidFill>
                <a:latin typeface="Arial"/>
                <a:cs typeface="Arial"/>
              </a:rPr>
              <a:t>IFileService</a:t>
            </a:r>
            <a:r>
              <a:rPr lang="en-US" sz="1800">
                <a:solidFill>
                  <a:schemeClr val="tx1"/>
                </a:solidFill>
                <a:latin typeface="Arial"/>
                <a:cs typeface="Arial"/>
              </a:rPr>
              <a:t>, </a:t>
            </a:r>
            <a:r>
              <a:rPr lang="en-US" sz="1800" err="1">
                <a:solidFill>
                  <a:schemeClr val="tx1"/>
                </a:solidFill>
                <a:latin typeface="Arial"/>
                <a:cs typeface="Arial"/>
              </a:rPr>
              <a:t>IGeocodingService</a:t>
            </a:r>
            <a:r>
              <a:rPr lang="en-US" sz="1800">
                <a:solidFill>
                  <a:schemeClr val="tx1"/>
                </a:solidFill>
                <a:latin typeface="Arial"/>
                <a:cs typeface="Arial"/>
              </a:rPr>
              <a:t>, </a:t>
            </a:r>
            <a:r>
              <a:rPr lang="en-US" sz="1800" err="1">
                <a:solidFill>
                  <a:schemeClr val="tx1"/>
                </a:solidFill>
                <a:latin typeface="Arial"/>
                <a:cs typeface="Arial"/>
              </a:rPr>
              <a:t>ICardFeeService</a:t>
            </a:r>
            <a:r>
              <a:rPr lang="en-US" sz="1800">
                <a:solidFill>
                  <a:schemeClr val="tx1"/>
                </a:solidFill>
                <a:latin typeface="Arial"/>
                <a:cs typeface="Arial"/>
              </a:rPr>
              <a:t>). 1 test </a:t>
            </a:r>
            <a:r>
              <a:rPr lang="en-US" sz="1800" err="1">
                <a:solidFill>
                  <a:schemeClr val="tx1"/>
                </a:solidFill>
                <a:latin typeface="Arial"/>
                <a:cs typeface="Arial"/>
              </a:rPr>
              <a:t>oznaczony</a:t>
            </a:r>
            <a:r>
              <a:rPr lang="en-US" sz="1800">
                <a:solidFill>
                  <a:schemeClr val="tx1"/>
                </a:solidFill>
                <a:latin typeface="Arial"/>
                <a:cs typeface="Arial"/>
              </a:rPr>
              <a:t> </a:t>
            </a:r>
            <a:r>
              <a:rPr lang="en-US" sz="1800" err="1">
                <a:solidFill>
                  <a:schemeClr val="tx1"/>
                </a:solidFill>
                <a:latin typeface="Arial"/>
                <a:cs typeface="Arial"/>
              </a:rPr>
              <a:t>jako</a:t>
            </a:r>
            <a:r>
              <a:rPr lang="en-US" sz="1800">
                <a:solidFill>
                  <a:schemeClr val="tx1"/>
                </a:solidFill>
                <a:latin typeface="Arial"/>
                <a:cs typeface="Arial"/>
              </a:rPr>
              <a:t> [Fact(Skip=...)] — </a:t>
            </a:r>
            <a:r>
              <a:rPr lang="en-US" sz="1800" err="1">
                <a:solidFill>
                  <a:schemeClr val="tx1"/>
                </a:solidFill>
                <a:latin typeface="Arial"/>
                <a:cs typeface="Arial"/>
              </a:rPr>
              <a:t>wyszukiwanie</a:t>
            </a:r>
            <a:r>
              <a:rPr lang="en-US" sz="1800">
                <a:solidFill>
                  <a:schemeClr val="tx1"/>
                </a:solidFill>
                <a:latin typeface="Arial"/>
                <a:cs typeface="Arial"/>
              </a:rPr>
              <a:t> ILike </a:t>
            </a:r>
            <a:r>
              <a:rPr lang="en-US" sz="1800" err="1">
                <a:solidFill>
                  <a:schemeClr val="tx1"/>
                </a:solidFill>
                <a:latin typeface="Arial"/>
                <a:cs typeface="Arial"/>
              </a:rPr>
              <a:t>wymaga</a:t>
            </a:r>
            <a:r>
              <a:rPr lang="en-US" sz="1800">
                <a:solidFill>
                  <a:schemeClr val="tx1"/>
                </a:solidFill>
                <a:latin typeface="Arial"/>
                <a:cs typeface="Arial"/>
              </a:rPr>
              <a:t> </a:t>
            </a:r>
            <a:r>
              <a:rPr lang="en-US" sz="1800" err="1">
                <a:solidFill>
                  <a:schemeClr val="tx1"/>
                </a:solidFill>
                <a:latin typeface="Arial"/>
                <a:cs typeface="Arial"/>
              </a:rPr>
              <a:t>rzeczywistej</a:t>
            </a:r>
            <a:r>
              <a:rPr lang="en-US" sz="1800">
                <a:solidFill>
                  <a:schemeClr val="tx1"/>
                </a:solidFill>
                <a:latin typeface="Arial"/>
                <a:cs typeface="Arial"/>
              </a:rPr>
              <a:t> </a:t>
            </a:r>
            <a:r>
              <a:rPr lang="en-US" sz="1800" err="1">
                <a:solidFill>
                  <a:schemeClr val="tx1"/>
                </a:solidFill>
                <a:latin typeface="Arial"/>
                <a:cs typeface="Arial"/>
              </a:rPr>
              <a:t>bazy</a:t>
            </a:r>
            <a:r>
              <a:rPr lang="en-US" sz="1800">
                <a:solidFill>
                  <a:schemeClr val="tx1"/>
                </a:solidFill>
                <a:latin typeface="Arial"/>
                <a:cs typeface="Arial"/>
              </a:rPr>
              <a:t> PostgreSQL z </a:t>
            </a:r>
            <a:r>
              <a:rPr lang="en-US" sz="1800" err="1">
                <a:solidFill>
                  <a:schemeClr val="tx1"/>
                </a:solidFill>
                <a:latin typeface="Arial"/>
                <a:cs typeface="Arial"/>
              </a:rPr>
              <a:t>rozszerzeniem</a:t>
            </a:r>
            <a:r>
              <a:rPr lang="en-US" sz="1800">
                <a:solidFill>
                  <a:schemeClr val="tx1"/>
                </a:solidFill>
                <a:latin typeface="Arial"/>
                <a:cs typeface="Arial"/>
              </a:rPr>
              <a:t> </a:t>
            </a:r>
            <a:r>
              <a:rPr lang="en-US" sz="1800" err="1">
                <a:solidFill>
                  <a:schemeClr val="tx1"/>
                </a:solidFill>
                <a:latin typeface="Arial"/>
                <a:cs typeface="Arial"/>
              </a:rPr>
              <a:t>pg_trgm</a:t>
            </a:r>
            <a:r>
              <a:rPr lang="en-US" sz="1800">
                <a:solidFill>
                  <a:schemeClr val="tx1"/>
                </a:solidFill>
                <a:latin typeface="Arial"/>
                <a:cs typeface="Arial"/>
              </a:rPr>
              <a:t> </a:t>
            </a:r>
            <a:r>
              <a:rPr lang="en-US" sz="1800" err="1">
                <a:solidFill>
                  <a:schemeClr val="tx1"/>
                </a:solidFill>
                <a:latin typeface="Arial"/>
                <a:cs typeface="Arial"/>
              </a:rPr>
              <a:t>i</a:t>
            </a:r>
            <a:r>
              <a:rPr lang="en-US" sz="1800">
                <a:solidFill>
                  <a:schemeClr val="tx1"/>
                </a:solidFill>
                <a:latin typeface="Arial"/>
                <a:cs typeface="Arial"/>
              </a:rPr>
              <a:t> </a:t>
            </a:r>
            <a:r>
              <a:rPr lang="en-US" sz="1800" err="1">
                <a:solidFill>
                  <a:schemeClr val="tx1"/>
                </a:solidFill>
                <a:latin typeface="Arial"/>
                <a:cs typeface="Arial"/>
              </a:rPr>
              <a:t>nie</a:t>
            </a:r>
            <a:r>
              <a:rPr lang="en-US" sz="1800">
                <a:solidFill>
                  <a:schemeClr val="tx1"/>
                </a:solidFill>
                <a:latin typeface="Arial"/>
                <a:cs typeface="Arial"/>
              </a:rPr>
              <a:t> jest </a:t>
            </a:r>
            <a:r>
              <a:rPr lang="en-US" sz="1800" err="1">
                <a:solidFill>
                  <a:schemeClr val="tx1"/>
                </a:solidFill>
                <a:latin typeface="Arial"/>
                <a:cs typeface="Arial"/>
              </a:rPr>
              <a:t>możliwe</a:t>
            </a:r>
            <a:r>
              <a:rPr lang="en-US" sz="1800">
                <a:solidFill>
                  <a:schemeClr val="tx1"/>
                </a:solidFill>
                <a:latin typeface="Arial"/>
                <a:cs typeface="Arial"/>
              </a:rPr>
              <a:t> do </a:t>
            </a:r>
            <a:r>
              <a:rPr lang="en-US" sz="1800" err="1">
                <a:solidFill>
                  <a:schemeClr val="tx1"/>
                </a:solidFill>
                <a:latin typeface="Arial"/>
                <a:cs typeface="Arial"/>
              </a:rPr>
              <a:t>odtworzenia</a:t>
            </a:r>
            <a:r>
              <a:rPr lang="en-US" sz="1800">
                <a:solidFill>
                  <a:schemeClr val="tx1"/>
                </a:solidFill>
                <a:latin typeface="Arial"/>
                <a:cs typeface="Arial"/>
              </a:rPr>
              <a:t> </a:t>
            </a:r>
            <a:r>
              <a:rPr lang="en-US" sz="1800" err="1">
                <a:solidFill>
                  <a:schemeClr val="tx1"/>
                </a:solidFill>
                <a:latin typeface="Arial"/>
                <a:cs typeface="Arial"/>
              </a:rPr>
              <a:t>na</a:t>
            </a:r>
            <a:r>
              <a:rPr lang="en-US" sz="1800">
                <a:solidFill>
                  <a:schemeClr val="tx1"/>
                </a:solidFill>
                <a:latin typeface="Arial"/>
                <a:cs typeface="Arial"/>
              </a:rPr>
              <a:t> </a:t>
            </a:r>
            <a:r>
              <a:rPr lang="en-US" sz="1800" err="1">
                <a:solidFill>
                  <a:schemeClr val="tx1"/>
                </a:solidFill>
                <a:latin typeface="Arial"/>
                <a:cs typeface="Arial"/>
              </a:rPr>
              <a:t>InMemory</a:t>
            </a:r>
            <a:r>
              <a:rPr lang="en-US" sz="1800">
                <a:solidFill>
                  <a:schemeClr val="tx1"/>
                </a:solidFill>
                <a:latin typeface="Arial"/>
                <a:cs typeface="Arial"/>
              </a:rPr>
              <a:t>.</a:t>
            </a:r>
          </a:p>
          <a:p>
            <a:pPr algn="ctr">
              <a:spcBef>
                <a:spcPts val="0"/>
              </a:spcBef>
            </a:pPr>
            <a:endParaRPr lang="en-US" sz="1800">
              <a:solidFill>
                <a:schemeClr val="tx1"/>
              </a:solidFill>
              <a:latin typeface="Calibri"/>
              <a:ea typeface="Calibri"/>
              <a:cs typeface="Calibri"/>
            </a:endParaRPr>
          </a:p>
          <a:p>
            <a:pPr algn="l">
              <a:spcBef>
                <a:spcPts val="1889"/>
              </a:spcBef>
            </a:pPr>
            <a:endParaRPr lang="en-US" sz="2000">
              <a:solidFill>
                <a:schemeClr val="tx1"/>
              </a:solidFill>
              <a:latin typeface="Arial"/>
              <a:cs typeface="Arial"/>
            </a:endParaRPr>
          </a:p>
        </p:txBody>
      </p:sp>
    </p:spTree>
    <p:extLst>
      <p:ext uri="{BB962C8B-B14F-4D97-AF65-F5344CB8AC3E}">
        <p14:creationId xmlns:p14="http://schemas.microsoft.com/office/powerpoint/2010/main" val="4261039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CFA9A-3E16-E07B-0861-3E3A8503A198}"/>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F37EB590-02B7-3713-E5A0-4A4543C95248}"/>
              </a:ext>
            </a:extLst>
          </p:cNvPr>
          <p:cNvSpPr txBox="1">
            <a:spLocks noGrp="1"/>
          </p:cNvSpPr>
          <p:nvPr>
            <p:ph type="title" idx="4294967295"/>
          </p:nvPr>
        </p:nvSpPr>
        <p:spPr>
          <a:xfrm>
            <a:off x="503998" y="301322"/>
            <a:ext cx="9071643" cy="999387"/>
          </a:xfrm>
        </p:spPr>
        <p:txBody>
          <a:bodyPr/>
          <a:lstStyle/>
          <a:p>
            <a:r>
              <a:rPr lang="pl-PL" sz="5900">
                <a:latin typeface="Arial"/>
                <a:cs typeface="Arial"/>
              </a:rPr>
              <a:t>Testowanie (2⁄4)</a:t>
            </a:r>
          </a:p>
        </p:txBody>
      </p:sp>
      <p:sp>
        <p:nvSpPr>
          <p:cNvPr id="3" name="Symbol zastępczy tekstu 2">
            <a:extLst>
              <a:ext uri="{FF2B5EF4-FFF2-40B4-BE49-F238E27FC236}">
                <a16:creationId xmlns:a16="http://schemas.microsoft.com/office/drawing/2014/main" id="{B6EA5C98-0544-33E4-3C1E-8F7E40BDA1D8}"/>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800">
                <a:solidFill>
                  <a:schemeClr val="tx1"/>
                </a:solidFill>
                <a:latin typeface="Arial"/>
                <a:cs typeface="Arial"/>
              </a:rPr>
              <a:t>Przykładowe przypadki testowe:</a:t>
            </a:r>
            <a:endParaRPr lang="pl-PL" sz="1800">
              <a:solidFill>
                <a:schemeClr val="tx1"/>
              </a:solidFill>
            </a:endParaRPr>
          </a:p>
          <a:p>
            <a:pPr algn="l">
              <a:spcBef>
                <a:spcPts val="1889"/>
              </a:spcBef>
            </a:pPr>
            <a:r>
              <a:rPr lang="pl-PL" sz="1800" b="1">
                <a:solidFill>
                  <a:schemeClr val="tx1"/>
                </a:solidFill>
                <a:latin typeface="Arial"/>
                <a:cs typeface="Arial"/>
              </a:rPr>
              <a:t>Serwis uwierzytelniania (</a:t>
            </a:r>
            <a:r>
              <a:rPr lang="pl-PL" sz="1800" b="1">
                <a:solidFill>
                  <a:schemeClr val="tx1"/>
                </a:solidFill>
                <a:latin typeface="Courier New"/>
                <a:cs typeface="Courier New"/>
              </a:rPr>
              <a:t>AuthServiceTests</a:t>
            </a:r>
            <a:r>
              <a:rPr lang="pl-PL" sz="1800" b="1">
                <a:solidFill>
                  <a:schemeClr val="tx1"/>
                </a:solidFill>
                <a:latin typeface="Arial"/>
                <a:cs typeface="Arial"/>
              </a:rPr>
              <a:t>)</a:t>
            </a:r>
            <a:endParaRPr lang="pl-PL" sz="1800" b="1">
              <a:solidFill>
                <a:schemeClr val="tx1"/>
              </a:solidFill>
            </a:endParaRPr>
          </a:p>
          <a:p>
            <a:pPr algn="l">
              <a:spcBef>
                <a:spcPts val="1889"/>
              </a:spcBef>
            </a:pPr>
            <a:r>
              <a:rPr lang="pl-PL" sz="1800">
                <a:solidFill>
                  <a:schemeClr val="tx1"/>
                </a:solidFill>
                <a:latin typeface="Courier New"/>
                <a:cs typeface="Courier New"/>
              </a:rPr>
              <a:t>HashPassword_ShouldGenerateDifferentHashesForSamePassword</a:t>
            </a:r>
            <a:br>
              <a:rPr lang="pl-PL" sz="1800">
                <a:latin typeface="Courier New"/>
                <a:cs typeface="Courier New"/>
              </a:rPr>
            </a:br>
            <a:r>
              <a:rPr lang="pl-PL" sz="1800">
                <a:solidFill>
                  <a:schemeClr val="tx1"/>
                </a:solidFill>
                <a:latin typeface="Courier New"/>
                <a:cs typeface="Courier New"/>
              </a:rPr>
              <a:t> → ten sam tekst hasła + różne sole = różne hashe (weryfikacja losowości soli)</a:t>
            </a:r>
            <a:br>
              <a:rPr lang="pl-PL" sz="1800">
                <a:latin typeface="Courier New"/>
                <a:cs typeface="Courier New"/>
              </a:rPr>
            </a:br>
            <a:r>
              <a:rPr lang="pl-PL" sz="1800">
                <a:solidFill>
                  <a:schemeClr val="tx1"/>
                </a:solidFill>
                <a:latin typeface="Courier New"/>
                <a:cs typeface="Courier New"/>
              </a:rPr>
              <a:t>Validate_ShouldReturnNull_WhenPasswordIsIncorrect</a:t>
            </a:r>
            <a:br>
              <a:rPr lang="pl-PL" sz="1800">
                <a:latin typeface="Courier New"/>
                <a:cs typeface="Courier New"/>
              </a:rPr>
            </a:br>
            <a:r>
              <a:rPr lang="pl-PL" sz="1800">
                <a:solidFill>
                  <a:schemeClr val="tx1"/>
                </a:solidFill>
                <a:latin typeface="Courier New"/>
                <a:cs typeface="Courier New"/>
              </a:rPr>
              <a:t> → logowanie z błędnym hasłem zwraca null, nie rzuca wyjątku</a:t>
            </a:r>
            <a:br>
              <a:rPr lang="pl-PL" sz="1800">
                <a:latin typeface="Courier New"/>
                <a:cs typeface="Courier New"/>
              </a:rPr>
            </a:br>
            <a:r>
              <a:rPr lang="pl-PL" sz="1800">
                <a:solidFill>
                  <a:schemeClr val="tx1"/>
                </a:solidFill>
                <a:latin typeface="Courier New"/>
                <a:cs typeface="Courier New"/>
              </a:rPr>
              <a:t>GetClaims_ShouldCreateClaims_ForAdminUser</a:t>
            </a:r>
            <a:br>
              <a:rPr lang="pl-PL" sz="1800">
                <a:latin typeface="Courier New"/>
                <a:cs typeface="Courier New"/>
              </a:rPr>
            </a:br>
            <a:r>
              <a:rPr lang="pl-PL" sz="1800">
                <a:solidFill>
                  <a:schemeClr val="tx1"/>
                </a:solidFill>
                <a:latin typeface="Courier New"/>
                <a:cs typeface="Courier New"/>
              </a:rPr>
              <a:t> → użytkownik z IsAdmin=true dostaje roszczenie Role="Admin"</a:t>
            </a:r>
            <a:endParaRPr lang="pl-PL" sz="1800">
              <a:solidFill>
                <a:schemeClr val="tx1"/>
              </a:solidFill>
            </a:endParaRPr>
          </a:p>
          <a:p>
            <a:pPr algn="l">
              <a:spcBef>
                <a:spcPts val="1889"/>
              </a:spcBef>
            </a:pPr>
            <a:r>
              <a:rPr lang="pl-PL" sz="1800" b="1">
                <a:solidFill>
                  <a:schemeClr val="tx1"/>
                </a:solidFill>
                <a:latin typeface="Arial"/>
                <a:cs typeface="Arial"/>
              </a:rPr>
              <a:t>Helper stanu magazynowego (</a:t>
            </a:r>
            <a:r>
              <a:rPr lang="pl-PL" sz="1800" b="1">
                <a:solidFill>
                  <a:schemeClr val="tx1"/>
                </a:solidFill>
                <a:latin typeface="Courier New"/>
                <a:cs typeface="Courier New"/>
              </a:rPr>
              <a:t>ListingStockHelperTests</a:t>
            </a:r>
            <a:r>
              <a:rPr lang="pl-PL" sz="1800" b="1">
                <a:solidFill>
                  <a:schemeClr val="tx1"/>
                </a:solidFill>
                <a:latin typeface="Arial"/>
                <a:cs typeface="Arial"/>
              </a:rPr>
              <a:t>)</a:t>
            </a:r>
            <a:endParaRPr lang="pl-PL" sz="1800">
              <a:solidFill>
                <a:schemeClr val="tx1"/>
              </a:solidFill>
            </a:endParaRPr>
          </a:p>
          <a:p>
            <a:pPr algn="l">
              <a:spcBef>
                <a:spcPts val="1889"/>
              </a:spcBef>
            </a:pPr>
            <a:r>
              <a:rPr lang="pl-PL" sz="1800">
                <a:solidFill>
                  <a:schemeClr val="tx1"/>
                </a:solidFill>
                <a:latin typeface="Courier New"/>
                <a:cs typeface="Courier New"/>
              </a:rPr>
              <a:t>CanSell_RespectsStockAndFlags(stock, qty, expected) [Theory]</a:t>
            </a:r>
            <a:br>
              <a:rPr lang="pl-PL" sz="1800">
                <a:latin typeface="Courier New"/>
                <a:cs typeface="Courier New"/>
              </a:rPr>
            </a:br>
            <a:r>
              <a:rPr lang="pl-PL" sz="1800">
                <a:solidFill>
                  <a:schemeClr val="tx1"/>
                </a:solidFill>
                <a:latin typeface="Courier New"/>
                <a:cs typeface="Courier New"/>
              </a:rPr>
              <a:t> → sprzedaż niemożliwa gdy StockQuantity=0, IsSold=true lub IsArchived=true</a:t>
            </a:r>
            <a:br>
              <a:rPr lang="pl-PL" sz="1800">
                <a:latin typeface="Courier New"/>
                <a:cs typeface="Courier New"/>
              </a:rPr>
            </a:br>
            <a:r>
              <a:rPr lang="pl-PL" sz="1800">
                <a:solidFill>
                  <a:schemeClr val="tx1"/>
                </a:solidFill>
                <a:latin typeface="Courier New"/>
                <a:cs typeface="Courier New"/>
              </a:rPr>
              <a:t>ApplySale_ReducesStockAndSetsSoldWhenEmpty</a:t>
            </a:r>
            <a:br>
              <a:rPr lang="pl-PL" sz="1800">
                <a:latin typeface="Courier New"/>
                <a:cs typeface="Courier New"/>
              </a:rPr>
            </a:br>
            <a:r>
              <a:rPr lang="pl-PL" sz="1800">
                <a:solidFill>
                  <a:schemeClr val="tx1"/>
                </a:solidFill>
                <a:latin typeface="Courier New"/>
                <a:cs typeface="Courier New"/>
              </a:rPr>
              <a:t> → po sprzedaży ostatniej sztuki IsSold zostaje ustawione na true</a:t>
            </a:r>
            <a:br>
              <a:rPr lang="pl-PL" sz="1800">
                <a:latin typeface="Courier New"/>
                <a:cs typeface="Courier New"/>
              </a:rPr>
            </a:br>
            <a:r>
              <a:rPr lang="pl-PL" sz="1800">
                <a:solidFill>
                  <a:schemeClr val="tx1"/>
                </a:solidFill>
                <a:latin typeface="Courier New"/>
                <a:cs typeface="Courier New"/>
              </a:rPr>
              <a:t>SyncSoldFlag_ClearsSoldWhenStockPositive</a:t>
            </a:r>
            <a:br>
              <a:rPr lang="pl-PL" sz="1800">
                <a:latin typeface="Courier New"/>
                <a:cs typeface="Courier New"/>
              </a:rPr>
            </a:br>
            <a:r>
              <a:rPr lang="pl-PL" sz="1800">
                <a:solidFill>
                  <a:schemeClr val="tx1"/>
                </a:solidFill>
                <a:latin typeface="Courier New"/>
                <a:cs typeface="Courier New"/>
              </a:rPr>
              <a:t> → przywrócenie stanu magazynowego cofa flagę IsSold</a:t>
            </a:r>
            <a:endParaRPr lang="pl-PL" sz="1800">
              <a:solidFill>
                <a:schemeClr val="tx1"/>
              </a:solidFill>
            </a:endParaRPr>
          </a:p>
          <a:p>
            <a:pPr algn="l">
              <a:spcBef>
                <a:spcPts val="1889"/>
              </a:spcBef>
            </a:pPr>
            <a:endParaRPr lang="pl-PL" sz="1800">
              <a:solidFill>
                <a:schemeClr val="tx1"/>
              </a:solidFill>
              <a:latin typeface="Arial"/>
              <a:cs typeface="Arial"/>
            </a:endParaRPr>
          </a:p>
        </p:txBody>
      </p:sp>
    </p:spTree>
    <p:extLst>
      <p:ext uri="{BB962C8B-B14F-4D97-AF65-F5344CB8AC3E}">
        <p14:creationId xmlns:p14="http://schemas.microsoft.com/office/powerpoint/2010/main" val="198275192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FDF1E-B598-4765-579C-E7787B0A59B3}"/>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06083D2B-7433-6A05-3A46-8E999B250962}"/>
              </a:ext>
            </a:extLst>
          </p:cNvPr>
          <p:cNvSpPr txBox="1">
            <a:spLocks noGrp="1"/>
          </p:cNvSpPr>
          <p:nvPr>
            <p:ph type="title" idx="4294967295"/>
          </p:nvPr>
        </p:nvSpPr>
        <p:spPr>
          <a:xfrm>
            <a:off x="503998" y="301322"/>
            <a:ext cx="9071643" cy="999387"/>
          </a:xfrm>
        </p:spPr>
        <p:txBody>
          <a:bodyPr/>
          <a:lstStyle/>
          <a:p>
            <a:r>
              <a:rPr lang="pl-PL" sz="5900">
                <a:latin typeface="Arial"/>
                <a:cs typeface="Arial"/>
              </a:rPr>
              <a:t>Testowanie (3⁄4)</a:t>
            </a:r>
          </a:p>
        </p:txBody>
      </p:sp>
      <p:sp>
        <p:nvSpPr>
          <p:cNvPr id="3" name="Symbol zastępczy tekstu 2">
            <a:extLst>
              <a:ext uri="{FF2B5EF4-FFF2-40B4-BE49-F238E27FC236}">
                <a16:creationId xmlns:a16="http://schemas.microsoft.com/office/drawing/2014/main" id="{FAB74848-E544-9F0B-3BA7-F6324FFD5207}"/>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100" b="1">
                <a:solidFill>
                  <a:schemeClr val="tx1"/>
                </a:solidFill>
                <a:latin typeface="Arial"/>
                <a:cs typeface="Arial"/>
              </a:rPr>
              <a:t>Kontroler płatności (</a:t>
            </a:r>
            <a:r>
              <a:rPr lang="pl-PL" sz="2100" b="1">
                <a:solidFill>
                  <a:schemeClr val="tx1"/>
                </a:solidFill>
                <a:latin typeface="Courier New"/>
                <a:cs typeface="Courier New"/>
              </a:rPr>
              <a:t>PaymentControllerTests</a:t>
            </a:r>
            <a:r>
              <a:rPr lang="pl-PL" sz="2100" b="1">
                <a:solidFill>
                  <a:schemeClr val="tx1"/>
                </a:solidFill>
                <a:latin typeface="Arial"/>
                <a:cs typeface="Arial"/>
              </a:rPr>
              <a:t>)</a:t>
            </a:r>
            <a:endParaRPr lang="pl-PL" sz="2100">
              <a:solidFill>
                <a:schemeClr val="tx1"/>
              </a:solidFill>
            </a:endParaRPr>
          </a:p>
          <a:p>
            <a:pPr algn="l">
              <a:spcBef>
                <a:spcPts val="1889"/>
              </a:spcBef>
            </a:pPr>
            <a:r>
              <a:rPr lang="pl-PL" sz="2100">
                <a:solidFill>
                  <a:schemeClr val="tx1"/>
                </a:solidFill>
                <a:latin typeface="Courier New"/>
                <a:cs typeface="Courier New"/>
              </a:rPr>
              <a:t>Buy_ReturnsBadRequest_WhenBuyerIsSeller</a:t>
            </a:r>
            <a:br>
              <a:rPr lang="pl-PL" sz="2100">
                <a:latin typeface="Courier New"/>
                <a:cs typeface="Courier New"/>
              </a:rPr>
            </a:br>
            <a:r>
              <a:rPr lang="pl-PL" sz="2100">
                <a:solidFill>
                  <a:schemeClr val="tx1"/>
                </a:solidFill>
                <a:latin typeface="Courier New"/>
                <a:cs typeface="Courier New"/>
              </a:rPr>
              <a:t> → sprzedawca nie może kupić własnego ogłoszenia</a:t>
            </a:r>
            <a:br>
              <a:rPr lang="pl-PL" sz="2100">
                <a:latin typeface="Courier New"/>
                <a:cs typeface="Courier New"/>
              </a:rPr>
            </a:br>
            <a:r>
              <a:rPr lang="pl-PL" sz="2100">
                <a:solidFill>
                  <a:schemeClr val="tx1"/>
                </a:solidFill>
                <a:latin typeface="Courier New"/>
                <a:cs typeface="Courier New"/>
              </a:rPr>
              <a:t>Buy_ReturnsBadRequest_WhenNotSaleListing</a:t>
            </a:r>
            <a:br>
              <a:rPr lang="pl-PL" sz="2100">
                <a:latin typeface="Courier New"/>
                <a:cs typeface="Courier New"/>
              </a:rPr>
            </a:br>
            <a:r>
              <a:rPr lang="pl-PL" sz="2100">
                <a:solidFill>
                  <a:schemeClr val="tx1"/>
                </a:solidFill>
                <a:latin typeface="Courier New"/>
                <a:cs typeface="Courier New"/>
              </a:rPr>
              <a:t> → ogłoszenia typu Trade nie mogą być kupione przez formularz zakupu</a:t>
            </a:r>
            <a:endParaRPr lang="pl-PL" sz="2100">
              <a:solidFill>
                <a:schemeClr val="tx1"/>
              </a:solidFill>
            </a:endParaRPr>
          </a:p>
          <a:p>
            <a:pPr algn="l">
              <a:spcBef>
                <a:spcPts val="1889"/>
              </a:spcBef>
            </a:pPr>
            <a:r>
              <a:rPr lang="pl-PL" sz="2100" b="1">
                <a:solidFill>
                  <a:schemeClr val="tx1"/>
                </a:solidFill>
                <a:latin typeface="Arial"/>
                <a:cs typeface="Arial"/>
              </a:rPr>
              <a:t>Kontroler propozycji wymiany (</a:t>
            </a:r>
            <a:r>
              <a:rPr lang="pl-PL" sz="2100" b="1">
                <a:solidFill>
                  <a:schemeClr val="tx1"/>
                </a:solidFill>
                <a:latin typeface="Courier New"/>
                <a:cs typeface="Courier New"/>
              </a:rPr>
              <a:t>TradeProposalsControllerTests</a:t>
            </a:r>
            <a:r>
              <a:rPr lang="pl-PL" sz="2100" b="1">
                <a:solidFill>
                  <a:schemeClr val="tx1"/>
                </a:solidFill>
                <a:latin typeface="Arial"/>
                <a:cs typeface="Arial"/>
              </a:rPr>
              <a:t>)</a:t>
            </a:r>
            <a:endParaRPr lang="pl-PL" sz="2100">
              <a:solidFill>
                <a:schemeClr val="tx1"/>
              </a:solidFill>
            </a:endParaRPr>
          </a:p>
          <a:p>
            <a:pPr algn="l">
              <a:spcBef>
                <a:spcPts val="1889"/>
              </a:spcBef>
            </a:pPr>
            <a:r>
              <a:rPr lang="pl-PL" sz="2100">
                <a:solidFill>
                  <a:schemeClr val="tx1"/>
                </a:solidFill>
                <a:latin typeface="Courier New"/>
                <a:cs typeface="Courier New"/>
              </a:rPr>
              <a:t>Details_ReturnsForbid_WhenUserIsNotPartOfProposal</a:t>
            </a:r>
            <a:br>
              <a:rPr lang="pl-PL" sz="2100">
                <a:latin typeface="Courier New"/>
                <a:cs typeface="Courier New"/>
              </a:rPr>
            </a:br>
            <a:r>
              <a:rPr lang="pl-PL" sz="2100">
                <a:solidFill>
                  <a:schemeClr val="tx1"/>
                </a:solidFill>
                <a:latin typeface="Courier New"/>
                <a:cs typeface="Courier New"/>
              </a:rPr>
              <a:t> → nieuprawniony użytkownik nie widzi cudzych negocjacji</a:t>
            </a:r>
            <a:br>
              <a:rPr lang="pl-PL" sz="2100">
                <a:latin typeface="Courier New"/>
                <a:cs typeface="Courier New"/>
              </a:rPr>
            </a:br>
            <a:r>
              <a:rPr lang="pl-PL" sz="2100">
                <a:solidFill>
                  <a:schemeClr val="tx1"/>
                </a:solidFill>
                <a:latin typeface="Courier New"/>
                <a:cs typeface="Courier New"/>
              </a:rPr>
              <a:t>Accept_ReducesStock_WhenReceiverAccepts</a:t>
            </a:r>
            <a:br>
              <a:rPr lang="pl-PL" sz="2100">
                <a:latin typeface="Courier New"/>
                <a:cs typeface="Courier New"/>
              </a:rPr>
            </a:br>
            <a:r>
              <a:rPr lang="pl-PL" sz="2100">
                <a:solidFill>
                  <a:schemeClr val="tx1"/>
                </a:solidFill>
                <a:latin typeface="Courier New"/>
                <a:cs typeface="Courier New"/>
              </a:rPr>
              <a:t> → akceptacja wymiany redukuje stan magazynowy po obu stronach</a:t>
            </a:r>
            <a:br>
              <a:rPr lang="pl-PL" sz="2100">
                <a:latin typeface="Courier New"/>
                <a:cs typeface="Courier New"/>
              </a:rPr>
            </a:br>
            <a:r>
              <a:rPr lang="pl-PL" sz="2100">
                <a:solidFill>
                  <a:schemeClr val="tx1"/>
                </a:solidFill>
                <a:latin typeface="Courier New"/>
                <a:cs typeface="Courier New"/>
              </a:rPr>
              <a:t>Create_CreatesProposal_AndNotifiesReceiver</a:t>
            </a:r>
            <a:br>
              <a:rPr lang="pl-PL" sz="2100">
                <a:latin typeface="Courier New"/>
                <a:cs typeface="Courier New"/>
              </a:rPr>
            </a:br>
            <a:r>
              <a:rPr lang="pl-PL" sz="2100">
                <a:solidFill>
                  <a:schemeClr val="tx1"/>
                </a:solidFill>
                <a:latin typeface="Courier New"/>
                <a:cs typeface="Courier New"/>
              </a:rPr>
              <a:t> → złożenie propozycji tworzy rekord i generuje powiadomienie dla odbiorcy</a:t>
            </a:r>
            <a:endParaRPr lang="pl-PL" sz="2100">
              <a:solidFill>
                <a:schemeClr val="tx1"/>
              </a:solidFill>
            </a:endParaRPr>
          </a:p>
          <a:p>
            <a:pPr algn="l">
              <a:spcBef>
                <a:spcPts val="1889"/>
              </a:spcBef>
            </a:pPr>
            <a:endParaRPr lang="pl-PL" sz="2100">
              <a:solidFill>
                <a:schemeClr val="tx1"/>
              </a:solidFill>
              <a:latin typeface="Arial"/>
              <a:cs typeface="Arial"/>
            </a:endParaRPr>
          </a:p>
        </p:txBody>
      </p:sp>
    </p:spTree>
    <p:extLst>
      <p:ext uri="{BB962C8B-B14F-4D97-AF65-F5344CB8AC3E}">
        <p14:creationId xmlns:p14="http://schemas.microsoft.com/office/powerpoint/2010/main" val="1162435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B9C07-0722-CF36-1A07-00EEA711DEC4}"/>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D0F98E95-9E56-9A05-E1DB-C46D33891D63}"/>
              </a:ext>
            </a:extLst>
          </p:cNvPr>
          <p:cNvSpPr txBox="1">
            <a:spLocks noGrp="1"/>
          </p:cNvSpPr>
          <p:nvPr>
            <p:ph type="title" idx="4294967295"/>
          </p:nvPr>
        </p:nvSpPr>
        <p:spPr>
          <a:xfrm>
            <a:off x="503998" y="301322"/>
            <a:ext cx="9071643" cy="999387"/>
          </a:xfrm>
        </p:spPr>
        <p:txBody>
          <a:bodyPr/>
          <a:lstStyle/>
          <a:p>
            <a:r>
              <a:rPr lang="pl-PL" sz="5900">
                <a:latin typeface="Arial"/>
                <a:cs typeface="Arial"/>
              </a:rPr>
              <a:t>Testowanie (4⁄4)</a:t>
            </a:r>
          </a:p>
        </p:txBody>
      </p:sp>
      <p:sp>
        <p:nvSpPr>
          <p:cNvPr id="3" name="Symbol zastępczy tekstu 2">
            <a:extLst>
              <a:ext uri="{FF2B5EF4-FFF2-40B4-BE49-F238E27FC236}">
                <a16:creationId xmlns:a16="http://schemas.microsoft.com/office/drawing/2014/main" id="{74DA2781-8E1C-D8CF-40B6-EA785BDE6F79}"/>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500" b="1">
                <a:solidFill>
                  <a:schemeClr val="tx1"/>
                </a:solidFill>
                <a:latin typeface="Arial"/>
                <a:cs typeface="Arial"/>
              </a:rPr>
              <a:t>Przypadki brzegowe (</a:t>
            </a:r>
            <a:r>
              <a:rPr lang="pl-PL" sz="1500" b="1">
                <a:solidFill>
                  <a:schemeClr val="tx1"/>
                </a:solidFill>
                <a:latin typeface="Courier New"/>
                <a:cs typeface="Courier New"/>
              </a:rPr>
              <a:t>EdgeCaseTests</a:t>
            </a:r>
            <a:r>
              <a:rPr lang="pl-PL" sz="1500" b="1">
                <a:solidFill>
                  <a:schemeClr val="tx1"/>
                </a:solidFill>
                <a:latin typeface="Arial"/>
                <a:cs typeface="Arial"/>
              </a:rPr>
              <a:t>)</a:t>
            </a:r>
            <a:endParaRPr lang="pl-PL" sz="1500">
              <a:solidFill>
                <a:schemeClr val="tx1"/>
              </a:solidFill>
            </a:endParaRPr>
          </a:p>
          <a:p>
            <a:pPr algn="l">
              <a:spcBef>
                <a:spcPts val="1889"/>
              </a:spcBef>
            </a:pPr>
            <a:r>
              <a:rPr lang="pl-PL" sz="1500">
                <a:solidFill>
                  <a:schemeClr val="tx1"/>
                </a:solidFill>
                <a:latin typeface="Courier New"/>
                <a:cs typeface="Courier New"/>
              </a:rPr>
              <a:t>HashPassword_ShouldHandleVeryLongPassword → brak wyjątku dla 500-znakowego hasła</a:t>
            </a:r>
            <a:br>
              <a:rPr lang="pl-PL" sz="1500">
                <a:latin typeface="Courier New"/>
                <a:cs typeface="Courier New"/>
              </a:rPr>
            </a:br>
            <a:r>
              <a:rPr lang="pl-PL" sz="1500">
                <a:solidFill>
                  <a:schemeClr val="tx1"/>
                </a:solidFill>
                <a:latin typeface="Courier New"/>
                <a:cs typeface="Courier New"/>
              </a:rPr>
              <a:t>Validate_ShouldHandleNullLogin            → null login zwraca null, nie rzuca</a:t>
            </a:r>
            <a:br>
              <a:rPr lang="pl-PL" sz="1500">
                <a:latin typeface="Courier New"/>
                <a:cs typeface="Courier New"/>
              </a:rPr>
            </a:br>
            <a:r>
              <a:rPr lang="pl-PL" sz="1500">
                <a:solidFill>
                  <a:schemeClr val="tx1"/>
                </a:solidFill>
                <a:latin typeface="Courier New"/>
                <a:cs typeface="Courier New"/>
              </a:rPr>
              <a:t>EmailTaken_ShouldHandleNull               → null e-mail obsługiwany bezpiecznie</a:t>
            </a:r>
            <a:endParaRPr lang="pl-PL" sz="1500">
              <a:solidFill>
                <a:schemeClr val="tx1"/>
              </a:solidFill>
            </a:endParaRPr>
          </a:p>
          <a:p>
            <a:pPr algn="l">
              <a:spcBef>
                <a:spcPts val="1889"/>
              </a:spcBef>
            </a:pPr>
            <a:r>
              <a:rPr lang="pl-PL" sz="1500" b="1">
                <a:solidFill>
                  <a:schemeClr val="tx1"/>
                </a:solidFill>
                <a:latin typeface="Arial"/>
                <a:cs typeface="Arial"/>
              </a:rPr>
              <a:t>Testy integracyjne (</a:t>
            </a:r>
            <a:r>
              <a:rPr lang="pl-PL" sz="1500" b="1">
                <a:solidFill>
                  <a:schemeClr val="tx1"/>
                </a:solidFill>
                <a:latin typeface="Courier New"/>
                <a:cs typeface="Courier New"/>
              </a:rPr>
              <a:t>UserRegistrationFlowTests</a:t>
            </a:r>
            <a:r>
              <a:rPr lang="pl-PL" sz="1500" b="1">
                <a:solidFill>
                  <a:schemeClr val="tx1"/>
                </a:solidFill>
                <a:latin typeface="Arial"/>
                <a:cs typeface="Arial"/>
              </a:rPr>
              <a:t>)</a:t>
            </a:r>
            <a:endParaRPr lang="pl-PL" sz="1500">
              <a:solidFill>
                <a:schemeClr val="tx1"/>
              </a:solidFill>
            </a:endParaRPr>
          </a:p>
          <a:p>
            <a:pPr algn="l">
              <a:spcBef>
                <a:spcPts val="1889"/>
              </a:spcBef>
            </a:pPr>
            <a:r>
              <a:rPr lang="pl-PL" sz="1500">
                <a:solidFill>
                  <a:schemeClr val="tx1"/>
                </a:solidFill>
                <a:latin typeface="Courier New"/>
                <a:cs typeface="Courier New"/>
              </a:rPr>
              <a:t>CompleteRegistrationFlow_ShouldWork</a:t>
            </a:r>
            <a:br>
              <a:rPr lang="pl-PL" sz="1500">
                <a:latin typeface="Courier New"/>
                <a:cs typeface="Courier New"/>
              </a:rPr>
            </a:br>
            <a:r>
              <a:rPr lang="pl-PL" sz="1500">
                <a:solidFill>
                  <a:schemeClr val="tx1"/>
                </a:solidFill>
                <a:latin typeface="Courier New"/>
                <a:cs typeface="Courier New"/>
              </a:rPr>
              <a:t> → pełen przepływ: rejestracja → zapis do bazy → logowanie z tymi danymi → sukces</a:t>
            </a:r>
            <a:br>
              <a:rPr lang="pl-PL" sz="1500">
                <a:latin typeface="Courier New"/>
                <a:cs typeface="Courier New"/>
              </a:rPr>
            </a:br>
            <a:r>
              <a:rPr lang="pl-PL" sz="1500">
                <a:solidFill>
                  <a:schemeClr val="tx1"/>
                </a:solidFill>
                <a:latin typeface="Courier New"/>
                <a:cs typeface="Courier New"/>
              </a:rPr>
              <a:t>RegistrationFlow_ShouldPreventDuplicateUsernames</a:t>
            </a:r>
            <a:br>
              <a:rPr lang="pl-PL" sz="1500">
                <a:latin typeface="Courier New"/>
                <a:cs typeface="Courier New"/>
              </a:rPr>
            </a:br>
            <a:r>
              <a:rPr lang="pl-PL" sz="1500">
                <a:solidFill>
                  <a:schemeClr val="tx1"/>
                </a:solidFill>
                <a:latin typeface="Courier New"/>
                <a:cs typeface="Courier New"/>
              </a:rPr>
              <a:t> → próba rejestracji z istniejącym loginem jest odrzucana</a:t>
            </a:r>
            <a:endParaRPr lang="pl-PL" sz="1500">
              <a:solidFill>
                <a:schemeClr val="tx1"/>
              </a:solidFill>
            </a:endParaRPr>
          </a:p>
          <a:p>
            <a:pPr algn="l">
              <a:spcBef>
                <a:spcPts val="1889"/>
              </a:spcBef>
            </a:pPr>
            <a:r>
              <a:rPr lang="pl-PL" sz="1500">
                <a:solidFill>
                  <a:schemeClr val="tx1"/>
                </a:solidFill>
                <a:latin typeface="Arial"/>
                <a:cs typeface="Arial"/>
              </a:rPr>
              <a:t>Napotkane trudności testowe</a:t>
            </a:r>
            <a:endParaRPr lang="pl-PL" sz="1500">
              <a:solidFill>
                <a:schemeClr val="tx1"/>
              </a:solidFill>
            </a:endParaRPr>
          </a:p>
          <a:p>
            <a:pPr algn="l">
              <a:spcBef>
                <a:spcPts val="1889"/>
              </a:spcBef>
            </a:pPr>
            <a:r>
              <a:rPr lang="pl-PL" sz="1500">
                <a:solidFill>
                  <a:schemeClr val="tx1"/>
                </a:solidFill>
                <a:latin typeface="Arial"/>
                <a:cs typeface="Arial"/>
              </a:rPr>
              <a:t>• Funkcja </a:t>
            </a:r>
            <a:r>
              <a:rPr lang="pl-PL" sz="1500">
                <a:solidFill>
                  <a:schemeClr val="tx1"/>
                </a:solidFill>
                <a:latin typeface="Courier New"/>
                <a:cs typeface="Courier New"/>
              </a:rPr>
              <a:t>ILike</a:t>
            </a:r>
            <a:r>
              <a:rPr lang="pl-PL" sz="1500">
                <a:solidFill>
                  <a:schemeClr val="tx1"/>
                </a:solidFill>
                <a:latin typeface="Arial"/>
                <a:cs typeface="Arial"/>
              </a:rPr>
              <a:t> z </a:t>
            </a:r>
            <a:r>
              <a:rPr lang="pl-PL" sz="1500">
                <a:solidFill>
                  <a:schemeClr val="tx1"/>
                </a:solidFill>
                <a:latin typeface="Courier New"/>
                <a:cs typeface="Courier New"/>
              </a:rPr>
              <a:t>EF.Functions</a:t>
            </a:r>
            <a:r>
              <a:rPr lang="pl-PL" sz="1500">
                <a:solidFill>
                  <a:schemeClr val="tx1"/>
                </a:solidFill>
                <a:latin typeface="Arial"/>
                <a:cs typeface="Arial"/>
              </a:rPr>
              <a:t> nie jest obsługiwana przez dostawcę InMemory — testy wyszukiwania oznaczone jako </a:t>
            </a:r>
            <a:r>
              <a:rPr lang="pl-PL" sz="1500">
                <a:solidFill>
                  <a:schemeClr val="tx1"/>
                </a:solidFill>
                <a:latin typeface="Courier New"/>
                <a:cs typeface="Courier New"/>
              </a:rPr>
              <a:t>Skip</a:t>
            </a:r>
            <a:r>
              <a:rPr lang="pl-PL" sz="1500">
                <a:solidFill>
                  <a:schemeClr val="tx1"/>
                </a:solidFill>
                <a:latin typeface="Arial"/>
                <a:cs typeface="Arial"/>
              </a:rPr>
              <a:t> z komentarzem wymagającym prawdziwej bazy PostgreSQL</a:t>
            </a:r>
            <a:br>
              <a:rPr lang="pl-PL" sz="1500">
                <a:latin typeface="Arial"/>
                <a:cs typeface="Arial"/>
              </a:rPr>
            </a:br>
            <a:r>
              <a:rPr lang="pl-PL" sz="1500">
                <a:solidFill>
                  <a:schemeClr val="tx1"/>
                </a:solidFill>
                <a:latin typeface="Arial"/>
                <a:cs typeface="Arial"/>
              </a:rPr>
              <a:t>• Kontrolery wymagają </a:t>
            </a:r>
            <a:r>
              <a:rPr lang="pl-PL" sz="1500">
                <a:solidFill>
                  <a:schemeClr val="tx1"/>
                </a:solidFill>
                <a:latin typeface="Courier New"/>
                <a:cs typeface="Courier New"/>
              </a:rPr>
              <a:t>ControllerContext</a:t>
            </a:r>
            <a:r>
              <a:rPr lang="pl-PL" sz="1500">
                <a:solidFill>
                  <a:schemeClr val="tx1"/>
                </a:solidFill>
                <a:latin typeface="Arial"/>
                <a:cs typeface="Arial"/>
              </a:rPr>
              <a:t> z </a:t>
            </a:r>
            <a:r>
              <a:rPr lang="pl-PL" sz="1500">
                <a:solidFill>
                  <a:schemeClr val="tx1"/>
                </a:solidFill>
                <a:latin typeface="Courier New"/>
                <a:cs typeface="Courier New"/>
              </a:rPr>
              <a:t>HttpContext</a:t>
            </a:r>
            <a:r>
              <a:rPr lang="pl-PL" sz="1500">
                <a:solidFill>
                  <a:schemeClr val="tx1"/>
                </a:solidFill>
                <a:latin typeface="Arial"/>
                <a:cs typeface="Arial"/>
              </a:rPr>
              <a:t> do odczytu </a:t>
            </a:r>
            <a:r>
              <a:rPr lang="pl-PL" sz="1500">
                <a:solidFill>
                  <a:schemeClr val="tx1"/>
                </a:solidFill>
                <a:latin typeface="Courier New"/>
                <a:cs typeface="Courier New"/>
              </a:rPr>
              <a:t>ClaimsPrincipal</a:t>
            </a:r>
            <a:r>
              <a:rPr lang="pl-PL" sz="1500">
                <a:solidFill>
                  <a:schemeClr val="tx1"/>
                </a:solidFill>
                <a:latin typeface="Arial"/>
                <a:cs typeface="Arial"/>
              </a:rPr>
              <a:t> — dodano </a:t>
            </a:r>
            <a:r>
              <a:rPr lang="pl-PL" sz="1500">
                <a:solidFill>
                  <a:schemeClr val="tx1"/>
                </a:solidFill>
                <a:latin typeface="Courier New"/>
                <a:cs typeface="Courier New"/>
              </a:rPr>
              <a:t>DefaultHttpContext</a:t>
            </a:r>
            <a:r>
              <a:rPr lang="pl-PL" sz="1500">
                <a:solidFill>
                  <a:schemeClr val="tx1"/>
                </a:solidFill>
                <a:latin typeface="Arial"/>
                <a:cs typeface="Arial"/>
              </a:rPr>
              <a:t> w każdym konstruktorze testowym</a:t>
            </a:r>
            <a:br>
              <a:rPr lang="pl-PL" sz="1500">
                <a:latin typeface="Arial"/>
                <a:cs typeface="Arial"/>
              </a:rPr>
            </a:br>
            <a:r>
              <a:rPr lang="pl-PL" sz="1500">
                <a:solidFill>
                  <a:schemeClr val="tx1"/>
                </a:solidFill>
                <a:latin typeface="Arial"/>
                <a:cs typeface="Arial"/>
              </a:rPr>
              <a:t>• </a:t>
            </a:r>
            <a:r>
              <a:rPr lang="pl-PL" sz="1500">
                <a:solidFill>
                  <a:schemeClr val="tx1"/>
                </a:solidFill>
                <a:latin typeface="Courier New"/>
                <a:cs typeface="Courier New"/>
              </a:rPr>
              <a:t>ICardFeeService</a:t>
            </a:r>
            <a:r>
              <a:rPr lang="pl-PL" sz="1500">
                <a:solidFill>
                  <a:schemeClr val="tx1"/>
                </a:solidFill>
                <a:latin typeface="Arial"/>
                <a:cs typeface="Arial"/>
              </a:rPr>
              <a:t> dodany po rozgałęzieniu kodu w branchu — testy wymagały aktualizacji konstruktora o dodatkowy mock</a:t>
            </a:r>
            <a:endParaRPr lang="pl-PL" sz="1500">
              <a:solidFill>
                <a:schemeClr val="tx1"/>
              </a:solidFill>
            </a:endParaRPr>
          </a:p>
          <a:p>
            <a:pPr algn="l">
              <a:spcBef>
                <a:spcPts val="1889"/>
              </a:spcBef>
            </a:pPr>
            <a:endParaRPr lang="pl-PL" sz="1500" b="1">
              <a:solidFill>
                <a:schemeClr val="tx1"/>
              </a:solidFill>
              <a:latin typeface="Arial"/>
              <a:cs typeface="Arial"/>
            </a:endParaRPr>
          </a:p>
        </p:txBody>
      </p:sp>
    </p:spTree>
    <p:extLst>
      <p:ext uri="{BB962C8B-B14F-4D97-AF65-F5344CB8AC3E}">
        <p14:creationId xmlns:p14="http://schemas.microsoft.com/office/powerpoint/2010/main" val="190293980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9CC69-B32F-4AAD-FCA3-7E8DEB6F4973}"/>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620F21F2-083E-3C6F-7554-CDF57699D358}"/>
              </a:ext>
            </a:extLst>
          </p:cNvPr>
          <p:cNvSpPr txBox="1">
            <a:spLocks noGrp="1"/>
          </p:cNvSpPr>
          <p:nvPr>
            <p:ph type="title" idx="4294967295"/>
          </p:nvPr>
        </p:nvSpPr>
        <p:spPr>
          <a:xfrm>
            <a:off x="503998" y="301322"/>
            <a:ext cx="9071643" cy="999387"/>
          </a:xfrm>
        </p:spPr>
        <p:txBody>
          <a:bodyPr/>
          <a:lstStyle/>
          <a:p>
            <a:r>
              <a:rPr lang="pl-PL" sz="4000" dirty="0">
                <a:latin typeface="Arial"/>
                <a:cs typeface="Arial"/>
              </a:rPr>
              <a:t>Problemy i wyzwania napotkane </a:t>
            </a:r>
            <a:r>
              <a:rPr lang="pl-PL" sz="4000">
                <a:latin typeface="Arial"/>
                <a:cs typeface="Arial"/>
              </a:rPr>
              <a:t>podczas realizacji (1⁄3)</a:t>
            </a:r>
            <a:endParaRPr lang="en-US" sz="4000">
              <a:latin typeface="Arial"/>
              <a:cs typeface="Arial"/>
            </a:endParaRPr>
          </a:p>
        </p:txBody>
      </p:sp>
      <p:sp>
        <p:nvSpPr>
          <p:cNvPr id="3" name="Symbol zastępczy tekstu 2">
            <a:extLst>
              <a:ext uri="{FF2B5EF4-FFF2-40B4-BE49-F238E27FC236}">
                <a16:creationId xmlns:a16="http://schemas.microsoft.com/office/drawing/2014/main" id="{12118375-6DDE-0494-7B5D-BF5B6B2F7A0D}"/>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600">
                <a:solidFill>
                  <a:schemeClr val="tx1"/>
                </a:solidFill>
                <a:latin typeface="Arial"/>
                <a:cs typeface="Arial"/>
              </a:rPr>
              <a:t>1. Scalanie równoległych gałęzi (merge konflikty)</a:t>
            </a:r>
            <a:endParaRPr lang="pl-PL" sz="1600">
              <a:solidFill>
                <a:schemeClr val="tx1"/>
              </a:solidFill>
            </a:endParaRPr>
          </a:p>
          <a:p>
            <a:pPr algn="l">
              <a:spcBef>
                <a:spcPts val="1889"/>
              </a:spcBef>
            </a:pPr>
            <a:r>
              <a:rPr lang="pl-PL" sz="1600" b="1">
                <a:solidFill>
                  <a:schemeClr val="tx1"/>
                </a:solidFill>
                <a:latin typeface="Arial"/>
                <a:cs typeface="Arial"/>
              </a:rPr>
              <a:t>Problem:</a:t>
            </a:r>
            <a:r>
              <a:rPr lang="pl-PL" sz="1600">
                <a:solidFill>
                  <a:schemeClr val="tx1"/>
                </a:solidFill>
                <a:latin typeface="Arial"/>
                <a:cs typeface="Arial"/>
              </a:rPr>
              <a:t> Projekt rozwijany był w kilku równoległych gałęziach przez różnych członków zespołu (</a:t>
            </a:r>
            <a:r>
              <a:rPr lang="pl-PL" sz="1600">
                <a:solidFill>
                  <a:schemeClr val="tx1"/>
                </a:solidFill>
                <a:latin typeface="Courier New"/>
                <a:cs typeface="Courier New"/>
              </a:rPr>
              <a:t>sprint-8</a:t>
            </a:r>
            <a:r>
              <a:rPr lang="pl-PL" sz="1600">
                <a:solidFill>
                  <a:schemeClr val="tx1"/>
                </a:solidFill>
                <a:latin typeface="Arial"/>
                <a:cs typeface="Arial"/>
              </a:rPr>
              <a:t>, </a:t>
            </a:r>
            <a:r>
              <a:rPr lang="pl-PL" sz="1600">
                <a:solidFill>
                  <a:schemeClr val="tx1"/>
                </a:solidFill>
                <a:latin typeface="Courier New"/>
                <a:cs typeface="Courier New"/>
              </a:rPr>
              <a:t>UI_improvements</a:t>
            </a:r>
            <a:r>
              <a:rPr lang="pl-PL" sz="1600">
                <a:solidFill>
                  <a:schemeClr val="tx1"/>
                </a:solidFill>
                <a:latin typeface="Arial"/>
                <a:cs typeface="Arial"/>
              </a:rPr>
              <a:t>, </a:t>
            </a:r>
            <a:r>
              <a:rPr lang="pl-PL" sz="1600">
                <a:solidFill>
                  <a:schemeClr val="tx1"/>
                </a:solidFill>
                <a:latin typeface="Courier New"/>
                <a:cs typeface="Courier New"/>
              </a:rPr>
              <a:t>origin/main</a:t>
            </a:r>
            <a:r>
              <a:rPr lang="pl-PL" sz="1600">
                <a:solidFill>
                  <a:schemeClr val="tx1"/>
                </a:solidFill>
                <a:latin typeface="Arial"/>
                <a:cs typeface="Arial"/>
              </a:rPr>
              <a:t>). Scalanie tworzyło konflikty w 5–6 plikach jednocześnie, w tym konflikty zagnieżdżone (trójstronny konflikt w </a:t>
            </a:r>
            <a:r>
              <a:rPr lang="pl-PL" sz="1600">
                <a:solidFill>
                  <a:schemeClr val="tx1"/>
                </a:solidFill>
                <a:latin typeface="Courier New"/>
                <a:cs typeface="Courier New"/>
              </a:rPr>
              <a:t>ListingsControllerTests.cs</a:t>
            </a:r>
            <a:r>
              <a:rPr lang="pl-PL" sz="1600">
                <a:solidFill>
                  <a:schemeClr val="tx1"/>
                </a:solidFill>
                <a:latin typeface="Arial"/>
                <a:cs typeface="Arial"/>
              </a:rPr>
              <a:t>), gdzie ta sama linia była zmieniana przez dwie różne gałęzie.</a:t>
            </a:r>
            <a:endParaRPr lang="pl-PL" sz="1600">
              <a:solidFill>
                <a:schemeClr val="tx1"/>
              </a:solidFill>
            </a:endParaRPr>
          </a:p>
          <a:p>
            <a:pPr algn="l">
              <a:spcBef>
                <a:spcPts val="1889"/>
              </a:spcBef>
            </a:pPr>
            <a:r>
              <a:rPr lang="pl-PL" sz="1600" b="1">
                <a:solidFill>
                  <a:schemeClr val="tx1"/>
                </a:solidFill>
                <a:latin typeface="Arial"/>
                <a:cs typeface="Arial"/>
              </a:rPr>
              <a:t>Rozwiązanie:</a:t>
            </a:r>
            <a:r>
              <a:rPr lang="pl-PL" sz="1600">
                <a:solidFill>
                  <a:schemeClr val="tx1"/>
                </a:solidFill>
                <a:latin typeface="Arial"/>
                <a:cs typeface="Arial"/>
              </a:rPr>
              <a:t> Staranne ręczne rozwiązywanie konfliktów z analizą intencji każdej gałęzi. Zasada: gałąź </a:t>
            </a:r>
            <a:r>
              <a:rPr lang="pl-PL" sz="1600">
                <a:solidFill>
                  <a:schemeClr val="tx1"/>
                </a:solidFill>
                <a:latin typeface="Courier New"/>
                <a:cs typeface="Courier New"/>
              </a:rPr>
              <a:t>UI_improvements</a:t>
            </a:r>
            <a:r>
              <a:rPr lang="pl-PL" sz="1600">
                <a:solidFill>
                  <a:schemeClr val="tx1"/>
                </a:solidFill>
                <a:latin typeface="Arial"/>
                <a:cs typeface="Arial"/>
              </a:rPr>
              <a:t> dostarcza nowy wygląd (Index.cshtml, offcanvas), </a:t>
            </a:r>
            <a:r>
              <a:rPr lang="pl-PL" sz="1600">
                <a:solidFill>
                  <a:schemeClr val="tx1"/>
                </a:solidFill>
                <a:latin typeface="Courier New"/>
                <a:cs typeface="Courier New"/>
              </a:rPr>
              <a:t>sprint-8</a:t>
            </a:r>
            <a:r>
              <a:rPr lang="pl-PL" sz="1600">
                <a:solidFill>
                  <a:schemeClr val="tx1"/>
                </a:solidFill>
                <a:latin typeface="Arial"/>
                <a:cs typeface="Arial"/>
              </a:rPr>
              <a:t> dostarcza logikę biznesową (</a:t>
            </a:r>
            <a:r>
              <a:rPr lang="pl-PL" sz="1600">
                <a:solidFill>
                  <a:schemeClr val="tx1"/>
                </a:solidFill>
                <a:latin typeface="Courier New"/>
                <a:cs typeface="Courier New"/>
              </a:rPr>
              <a:t>IsPrivate</a:t>
            </a:r>
            <a:r>
              <a:rPr lang="pl-PL" sz="1600">
                <a:solidFill>
                  <a:schemeClr val="tx1"/>
                </a:solidFill>
                <a:latin typeface="Arial"/>
                <a:cs typeface="Arial"/>
              </a:rPr>
              <a:t>, </a:t>
            </a:r>
            <a:r>
              <a:rPr lang="pl-PL" sz="1600">
                <a:solidFill>
                  <a:schemeClr val="tx1"/>
                </a:solidFill>
                <a:latin typeface="Courier New"/>
                <a:cs typeface="Courier New"/>
              </a:rPr>
              <a:t>ICardFeeService</a:t>
            </a:r>
            <a:r>
              <a:rPr lang="pl-PL" sz="1600">
                <a:solidFill>
                  <a:schemeClr val="tx1"/>
                </a:solidFill>
                <a:latin typeface="Arial"/>
                <a:cs typeface="Arial"/>
              </a:rPr>
              <a:t>). Obie zmiany zostały zachowane i połączone.</a:t>
            </a:r>
            <a:endParaRPr lang="pl-PL" sz="1600">
              <a:solidFill>
                <a:schemeClr val="tx1"/>
              </a:solidFill>
            </a:endParaRPr>
          </a:p>
          <a:p>
            <a:pPr algn="l">
              <a:spcBef>
                <a:spcPts val="1889"/>
              </a:spcBef>
            </a:pPr>
            <a:r>
              <a:rPr lang="pl-PL" sz="1600">
                <a:solidFill>
                  <a:schemeClr val="tx1"/>
                </a:solidFill>
                <a:latin typeface="Arial"/>
                <a:cs typeface="Arial"/>
              </a:rPr>
              <a:t>2. Zmiana modelu widoku listy ogłoszeń</a:t>
            </a:r>
            <a:endParaRPr lang="pl-PL" sz="1600">
              <a:solidFill>
                <a:schemeClr val="tx1"/>
              </a:solidFill>
            </a:endParaRPr>
          </a:p>
          <a:p>
            <a:pPr algn="l">
              <a:spcBef>
                <a:spcPts val="1889"/>
              </a:spcBef>
            </a:pPr>
            <a:r>
              <a:rPr lang="pl-PL" sz="1600" b="1">
                <a:solidFill>
                  <a:schemeClr val="tx1"/>
                </a:solidFill>
                <a:latin typeface="Arial"/>
                <a:cs typeface="Arial"/>
              </a:rPr>
              <a:t>Problem:</a:t>
            </a:r>
            <a:r>
              <a:rPr lang="pl-PL" sz="1600">
                <a:solidFill>
                  <a:schemeClr val="tx1"/>
                </a:solidFill>
                <a:latin typeface="Arial"/>
                <a:cs typeface="Arial"/>
              </a:rPr>
              <a:t> Gałąź </a:t>
            </a:r>
            <a:r>
              <a:rPr lang="pl-PL" sz="1600">
                <a:solidFill>
                  <a:schemeClr val="tx1"/>
                </a:solidFill>
                <a:latin typeface="Courier New"/>
                <a:cs typeface="Courier New"/>
              </a:rPr>
              <a:t>UI_improvements</a:t>
            </a:r>
            <a:r>
              <a:rPr lang="pl-PL" sz="1600">
                <a:solidFill>
                  <a:schemeClr val="tx1"/>
                </a:solidFill>
                <a:latin typeface="Arial"/>
                <a:cs typeface="Arial"/>
              </a:rPr>
              <a:t> zmieniła model widoku </a:t>
            </a:r>
            <a:r>
              <a:rPr lang="pl-PL" sz="1600">
                <a:solidFill>
                  <a:schemeClr val="tx1"/>
                </a:solidFill>
                <a:latin typeface="Courier New"/>
                <a:cs typeface="Courier New"/>
              </a:rPr>
              <a:t>Index.cshtml</a:t>
            </a:r>
            <a:r>
              <a:rPr lang="pl-PL" sz="1600">
                <a:solidFill>
                  <a:schemeClr val="tx1"/>
                </a:solidFill>
                <a:latin typeface="Arial"/>
                <a:cs typeface="Arial"/>
              </a:rPr>
              <a:t> z </a:t>
            </a:r>
            <a:r>
              <a:rPr lang="pl-PL" sz="1600">
                <a:solidFill>
                  <a:schemeClr val="tx1"/>
                </a:solidFill>
                <a:latin typeface="Courier New"/>
                <a:cs typeface="Courier New"/>
              </a:rPr>
              <a:t>ListingsFilterViewModel</a:t>
            </a:r>
            <a:r>
              <a:rPr lang="pl-PL" sz="1600">
                <a:solidFill>
                  <a:schemeClr val="tx1"/>
                </a:solidFill>
                <a:latin typeface="Arial"/>
                <a:cs typeface="Arial"/>
              </a:rPr>
              <a:t> (z wbudowanym filtrem) na </a:t>
            </a:r>
            <a:r>
              <a:rPr lang="pl-PL" sz="1600">
                <a:solidFill>
                  <a:schemeClr val="tx1"/>
                </a:solidFill>
                <a:latin typeface="Courier New"/>
                <a:cs typeface="Courier New"/>
              </a:rPr>
              <a:t>IEnumerable&lt;BrowseListingsViewModel&gt;</a:t>
            </a:r>
            <a:r>
              <a:rPr lang="pl-PL" sz="1600">
                <a:solidFill>
                  <a:schemeClr val="tx1"/>
                </a:solidFill>
                <a:latin typeface="Arial"/>
                <a:cs typeface="Arial"/>
              </a:rPr>
              <a:t> z filtrem przeniesionym do partialu </a:t>
            </a:r>
            <a:r>
              <a:rPr lang="pl-PL" sz="1600">
                <a:solidFill>
                  <a:schemeClr val="tx1"/>
                </a:solidFill>
                <a:latin typeface="Courier New"/>
                <a:cs typeface="Courier New"/>
              </a:rPr>
              <a:t>_FilterForm</a:t>
            </a:r>
            <a:r>
              <a:rPr lang="pl-PL" sz="1600">
                <a:solidFill>
                  <a:schemeClr val="tx1"/>
                </a:solidFill>
                <a:latin typeface="Arial"/>
                <a:cs typeface="Arial"/>
              </a:rPr>
              <a:t>. Kontroler zwracał stary </a:t>
            </a:r>
            <a:r>
              <a:rPr lang="pl-PL" sz="1600">
                <a:solidFill>
                  <a:schemeClr val="tx1"/>
                </a:solidFill>
                <a:latin typeface="Courier New"/>
                <a:cs typeface="Courier New"/>
              </a:rPr>
              <a:t>filterModel</a:t>
            </a:r>
            <a:r>
              <a:rPr lang="pl-PL" sz="1600">
                <a:solidFill>
                  <a:schemeClr val="tx1"/>
                </a:solidFill>
                <a:latin typeface="Arial"/>
                <a:cs typeface="Arial"/>
              </a:rPr>
              <a:t>, podczas gdy widok oczekiwał nowej kolekcji.</a:t>
            </a:r>
            <a:endParaRPr lang="pl-PL" sz="1600">
              <a:solidFill>
                <a:schemeClr val="tx1"/>
              </a:solidFill>
            </a:endParaRPr>
          </a:p>
          <a:p>
            <a:pPr algn="l">
              <a:spcBef>
                <a:spcPts val="1889"/>
              </a:spcBef>
            </a:pPr>
            <a:r>
              <a:rPr lang="pl-PL" sz="1600" b="1">
                <a:solidFill>
                  <a:schemeClr val="tx1"/>
                </a:solidFill>
                <a:latin typeface="Arial"/>
                <a:cs typeface="Arial"/>
              </a:rPr>
              <a:t>Rozwiązanie:</a:t>
            </a:r>
            <a:r>
              <a:rPr lang="pl-PL" sz="1600">
                <a:solidFill>
                  <a:schemeClr val="tx1"/>
                </a:solidFill>
                <a:latin typeface="Arial"/>
                <a:cs typeface="Arial"/>
              </a:rPr>
              <a:t> Przepisanie metody </a:t>
            </a:r>
            <a:r>
              <a:rPr lang="pl-PL" sz="1600">
                <a:solidFill>
                  <a:schemeClr val="tx1"/>
                </a:solidFill>
                <a:latin typeface="Courier New"/>
                <a:cs typeface="Courier New"/>
              </a:rPr>
              <a:t>Index</a:t>
            </a:r>
            <a:r>
              <a:rPr lang="pl-PL" sz="1600">
                <a:solidFill>
                  <a:schemeClr val="tx1"/>
                </a:solidFill>
                <a:latin typeface="Arial"/>
                <a:cs typeface="Arial"/>
              </a:rPr>
              <a:t> kontrolera: usunięto budowanie </a:t>
            </a:r>
            <a:r>
              <a:rPr lang="pl-PL" sz="1600">
                <a:solidFill>
                  <a:schemeClr val="tx1"/>
                </a:solidFill>
                <a:latin typeface="Courier New"/>
                <a:cs typeface="Courier New"/>
              </a:rPr>
              <a:t>filterModel</a:t>
            </a:r>
            <a:r>
              <a:rPr lang="pl-PL" sz="1600">
                <a:solidFill>
                  <a:schemeClr val="tx1"/>
                </a:solidFill>
                <a:latin typeface="Arial"/>
                <a:cs typeface="Arial"/>
              </a:rPr>
              <a:t>, dodano przypisania </a:t>
            </a:r>
            <a:r>
              <a:rPr lang="pl-PL" sz="1600">
                <a:solidFill>
                  <a:schemeClr val="tx1"/>
                </a:solidFill>
                <a:latin typeface="Courier New"/>
                <a:cs typeface="Courier New"/>
              </a:rPr>
              <a:t>ViewBag</a:t>
            </a:r>
            <a:r>
              <a:rPr lang="pl-PL" sz="1600">
                <a:solidFill>
                  <a:schemeClr val="tx1"/>
                </a:solidFill>
                <a:latin typeface="Arial"/>
                <a:cs typeface="Arial"/>
              </a:rPr>
              <a:t> (z których korzysta </a:t>
            </a:r>
            <a:r>
              <a:rPr lang="pl-PL" sz="1600">
                <a:solidFill>
                  <a:schemeClr val="tx1"/>
                </a:solidFill>
                <a:latin typeface="Courier New"/>
                <a:cs typeface="Courier New"/>
              </a:rPr>
              <a:t>_FilterForm</a:t>
            </a:r>
            <a:r>
              <a:rPr lang="pl-PL" sz="1600">
                <a:solidFill>
                  <a:schemeClr val="tx1"/>
                </a:solidFill>
                <a:latin typeface="Arial"/>
                <a:cs typeface="Arial"/>
              </a:rPr>
              <a:t>), zmieniono </a:t>
            </a:r>
            <a:r>
              <a:rPr lang="pl-PL" sz="1600">
                <a:solidFill>
                  <a:schemeClr val="tx1"/>
                </a:solidFill>
                <a:latin typeface="Courier New"/>
                <a:cs typeface="Courier New"/>
              </a:rPr>
              <a:t>return View(filterModel)</a:t>
            </a:r>
            <a:r>
              <a:rPr lang="pl-PL" sz="1600">
                <a:solidFill>
                  <a:schemeClr val="tx1"/>
                </a:solidFill>
                <a:latin typeface="Arial"/>
                <a:cs typeface="Arial"/>
              </a:rPr>
              <a:t> na </a:t>
            </a:r>
            <a:r>
              <a:rPr lang="pl-PL" sz="1600">
                <a:solidFill>
                  <a:schemeClr val="tx1"/>
                </a:solidFill>
                <a:latin typeface="Courier New"/>
                <a:cs typeface="Courier New"/>
              </a:rPr>
              <a:t>return View(model)</a:t>
            </a:r>
            <a:r>
              <a:rPr lang="pl-PL" sz="1600">
                <a:solidFill>
                  <a:schemeClr val="tx1"/>
                </a:solidFill>
                <a:latin typeface="Arial"/>
                <a:cs typeface="Arial"/>
              </a:rPr>
              <a:t>. Dodano brakujące parametry akcji (</a:t>
            </a:r>
            <a:r>
              <a:rPr lang="pl-PL" sz="1600">
                <a:solidFill>
                  <a:schemeClr val="tx1"/>
                </a:solidFill>
                <a:latin typeface="Courier New"/>
                <a:cs typeface="Courier New"/>
              </a:rPr>
              <a:t>maxDistanceKm</a:t>
            </a:r>
            <a:r>
              <a:rPr lang="pl-PL" sz="1600">
                <a:solidFill>
                  <a:schemeClr val="tx1"/>
                </a:solidFill>
                <a:latin typeface="Arial"/>
                <a:cs typeface="Arial"/>
              </a:rPr>
              <a:t>, </a:t>
            </a:r>
            <a:r>
              <a:rPr lang="pl-PL" sz="1600">
                <a:solidFill>
                  <a:schemeClr val="tx1"/>
                </a:solidFill>
                <a:latin typeface="Courier New"/>
                <a:cs typeface="Courier New"/>
              </a:rPr>
              <a:t>userLat</a:t>
            </a:r>
            <a:r>
              <a:rPr lang="pl-PL" sz="1600">
                <a:solidFill>
                  <a:schemeClr val="tx1"/>
                </a:solidFill>
                <a:latin typeface="Arial"/>
                <a:cs typeface="Arial"/>
              </a:rPr>
              <a:t>, </a:t>
            </a:r>
            <a:r>
              <a:rPr lang="pl-PL" sz="1600">
                <a:solidFill>
                  <a:schemeClr val="tx1"/>
                </a:solidFill>
                <a:latin typeface="Courier New"/>
                <a:cs typeface="Courier New"/>
              </a:rPr>
              <a:t>userLng</a:t>
            </a:r>
            <a:r>
              <a:rPr lang="pl-PL" sz="1600">
                <a:solidFill>
                  <a:schemeClr val="tx1"/>
                </a:solidFill>
                <a:latin typeface="Arial"/>
                <a:cs typeface="Arial"/>
              </a:rPr>
              <a:t>).</a:t>
            </a:r>
            <a:endParaRPr lang="pl-PL" sz="1600">
              <a:solidFill>
                <a:schemeClr val="tx1"/>
              </a:solidFill>
            </a:endParaRPr>
          </a:p>
          <a:p>
            <a:pPr algn="l">
              <a:spcBef>
                <a:spcPts val="1889"/>
              </a:spcBef>
            </a:pPr>
            <a:endParaRPr lang="pl-PL" sz="1600" b="1" dirty="0">
              <a:solidFill>
                <a:schemeClr val="tx1"/>
              </a:solidFill>
              <a:latin typeface="Arial"/>
              <a:cs typeface="Arial"/>
            </a:endParaRPr>
          </a:p>
        </p:txBody>
      </p:sp>
    </p:spTree>
    <p:extLst>
      <p:ext uri="{BB962C8B-B14F-4D97-AF65-F5344CB8AC3E}">
        <p14:creationId xmlns:p14="http://schemas.microsoft.com/office/powerpoint/2010/main" val="20151920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62556F-0857-F08E-E011-B8A06C29A09A}"/>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B9DD7895-4CFF-D662-C39F-DDF2B06BEEBF}"/>
              </a:ext>
            </a:extLst>
          </p:cNvPr>
          <p:cNvSpPr txBox="1">
            <a:spLocks noGrp="1"/>
          </p:cNvSpPr>
          <p:nvPr>
            <p:ph type="title" idx="4294967295"/>
          </p:nvPr>
        </p:nvSpPr>
        <p:spPr>
          <a:xfrm>
            <a:off x="503998" y="301322"/>
            <a:ext cx="9071643" cy="999387"/>
          </a:xfrm>
        </p:spPr>
        <p:txBody>
          <a:bodyPr/>
          <a:lstStyle/>
          <a:p>
            <a:r>
              <a:rPr lang="pl-PL" sz="4000" dirty="0">
                <a:latin typeface="Arial"/>
                <a:cs typeface="Arial"/>
              </a:rPr>
              <a:t>Problemy i wyzwania napotkane </a:t>
            </a:r>
            <a:r>
              <a:rPr lang="pl-PL" sz="4000">
                <a:latin typeface="Arial"/>
                <a:cs typeface="Arial"/>
              </a:rPr>
              <a:t>podczas realizacji (2⁄3)</a:t>
            </a:r>
            <a:endParaRPr lang="en-US" sz="4000">
              <a:latin typeface="Arial"/>
              <a:cs typeface="Arial"/>
            </a:endParaRPr>
          </a:p>
        </p:txBody>
      </p:sp>
      <p:sp>
        <p:nvSpPr>
          <p:cNvPr id="3" name="Symbol zastępczy tekstu 2">
            <a:extLst>
              <a:ext uri="{FF2B5EF4-FFF2-40B4-BE49-F238E27FC236}">
                <a16:creationId xmlns:a16="http://schemas.microsoft.com/office/drawing/2014/main" id="{A998433D-7AFE-ED07-28C4-CC4467ADAFE0}"/>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600">
                <a:solidFill>
                  <a:schemeClr val="tx1"/>
                </a:solidFill>
                <a:latin typeface="Arial"/>
                <a:cs typeface="Arial"/>
              </a:rPr>
              <a:t>3. Obsługa płatności PayU i webhook</a:t>
            </a:r>
            <a:endParaRPr lang="en-US" sz="1600">
              <a:solidFill>
                <a:schemeClr val="tx1"/>
              </a:solidFill>
            </a:endParaRPr>
          </a:p>
          <a:p>
            <a:pPr algn="l">
              <a:spcBef>
                <a:spcPts val="1889"/>
              </a:spcBef>
            </a:pPr>
            <a:r>
              <a:rPr lang="pl-PL" sz="1600" b="1">
                <a:solidFill>
                  <a:schemeClr val="tx1"/>
                </a:solidFill>
                <a:latin typeface="Arial"/>
                <a:cs typeface="Arial"/>
              </a:rPr>
              <a:t>Problem:</a:t>
            </a:r>
            <a:r>
              <a:rPr lang="pl-PL" sz="1600">
                <a:solidFill>
                  <a:schemeClr val="tx1"/>
                </a:solidFill>
                <a:latin typeface="Arial"/>
                <a:cs typeface="Arial"/>
              </a:rPr>
              <a:t> PayU wysyła powiadomienia asynchronicznie — aplikacja musi odpowiedzieć </a:t>
            </a:r>
            <a:r>
              <a:rPr lang="pl-PL" sz="1600">
                <a:solidFill>
                  <a:schemeClr val="tx1"/>
                </a:solidFill>
                <a:latin typeface="Courier New"/>
                <a:cs typeface="Courier New"/>
              </a:rPr>
              <a:t>200 OK</a:t>
            </a:r>
            <a:r>
              <a:rPr lang="pl-PL" sz="1600">
                <a:solidFill>
                  <a:schemeClr val="tx1"/>
                </a:solidFill>
                <a:latin typeface="Arial"/>
                <a:cs typeface="Arial"/>
              </a:rPr>
              <a:t> natychmiast, a jednocześnie przetworzyć zmianę statusu zamówienia, zmniejszyć stan magazynowy, zainicjować wypłatę i wysłać powiadomienia. Pojedynczy endpoint musi też rozróżnić normalną płatność od callbacku tokenizacji karty.</a:t>
            </a:r>
            <a:endParaRPr lang="pl-PL" sz="1600">
              <a:solidFill>
                <a:schemeClr val="tx1"/>
              </a:solidFill>
            </a:endParaRPr>
          </a:p>
          <a:p>
            <a:pPr algn="l">
              <a:spcBef>
                <a:spcPts val="1889"/>
              </a:spcBef>
            </a:pPr>
            <a:r>
              <a:rPr lang="pl-PL" sz="1600" b="1">
                <a:solidFill>
                  <a:schemeClr val="tx1"/>
                </a:solidFill>
                <a:latin typeface="Arial"/>
                <a:cs typeface="Arial"/>
              </a:rPr>
              <a:t>Rozwiązanie:</a:t>
            </a:r>
            <a:r>
              <a:rPr lang="pl-PL" sz="1600" dirty="0">
                <a:solidFill>
                  <a:schemeClr val="tx1"/>
                </a:solidFill>
                <a:latin typeface="Arial"/>
                <a:cs typeface="Arial"/>
              </a:rPr>
              <a:t> </a:t>
            </a:r>
            <a:r>
              <a:rPr lang="pl-PL" sz="1600">
                <a:solidFill>
                  <a:schemeClr val="tx1"/>
                </a:solidFill>
                <a:latin typeface="Courier New"/>
                <a:cs typeface="Courier New"/>
              </a:rPr>
              <a:t>IPayuOrderSyncService.HandleNotifyAsync</a:t>
            </a:r>
            <a:r>
              <a:rPr lang="pl-PL" sz="1600">
                <a:solidFill>
                  <a:schemeClr val="tx1"/>
                </a:solidFill>
                <a:latin typeface="Arial"/>
                <a:cs typeface="Arial"/>
              </a:rPr>
              <a:t> przyjmuje opcjonalne parametry tokenu karty — ich obecność decyduje o ścieżce przetwarzania (tokenizacja vs. zmiana statusu zamówienia). Operacje kończące się na PayU (wypłata) są "fire-and-forget" ze świadomym logowaniem błędu zamiast przerwania całego procesu.</a:t>
            </a:r>
            <a:endParaRPr lang="pl-PL" sz="1600">
              <a:solidFill>
                <a:schemeClr val="tx1"/>
              </a:solidFill>
            </a:endParaRPr>
          </a:p>
          <a:p>
            <a:pPr algn="l">
              <a:spcBef>
                <a:spcPts val="1889"/>
              </a:spcBef>
            </a:pPr>
            <a:r>
              <a:rPr lang="pl-PL" sz="1600">
                <a:solidFill>
                  <a:schemeClr val="tx1"/>
                </a:solidFill>
                <a:latin typeface="Arial"/>
                <a:cs typeface="Arial"/>
              </a:rPr>
              <a:t>4. Filtrowanie po odległości geograficznej</a:t>
            </a:r>
            <a:endParaRPr lang="pl-PL" sz="1600">
              <a:solidFill>
                <a:schemeClr val="tx1"/>
              </a:solidFill>
            </a:endParaRPr>
          </a:p>
          <a:p>
            <a:pPr algn="l">
              <a:spcBef>
                <a:spcPts val="1889"/>
              </a:spcBef>
            </a:pPr>
            <a:r>
              <a:rPr lang="pl-PL" sz="1600" b="1">
                <a:solidFill>
                  <a:schemeClr val="tx1"/>
                </a:solidFill>
                <a:latin typeface="Arial"/>
                <a:cs typeface="Arial"/>
              </a:rPr>
              <a:t>Problem:</a:t>
            </a:r>
            <a:r>
              <a:rPr lang="pl-PL" sz="1600">
                <a:solidFill>
                  <a:schemeClr val="tx1"/>
                </a:solidFill>
                <a:latin typeface="Arial"/>
                <a:cs typeface="Arial"/>
              </a:rPr>
              <a:t> EF Core nie potrafi przetłumaczyć formuły Haversine'a (obliczenia trygonometryczne na współrzędnych GPS) na SQL bez rozszerzeń PostgreSQL (</a:t>
            </a:r>
            <a:r>
              <a:rPr lang="pl-PL" sz="1600">
                <a:solidFill>
                  <a:schemeClr val="tx1"/>
                </a:solidFill>
                <a:latin typeface="Courier New"/>
                <a:cs typeface="Courier New"/>
              </a:rPr>
              <a:t>PostGIS</a:t>
            </a:r>
            <a:r>
              <a:rPr lang="pl-PL" sz="1600">
                <a:solidFill>
                  <a:schemeClr val="tx1"/>
                </a:solidFill>
                <a:latin typeface="Arial"/>
                <a:cs typeface="Arial"/>
              </a:rPr>
              <a:t>). Próba zastosowania filtru odległości w </a:t>
            </a:r>
            <a:r>
              <a:rPr lang="pl-PL" sz="1600">
                <a:solidFill>
                  <a:schemeClr val="tx1"/>
                </a:solidFill>
                <a:latin typeface="Courier New"/>
                <a:cs typeface="Courier New"/>
              </a:rPr>
              <a:t>IQueryable</a:t>
            </a:r>
            <a:r>
              <a:rPr lang="pl-PL" sz="1600">
                <a:solidFill>
                  <a:schemeClr val="tx1"/>
                </a:solidFill>
                <a:latin typeface="Arial"/>
                <a:cs typeface="Arial"/>
              </a:rPr>
              <a:t> kończyła się wyjątkiem </a:t>
            </a:r>
            <a:r>
              <a:rPr lang="pl-PL" sz="1600">
                <a:solidFill>
                  <a:schemeClr val="tx1"/>
                </a:solidFill>
                <a:latin typeface="Courier New"/>
                <a:cs typeface="Courier New"/>
              </a:rPr>
              <a:t>InvalidOperationException</a:t>
            </a:r>
            <a:r>
              <a:rPr lang="pl-PL" sz="1600">
                <a:solidFill>
                  <a:schemeClr val="tx1"/>
                </a:solidFill>
                <a:latin typeface="Arial"/>
                <a:cs typeface="Arial"/>
              </a:rPr>
              <a:t>.</a:t>
            </a:r>
            <a:endParaRPr lang="pl-PL" sz="1600">
              <a:solidFill>
                <a:schemeClr val="tx1"/>
              </a:solidFill>
            </a:endParaRPr>
          </a:p>
          <a:p>
            <a:pPr algn="l">
              <a:spcBef>
                <a:spcPts val="1889"/>
              </a:spcBef>
            </a:pPr>
            <a:r>
              <a:rPr lang="pl-PL" sz="1600" b="1">
                <a:solidFill>
                  <a:schemeClr val="tx1"/>
                </a:solidFill>
                <a:latin typeface="Arial"/>
                <a:cs typeface="Arial"/>
              </a:rPr>
              <a:t>Rozwiązanie:</a:t>
            </a:r>
            <a:r>
              <a:rPr lang="pl-PL" sz="1600">
                <a:solidFill>
                  <a:schemeClr val="tx1"/>
                </a:solidFill>
                <a:latin typeface="Arial"/>
                <a:cs typeface="Arial"/>
              </a:rPr>
              <a:t> Filtrowanie odległości wykonywane jest po pobraniu danych (</a:t>
            </a:r>
            <a:r>
              <a:rPr lang="pl-PL" sz="1600">
                <a:solidFill>
                  <a:schemeClr val="tx1"/>
                </a:solidFill>
                <a:latin typeface="Courier New"/>
                <a:cs typeface="Courier New"/>
              </a:rPr>
              <a:t>ToListAsync()</a:t>
            </a:r>
            <a:r>
              <a:rPr lang="pl-PL" sz="1600">
                <a:solidFill>
                  <a:schemeClr val="tx1"/>
                </a:solidFill>
                <a:latin typeface="Arial"/>
                <a:cs typeface="Arial"/>
              </a:rPr>
              <a:t>), jako filtr in-memory LINQ na liście wyników. Akceptowalny kompromis przy obecnej skali danych — przy dużej liczbie rekordów wymagałby optymalizacji przez wstępne filtrowanie po prostokącie BBox lub wdrożenie PostGIS.</a:t>
            </a:r>
            <a:endParaRPr lang="pl-PL" sz="1600">
              <a:solidFill>
                <a:schemeClr val="tx1"/>
              </a:solidFill>
            </a:endParaRPr>
          </a:p>
        </p:txBody>
      </p:sp>
    </p:spTree>
    <p:extLst>
      <p:ext uri="{BB962C8B-B14F-4D97-AF65-F5344CB8AC3E}">
        <p14:creationId xmlns:p14="http://schemas.microsoft.com/office/powerpoint/2010/main" val="265955259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67887-5F95-B563-AB73-086D6D1C793D}"/>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0FABC97A-784B-EBFD-1075-F3D16C8A89E8}"/>
              </a:ext>
            </a:extLst>
          </p:cNvPr>
          <p:cNvSpPr txBox="1">
            <a:spLocks noGrp="1"/>
          </p:cNvSpPr>
          <p:nvPr>
            <p:ph type="title" idx="4294967295"/>
          </p:nvPr>
        </p:nvSpPr>
        <p:spPr>
          <a:xfrm>
            <a:off x="503998" y="301322"/>
            <a:ext cx="9071643" cy="999387"/>
          </a:xfrm>
        </p:spPr>
        <p:txBody>
          <a:bodyPr/>
          <a:lstStyle/>
          <a:p>
            <a:r>
              <a:rPr lang="pl-PL" sz="4000" dirty="0">
                <a:latin typeface="Arial"/>
                <a:cs typeface="Arial"/>
              </a:rPr>
              <a:t>Problemy i wyzwania napotkane </a:t>
            </a:r>
            <a:r>
              <a:rPr lang="pl-PL" sz="4000">
                <a:latin typeface="Arial"/>
                <a:cs typeface="Arial"/>
              </a:rPr>
              <a:t>podczas realizacji (3⁄3)</a:t>
            </a:r>
            <a:endParaRPr lang="en-US" sz="4000">
              <a:latin typeface="Arial"/>
              <a:cs typeface="Arial"/>
            </a:endParaRPr>
          </a:p>
        </p:txBody>
      </p:sp>
      <p:sp>
        <p:nvSpPr>
          <p:cNvPr id="3" name="Symbol zastępczy tekstu 2">
            <a:extLst>
              <a:ext uri="{FF2B5EF4-FFF2-40B4-BE49-F238E27FC236}">
                <a16:creationId xmlns:a16="http://schemas.microsoft.com/office/drawing/2014/main" id="{CDE5E7AE-30F7-35C4-7008-7E47C156ADE2}"/>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400">
                <a:solidFill>
                  <a:schemeClr val="tx1"/>
                </a:solidFill>
                <a:latin typeface="Arial"/>
                <a:cs typeface="Arial"/>
              </a:rPr>
              <a:t>5. Geokodowanie — Rate limiting Nominatim</a:t>
            </a:r>
            <a:endParaRPr lang="pl-PL" sz="1400" dirty="0">
              <a:solidFill>
                <a:schemeClr val="tx1"/>
              </a:solidFill>
              <a:latin typeface="Arial"/>
              <a:cs typeface="Arial"/>
            </a:endParaRPr>
          </a:p>
          <a:p>
            <a:pPr algn="l">
              <a:spcBef>
                <a:spcPts val="1889"/>
              </a:spcBef>
            </a:pPr>
            <a:r>
              <a:rPr lang="pl-PL" sz="1400" b="1">
                <a:solidFill>
                  <a:schemeClr val="tx1"/>
                </a:solidFill>
                <a:latin typeface="Arial"/>
                <a:cs typeface="Arial"/>
              </a:rPr>
              <a:t>Problem:</a:t>
            </a:r>
            <a:r>
              <a:rPr lang="pl-PL" sz="1400">
                <a:solidFill>
                  <a:schemeClr val="tx1"/>
                </a:solidFill>
                <a:latin typeface="Arial"/>
                <a:cs typeface="Arial"/>
              </a:rPr>
              <a:t> Nominatim (OpenStreetMap) wymaga podania nagłówka </a:t>
            </a:r>
            <a:r>
              <a:rPr lang="pl-PL" sz="1400">
                <a:solidFill>
                  <a:schemeClr val="tx1"/>
                </a:solidFill>
                <a:latin typeface="Courier New"/>
                <a:cs typeface="Courier New"/>
              </a:rPr>
              <a:t>User-Agent</a:t>
            </a:r>
            <a:r>
              <a:rPr lang="pl-PL" sz="1400">
                <a:solidFill>
                  <a:schemeClr val="tx1"/>
                </a:solidFill>
                <a:latin typeface="Arial"/>
                <a:cs typeface="Arial"/>
              </a:rPr>
              <a:t> z adresem kontaktowym i narzuca limit 1 żądania/sekundę. Brak nagłówka skutkuje blokowaniem IP.</a:t>
            </a:r>
            <a:endParaRPr lang="pl-PL" sz="1400" dirty="0">
              <a:solidFill>
                <a:schemeClr val="tx1"/>
              </a:solidFill>
              <a:latin typeface="Arial"/>
              <a:cs typeface="Arial"/>
            </a:endParaRPr>
          </a:p>
          <a:p>
            <a:pPr algn="l">
              <a:spcBef>
                <a:spcPts val="1889"/>
              </a:spcBef>
            </a:pPr>
            <a:r>
              <a:rPr lang="pl-PL" sz="1400" b="1">
                <a:solidFill>
                  <a:schemeClr val="tx1"/>
                </a:solidFill>
                <a:latin typeface="Arial"/>
                <a:cs typeface="Arial"/>
              </a:rPr>
              <a:t>Rozwiązanie:</a:t>
            </a:r>
            <a:r>
              <a:rPr lang="pl-PL" sz="1400" dirty="0">
                <a:solidFill>
                  <a:schemeClr val="tx1"/>
                </a:solidFill>
                <a:latin typeface="Arial"/>
                <a:cs typeface="Arial"/>
              </a:rPr>
              <a:t> </a:t>
            </a:r>
            <a:r>
              <a:rPr lang="pl-PL" sz="1400">
                <a:solidFill>
                  <a:schemeClr val="tx1"/>
                </a:solidFill>
                <a:latin typeface="Courier New"/>
                <a:cs typeface="Courier New"/>
              </a:rPr>
              <a:t>GeocodingService</a:t>
            </a:r>
            <a:r>
              <a:rPr lang="pl-PL" sz="1400">
                <a:solidFill>
                  <a:schemeClr val="tx1"/>
                </a:solidFill>
                <a:latin typeface="Arial"/>
                <a:cs typeface="Arial"/>
              </a:rPr>
              <a:t> ustawia nagłówek </a:t>
            </a:r>
            <a:r>
              <a:rPr lang="pl-PL" sz="1400">
                <a:solidFill>
                  <a:schemeClr val="tx1"/>
                </a:solidFill>
                <a:latin typeface="Courier New"/>
                <a:cs typeface="Courier New"/>
              </a:rPr>
              <a:t>User-Agent</a:t>
            </a:r>
            <a:r>
              <a:rPr lang="pl-PL" sz="1400">
                <a:solidFill>
                  <a:schemeClr val="tx1"/>
                </a:solidFill>
                <a:latin typeface="Arial"/>
                <a:cs typeface="Arial"/>
              </a:rPr>
              <a:t> z konfigurowalne adresem e-mail (</a:t>
            </a:r>
            <a:r>
              <a:rPr lang="pl-PL" sz="1400">
                <a:solidFill>
                  <a:schemeClr val="tx1"/>
                </a:solidFill>
                <a:latin typeface="Courier New"/>
                <a:cs typeface="Courier New"/>
              </a:rPr>
              <a:t>Nominatim:ContactEmail</a:t>
            </a:r>
            <a:r>
              <a:rPr lang="pl-PL" sz="1400">
                <a:solidFill>
                  <a:schemeClr val="tx1"/>
                </a:solidFill>
                <a:latin typeface="Arial"/>
                <a:cs typeface="Arial"/>
              </a:rPr>
              <a:t>), wyodrębnionym do </a:t>
            </a:r>
            <a:r>
              <a:rPr lang="pl-PL" sz="1400">
                <a:solidFill>
                  <a:schemeClr val="tx1"/>
                </a:solidFill>
                <a:latin typeface="Courier New"/>
                <a:cs typeface="Courier New"/>
              </a:rPr>
              <a:t>appsettings.json</a:t>
            </a:r>
            <a:r>
              <a:rPr lang="pl-PL" sz="1400">
                <a:solidFill>
                  <a:schemeClr val="tx1"/>
                </a:solidFill>
                <a:latin typeface="Arial"/>
                <a:cs typeface="Arial"/>
              </a:rPr>
              <a:t>. Geokodowanie wykonywane jest tylko przy zapisie profilu, nie przy każdym żądaniu.</a:t>
            </a:r>
            <a:endParaRPr lang="pl-PL" sz="1400" dirty="0">
              <a:solidFill>
                <a:schemeClr val="tx1"/>
              </a:solidFill>
              <a:latin typeface="Arial"/>
              <a:cs typeface="Arial"/>
            </a:endParaRPr>
          </a:p>
          <a:p>
            <a:pPr algn="l">
              <a:spcBef>
                <a:spcPts val="1889"/>
              </a:spcBef>
            </a:pPr>
            <a:r>
              <a:rPr lang="pl-PL" sz="1400">
                <a:solidFill>
                  <a:schemeClr val="tx1"/>
                </a:solidFill>
                <a:latin typeface="Arial"/>
                <a:cs typeface="Arial"/>
              </a:rPr>
              <a:t>6. Bezpieczeństwo danych konfiguracyjnych w repozytorium</a:t>
            </a:r>
            <a:endParaRPr lang="pl-PL" sz="1400" dirty="0">
              <a:solidFill>
                <a:schemeClr val="tx1"/>
              </a:solidFill>
              <a:latin typeface="Arial"/>
              <a:cs typeface="Arial"/>
            </a:endParaRPr>
          </a:p>
          <a:p>
            <a:pPr algn="l">
              <a:spcBef>
                <a:spcPts val="1889"/>
              </a:spcBef>
            </a:pPr>
            <a:r>
              <a:rPr lang="pl-PL" sz="1400" b="1">
                <a:solidFill>
                  <a:schemeClr val="tx1"/>
                </a:solidFill>
                <a:latin typeface="Arial"/>
                <a:cs typeface="Arial"/>
              </a:rPr>
              <a:t>Problem:</a:t>
            </a:r>
            <a:r>
              <a:rPr lang="pl-PL" sz="1400">
                <a:solidFill>
                  <a:schemeClr val="tx1"/>
                </a:solidFill>
                <a:latin typeface="Arial"/>
                <a:cs typeface="Arial"/>
              </a:rPr>
              <a:t> Gałąź </a:t>
            </a:r>
            <a:r>
              <a:rPr lang="pl-PL" sz="1400">
                <a:solidFill>
                  <a:schemeClr val="tx1"/>
                </a:solidFill>
                <a:latin typeface="Courier New"/>
                <a:cs typeface="Courier New"/>
              </a:rPr>
              <a:t>UI_improvements</a:t>
            </a:r>
            <a:r>
              <a:rPr lang="pl-PL" sz="1400">
                <a:solidFill>
                  <a:schemeClr val="tx1"/>
                </a:solidFill>
                <a:latin typeface="Arial"/>
                <a:cs typeface="Arial"/>
              </a:rPr>
              <a:t> zawierała plik </a:t>
            </a:r>
            <a:r>
              <a:rPr lang="pl-PL" sz="1400">
                <a:solidFill>
                  <a:schemeClr val="tx1"/>
                </a:solidFill>
                <a:latin typeface="Courier New"/>
                <a:cs typeface="Courier New"/>
              </a:rPr>
              <a:t>appsettings.Development.json</a:t>
            </a:r>
            <a:r>
              <a:rPr lang="pl-PL" sz="1400">
                <a:solidFill>
                  <a:schemeClr val="tx1"/>
                </a:solidFill>
                <a:latin typeface="Arial"/>
                <a:cs typeface="Arial"/>
              </a:rPr>
              <a:t> z prawdziwym hasłem SMTP (Gmail App Password) i kluczem PayU wciągniętym do historii gita.</a:t>
            </a:r>
            <a:endParaRPr lang="pl-PL" sz="1400" dirty="0">
              <a:solidFill>
                <a:schemeClr val="tx1"/>
              </a:solidFill>
              <a:latin typeface="Arial"/>
              <a:cs typeface="Arial"/>
            </a:endParaRPr>
          </a:p>
          <a:p>
            <a:pPr algn="l">
              <a:spcBef>
                <a:spcPts val="1889"/>
              </a:spcBef>
            </a:pPr>
            <a:r>
              <a:rPr lang="pl-PL" sz="1400" b="1">
                <a:solidFill>
                  <a:schemeClr val="tx1"/>
                </a:solidFill>
                <a:latin typeface="Arial"/>
                <a:cs typeface="Arial"/>
              </a:rPr>
              <a:t>Rozwiązanie:</a:t>
            </a:r>
            <a:r>
              <a:rPr lang="pl-PL" sz="1400">
                <a:solidFill>
                  <a:schemeClr val="tx1"/>
                </a:solidFill>
                <a:latin typeface="Arial"/>
                <a:cs typeface="Arial"/>
              </a:rPr>
              <a:t> Plik usunięty z drzewa roboczego (zachowując usunięcie z gałęzi HEAD). Wrażliwe dane konfiguracyjne zarządzane wyłącznie przez zmienne środowiskowe (Replit Secrets w dev, Docker </a:t>
            </a:r>
            <a:r>
              <a:rPr lang="pl-PL" sz="1400">
                <a:solidFill>
                  <a:schemeClr val="tx1"/>
                </a:solidFill>
                <a:latin typeface="Courier New"/>
                <a:cs typeface="Courier New"/>
              </a:rPr>
              <a:t>.env</a:t>
            </a:r>
            <a:r>
              <a:rPr lang="pl-PL" sz="1400">
                <a:solidFill>
                  <a:schemeClr val="tx1"/>
                </a:solidFill>
                <a:latin typeface="Arial"/>
                <a:cs typeface="Arial"/>
              </a:rPr>
              <a:t> w produkcji — plik </a:t>
            </a:r>
            <a:r>
              <a:rPr lang="pl-PL" sz="1400">
                <a:solidFill>
                  <a:schemeClr val="tx1"/>
                </a:solidFill>
                <a:latin typeface="Courier New"/>
                <a:cs typeface="Courier New"/>
              </a:rPr>
              <a:t>.env.example</a:t>
            </a:r>
            <a:r>
              <a:rPr lang="pl-PL" sz="1400">
                <a:solidFill>
                  <a:schemeClr val="tx1"/>
                </a:solidFill>
                <a:latin typeface="Arial"/>
                <a:cs typeface="Arial"/>
              </a:rPr>
              <a:t> jako szablon bez wartości). Dodano wpis </a:t>
            </a:r>
            <a:r>
              <a:rPr lang="pl-PL" sz="1400">
                <a:solidFill>
                  <a:schemeClr val="tx1"/>
                </a:solidFill>
                <a:latin typeface="Courier New"/>
                <a:cs typeface="Courier New"/>
              </a:rPr>
              <a:t>.gitignore</a:t>
            </a:r>
            <a:r>
              <a:rPr lang="pl-PL" sz="1400">
                <a:solidFill>
                  <a:schemeClr val="tx1"/>
                </a:solidFill>
                <a:latin typeface="Arial"/>
                <a:cs typeface="Arial"/>
              </a:rPr>
              <a:t> dla </a:t>
            </a:r>
            <a:r>
              <a:rPr lang="pl-PL" sz="1400">
                <a:solidFill>
                  <a:schemeClr val="tx1"/>
                </a:solidFill>
                <a:latin typeface="Courier New"/>
                <a:cs typeface="Courier New"/>
              </a:rPr>
              <a:t>appsettings.*.json</a:t>
            </a:r>
            <a:r>
              <a:rPr lang="pl-PL" sz="1400">
                <a:solidFill>
                  <a:schemeClr val="tx1"/>
                </a:solidFill>
                <a:latin typeface="Arial"/>
                <a:cs typeface="Arial"/>
              </a:rPr>
              <a:t>.</a:t>
            </a:r>
            <a:endParaRPr lang="pl-PL" sz="1400" dirty="0">
              <a:solidFill>
                <a:schemeClr val="tx1"/>
              </a:solidFill>
              <a:latin typeface="Arial"/>
              <a:cs typeface="Arial"/>
            </a:endParaRPr>
          </a:p>
          <a:p>
            <a:pPr algn="l">
              <a:spcBef>
                <a:spcPts val="1889"/>
              </a:spcBef>
            </a:pPr>
            <a:r>
              <a:rPr lang="pl-PL" sz="1400">
                <a:solidFill>
                  <a:schemeClr val="tx1"/>
                </a:solidFill>
                <a:latin typeface="Arial"/>
                <a:cs typeface="Arial"/>
              </a:rPr>
              <a:t>7. Migracje bazy w środowisku wielogałęziowym</a:t>
            </a:r>
            <a:endParaRPr lang="pl-PL" sz="1400" dirty="0">
              <a:solidFill>
                <a:schemeClr val="tx1"/>
              </a:solidFill>
              <a:latin typeface="Arial"/>
              <a:cs typeface="Arial"/>
            </a:endParaRPr>
          </a:p>
          <a:p>
            <a:pPr algn="l">
              <a:spcBef>
                <a:spcPts val="1889"/>
              </a:spcBef>
            </a:pPr>
            <a:r>
              <a:rPr lang="pl-PL" sz="1400" b="1">
                <a:solidFill>
                  <a:schemeClr val="tx1"/>
                </a:solidFill>
                <a:latin typeface="Arial"/>
                <a:cs typeface="Arial"/>
              </a:rPr>
              <a:t>Problem:</a:t>
            </a:r>
            <a:r>
              <a:rPr lang="pl-PL" sz="1400">
                <a:solidFill>
                  <a:schemeClr val="tx1"/>
                </a:solidFill>
                <a:latin typeface="Arial"/>
                <a:cs typeface="Arial"/>
              </a:rPr>
              <a:t> EF Core generuje </a:t>
            </a:r>
            <a:r>
              <a:rPr lang="pl-PL" sz="1400">
                <a:solidFill>
                  <a:schemeClr val="tx1"/>
                </a:solidFill>
                <a:latin typeface="Courier New"/>
                <a:cs typeface="Courier New"/>
              </a:rPr>
              <a:t>MyDBContextModelSnapshot.cs</a:t>
            </a:r>
            <a:r>
              <a:rPr lang="pl-PL" sz="1400">
                <a:solidFill>
                  <a:schemeClr val="tx1"/>
                </a:solidFill>
                <a:latin typeface="Arial"/>
                <a:cs typeface="Arial"/>
              </a:rPr>
              <a:t> przy każdej migracji — scalanie migacji z różnych gałęzi tworzyło konflikty w tym pliku i ryzyko divergencji snapshotu od rzeczywistego schematu.</a:t>
            </a:r>
            <a:endParaRPr lang="pl-PL" sz="1400" dirty="0">
              <a:solidFill>
                <a:schemeClr val="tx1"/>
              </a:solidFill>
              <a:latin typeface="Arial"/>
              <a:cs typeface="Arial"/>
            </a:endParaRPr>
          </a:p>
          <a:p>
            <a:pPr algn="l">
              <a:spcBef>
                <a:spcPts val="1889"/>
              </a:spcBef>
            </a:pPr>
            <a:r>
              <a:rPr lang="pl-PL" sz="1400" b="1">
                <a:solidFill>
                  <a:schemeClr val="tx1"/>
                </a:solidFill>
                <a:latin typeface="Arial"/>
                <a:cs typeface="Arial"/>
              </a:rPr>
              <a:t>Rozwiązanie:</a:t>
            </a:r>
            <a:r>
              <a:rPr lang="pl-PL" sz="1400">
                <a:solidFill>
                  <a:schemeClr val="tx1"/>
                </a:solidFill>
                <a:latin typeface="Arial"/>
                <a:cs typeface="Arial"/>
              </a:rPr>
              <a:t> Przyjęcie polityki ręcznie pisanych migracji z czystymi skryptami SQL </a:t>
            </a:r>
            <a:r>
              <a:rPr lang="pl-PL" sz="1400">
                <a:solidFill>
                  <a:schemeClr val="tx1"/>
                </a:solidFill>
                <a:latin typeface="Courier New"/>
                <a:cs typeface="Courier New"/>
              </a:rPr>
              <a:t>IF NOT EXISTS</a:t>
            </a:r>
            <a:r>
              <a:rPr lang="pl-PL" sz="1400">
                <a:solidFill>
                  <a:schemeClr val="tx1"/>
                </a:solidFill>
                <a:latin typeface="Arial"/>
                <a:cs typeface="Arial"/>
              </a:rPr>
              <a:t> zamiast auto-generowanych przez </a:t>
            </a:r>
            <a:r>
              <a:rPr lang="pl-PL" sz="1400">
                <a:solidFill>
                  <a:schemeClr val="tx1"/>
                </a:solidFill>
                <a:latin typeface="Courier New"/>
                <a:cs typeface="Courier New"/>
              </a:rPr>
              <a:t>dotnet-ef migrations add</a:t>
            </a:r>
            <a:r>
              <a:rPr lang="pl-PL" sz="1400">
                <a:solidFill>
                  <a:schemeClr val="tx1"/>
                </a:solidFill>
                <a:latin typeface="Arial"/>
                <a:cs typeface="Arial"/>
              </a:rPr>
              <a:t>. Snapshot jest celowo niezsynchronizowany (ostrzeżenie </a:t>
            </a:r>
            <a:r>
              <a:rPr lang="pl-PL" sz="1400">
                <a:solidFill>
                  <a:schemeClr val="tx1"/>
                </a:solidFill>
                <a:latin typeface="Courier New"/>
                <a:cs typeface="Courier New"/>
              </a:rPr>
              <a:t>PendingModelChangesWarning</a:t>
            </a:r>
            <a:r>
              <a:rPr lang="pl-PL" sz="1400">
                <a:solidFill>
                  <a:schemeClr val="tx1"/>
                </a:solidFill>
                <a:latin typeface="Arial"/>
                <a:cs typeface="Arial"/>
              </a:rPr>
              <a:t> wyciszone w </a:t>
            </a:r>
            <a:r>
              <a:rPr lang="pl-PL" sz="1400">
                <a:solidFill>
                  <a:schemeClr val="tx1"/>
                </a:solidFill>
                <a:latin typeface="Courier New"/>
                <a:cs typeface="Courier New"/>
              </a:rPr>
              <a:t>Program.cs</a:t>
            </a:r>
            <a:r>
              <a:rPr lang="pl-PL" sz="1400">
                <a:solidFill>
                  <a:schemeClr val="tx1"/>
                </a:solidFill>
                <a:latin typeface="Arial"/>
                <a:cs typeface="Arial"/>
              </a:rPr>
              <a:t>), a schemat jest źródłem prawdy.</a:t>
            </a:r>
            <a:endParaRPr lang="pl-PL" sz="1400" dirty="0">
              <a:solidFill>
                <a:schemeClr val="tx1"/>
              </a:solidFill>
              <a:latin typeface="Arial"/>
              <a:cs typeface="Arial"/>
            </a:endParaRPr>
          </a:p>
          <a:p>
            <a:pPr algn="l">
              <a:spcBef>
                <a:spcPts val="1889"/>
              </a:spcBef>
            </a:pPr>
            <a:endParaRPr lang="pl-PL" sz="1400" dirty="0">
              <a:solidFill>
                <a:schemeClr val="tx1"/>
              </a:solidFill>
              <a:latin typeface="Arial"/>
              <a:cs typeface="Arial"/>
            </a:endParaRPr>
          </a:p>
        </p:txBody>
      </p:sp>
    </p:spTree>
    <p:extLst>
      <p:ext uri="{BB962C8B-B14F-4D97-AF65-F5344CB8AC3E}">
        <p14:creationId xmlns:p14="http://schemas.microsoft.com/office/powerpoint/2010/main" val="944217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3BD4F-517A-56F4-DC83-B9FDC3A64924}"/>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54122C4A-3FB8-E66D-078C-A6A8B41CCE0D}"/>
              </a:ext>
            </a:extLst>
          </p:cNvPr>
          <p:cNvSpPr txBox="1">
            <a:spLocks noGrp="1"/>
          </p:cNvSpPr>
          <p:nvPr>
            <p:ph type="title" idx="4294967295"/>
          </p:nvPr>
        </p:nvSpPr>
        <p:spPr>
          <a:xfrm>
            <a:off x="-2881" y="301322"/>
            <a:ext cx="10079705" cy="1079141"/>
          </a:xfrm>
        </p:spPr>
        <p:txBody>
          <a:bodyPr/>
          <a:lstStyle/>
          <a:p>
            <a:r>
              <a:rPr lang="pl-PL" sz="4000" dirty="0">
                <a:latin typeface="Arial"/>
                <a:cs typeface="Arial"/>
              </a:rPr>
              <a:t>Możliwości dalszego </a:t>
            </a:r>
            <a:r>
              <a:rPr lang="pl-PL" sz="4000">
                <a:latin typeface="Arial"/>
                <a:cs typeface="Arial"/>
              </a:rPr>
              <a:t>rozwoju projektu (1⁄3)</a:t>
            </a:r>
            <a:endParaRPr lang="pl-PL" sz="4000" dirty="0">
              <a:latin typeface="Arial"/>
              <a:cs typeface="Arial"/>
            </a:endParaRPr>
          </a:p>
        </p:txBody>
      </p:sp>
      <p:sp>
        <p:nvSpPr>
          <p:cNvPr id="3" name="Symbol zastępczy tekstu 2">
            <a:extLst>
              <a:ext uri="{FF2B5EF4-FFF2-40B4-BE49-F238E27FC236}">
                <a16:creationId xmlns:a16="http://schemas.microsoft.com/office/drawing/2014/main" id="{38D0777B-15F7-7A7B-AF76-7D65B7CC2CF0}"/>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2000">
                <a:solidFill>
                  <a:schemeClr val="tx1"/>
                </a:solidFill>
                <a:latin typeface="Arial"/>
                <a:cs typeface="Arial"/>
              </a:rPr>
              <a:t>Krótkoterminowe (gotowe do implementacji)</a:t>
            </a:r>
            <a:endParaRPr lang="en-US" sz="2000">
              <a:solidFill>
                <a:schemeClr val="tx1"/>
              </a:solidFill>
            </a:endParaRPr>
          </a:p>
          <a:p>
            <a:pPr marL="285750" indent="-285750" algn="l">
              <a:spcBef>
                <a:spcPts val="1889"/>
              </a:spcBef>
              <a:buFont typeface="Arial"/>
              <a:buChar char="•"/>
            </a:pPr>
            <a:r>
              <a:rPr lang="pl-PL" sz="2000" b="1">
                <a:solidFill>
                  <a:schemeClr val="tx1"/>
                </a:solidFill>
                <a:latin typeface="Arial"/>
                <a:cs typeface="Arial"/>
              </a:rPr>
              <a:t>Weryfikacja e-mail przy rejestracji</a:t>
            </a:r>
            <a:r>
              <a:rPr lang="pl-PL" sz="2000">
                <a:solidFill>
                  <a:schemeClr val="tx1"/>
                </a:solidFill>
                <a:latin typeface="Arial"/>
                <a:cs typeface="Arial"/>
              </a:rPr>
              <a:t> — infrastruktura istnieje (</a:t>
            </a:r>
            <a:r>
              <a:rPr lang="pl-PL" sz="2000">
                <a:solidFill>
                  <a:schemeClr val="tx1"/>
                </a:solidFill>
                <a:latin typeface="Courier New"/>
                <a:cs typeface="Courier New"/>
              </a:rPr>
              <a:t>EmailVerificationToken</a:t>
            </a:r>
            <a:r>
              <a:rPr lang="pl-PL" sz="2000">
                <a:solidFill>
                  <a:schemeClr val="tx1"/>
                </a:solidFill>
                <a:latin typeface="Arial"/>
                <a:cs typeface="Arial"/>
              </a:rPr>
              <a:t>, </a:t>
            </a:r>
            <a:r>
              <a:rPr lang="pl-PL" sz="2000">
                <a:solidFill>
                  <a:schemeClr val="tx1"/>
                </a:solidFill>
                <a:latin typeface="Courier New"/>
                <a:cs typeface="Courier New"/>
              </a:rPr>
              <a:t>EmailVerified</a:t>
            </a:r>
            <a:r>
              <a:rPr lang="pl-PL" sz="2000">
                <a:solidFill>
                  <a:schemeClr val="tx1"/>
                </a:solidFill>
                <a:latin typeface="Arial"/>
                <a:cs typeface="Arial"/>
              </a:rPr>
              <a:t> w </a:t>
            </a:r>
            <a:r>
              <a:rPr lang="pl-PL" sz="2000">
                <a:solidFill>
                  <a:schemeClr val="tx1"/>
                </a:solidFill>
                <a:latin typeface="Courier New"/>
                <a:cs typeface="Courier New"/>
              </a:rPr>
              <a:t>UserAuth</a:t>
            </a:r>
            <a:r>
              <a:rPr lang="pl-PL" sz="2000">
                <a:solidFill>
                  <a:schemeClr val="tx1"/>
                </a:solidFill>
                <a:latin typeface="Arial"/>
                <a:cs typeface="Arial"/>
              </a:rPr>
              <a:t>), brakuje tylko endpointu weryfikacyjnego i wysyłki e-maila z linkiem</a:t>
            </a:r>
            <a:endParaRPr lang="pl-PL" sz="2000">
              <a:solidFill>
                <a:schemeClr val="tx1"/>
              </a:solidFill>
            </a:endParaRPr>
          </a:p>
          <a:p>
            <a:pPr marL="285750" indent="-285750" algn="l">
              <a:spcBef>
                <a:spcPts val="1889"/>
              </a:spcBef>
              <a:buFont typeface="Arial"/>
              <a:buChar char="•"/>
            </a:pPr>
            <a:r>
              <a:rPr lang="pl-PL" sz="2000" b="1">
                <a:solidFill>
                  <a:schemeClr val="tx1"/>
                </a:solidFill>
                <a:latin typeface="Arial"/>
                <a:cs typeface="Arial"/>
              </a:rPr>
              <a:t>Powiadomienia e-mail</a:t>
            </a:r>
            <a:r>
              <a:rPr lang="pl-PL" sz="2000">
                <a:solidFill>
                  <a:schemeClr val="tx1"/>
                </a:solidFill>
                <a:latin typeface="Arial"/>
                <a:cs typeface="Arial"/>
              </a:rPr>
              <a:t> — </a:t>
            </a:r>
            <a:r>
              <a:rPr lang="pl-PL" sz="2000">
                <a:solidFill>
                  <a:schemeClr val="tx1"/>
                </a:solidFill>
                <a:latin typeface="Courier New"/>
                <a:cs typeface="Courier New"/>
              </a:rPr>
              <a:t>IEmailService</a:t>
            </a:r>
            <a:r>
              <a:rPr lang="pl-PL" sz="2000">
                <a:solidFill>
                  <a:schemeClr val="tx1"/>
                </a:solidFill>
                <a:latin typeface="Arial"/>
                <a:cs typeface="Arial"/>
              </a:rPr>
              <a:t> jest gotowy; wystarczy wywołać go z </a:t>
            </a:r>
            <a:r>
              <a:rPr lang="pl-PL" sz="2000">
                <a:solidFill>
                  <a:schemeClr val="tx1"/>
                </a:solidFill>
                <a:latin typeface="Courier New"/>
                <a:cs typeface="Courier New"/>
              </a:rPr>
              <a:t>NotificationService</a:t>
            </a:r>
            <a:r>
              <a:rPr lang="pl-PL" sz="2000">
                <a:solidFill>
                  <a:schemeClr val="tx1"/>
                </a:solidFill>
                <a:latin typeface="Arial"/>
                <a:cs typeface="Arial"/>
              </a:rPr>
              <a:t> przy kluczowych zdarzeniach (nowa wiadomość, opłacone zamówienie)</a:t>
            </a:r>
            <a:endParaRPr lang="pl-PL" sz="2000">
              <a:solidFill>
                <a:schemeClr val="tx1"/>
              </a:solidFill>
            </a:endParaRPr>
          </a:p>
          <a:p>
            <a:pPr marL="285750" indent="-285750" algn="l">
              <a:spcBef>
                <a:spcPts val="1889"/>
              </a:spcBef>
              <a:buFont typeface="Arial"/>
              <a:buChar char="•"/>
            </a:pPr>
            <a:r>
              <a:rPr lang="pl-PL" sz="2000" b="1">
                <a:solidFill>
                  <a:schemeClr val="tx1"/>
                </a:solidFill>
                <a:latin typeface="Arial"/>
                <a:cs typeface="Arial"/>
              </a:rPr>
              <a:t>Paginacja listy ogłoszeń</a:t>
            </a:r>
            <a:r>
              <a:rPr lang="pl-PL" sz="2000">
                <a:solidFill>
                  <a:schemeClr val="tx1"/>
                </a:solidFill>
                <a:latin typeface="Arial"/>
                <a:cs typeface="Arial"/>
              </a:rPr>
              <a:t> — aktualnie wyświetlane są wszystkie wyniki; dodanie </a:t>
            </a:r>
            <a:r>
              <a:rPr lang="pl-PL" sz="2000">
                <a:solidFill>
                  <a:schemeClr val="tx1"/>
                </a:solidFill>
                <a:latin typeface="Courier New"/>
                <a:cs typeface="Courier New"/>
              </a:rPr>
              <a:t>Skip</a:t>
            </a:r>
            <a:r>
              <a:rPr lang="pl-PL" sz="2000">
                <a:solidFill>
                  <a:schemeClr val="tx1"/>
                </a:solidFill>
                <a:latin typeface="Arial"/>
                <a:cs typeface="Arial"/>
              </a:rPr>
              <a:t>/</a:t>
            </a:r>
            <a:r>
              <a:rPr lang="pl-PL" sz="2000">
                <a:solidFill>
                  <a:schemeClr val="tx1"/>
                </a:solidFill>
                <a:latin typeface="Courier New"/>
                <a:cs typeface="Courier New"/>
              </a:rPr>
              <a:t>Take</a:t>
            </a:r>
            <a:r>
              <a:rPr lang="pl-PL" sz="2000">
                <a:solidFill>
                  <a:schemeClr val="tx1"/>
                </a:solidFill>
                <a:latin typeface="Arial"/>
                <a:cs typeface="Arial"/>
              </a:rPr>
              <a:t> z parametrami </a:t>
            </a:r>
            <a:r>
              <a:rPr lang="pl-PL" sz="2000">
                <a:solidFill>
                  <a:schemeClr val="tx1"/>
                </a:solidFill>
                <a:latin typeface="Courier New"/>
                <a:cs typeface="Courier New"/>
              </a:rPr>
              <a:t>page</a:t>
            </a:r>
            <a:r>
              <a:rPr lang="pl-PL" sz="2000">
                <a:solidFill>
                  <a:schemeClr val="tx1"/>
                </a:solidFill>
                <a:latin typeface="Arial"/>
                <a:cs typeface="Arial"/>
              </a:rPr>
              <a:t> i </a:t>
            </a:r>
            <a:r>
              <a:rPr lang="pl-PL" sz="2000">
                <a:solidFill>
                  <a:schemeClr val="tx1"/>
                </a:solidFill>
                <a:latin typeface="Courier New"/>
                <a:cs typeface="Courier New"/>
              </a:rPr>
              <a:t>pageSize</a:t>
            </a:r>
            <a:r>
              <a:rPr lang="pl-PL" sz="2000">
                <a:solidFill>
                  <a:schemeClr val="tx1"/>
                </a:solidFill>
                <a:latin typeface="Arial"/>
                <a:cs typeface="Arial"/>
              </a:rPr>
              <a:t> do kontrolera i widoku</a:t>
            </a:r>
            <a:endParaRPr lang="pl-PL" sz="2000">
              <a:solidFill>
                <a:schemeClr val="tx1"/>
              </a:solidFill>
            </a:endParaRPr>
          </a:p>
          <a:p>
            <a:pPr marL="285750" indent="-285750" algn="l">
              <a:spcBef>
                <a:spcPts val="1889"/>
              </a:spcBef>
              <a:buFont typeface="Arial"/>
              <a:buChar char="•"/>
            </a:pPr>
            <a:r>
              <a:rPr lang="pl-PL" sz="2000" b="1">
                <a:solidFill>
                  <a:schemeClr val="tx1"/>
                </a:solidFill>
                <a:latin typeface="Arial"/>
                <a:cs typeface="Arial"/>
              </a:rPr>
              <a:t>Ocena propozycji wymiany po zakończeniu</a:t>
            </a:r>
            <a:r>
              <a:rPr lang="pl-PL" sz="2000">
                <a:solidFill>
                  <a:schemeClr val="tx1"/>
                </a:solidFill>
                <a:latin typeface="Arial"/>
                <a:cs typeface="Arial"/>
              </a:rPr>
              <a:t> — analogicznie do recenzji po zakupie; </a:t>
            </a:r>
            <a:r>
              <a:rPr lang="pl-PL" sz="2000">
                <a:solidFill>
                  <a:schemeClr val="tx1"/>
                </a:solidFill>
                <a:latin typeface="Courier New"/>
                <a:cs typeface="Courier New"/>
              </a:rPr>
              <a:t>TradeOrder</a:t>
            </a:r>
            <a:r>
              <a:rPr lang="pl-PL" sz="2000">
                <a:solidFill>
                  <a:schemeClr val="tx1"/>
                </a:solidFill>
                <a:latin typeface="Arial"/>
                <a:cs typeface="Arial"/>
              </a:rPr>
              <a:t> istnieje jako tabela łącząca</a:t>
            </a:r>
            <a:endParaRPr lang="pl-PL" sz="2000">
              <a:solidFill>
                <a:schemeClr val="tx1"/>
              </a:solidFill>
            </a:endParaRPr>
          </a:p>
          <a:p>
            <a:pPr marL="285750" indent="-285750" algn="l">
              <a:spcBef>
                <a:spcPts val="1889"/>
              </a:spcBef>
              <a:buFont typeface="Arial"/>
              <a:buChar char="•"/>
            </a:pPr>
            <a:r>
              <a:rPr lang="pl-PL" sz="2000" b="1">
                <a:solidFill>
                  <a:schemeClr val="tx1"/>
                </a:solidFill>
                <a:latin typeface="Arial"/>
                <a:cs typeface="Arial"/>
              </a:rPr>
              <a:t>Licznik wyszukiwań / statystyki tagów</a:t>
            </a:r>
            <a:r>
              <a:rPr lang="pl-PL" sz="2000">
                <a:solidFill>
                  <a:schemeClr val="tx1"/>
                </a:solidFill>
                <a:latin typeface="Arial"/>
                <a:cs typeface="Arial"/>
              </a:rPr>
              <a:t> — dane już zbierane (</a:t>
            </a:r>
            <a:r>
              <a:rPr lang="pl-PL" sz="2000">
                <a:solidFill>
                  <a:schemeClr val="tx1"/>
                </a:solidFill>
                <a:latin typeface="Courier New"/>
                <a:cs typeface="Courier New"/>
              </a:rPr>
              <a:t>ViewCount</a:t>
            </a:r>
            <a:r>
              <a:rPr lang="pl-PL" sz="2000">
                <a:solidFill>
                  <a:schemeClr val="tx1"/>
                </a:solidFill>
                <a:latin typeface="Arial"/>
                <a:cs typeface="Arial"/>
              </a:rPr>
              <a:t>), można rozszerzyć o analizę popularności tagów dla lepszych rekomendacji</a:t>
            </a:r>
            <a:endParaRPr lang="pl-PL" sz="2000">
              <a:solidFill>
                <a:schemeClr val="tx1"/>
              </a:solidFill>
            </a:endParaRPr>
          </a:p>
          <a:p>
            <a:pPr algn="l">
              <a:spcBef>
                <a:spcPts val="1889"/>
              </a:spcBef>
            </a:pPr>
            <a:endParaRPr lang="pl-PL" sz="2000" b="1" dirty="0">
              <a:solidFill>
                <a:schemeClr val="tx1"/>
              </a:solidFill>
              <a:latin typeface="Arial"/>
              <a:cs typeface="Arial"/>
            </a:endParaRPr>
          </a:p>
        </p:txBody>
      </p:sp>
    </p:spTree>
    <p:extLst>
      <p:ext uri="{BB962C8B-B14F-4D97-AF65-F5344CB8AC3E}">
        <p14:creationId xmlns:p14="http://schemas.microsoft.com/office/powerpoint/2010/main" val="248988786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82A37-65D6-2406-578B-9BF4BF8AB825}"/>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EA23C0F2-E8D3-8992-E66B-AACFCC96A1D7}"/>
              </a:ext>
            </a:extLst>
          </p:cNvPr>
          <p:cNvSpPr txBox="1">
            <a:spLocks noGrp="1"/>
          </p:cNvSpPr>
          <p:nvPr>
            <p:ph type="title" idx="4294967295"/>
          </p:nvPr>
        </p:nvSpPr>
        <p:spPr>
          <a:xfrm>
            <a:off x="-2881" y="301322"/>
            <a:ext cx="10079705" cy="1079141"/>
          </a:xfrm>
        </p:spPr>
        <p:txBody>
          <a:bodyPr/>
          <a:lstStyle/>
          <a:p>
            <a:r>
              <a:rPr lang="pl-PL" sz="4000" dirty="0">
                <a:latin typeface="Arial"/>
                <a:cs typeface="Arial"/>
              </a:rPr>
              <a:t>Możliwości dalszego </a:t>
            </a:r>
            <a:r>
              <a:rPr lang="pl-PL" sz="4000">
                <a:latin typeface="Arial"/>
                <a:cs typeface="Arial"/>
              </a:rPr>
              <a:t>rozwoju projektu (2⁄3)</a:t>
            </a:r>
            <a:endParaRPr lang="pl-PL" sz="4000" dirty="0">
              <a:latin typeface="Arial"/>
              <a:cs typeface="Arial"/>
            </a:endParaRPr>
          </a:p>
        </p:txBody>
      </p:sp>
      <p:sp>
        <p:nvSpPr>
          <p:cNvPr id="3" name="Symbol zastępczy tekstu 2">
            <a:extLst>
              <a:ext uri="{FF2B5EF4-FFF2-40B4-BE49-F238E27FC236}">
                <a16:creationId xmlns:a16="http://schemas.microsoft.com/office/drawing/2014/main" id="{C5268E23-FAE7-9D9B-C43F-8CB71DFC77CA}"/>
              </a:ext>
            </a:extLst>
          </p:cNvPr>
          <p:cNvSpPr txBox="1">
            <a:spLocks noGrp="1"/>
          </p:cNvSpPr>
          <p:nvPr>
            <p:ph type="body" idx="4294967295"/>
          </p:nvPr>
        </p:nvSpPr>
        <p:spPr>
          <a:xfrm>
            <a:off x="503998" y="1411174"/>
            <a:ext cx="9071643" cy="5614108"/>
          </a:xfrm>
        </p:spPr>
        <p:txBody>
          <a:bodyPr>
            <a:noAutofit/>
          </a:bodyPr>
          <a:lstStyle/>
          <a:p>
            <a:pPr algn="l">
              <a:spcBef>
                <a:spcPts val="1889"/>
              </a:spcBef>
            </a:pPr>
            <a:r>
              <a:rPr lang="pl-PL" sz="2000">
                <a:solidFill>
                  <a:schemeClr val="tx1"/>
                </a:solidFill>
                <a:latin typeface="Arial"/>
                <a:cs typeface="Arial"/>
              </a:rPr>
              <a:t>Średnioterminowe</a:t>
            </a:r>
            <a:endParaRPr lang="pl-PL" sz="2000">
              <a:solidFill>
                <a:schemeClr val="tx1"/>
              </a:solidFill>
            </a:endParaRPr>
          </a:p>
          <a:p>
            <a:pPr marL="285750" indent="-285750" algn="l">
              <a:spcBef>
                <a:spcPts val="1889"/>
              </a:spcBef>
              <a:buFont typeface="Arial"/>
              <a:buChar char="•"/>
            </a:pPr>
            <a:r>
              <a:rPr lang="pl-PL" sz="2000" b="1">
                <a:solidFill>
                  <a:schemeClr val="tx1"/>
                </a:solidFill>
                <a:latin typeface="Arial"/>
                <a:cs typeface="Arial"/>
              </a:rPr>
              <a:t>Wyszukiwanie pełnotekstowe PostgreSQL (tsvector)</a:t>
            </a:r>
            <a:r>
              <a:rPr lang="pl-PL" sz="2000">
                <a:solidFill>
                  <a:schemeClr val="tx1"/>
                </a:solidFill>
                <a:latin typeface="Arial"/>
                <a:cs typeface="Arial"/>
              </a:rPr>
              <a:t> — zastąpienie </a:t>
            </a:r>
            <a:r>
              <a:rPr lang="pl-PL" sz="2000">
                <a:solidFill>
                  <a:schemeClr val="tx1"/>
                </a:solidFill>
                <a:latin typeface="Courier New"/>
                <a:cs typeface="Courier New"/>
              </a:rPr>
              <a:t>ILike</a:t>
            </a:r>
            <a:r>
              <a:rPr lang="pl-PL" sz="2000">
                <a:solidFill>
                  <a:schemeClr val="tx1"/>
                </a:solidFill>
                <a:latin typeface="Arial"/>
                <a:cs typeface="Arial"/>
              </a:rPr>
              <a:t> przez indeks </a:t>
            </a:r>
            <a:r>
              <a:rPr lang="pl-PL" sz="2000">
                <a:solidFill>
                  <a:schemeClr val="tx1"/>
                </a:solidFill>
                <a:latin typeface="Courier New"/>
                <a:cs typeface="Courier New"/>
              </a:rPr>
              <a:t>tsvector</a:t>
            </a:r>
            <a:r>
              <a:rPr lang="pl-PL" sz="2000">
                <a:solidFill>
                  <a:schemeClr val="tx1"/>
                </a:solidFill>
                <a:latin typeface="Arial"/>
                <a:cs typeface="Arial"/>
              </a:rPr>
              <a:t> z polskim słownikiem </a:t>
            </a:r>
            <a:r>
              <a:rPr lang="pl-PL" sz="2000">
                <a:solidFill>
                  <a:schemeClr val="tx1"/>
                </a:solidFill>
                <a:latin typeface="Courier New"/>
                <a:cs typeface="Courier New"/>
              </a:rPr>
              <a:t>ispell</a:t>
            </a:r>
            <a:r>
              <a:rPr lang="pl-PL" sz="2000">
                <a:solidFill>
                  <a:schemeClr val="tx1"/>
                </a:solidFill>
                <a:latin typeface="Arial"/>
                <a:cs typeface="Arial"/>
              </a:rPr>
              <a:t> dla lepszej jakości wyników (obsługa fleksji, synonimów)</a:t>
            </a:r>
            <a:endParaRPr lang="pl-PL" sz="2000">
              <a:solidFill>
                <a:schemeClr val="tx1"/>
              </a:solidFill>
            </a:endParaRPr>
          </a:p>
          <a:p>
            <a:pPr marL="285750" indent="-285750" algn="l">
              <a:spcBef>
                <a:spcPts val="1889"/>
              </a:spcBef>
              <a:buFont typeface="Arial"/>
              <a:buChar char="•"/>
            </a:pPr>
            <a:r>
              <a:rPr lang="pl-PL" sz="2000" b="1">
                <a:solidFill>
                  <a:schemeClr val="tx1"/>
                </a:solidFill>
                <a:latin typeface="Arial"/>
                <a:cs typeface="Arial"/>
              </a:rPr>
              <a:t>Eksport/import ogłoszeń</a:t>
            </a:r>
            <a:r>
              <a:rPr lang="pl-PL" sz="2000">
                <a:solidFill>
                  <a:schemeClr val="tx1"/>
                </a:solidFill>
                <a:latin typeface="Arial"/>
                <a:cs typeface="Arial"/>
              </a:rPr>
              <a:t> — CSV/JSON dla sprzedawców z dużą liczbą ofert</a:t>
            </a:r>
            <a:endParaRPr lang="pl-PL" sz="2000">
              <a:solidFill>
                <a:schemeClr val="tx1"/>
              </a:solidFill>
            </a:endParaRPr>
          </a:p>
          <a:p>
            <a:pPr marL="285750" indent="-285750" algn="l">
              <a:spcBef>
                <a:spcPts val="1889"/>
              </a:spcBef>
              <a:buFont typeface="Arial"/>
              <a:buChar char="•"/>
            </a:pPr>
            <a:r>
              <a:rPr lang="pl-PL" sz="2000" b="1">
                <a:solidFill>
                  <a:schemeClr val="tx1"/>
                </a:solidFill>
                <a:latin typeface="Arial"/>
                <a:cs typeface="Arial"/>
              </a:rPr>
              <a:t>System oceniania kupujących</a:t>
            </a:r>
            <a:r>
              <a:rPr lang="pl-PL" sz="2000">
                <a:solidFill>
                  <a:schemeClr val="tx1"/>
                </a:solidFill>
                <a:latin typeface="Arial"/>
                <a:cs typeface="Arial"/>
              </a:rPr>
              <a:t> — wzajemne recenzje (aktualnie tylko kupujący oceniają sprzedawców)</a:t>
            </a:r>
            <a:endParaRPr lang="pl-PL" sz="2000">
              <a:solidFill>
                <a:schemeClr val="tx1"/>
              </a:solidFill>
            </a:endParaRPr>
          </a:p>
          <a:p>
            <a:pPr marL="285750" indent="-285750" algn="l">
              <a:spcBef>
                <a:spcPts val="1889"/>
              </a:spcBef>
              <a:buFont typeface="Arial"/>
              <a:buChar char="•"/>
            </a:pPr>
            <a:r>
              <a:rPr lang="pl-PL" sz="2000" b="1">
                <a:solidFill>
                  <a:schemeClr val="tx1"/>
                </a:solidFill>
                <a:latin typeface="Arial"/>
                <a:cs typeface="Arial"/>
              </a:rPr>
              <a:t>Powiadomienia real-time</a:t>
            </a:r>
            <a:r>
              <a:rPr lang="pl-PL" sz="2000">
                <a:solidFill>
                  <a:schemeClr val="tx1"/>
                </a:solidFill>
                <a:latin typeface="Arial"/>
                <a:cs typeface="Arial"/>
              </a:rPr>
              <a:t> — zastąpienie pollingu przy każdym żądaniu przez WebSocket (SignalR) lub Server-Sent Events dla natychmiastowych powiadomień o wiadomościach</a:t>
            </a:r>
            <a:endParaRPr lang="pl-PL" sz="2000">
              <a:solidFill>
                <a:schemeClr val="tx1"/>
              </a:solidFill>
            </a:endParaRPr>
          </a:p>
          <a:p>
            <a:pPr marL="285750" indent="-285750" algn="l">
              <a:spcBef>
                <a:spcPts val="1889"/>
              </a:spcBef>
              <a:buFont typeface="Arial"/>
              <a:buChar char="•"/>
            </a:pPr>
            <a:r>
              <a:rPr lang="pl-PL" sz="2000" b="1">
                <a:solidFill>
                  <a:schemeClr val="tx1"/>
                </a:solidFill>
                <a:latin typeface="Arial"/>
                <a:cs typeface="Arial"/>
              </a:rPr>
              <a:t>Integracja z kurierami</a:t>
            </a:r>
            <a:r>
              <a:rPr lang="pl-PL" sz="2000">
                <a:solidFill>
                  <a:schemeClr val="tx1"/>
                </a:solidFill>
                <a:latin typeface="Arial"/>
                <a:cs typeface="Arial"/>
              </a:rPr>
              <a:t> — generowanie etykiet wysyłkowych przez API InPost/DPD po opłaceniu zamówienia</a:t>
            </a:r>
            <a:endParaRPr lang="pl-PL" sz="2000">
              <a:solidFill>
                <a:schemeClr val="tx1"/>
              </a:solidFill>
            </a:endParaRPr>
          </a:p>
          <a:p>
            <a:pPr algn="l">
              <a:spcBef>
                <a:spcPts val="1889"/>
              </a:spcBef>
            </a:pPr>
            <a:endParaRPr lang="pl-PL" sz="2000" b="1" dirty="0">
              <a:solidFill>
                <a:schemeClr val="tx1"/>
              </a:solidFill>
              <a:latin typeface="Arial"/>
              <a:cs typeface="Arial"/>
            </a:endParaRPr>
          </a:p>
        </p:txBody>
      </p:sp>
    </p:spTree>
    <p:extLst>
      <p:ext uri="{BB962C8B-B14F-4D97-AF65-F5344CB8AC3E}">
        <p14:creationId xmlns:p14="http://schemas.microsoft.com/office/powerpoint/2010/main" val="144626073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0F562-1B98-239F-9CA8-B6861B2D4A96}"/>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E6723C94-3E94-FBC1-0B2B-62AD3B92E720}"/>
              </a:ext>
            </a:extLst>
          </p:cNvPr>
          <p:cNvSpPr txBox="1">
            <a:spLocks noGrp="1"/>
          </p:cNvSpPr>
          <p:nvPr>
            <p:ph type="title" idx="4294967295"/>
          </p:nvPr>
        </p:nvSpPr>
        <p:spPr>
          <a:xfrm>
            <a:off x="-2881" y="301322"/>
            <a:ext cx="10079705" cy="1079141"/>
          </a:xfrm>
        </p:spPr>
        <p:txBody>
          <a:bodyPr/>
          <a:lstStyle/>
          <a:p>
            <a:r>
              <a:rPr lang="pl-PL" sz="4000" dirty="0">
                <a:latin typeface="Arial"/>
                <a:cs typeface="Arial"/>
              </a:rPr>
              <a:t>Możliwości dalszego </a:t>
            </a:r>
            <a:r>
              <a:rPr lang="pl-PL" sz="4000">
                <a:latin typeface="Arial"/>
                <a:cs typeface="Arial"/>
              </a:rPr>
              <a:t>rozwoju projektu (3⁄3)</a:t>
            </a:r>
            <a:endParaRPr lang="pl-PL" sz="4000" dirty="0">
              <a:latin typeface="Arial"/>
              <a:cs typeface="Arial"/>
            </a:endParaRPr>
          </a:p>
        </p:txBody>
      </p:sp>
      <p:sp>
        <p:nvSpPr>
          <p:cNvPr id="3" name="Symbol zastępczy tekstu 2">
            <a:extLst>
              <a:ext uri="{FF2B5EF4-FFF2-40B4-BE49-F238E27FC236}">
                <a16:creationId xmlns:a16="http://schemas.microsoft.com/office/drawing/2014/main" id="{1D63A358-5AC6-CB8A-B2AF-458D3BAEE74B}"/>
              </a:ext>
            </a:extLst>
          </p:cNvPr>
          <p:cNvSpPr txBox="1">
            <a:spLocks noGrp="1"/>
          </p:cNvSpPr>
          <p:nvPr>
            <p:ph type="body" idx="4294967295"/>
          </p:nvPr>
        </p:nvSpPr>
        <p:spPr>
          <a:xfrm>
            <a:off x="503998" y="1411174"/>
            <a:ext cx="9071643" cy="5614108"/>
          </a:xfrm>
        </p:spPr>
        <p:txBody>
          <a:bodyPr>
            <a:noAutofit/>
          </a:bodyPr>
          <a:lstStyle/>
          <a:p>
            <a:pPr algn="l">
              <a:spcBef>
                <a:spcPts val="1889"/>
              </a:spcBef>
            </a:pPr>
            <a:r>
              <a:rPr lang="pl-PL" sz="2000">
                <a:solidFill>
                  <a:schemeClr val="tx1"/>
                </a:solidFill>
                <a:latin typeface="Arial"/>
                <a:cs typeface="Arial"/>
              </a:rPr>
              <a:t>Długoterminowe</a:t>
            </a:r>
            <a:endParaRPr lang="en-US" sz="2000">
              <a:solidFill>
                <a:schemeClr val="tx1"/>
              </a:solidFill>
            </a:endParaRPr>
          </a:p>
          <a:p>
            <a:pPr marL="285750" indent="-285750" algn="l">
              <a:spcBef>
                <a:spcPts val="1889"/>
              </a:spcBef>
              <a:buFont typeface="Arial,Sans-Serif"/>
              <a:buChar char="•"/>
            </a:pPr>
            <a:r>
              <a:rPr lang="pl-PL" sz="2000" b="1">
                <a:solidFill>
                  <a:schemeClr val="tx1"/>
                </a:solidFill>
                <a:latin typeface="Arial"/>
                <a:cs typeface="Arial"/>
              </a:rPr>
              <a:t>Aplikacja mobilna</a:t>
            </a:r>
            <a:r>
              <a:rPr lang="pl-PL" sz="2000">
                <a:solidFill>
                  <a:schemeClr val="tx1"/>
                </a:solidFill>
                <a:latin typeface="Arial"/>
                <a:cs typeface="Arial"/>
              </a:rPr>
              <a:t> — REST API (zamiana Razor na kontrolery JSON) z aplikacją React Native lub Expo korzystającą z istniejącej logiki backendowej</a:t>
            </a:r>
            <a:endParaRPr lang="pl-PL" sz="2000">
              <a:solidFill>
                <a:schemeClr val="tx1"/>
              </a:solidFill>
            </a:endParaRPr>
          </a:p>
          <a:p>
            <a:pPr marL="285750" indent="-285750" algn="l">
              <a:spcBef>
                <a:spcPts val="1889"/>
              </a:spcBef>
              <a:buFont typeface="Arial,Sans-Serif"/>
              <a:buChar char="•"/>
            </a:pPr>
            <a:r>
              <a:rPr lang="pl-PL" sz="2000" b="1">
                <a:solidFill>
                  <a:schemeClr val="tx1"/>
                </a:solidFill>
                <a:latin typeface="Arial"/>
                <a:cs typeface="Arial"/>
              </a:rPr>
              <a:t>PostGIS</a:t>
            </a:r>
            <a:r>
              <a:rPr lang="pl-PL" sz="2000">
                <a:solidFill>
                  <a:schemeClr val="tx1"/>
                </a:solidFill>
                <a:latin typeface="Arial"/>
                <a:cs typeface="Arial"/>
              </a:rPr>
              <a:t> — przestrzenna baza danych dla filtrowania po odległości bezpośrednio w SQL; niezbędne przy skalowaniu do dziesiątek tysięcy ogłoszeń</a:t>
            </a:r>
            <a:endParaRPr lang="pl-PL" sz="2000">
              <a:solidFill>
                <a:schemeClr val="tx1"/>
              </a:solidFill>
            </a:endParaRPr>
          </a:p>
          <a:p>
            <a:pPr marL="285750" indent="-285750" algn="l">
              <a:spcBef>
                <a:spcPts val="1889"/>
              </a:spcBef>
              <a:buFont typeface="Arial,Sans-Serif"/>
              <a:buChar char="•"/>
            </a:pPr>
            <a:r>
              <a:rPr lang="pl-PL" sz="2000" b="1">
                <a:solidFill>
                  <a:schemeClr val="tx1"/>
                </a:solidFill>
                <a:latin typeface="Arial"/>
                <a:cs typeface="Arial"/>
              </a:rPr>
              <a:t>CDN dla zdjęć</a:t>
            </a:r>
            <a:r>
              <a:rPr lang="pl-PL" sz="2000">
                <a:solidFill>
                  <a:schemeClr val="tx1"/>
                </a:solidFill>
                <a:latin typeface="Arial"/>
                <a:cs typeface="Arial"/>
              </a:rPr>
              <a:t> — przeniesienie </a:t>
            </a:r>
            <a:r>
              <a:rPr lang="pl-PL" sz="2000">
                <a:solidFill>
                  <a:schemeClr val="tx1"/>
                </a:solidFill>
                <a:latin typeface="Courier New"/>
                <a:cs typeface="Courier New"/>
              </a:rPr>
              <a:t>uploads/</a:t>
            </a:r>
            <a:r>
              <a:rPr lang="pl-PL" sz="2000">
                <a:solidFill>
                  <a:schemeClr val="tx1"/>
                </a:solidFill>
                <a:latin typeface="Arial"/>
                <a:cs typeface="Arial"/>
              </a:rPr>
              <a:t> z dysku serwera do AWS S3 / Cloudflare R2; </a:t>
            </a:r>
            <a:r>
              <a:rPr lang="pl-PL" sz="2000">
                <a:solidFill>
                  <a:schemeClr val="tx1"/>
                </a:solidFill>
                <a:latin typeface="Courier New"/>
                <a:cs typeface="Courier New"/>
              </a:rPr>
              <a:t>IFileService</a:t>
            </a:r>
            <a:r>
              <a:rPr lang="pl-PL" sz="2000">
                <a:solidFill>
                  <a:schemeClr val="tx1"/>
                </a:solidFill>
                <a:latin typeface="Arial"/>
                <a:cs typeface="Arial"/>
              </a:rPr>
              <a:t> jest interfejsem, zmiana dotyczy tylko jednej klasy implementacyjnej</a:t>
            </a:r>
            <a:endParaRPr lang="pl-PL" sz="2000">
              <a:solidFill>
                <a:schemeClr val="tx1"/>
              </a:solidFill>
            </a:endParaRPr>
          </a:p>
          <a:p>
            <a:pPr marL="285750" indent="-285750" algn="l">
              <a:spcBef>
                <a:spcPts val="1889"/>
              </a:spcBef>
              <a:buFont typeface="Arial,Sans-Serif"/>
              <a:buChar char="•"/>
            </a:pPr>
            <a:r>
              <a:rPr lang="pl-PL" sz="2000" b="1">
                <a:solidFill>
                  <a:schemeClr val="tx1"/>
                </a:solidFill>
                <a:latin typeface="Arial"/>
                <a:cs typeface="Arial"/>
              </a:rPr>
              <a:t>System rekomendacji</a:t>
            </a:r>
            <a:r>
              <a:rPr lang="pl-PL" sz="2000">
                <a:solidFill>
                  <a:schemeClr val="tx1"/>
                </a:solidFill>
                <a:latin typeface="Arial"/>
                <a:cs typeface="Arial"/>
              </a:rPr>
              <a:t> — propozycja ogłoszeń podobnych do przeglądanych (podobne tagi, lokalizacja, przedział cenowy)</a:t>
            </a:r>
            <a:endParaRPr lang="pl-PL" sz="2000">
              <a:solidFill>
                <a:schemeClr val="tx1"/>
              </a:solidFill>
            </a:endParaRPr>
          </a:p>
          <a:p>
            <a:pPr marL="285750" indent="-285750" algn="l">
              <a:spcBef>
                <a:spcPts val="1889"/>
              </a:spcBef>
              <a:buFont typeface="Arial,Sans-Serif"/>
              <a:buChar char="•"/>
            </a:pPr>
            <a:r>
              <a:rPr lang="pl-PL" sz="2000" b="1">
                <a:solidFill>
                  <a:schemeClr val="tx1"/>
                </a:solidFill>
                <a:latin typeface="Arial"/>
                <a:cs typeface="Arial"/>
              </a:rPr>
              <a:t>Subskrypcje i plany premium</a:t>
            </a:r>
            <a:r>
              <a:rPr lang="pl-PL" sz="2000">
                <a:solidFill>
                  <a:schemeClr val="tx1"/>
                </a:solidFill>
                <a:latin typeface="Arial"/>
                <a:cs typeface="Arial"/>
              </a:rPr>
              <a:t> — dla sprzedawców: więcej wyróżnień, statystyki profilu, niższe opłaty za wystawienie</a:t>
            </a:r>
            <a:endParaRPr lang="pl-PL" sz="2000">
              <a:solidFill>
                <a:schemeClr val="tx1"/>
              </a:solidFill>
            </a:endParaRPr>
          </a:p>
          <a:p>
            <a:pPr marL="285750" indent="-285750" algn="l">
              <a:spcBef>
                <a:spcPts val="1889"/>
              </a:spcBef>
              <a:buFont typeface="Arial,Sans-Serif"/>
              <a:buChar char="•"/>
            </a:pPr>
            <a:r>
              <a:rPr lang="pl-PL" sz="2000" b="1">
                <a:solidFill>
                  <a:schemeClr val="tx1"/>
                </a:solidFill>
                <a:latin typeface="Arial"/>
                <a:cs typeface="Arial"/>
              </a:rPr>
              <a:t>Automatyczne tłumaczenie</a:t>
            </a:r>
            <a:r>
              <a:rPr lang="pl-PL" sz="2000">
                <a:solidFill>
                  <a:schemeClr val="tx1"/>
                </a:solidFill>
                <a:latin typeface="Arial"/>
                <a:cs typeface="Arial"/>
              </a:rPr>
              <a:t> — ogłoszenia wielojęzyczne dla platform działających na wielu rynkach</a:t>
            </a:r>
            <a:endParaRPr lang="pl-PL" sz="2000">
              <a:solidFill>
                <a:schemeClr val="tx1"/>
              </a:solidFill>
            </a:endParaRPr>
          </a:p>
          <a:p>
            <a:pPr algn="l">
              <a:spcBef>
                <a:spcPts val="1889"/>
              </a:spcBef>
            </a:pPr>
            <a:endParaRPr lang="pl-PL" sz="2000" dirty="0">
              <a:solidFill>
                <a:schemeClr val="tx1"/>
              </a:solidFill>
              <a:latin typeface="Arial"/>
              <a:cs typeface="Arial"/>
            </a:endParaRPr>
          </a:p>
        </p:txBody>
      </p:sp>
    </p:spTree>
    <p:extLst>
      <p:ext uri="{BB962C8B-B14F-4D97-AF65-F5344CB8AC3E}">
        <p14:creationId xmlns:p14="http://schemas.microsoft.com/office/powerpoint/2010/main" val="53796174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BE859-1636-2706-8D04-995EBF8BA09D}"/>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4AAC2908-FA50-ECD8-997A-7DB00F947511}"/>
              </a:ext>
            </a:extLst>
          </p:cNvPr>
          <p:cNvSpPr txBox="1">
            <a:spLocks noGrp="1"/>
          </p:cNvSpPr>
          <p:nvPr>
            <p:ph type="title" idx="4294967295"/>
          </p:nvPr>
        </p:nvSpPr>
        <p:spPr>
          <a:xfrm>
            <a:off x="503998" y="301322"/>
            <a:ext cx="9071643" cy="999387"/>
          </a:xfrm>
        </p:spPr>
        <p:txBody>
          <a:bodyPr/>
          <a:lstStyle/>
          <a:p>
            <a:r>
              <a:rPr lang="pl-PL" sz="5400">
                <a:latin typeface="Arial"/>
                <a:cs typeface="Arial"/>
              </a:rPr>
              <a:t>Podsumowanie i wnioski (1⁄2)</a:t>
            </a:r>
          </a:p>
        </p:txBody>
      </p:sp>
      <p:sp>
        <p:nvSpPr>
          <p:cNvPr id="3" name="Symbol zastępczy tekstu 2">
            <a:extLst>
              <a:ext uri="{FF2B5EF4-FFF2-40B4-BE49-F238E27FC236}">
                <a16:creationId xmlns:a16="http://schemas.microsoft.com/office/drawing/2014/main" id="{406F2CE1-7A25-1743-8D73-FA97C236B3E8}"/>
              </a:ext>
            </a:extLst>
          </p:cNvPr>
          <p:cNvSpPr txBox="1">
            <a:spLocks noGrp="1"/>
          </p:cNvSpPr>
          <p:nvPr>
            <p:ph type="body" idx="4294967295"/>
          </p:nvPr>
        </p:nvSpPr>
        <p:spPr>
          <a:xfrm>
            <a:off x="503998" y="1302935"/>
            <a:ext cx="9071643" cy="1985236"/>
          </a:xfrm>
        </p:spPr>
        <p:txBody>
          <a:bodyPr>
            <a:noAutofit/>
          </a:bodyPr>
          <a:lstStyle/>
          <a:p>
            <a:pPr algn="l">
              <a:spcBef>
                <a:spcPts val="1889"/>
              </a:spcBef>
            </a:pPr>
            <a:r>
              <a:rPr lang="pl-PL" sz="1600">
                <a:solidFill>
                  <a:schemeClr val="tx1"/>
                </a:solidFill>
                <a:latin typeface="Arial"/>
                <a:cs typeface="Arial"/>
              </a:rPr>
              <a:t>Czy cel został osiągnięty?</a:t>
            </a:r>
            <a:endParaRPr lang="en-US" sz="1600">
              <a:solidFill>
                <a:schemeClr val="tx1"/>
              </a:solidFill>
            </a:endParaRPr>
          </a:p>
          <a:p>
            <a:pPr algn="l">
              <a:spcBef>
                <a:spcPts val="1889"/>
              </a:spcBef>
            </a:pPr>
            <a:r>
              <a:rPr lang="pl-PL" sz="1600" b="1">
                <a:solidFill>
                  <a:schemeClr val="tx1"/>
                </a:solidFill>
                <a:latin typeface="Arial"/>
                <a:cs typeface="Arial"/>
              </a:rPr>
              <a:t>Tak — w pełnym zakresie.</a:t>
            </a:r>
            <a:r>
              <a:rPr lang="pl-PL" sz="1600">
                <a:solidFill>
                  <a:schemeClr val="tx1"/>
                </a:solidFill>
                <a:latin typeface="Arial"/>
                <a:cs typeface="Arial"/>
              </a:rPr>
              <a:t> Założony cel stworzenia funkcjonalnej platformy ogłoszeniowej z obsługą sprzedaży, wymiany i płatności online został zrealizowany. Wszystkie wymagania funkcjonalne zdefiniowane na etapie planowania zostały zaimplementowane i działają w środowisku produkcyjnym (Docker + Nginx + PostgreSQL).</a:t>
            </a:r>
            <a:endParaRPr lang="pl-PL" sz="1600">
              <a:solidFill>
                <a:schemeClr val="tx1"/>
              </a:solidFill>
            </a:endParaRPr>
          </a:p>
          <a:p>
            <a:pPr algn="l">
              <a:spcBef>
                <a:spcPts val="1889"/>
              </a:spcBef>
            </a:pPr>
            <a:r>
              <a:rPr lang="pl-PL" sz="1600">
                <a:solidFill>
                  <a:schemeClr val="tx1"/>
                </a:solidFill>
                <a:latin typeface="Arial"/>
                <a:cs typeface="Arial"/>
              </a:rPr>
              <a:t>Co zostało zrealizowane</a:t>
            </a:r>
            <a:endParaRPr lang="pl-PL" sz="1600">
              <a:solidFill>
                <a:schemeClr val="tx1"/>
              </a:solidFill>
            </a:endParaRPr>
          </a:p>
          <a:p>
            <a:pPr algn="l">
              <a:spcBef>
                <a:spcPts val="1889"/>
              </a:spcBef>
            </a:pPr>
            <a:endParaRPr lang="pl-PL" sz="1600" b="1" dirty="0">
              <a:solidFill>
                <a:schemeClr val="tx1"/>
              </a:solidFill>
              <a:latin typeface="Arial"/>
              <a:cs typeface="Arial"/>
            </a:endParaRPr>
          </a:p>
        </p:txBody>
      </p:sp>
      <p:graphicFrame>
        <p:nvGraphicFramePr>
          <p:cNvPr id="8" name="Table 7">
            <a:extLst>
              <a:ext uri="{FF2B5EF4-FFF2-40B4-BE49-F238E27FC236}">
                <a16:creationId xmlns:a16="http://schemas.microsoft.com/office/drawing/2014/main" id="{AAAB57DF-9CDF-B1B6-8EC0-A0240F6DBCB8}"/>
              </a:ext>
            </a:extLst>
          </p:cNvPr>
          <p:cNvGraphicFramePr>
            <a:graphicFrameLocks noGrp="1"/>
          </p:cNvGraphicFramePr>
          <p:nvPr>
            <p:extLst>
              <p:ext uri="{D42A27DB-BD31-4B8C-83A1-F6EECF244321}">
                <p14:modId xmlns:p14="http://schemas.microsoft.com/office/powerpoint/2010/main" val="745210112"/>
              </p:ext>
            </p:extLst>
          </p:nvPr>
        </p:nvGraphicFramePr>
        <p:xfrm>
          <a:off x="331905" y="3291085"/>
          <a:ext cx="9406504" cy="4055394"/>
        </p:xfrm>
        <a:graphic>
          <a:graphicData uri="http://schemas.openxmlformats.org/drawingml/2006/table">
            <a:tbl>
              <a:tblPr bandRow="1">
                <a:tableStyleId>{5C22544A-7EE6-4342-B048-85BDC9FD1C3A}</a:tableStyleId>
              </a:tblPr>
              <a:tblGrid>
                <a:gridCol w="3434436">
                  <a:extLst>
                    <a:ext uri="{9D8B030D-6E8A-4147-A177-3AD203B41FA5}">
                      <a16:colId xmlns:a16="http://schemas.microsoft.com/office/drawing/2014/main" val="2853384005"/>
                    </a:ext>
                  </a:extLst>
                </a:gridCol>
                <a:gridCol w="5972068">
                  <a:extLst>
                    <a:ext uri="{9D8B030D-6E8A-4147-A177-3AD203B41FA5}">
                      <a16:colId xmlns:a16="http://schemas.microsoft.com/office/drawing/2014/main" val="2984053783"/>
                    </a:ext>
                  </a:extLst>
                </a:gridCol>
              </a:tblGrid>
              <a:tr h="247447">
                <a:tc>
                  <a:txBody>
                    <a:bodyPr/>
                    <a:lstStyle/>
                    <a:p>
                      <a:pPr marL="0" marR="0" algn="l" latinLnBrk="0">
                        <a:buNone/>
                      </a:pPr>
                      <a:r>
                        <a:rPr lang="en-US" sz="1300" b="0" i="0" dirty="0" err="1">
                          <a:solidFill>
                            <a:srgbClr val="0E0E0F"/>
                          </a:solidFill>
                          <a:effectLst/>
                          <a:latin typeface="Arial"/>
                        </a:rPr>
                        <a:t>Obszar</a:t>
                      </a:r>
                    </a:p>
                  </a:txBody>
                  <a:tcPr anchor="ctr">
                    <a:lnL>
                      <a:noFill/>
                    </a:lnL>
                    <a:lnR>
                      <a:noFill/>
                    </a:lnR>
                    <a:lnT>
                      <a:noFill/>
                    </a:lnT>
                    <a:lnB>
                      <a:noFill/>
                    </a:lnB>
                    <a:solidFill>
                      <a:srgbClr val="F6F5F4"/>
                    </a:solidFill>
                  </a:tcPr>
                </a:tc>
                <a:tc>
                  <a:txBody>
                    <a:bodyPr/>
                    <a:lstStyle/>
                    <a:p>
                      <a:pPr marL="0" marR="0" algn="l" latinLnBrk="0">
                        <a:buNone/>
                      </a:pPr>
                      <a:r>
                        <a:rPr lang="en-US" sz="1300" b="0" i="0">
                          <a:solidFill>
                            <a:srgbClr val="0E0E0F"/>
                          </a:solidFill>
                          <a:effectLst/>
                          <a:latin typeface="Arial"/>
                        </a:rPr>
                        <a:t>Status</a:t>
                      </a:r>
                      <a:endParaRPr lang="en-US" sz="1300" b="0" i="0" dirty="0">
                        <a:solidFill>
                          <a:srgbClr val="0E0E0F"/>
                        </a:solidFill>
                        <a:effectLst/>
                        <a:latin typeface="Arial"/>
                      </a:endParaRPr>
                    </a:p>
                  </a:txBody>
                  <a:tcPr anchor="ctr">
                    <a:lnL>
                      <a:noFill/>
                    </a:lnL>
                    <a:lnR>
                      <a:noFill/>
                    </a:lnR>
                    <a:lnT>
                      <a:noFill/>
                    </a:lnT>
                    <a:lnB>
                      <a:noFill/>
                    </a:lnB>
                    <a:solidFill>
                      <a:srgbClr val="F6F5F4"/>
                    </a:solidFill>
                  </a:tcPr>
                </a:tc>
                <a:extLst>
                  <a:ext uri="{0D108BD9-81ED-4DB2-BD59-A6C34878D82A}">
                    <a16:rowId xmlns:a16="http://schemas.microsoft.com/office/drawing/2014/main" val="1984491340"/>
                  </a:ext>
                </a:extLst>
              </a:tr>
              <a:tr h="291114">
                <a:tc>
                  <a:txBody>
                    <a:bodyPr/>
                    <a:lstStyle/>
                    <a:p>
                      <a:pPr marL="0" marR="0" algn="l" latinLnBrk="0">
                        <a:buNone/>
                      </a:pPr>
                      <a:r>
                        <a:rPr lang="en-US" sz="1300" b="0" i="0" err="1">
                          <a:solidFill>
                            <a:srgbClr val="0E0E0F"/>
                          </a:solidFill>
                          <a:effectLst/>
                          <a:latin typeface="Arial"/>
                        </a:rPr>
                        <a:t>Przeglądanie</a:t>
                      </a:r>
                      <a:r>
                        <a:rPr lang="en-US" sz="1300" b="0" i="0" dirty="0">
                          <a:solidFill>
                            <a:srgbClr val="0E0E0F"/>
                          </a:solidFill>
                          <a:effectLst/>
                          <a:latin typeface="Arial"/>
                        </a:rPr>
                        <a:t> </a:t>
                      </a:r>
                      <a:r>
                        <a:rPr lang="en-US" sz="1300" b="0" i="0" err="1">
                          <a:solidFill>
                            <a:srgbClr val="0E0E0F"/>
                          </a:solidFill>
                          <a:effectLst/>
                          <a:latin typeface="Arial"/>
                        </a:rPr>
                        <a:t>i</a:t>
                      </a:r>
                      <a:r>
                        <a:rPr lang="en-US" sz="1300" b="0" i="0" dirty="0">
                          <a:solidFill>
                            <a:srgbClr val="0E0E0F"/>
                          </a:solidFill>
                          <a:effectLst/>
                          <a:latin typeface="Arial"/>
                        </a:rPr>
                        <a:t> </a:t>
                      </a:r>
                      <a:r>
                        <a:rPr lang="en-US" sz="1300" b="0" i="0" err="1">
                          <a:solidFill>
                            <a:srgbClr val="0E0E0F"/>
                          </a:solidFill>
                          <a:effectLst/>
                          <a:latin typeface="Arial"/>
                        </a:rPr>
                        <a:t>wyszukiwanie</a:t>
                      </a:r>
                      <a:r>
                        <a:rPr lang="en-US" sz="1300" b="0" i="0" dirty="0">
                          <a:solidFill>
                            <a:srgbClr val="0E0E0F"/>
                          </a:solidFill>
                          <a:effectLst/>
                          <a:latin typeface="Arial"/>
                        </a:rPr>
                        <a:t> </a:t>
                      </a:r>
                      <a:r>
                        <a:rPr lang="en-US" sz="1300" b="0" i="0" err="1">
                          <a:solidFill>
                            <a:srgbClr val="0E0E0F"/>
                          </a:solidFill>
                          <a:effectLst/>
                          <a:latin typeface="Arial"/>
                        </a:rPr>
                        <a:t>ogłoszeń</a:t>
                      </a:r>
                      <a:endParaRPr lang="en-US" sz="1300" b="0" i="0" dirty="0">
                        <a:solidFill>
                          <a:srgbClr val="0E0E0F"/>
                        </a:solidFill>
                        <a:effectLst/>
                        <a:latin typeface="Arial"/>
                      </a:endParaRPr>
                    </a:p>
                  </a:txBody>
                  <a:tcPr anchor="ctr">
                    <a:lnL>
                      <a:noFill/>
                    </a:lnL>
                    <a:lnR>
                      <a:noFill/>
                    </a:lnR>
                    <a:lnT>
                      <a:noFill/>
                    </a:lnT>
                    <a:lnB>
                      <a:noFill/>
                    </a:lnB>
                    <a:solidFill>
                      <a:srgbClr val="F6F5F4"/>
                    </a:solidFill>
                  </a:tcPr>
                </a:tc>
                <a:tc>
                  <a:txBody>
                    <a:bodyPr/>
                    <a:lstStyle/>
                    <a:p>
                      <a:pPr marL="0" marR="0" algn="l" latinLnBrk="0">
                        <a:buNone/>
                      </a:pPr>
                      <a:r>
                        <a:rPr lang="en-US" sz="1300" b="0" i="0" dirty="0">
                          <a:solidFill>
                            <a:srgbClr val="0E0E0F"/>
                          </a:solidFill>
                          <a:effectLst/>
                          <a:latin typeface="Arial"/>
                        </a:rPr>
                        <a:t>✅ </a:t>
                      </a:r>
                      <a:r>
                        <a:rPr lang="en-US" sz="1300" b="0" i="0" dirty="0" err="1">
                          <a:solidFill>
                            <a:srgbClr val="0E0E0F"/>
                          </a:solidFill>
                          <a:effectLst/>
                          <a:latin typeface="Arial"/>
                        </a:rPr>
                        <a:t>Kompletne</a:t>
                      </a:r>
                      <a:r>
                        <a:rPr lang="en-US" sz="1300" b="0" i="0" dirty="0">
                          <a:solidFill>
                            <a:srgbClr val="0E0E0F"/>
                          </a:solidFill>
                          <a:effectLst/>
                          <a:latin typeface="Arial"/>
                        </a:rPr>
                        <a:t> (</a:t>
                      </a:r>
                      <a:r>
                        <a:rPr lang="en-US" sz="1300" b="0" i="0" dirty="0" err="1">
                          <a:solidFill>
                            <a:srgbClr val="0E0E0F"/>
                          </a:solidFill>
                          <a:effectLst/>
                          <a:latin typeface="Arial"/>
                        </a:rPr>
                        <a:t>filtry</a:t>
                      </a:r>
                      <a:r>
                        <a:rPr lang="en-US" sz="1300" b="0" i="0" dirty="0">
                          <a:solidFill>
                            <a:srgbClr val="0E0E0F"/>
                          </a:solidFill>
                          <a:effectLst/>
                          <a:latin typeface="Arial"/>
                        </a:rPr>
                        <a:t>, </a:t>
                      </a:r>
                      <a:r>
                        <a:rPr lang="en-US" sz="1300" b="0" i="0" dirty="0" err="1">
                          <a:solidFill>
                            <a:srgbClr val="0E0E0F"/>
                          </a:solidFill>
                          <a:effectLst/>
                          <a:latin typeface="Arial"/>
                        </a:rPr>
                        <a:t>sortowanie</a:t>
                      </a:r>
                      <a:r>
                        <a:rPr lang="en-US" sz="1300" b="0" i="0" dirty="0">
                          <a:solidFill>
                            <a:srgbClr val="0E0E0F"/>
                          </a:solidFill>
                          <a:effectLst/>
                          <a:latin typeface="Arial"/>
                        </a:rPr>
                        <a:t>, </a:t>
                      </a:r>
                      <a:r>
                        <a:rPr lang="en-US" sz="1300" b="0" i="0" dirty="0" err="1">
                          <a:solidFill>
                            <a:srgbClr val="0E0E0F"/>
                          </a:solidFill>
                          <a:effectLst/>
                          <a:latin typeface="Arial"/>
                        </a:rPr>
                        <a:t>wyszukiwanie</a:t>
                      </a:r>
                      <a:r>
                        <a:rPr lang="en-US" sz="1300" b="0" i="0" dirty="0">
                          <a:solidFill>
                            <a:srgbClr val="0E0E0F"/>
                          </a:solidFill>
                          <a:effectLst/>
                          <a:latin typeface="Arial"/>
                        </a:rPr>
                        <a:t> </a:t>
                      </a:r>
                      <a:r>
                        <a:rPr lang="en-US" sz="1300" b="0" i="0" dirty="0" err="1">
                          <a:solidFill>
                            <a:srgbClr val="0E0E0F"/>
                          </a:solidFill>
                          <a:effectLst/>
                          <a:latin typeface="Arial"/>
                        </a:rPr>
                        <a:t>pełnotekstowe</a:t>
                      </a:r>
                      <a:r>
                        <a:rPr lang="en-US" sz="1300" b="0" i="0" dirty="0">
                          <a:solidFill>
                            <a:srgbClr val="0E0E0F"/>
                          </a:solidFill>
                          <a:effectLst/>
                          <a:latin typeface="Arial"/>
                        </a:rPr>
                        <a:t>, </a:t>
                      </a:r>
                      <a:r>
                        <a:rPr lang="en-US" sz="1300" b="0" i="0" dirty="0" err="1">
                          <a:solidFill>
                            <a:srgbClr val="0E0E0F"/>
                          </a:solidFill>
                          <a:effectLst/>
                          <a:latin typeface="Arial"/>
                        </a:rPr>
                        <a:t>filtr</a:t>
                      </a:r>
                      <a:r>
                        <a:rPr lang="en-US" sz="1300" b="0" i="0" dirty="0">
                          <a:solidFill>
                            <a:srgbClr val="0E0E0F"/>
                          </a:solidFill>
                          <a:effectLst/>
                          <a:latin typeface="Arial"/>
                        </a:rPr>
                        <a:t> </a:t>
                      </a:r>
                      <a:r>
                        <a:rPr lang="en-US" sz="1300" b="0" i="0" dirty="0" err="1">
                          <a:solidFill>
                            <a:srgbClr val="0E0E0F"/>
                          </a:solidFill>
                          <a:effectLst/>
                          <a:latin typeface="Arial"/>
                        </a:rPr>
                        <a:t>odległości</a:t>
                      </a:r>
                      <a:r>
                        <a:rPr lang="en-US" sz="1300" b="0" i="0" dirty="0">
                          <a:solidFill>
                            <a:srgbClr val="0E0E0F"/>
                          </a:solidFill>
                          <a:effectLst/>
                          <a:latin typeface="Arial"/>
                        </a:rPr>
                        <a:t>)</a:t>
                      </a:r>
                    </a:p>
                  </a:txBody>
                  <a:tcPr anchor="ctr">
                    <a:lnL>
                      <a:noFill/>
                    </a:lnL>
                    <a:lnR>
                      <a:noFill/>
                    </a:lnR>
                    <a:lnT>
                      <a:noFill/>
                    </a:lnT>
                    <a:lnB>
                      <a:noFill/>
                    </a:lnB>
                    <a:solidFill>
                      <a:srgbClr val="F6F5F4"/>
                    </a:solidFill>
                  </a:tcPr>
                </a:tc>
                <a:extLst>
                  <a:ext uri="{0D108BD9-81ED-4DB2-BD59-A6C34878D82A}">
                    <a16:rowId xmlns:a16="http://schemas.microsoft.com/office/drawing/2014/main" val="4013634683"/>
                  </a:ext>
                </a:extLst>
              </a:tr>
              <a:tr h="276559">
                <a:tc>
                  <a:txBody>
                    <a:bodyPr/>
                    <a:lstStyle/>
                    <a:p>
                      <a:pPr marL="0" marR="0" algn="l" latinLnBrk="0">
                        <a:buNone/>
                      </a:pPr>
                      <a:r>
                        <a:rPr lang="en-US" sz="1300" b="0" i="0" dirty="0" err="1">
                          <a:solidFill>
                            <a:srgbClr val="0E0E0F"/>
                          </a:solidFill>
                          <a:effectLst/>
                          <a:latin typeface="Arial"/>
                        </a:rPr>
                        <a:t>Rejestracja</a:t>
                      </a:r>
                      <a:r>
                        <a:rPr lang="en-US" sz="1300" b="0" i="0" dirty="0">
                          <a:solidFill>
                            <a:srgbClr val="0E0E0F"/>
                          </a:solidFill>
                          <a:effectLst/>
                          <a:latin typeface="Arial"/>
                        </a:rPr>
                        <a:t>, </a:t>
                      </a:r>
                      <a:r>
                        <a:rPr lang="en-US" sz="1300" b="0" i="0" dirty="0" err="1">
                          <a:solidFill>
                            <a:srgbClr val="0E0E0F"/>
                          </a:solidFill>
                          <a:effectLst/>
                          <a:latin typeface="Arial"/>
                        </a:rPr>
                        <a:t>logowanie</a:t>
                      </a:r>
                      <a:r>
                        <a:rPr lang="en-US" sz="1300" b="0" i="0" dirty="0">
                          <a:solidFill>
                            <a:srgbClr val="0E0E0F"/>
                          </a:solidFill>
                          <a:effectLst/>
                          <a:latin typeface="Arial"/>
                        </a:rPr>
                        <a:t>, profile</a:t>
                      </a:r>
                    </a:p>
                  </a:txBody>
                  <a:tcPr anchor="ctr">
                    <a:lnL>
                      <a:noFill/>
                    </a:lnL>
                    <a:lnR>
                      <a:noFill/>
                    </a:lnR>
                    <a:lnT>
                      <a:noFill/>
                    </a:lnT>
                    <a:lnB>
                      <a:noFill/>
                    </a:lnB>
                    <a:solidFill>
                      <a:srgbClr val="F6F5F4"/>
                    </a:solidFill>
                  </a:tcPr>
                </a:tc>
                <a:tc>
                  <a:txBody>
                    <a:bodyPr/>
                    <a:lstStyle/>
                    <a:p>
                      <a:pPr marL="0" marR="0" algn="l" latinLnBrk="0">
                        <a:buNone/>
                      </a:pPr>
                      <a:r>
                        <a:rPr lang="en-US" sz="1300" b="0" i="0" dirty="0">
                          <a:solidFill>
                            <a:srgbClr val="0E0E0F"/>
                          </a:solidFill>
                          <a:effectLst/>
                          <a:latin typeface="Arial"/>
                        </a:rPr>
                        <a:t>✅ </a:t>
                      </a:r>
                      <a:r>
                        <a:rPr lang="en-US" sz="1300" b="0" i="0" dirty="0" err="1">
                          <a:solidFill>
                            <a:srgbClr val="0E0E0F"/>
                          </a:solidFill>
                          <a:effectLst/>
                          <a:latin typeface="Arial"/>
                        </a:rPr>
                        <a:t>Kompletne</a:t>
                      </a:r>
                      <a:r>
                        <a:rPr lang="en-US" sz="1300" b="0" i="0" dirty="0">
                          <a:solidFill>
                            <a:srgbClr val="0E0E0F"/>
                          </a:solidFill>
                          <a:effectLst/>
                          <a:latin typeface="Arial"/>
                        </a:rPr>
                        <a:t> (</a:t>
                      </a:r>
                      <a:r>
                        <a:rPr lang="en-US" sz="1300" b="0" i="0" dirty="0" err="1">
                          <a:solidFill>
                            <a:srgbClr val="0E0E0F"/>
                          </a:solidFill>
                          <a:effectLst/>
                          <a:latin typeface="Arial"/>
                        </a:rPr>
                        <a:t>uwierzytelnianie</a:t>
                      </a:r>
                      <a:r>
                        <a:rPr lang="en-US" sz="1300" b="0" i="0" dirty="0">
                          <a:solidFill>
                            <a:srgbClr val="0E0E0F"/>
                          </a:solidFill>
                          <a:effectLst/>
                          <a:latin typeface="Arial"/>
                        </a:rPr>
                        <a:t> </a:t>
                      </a:r>
                      <a:r>
                        <a:rPr lang="en-US" sz="1300" b="0" i="0" dirty="0" err="1">
                          <a:solidFill>
                            <a:srgbClr val="0E0E0F"/>
                          </a:solidFill>
                          <a:effectLst/>
                          <a:latin typeface="Arial"/>
                        </a:rPr>
                        <a:t>własne</a:t>
                      </a:r>
                      <a:r>
                        <a:rPr lang="en-US" sz="1300" b="0" i="0" dirty="0">
                          <a:solidFill>
                            <a:srgbClr val="0E0E0F"/>
                          </a:solidFill>
                          <a:effectLst/>
                          <a:latin typeface="Arial"/>
                        </a:rPr>
                        <a:t>, </a:t>
                      </a:r>
                      <a:r>
                        <a:rPr lang="en-US" sz="1300" b="0" i="0" dirty="0" err="1">
                          <a:solidFill>
                            <a:srgbClr val="0E0E0F"/>
                          </a:solidFill>
                          <a:effectLst/>
                          <a:latin typeface="Arial"/>
                        </a:rPr>
                        <a:t>geokodowanie</a:t>
                      </a:r>
                      <a:r>
                        <a:rPr lang="en-US" sz="1300" b="0" i="0" dirty="0">
                          <a:solidFill>
                            <a:srgbClr val="0E0E0F"/>
                          </a:solidFill>
                          <a:effectLst/>
                          <a:latin typeface="Arial"/>
                        </a:rPr>
                        <a:t> </a:t>
                      </a:r>
                      <a:r>
                        <a:rPr lang="en-US" sz="1300" b="0" i="0" dirty="0" err="1">
                          <a:solidFill>
                            <a:srgbClr val="0E0E0F"/>
                          </a:solidFill>
                          <a:effectLst/>
                          <a:latin typeface="Arial"/>
                        </a:rPr>
                        <a:t>adresu</a:t>
                      </a:r>
                      <a:r>
                        <a:rPr lang="en-US" sz="1300" b="0" i="0" dirty="0">
                          <a:solidFill>
                            <a:srgbClr val="0E0E0F"/>
                          </a:solidFill>
                          <a:effectLst/>
                          <a:latin typeface="Arial"/>
                        </a:rPr>
                        <a:t>)</a:t>
                      </a:r>
                    </a:p>
                  </a:txBody>
                  <a:tcPr anchor="ctr">
                    <a:lnL>
                      <a:noFill/>
                    </a:lnL>
                    <a:lnR>
                      <a:noFill/>
                    </a:lnR>
                    <a:lnT>
                      <a:noFill/>
                    </a:lnT>
                    <a:lnB>
                      <a:noFill/>
                    </a:lnB>
                    <a:solidFill>
                      <a:srgbClr val="F6F5F4"/>
                    </a:solidFill>
                  </a:tcPr>
                </a:tc>
                <a:extLst>
                  <a:ext uri="{0D108BD9-81ED-4DB2-BD59-A6C34878D82A}">
                    <a16:rowId xmlns:a16="http://schemas.microsoft.com/office/drawing/2014/main" val="2749548775"/>
                  </a:ext>
                </a:extLst>
              </a:tr>
              <a:tr h="276559">
                <a:tc>
                  <a:txBody>
                    <a:bodyPr/>
                    <a:lstStyle/>
                    <a:p>
                      <a:pPr marL="0" marR="0" algn="l" latinLnBrk="0">
                        <a:buNone/>
                      </a:pPr>
                      <a:r>
                        <a:rPr lang="en-US" sz="1300" b="0" i="0" dirty="0" err="1">
                          <a:solidFill>
                            <a:srgbClr val="0E0E0F"/>
                          </a:solidFill>
                          <a:effectLst/>
                          <a:latin typeface="Arial"/>
                        </a:rPr>
                        <a:t>Wystawianie</a:t>
                      </a:r>
                      <a:r>
                        <a:rPr lang="en-US" sz="1300" b="0" i="0" dirty="0">
                          <a:solidFill>
                            <a:srgbClr val="0E0E0F"/>
                          </a:solidFill>
                          <a:effectLst/>
                          <a:latin typeface="Arial"/>
                        </a:rPr>
                        <a:t> </a:t>
                      </a:r>
                      <a:r>
                        <a:rPr lang="en-US" sz="1300" b="0" i="0" dirty="0" err="1">
                          <a:solidFill>
                            <a:srgbClr val="0E0E0F"/>
                          </a:solidFill>
                          <a:effectLst/>
                          <a:latin typeface="Arial"/>
                        </a:rPr>
                        <a:t>ogłoszeń</a:t>
                      </a:r>
                      <a:r>
                        <a:rPr lang="en-US" sz="1300" b="0" i="0" dirty="0">
                          <a:solidFill>
                            <a:srgbClr val="0E0E0F"/>
                          </a:solidFill>
                          <a:effectLst/>
                          <a:latin typeface="Arial"/>
                        </a:rPr>
                        <a:t> (</a:t>
                      </a:r>
                      <a:r>
                        <a:rPr lang="en-US" sz="1300" b="0" i="0" dirty="0" err="1">
                          <a:solidFill>
                            <a:srgbClr val="0E0E0F"/>
                          </a:solidFill>
                          <a:effectLst/>
                          <a:latin typeface="Arial"/>
                        </a:rPr>
                        <a:t>sprzedaż</a:t>
                      </a:r>
                      <a:r>
                        <a:rPr lang="en-US" sz="1300" b="0" i="0" dirty="0">
                          <a:solidFill>
                            <a:srgbClr val="0E0E0F"/>
                          </a:solidFill>
                          <a:effectLst/>
                          <a:latin typeface="Arial"/>
                        </a:rPr>
                        <a:t> </a:t>
                      </a:r>
                      <a:r>
                        <a:rPr lang="en-US" sz="1300" b="0" i="0" dirty="0" err="1">
                          <a:solidFill>
                            <a:srgbClr val="0E0E0F"/>
                          </a:solidFill>
                          <a:effectLst/>
                          <a:latin typeface="Arial"/>
                        </a:rPr>
                        <a:t>i</a:t>
                      </a:r>
                      <a:r>
                        <a:rPr lang="en-US" sz="1300" b="0" i="0" dirty="0">
                          <a:solidFill>
                            <a:srgbClr val="0E0E0F"/>
                          </a:solidFill>
                          <a:effectLst/>
                          <a:latin typeface="Arial"/>
                        </a:rPr>
                        <a:t> </a:t>
                      </a:r>
                      <a:r>
                        <a:rPr lang="en-US" sz="1300" b="0" i="0" dirty="0" err="1">
                          <a:solidFill>
                            <a:srgbClr val="0E0E0F"/>
                          </a:solidFill>
                          <a:effectLst/>
                          <a:latin typeface="Arial"/>
                        </a:rPr>
                        <a:t>wymiana</a:t>
                      </a:r>
                      <a:r>
                        <a:rPr lang="en-US" sz="1300" b="0" i="0" dirty="0">
                          <a:solidFill>
                            <a:srgbClr val="0E0E0F"/>
                          </a:solidFill>
                          <a:effectLst/>
                          <a:latin typeface="Arial"/>
                        </a:rPr>
                        <a:t>)</a:t>
                      </a:r>
                    </a:p>
                  </a:txBody>
                  <a:tcPr anchor="ctr">
                    <a:lnL>
                      <a:noFill/>
                    </a:lnL>
                    <a:lnR>
                      <a:noFill/>
                    </a:lnR>
                    <a:lnT>
                      <a:noFill/>
                    </a:lnT>
                    <a:lnB>
                      <a:noFill/>
                    </a:lnB>
                    <a:solidFill>
                      <a:srgbClr val="F6F5F4"/>
                    </a:solidFill>
                  </a:tcPr>
                </a:tc>
                <a:tc>
                  <a:txBody>
                    <a:bodyPr/>
                    <a:lstStyle/>
                    <a:p>
                      <a:pPr marL="0" marR="0" algn="l" latinLnBrk="0">
                        <a:buNone/>
                      </a:pPr>
                      <a:r>
                        <a:rPr lang="en-US" sz="1300" b="0" i="0" dirty="0">
                          <a:solidFill>
                            <a:srgbClr val="0E0E0F"/>
                          </a:solidFill>
                          <a:effectLst/>
                          <a:latin typeface="Arial"/>
                        </a:rPr>
                        <a:t>✅ </a:t>
                      </a:r>
                      <a:r>
                        <a:rPr lang="en-US" sz="1300" b="0" i="0" dirty="0" err="1">
                          <a:solidFill>
                            <a:srgbClr val="0E0E0F"/>
                          </a:solidFill>
                          <a:effectLst/>
                          <a:latin typeface="Arial"/>
                        </a:rPr>
                        <a:t>Kompletne</a:t>
                      </a:r>
                      <a:r>
                        <a:rPr lang="en-US" sz="1300" b="0" i="0" dirty="0">
                          <a:solidFill>
                            <a:srgbClr val="0E0E0F"/>
                          </a:solidFill>
                          <a:effectLst/>
                          <a:latin typeface="Arial"/>
                        </a:rPr>
                        <a:t> (</a:t>
                      </a:r>
                      <a:r>
                        <a:rPr lang="en-US" sz="1300" b="0" i="0" dirty="0" err="1">
                          <a:solidFill>
                            <a:srgbClr val="0E0E0F"/>
                          </a:solidFill>
                          <a:effectLst/>
                          <a:latin typeface="Arial"/>
                        </a:rPr>
                        <a:t>zdjęcia</a:t>
                      </a:r>
                      <a:r>
                        <a:rPr lang="en-US" sz="1300" b="0" i="0" dirty="0">
                          <a:solidFill>
                            <a:srgbClr val="0E0E0F"/>
                          </a:solidFill>
                          <a:effectLst/>
                          <a:latin typeface="Arial"/>
                        </a:rPr>
                        <a:t>, </a:t>
                      </a:r>
                      <a:r>
                        <a:rPr lang="en-US" sz="1300" b="0" i="0" dirty="0" err="1">
                          <a:solidFill>
                            <a:srgbClr val="0E0E0F"/>
                          </a:solidFill>
                          <a:effectLst/>
                          <a:latin typeface="Arial"/>
                        </a:rPr>
                        <a:t>tagi</a:t>
                      </a:r>
                      <a:r>
                        <a:rPr lang="en-US" sz="1300" b="0" i="0" dirty="0">
                          <a:solidFill>
                            <a:srgbClr val="0E0E0F"/>
                          </a:solidFill>
                          <a:effectLst/>
                          <a:latin typeface="Arial"/>
                        </a:rPr>
                        <a:t>, </a:t>
                      </a:r>
                      <a:r>
                        <a:rPr lang="en-US" sz="1300" b="0" i="0" dirty="0" err="1">
                          <a:solidFill>
                            <a:srgbClr val="0E0E0F"/>
                          </a:solidFill>
                          <a:effectLst/>
                          <a:latin typeface="Arial"/>
                        </a:rPr>
                        <a:t>opcje</a:t>
                      </a:r>
                      <a:r>
                        <a:rPr lang="en-US" sz="1300" b="0" i="0" dirty="0">
                          <a:solidFill>
                            <a:srgbClr val="0E0E0F"/>
                          </a:solidFill>
                          <a:effectLst/>
                          <a:latin typeface="Arial"/>
                        </a:rPr>
                        <a:t> </a:t>
                      </a:r>
                      <a:r>
                        <a:rPr lang="en-US" sz="1300" b="0" i="0" dirty="0" err="1">
                          <a:solidFill>
                            <a:srgbClr val="0E0E0F"/>
                          </a:solidFill>
                          <a:effectLst/>
                          <a:latin typeface="Arial"/>
                        </a:rPr>
                        <a:t>dostawy</a:t>
                      </a:r>
                      <a:r>
                        <a:rPr lang="en-US" sz="1300" b="0" i="0" dirty="0">
                          <a:solidFill>
                            <a:srgbClr val="0E0E0F"/>
                          </a:solidFill>
                          <a:effectLst/>
                          <a:latin typeface="Arial"/>
                        </a:rPr>
                        <a:t>, </a:t>
                      </a:r>
                      <a:r>
                        <a:rPr lang="en-US" sz="1300" b="0" i="0" dirty="0" err="1">
                          <a:solidFill>
                            <a:srgbClr val="0E0E0F"/>
                          </a:solidFill>
                          <a:effectLst/>
                          <a:latin typeface="Arial"/>
                        </a:rPr>
                        <a:t>ogłoszenia</a:t>
                      </a:r>
                      <a:r>
                        <a:rPr lang="en-US" sz="1300" b="0" i="0" dirty="0">
                          <a:solidFill>
                            <a:srgbClr val="0E0E0F"/>
                          </a:solidFill>
                          <a:effectLst/>
                          <a:latin typeface="Arial"/>
                        </a:rPr>
                        <a:t> </a:t>
                      </a:r>
                      <a:r>
                        <a:rPr lang="en-US" sz="1300" b="0" i="0" dirty="0" err="1">
                          <a:solidFill>
                            <a:srgbClr val="0E0E0F"/>
                          </a:solidFill>
                          <a:effectLst/>
                          <a:latin typeface="Arial"/>
                        </a:rPr>
                        <a:t>prywatne</a:t>
                      </a:r>
                      <a:r>
                        <a:rPr lang="en-US" sz="1300" b="0" i="0" dirty="0">
                          <a:solidFill>
                            <a:srgbClr val="0E0E0F"/>
                          </a:solidFill>
                          <a:effectLst/>
                          <a:latin typeface="Arial"/>
                        </a:rPr>
                        <a:t>)</a:t>
                      </a:r>
                    </a:p>
                  </a:txBody>
                  <a:tcPr anchor="ctr">
                    <a:lnL>
                      <a:noFill/>
                    </a:lnL>
                    <a:lnR>
                      <a:noFill/>
                    </a:lnR>
                    <a:lnT>
                      <a:noFill/>
                    </a:lnT>
                    <a:lnB>
                      <a:noFill/>
                    </a:lnB>
                    <a:solidFill>
                      <a:srgbClr val="F6F5F4"/>
                    </a:solidFill>
                  </a:tcPr>
                </a:tc>
                <a:extLst>
                  <a:ext uri="{0D108BD9-81ED-4DB2-BD59-A6C34878D82A}">
                    <a16:rowId xmlns:a16="http://schemas.microsoft.com/office/drawing/2014/main" val="1916220498"/>
                  </a:ext>
                </a:extLst>
              </a:tr>
              <a:tr h="276559">
                <a:tc>
                  <a:txBody>
                    <a:bodyPr/>
                    <a:lstStyle/>
                    <a:p>
                      <a:pPr marL="0" marR="0" algn="l" latinLnBrk="0">
                        <a:buNone/>
                      </a:pPr>
                      <a:r>
                        <a:rPr lang="en-US" sz="1300" b="0" i="0" dirty="0" err="1">
                          <a:solidFill>
                            <a:srgbClr val="0E0E0F"/>
                          </a:solidFill>
                          <a:effectLst/>
                          <a:latin typeface="Arial"/>
                        </a:rPr>
                        <a:t>Płatności</a:t>
                      </a:r>
                      <a:r>
                        <a:rPr lang="en-US" sz="1300" b="0" i="0" dirty="0">
                          <a:solidFill>
                            <a:srgbClr val="0E0E0F"/>
                          </a:solidFill>
                          <a:effectLst/>
                          <a:latin typeface="Arial"/>
                        </a:rPr>
                        <a:t> PayU (</a:t>
                      </a:r>
                      <a:r>
                        <a:rPr lang="en-US" sz="1300" b="0" i="0" dirty="0" err="1">
                          <a:solidFill>
                            <a:srgbClr val="0E0E0F"/>
                          </a:solidFill>
                          <a:effectLst/>
                          <a:latin typeface="Arial"/>
                        </a:rPr>
                        <a:t>zakup</a:t>
                      </a:r>
                      <a:r>
                        <a:rPr lang="en-US" sz="1300" b="0" i="0" dirty="0">
                          <a:solidFill>
                            <a:srgbClr val="0E0E0F"/>
                          </a:solidFill>
                          <a:effectLst/>
                          <a:latin typeface="Arial"/>
                        </a:rPr>
                        <a:t>)</a:t>
                      </a:r>
                    </a:p>
                  </a:txBody>
                  <a:tcPr anchor="ctr">
                    <a:lnL>
                      <a:noFill/>
                    </a:lnL>
                    <a:lnR>
                      <a:noFill/>
                    </a:lnR>
                    <a:lnT>
                      <a:noFill/>
                    </a:lnT>
                    <a:lnB>
                      <a:noFill/>
                    </a:lnB>
                    <a:solidFill>
                      <a:srgbClr val="F6F5F4"/>
                    </a:solidFill>
                  </a:tcPr>
                </a:tc>
                <a:tc>
                  <a:txBody>
                    <a:bodyPr/>
                    <a:lstStyle/>
                    <a:p>
                      <a:pPr marL="0" marR="0" algn="l" latinLnBrk="0">
                        <a:buNone/>
                      </a:pPr>
                      <a:r>
                        <a:rPr lang="en-US" sz="1300" b="0" i="0" dirty="0">
                          <a:solidFill>
                            <a:srgbClr val="0E0E0F"/>
                          </a:solidFill>
                          <a:effectLst/>
                          <a:latin typeface="Arial"/>
                        </a:rPr>
                        <a:t>✅ </a:t>
                      </a:r>
                      <a:r>
                        <a:rPr lang="en-US" sz="1300" b="0" i="0" dirty="0" err="1">
                          <a:solidFill>
                            <a:srgbClr val="0E0E0F"/>
                          </a:solidFill>
                          <a:effectLst/>
                          <a:latin typeface="Arial"/>
                        </a:rPr>
                        <a:t>Kompletne</a:t>
                      </a:r>
                      <a:r>
                        <a:rPr lang="en-US" sz="1300" b="0" i="0" dirty="0">
                          <a:solidFill>
                            <a:srgbClr val="0E0E0F"/>
                          </a:solidFill>
                          <a:effectLst/>
                          <a:latin typeface="Arial"/>
                        </a:rPr>
                        <a:t> (webhook, status </a:t>
                      </a:r>
                      <a:r>
                        <a:rPr lang="en-US" sz="1300" b="0" i="0" dirty="0" err="1">
                          <a:solidFill>
                            <a:srgbClr val="0E0E0F"/>
                          </a:solidFill>
                          <a:effectLst/>
                          <a:latin typeface="Arial"/>
                        </a:rPr>
                        <a:t>zamówień</a:t>
                      </a:r>
                      <a:r>
                        <a:rPr lang="en-US" sz="1300" b="0" i="0" dirty="0">
                          <a:solidFill>
                            <a:srgbClr val="0E0E0F"/>
                          </a:solidFill>
                          <a:effectLst/>
                          <a:latin typeface="Arial"/>
                        </a:rPr>
                        <a:t>, </a:t>
                      </a:r>
                      <a:r>
                        <a:rPr lang="en-US" sz="1300" b="0" i="0" dirty="0" err="1">
                          <a:solidFill>
                            <a:srgbClr val="0E0E0F"/>
                          </a:solidFill>
                          <a:effectLst/>
                          <a:latin typeface="Arial"/>
                        </a:rPr>
                        <a:t>automatyczna</a:t>
                      </a:r>
                      <a:r>
                        <a:rPr lang="en-US" sz="1300" b="0" i="0" dirty="0">
                          <a:solidFill>
                            <a:srgbClr val="0E0E0F"/>
                          </a:solidFill>
                          <a:effectLst/>
                          <a:latin typeface="Arial"/>
                        </a:rPr>
                        <a:t> </a:t>
                      </a:r>
                      <a:r>
                        <a:rPr lang="en-US" sz="1300" b="0" i="0" dirty="0" err="1">
                          <a:solidFill>
                            <a:srgbClr val="0E0E0F"/>
                          </a:solidFill>
                          <a:effectLst/>
                          <a:latin typeface="Arial"/>
                        </a:rPr>
                        <a:t>wypłata</a:t>
                      </a:r>
                      <a:r>
                        <a:rPr lang="en-US" sz="1300" b="0" i="0" dirty="0">
                          <a:solidFill>
                            <a:srgbClr val="0E0E0F"/>
                          </a:solidFill>
                          <a:effectLst/>
                          <a:latin typeface="Arial"/>
                        </a:rPr>
                        <a:t> 95%)</a:t>
                      </a:r>
                    </a:p>
                  </a:txBody>
                  <a:tcPr anchor="ctr">
                    <a:lnL>
                      <a:noFill/>
                    </a:lnL>
                    <a:lnR>
                      <a:noFill/>
                    </a:lnR>
                    <a:lnT>
                      <a:noFill/>
                    </a:lnT>
                    <a:lnB>
                      <a:noFill/>
                    </a:lnB>
                    <a:solidFill>
                      <a:srgbClr val="F6F5F4"/>
                    </a:solidFill>
                  </a:tcPr>
                </a:tc>
                <a:extLst>
                  <a:ext uri="{0D108BD9-81ED-4DB2-BD59-A6C34878D82A}">
                    <a16:rowId xmlns:a16="http://schemas.microsoft.com/office/drawing/2014/main" val="1847194190"/>
                  </a:ext>
                </a:extLst>
              </a:tr>
              <a:tr h="247447">
                <a:tc>
                  <a:txBody>
                    <a:bodyPr/>
                    <a:lstStyle/>
                    <a:p>
                      <a:pPr marL="0" marR="0" algn="l" latinLnBrk="0">
                        <a:buNone/>
                      </a:pPr>
                      <a:r>
                        <a:rPr lang="en-US" sz="1300" b="0" i="0" dirty="0">
                          <a:solidFill>
                            <a:srgbClr val="0E0E0F"/>
                          </a:solidFill>
                          <a:effectLst/>
                          <a:latin typeface="Arial"/>
                        </a:rPr>
                        <a:t>System kart </a:t>
                      </a:r>
                      <a:r>
                        <a:rPr lang="en-US" sz="1300" b="0" i="0" dirty="0" err="1">
                          <a:solidFill>
                            <a:srgbClr val="0E0E0F"/>
                          </a:solidFill>
                          <a:effectLst/>
                          <a:latin typeface="Arial"/>
                        </a:rPr>
                        <a:t>płatniczych</a:t>
                      </a:r>
                      <a:r>
                        <a:rPr lang="en-US" sz="1300" b="0" i="0" dirty="0">
                          <a:solidFill>
                            <a:srgbClr val="0E0E0F"/>
                          </a:solidFill>
                          <a:effectLst/>
                          <a:latin typeface="Arial"/>
                        </a:rPr>
                        <a:t> </a:t>
                      </a:r>
                      <a:r>
                        <a:rPr lang="en-US" sz="1300" b="0" i="0" dirty="0" err="1">
                          <a:solidFill>
                            <a:srgbClr val="0E0E0F"/>
                          </a:solidFill>
                          <a:effectLst/>
                          <a:latin typeface="Arial"/>
                        </a:rPr>
                        <a:t>sprzedawcy</a:t>
                      </a:r>
                      <a:endParaRPr lang="en-US" sz="1300" b="0" i="0" dirty="0">
                        <a:solidFill>
                          <a:srgbClr val="0E0E0F"/>
                        </a:solidFill>
                        <a:effectLst/>
                        <a:latin typeface="Arial"/>
                      </a:endParaRPr>
                    </a:p>
                  </a:txBody>
                  <a:tcPr anchor="ctr">
                    <a:lnL>
                      <a:noFill/>
                    </a:lnL>
                    <a:lnR>
                      <a:noFill/>
                    </a:lnR>
                    <a:lnT>
                      <a:noFill/>
                    </a:lnT>
                    <a:lnB>
                      <a:noFill/>
                    </a:lnB>
                    <a:solidFill>
                      <a:srgbClr val="F6F5F4"/>
                    </a:solidFill>
                  </a:tcPr>
                </a:tc>
                <a:tc>
                  <a:txBody>
                    <a:bodyPr/>
                    <a:lstStyle/>
                    <a:p>
                      <a:pPr marL="0" marR="0" algn="l" latinLnBrk="0">
                        <a:buNone/>
                      </a:pPr>
                      <a:r>
                        <a:rPr lang="en-US" sz="1300" b="0" i="0" dirty="0">
                          <a:solidFill>
                            <a:srgbClr val="0E0E0F"/>
                          </a:solidFill>
                          <a:effectLst/>
                          <a:latin typeface="Arial"/>
                        </a:rPr>
                        <a:t>✅ </a:t>
                      </a:r>
                      <a:r>
                        <a:rPr lang="en-US" sz="1300" b="0" i="0" dirty="0" err="1">
                          <a:solidFill>
                            <a:srgbClr val="0E0E0F"/>
                          </a:solidFill>
                          <a:effectLst/>
                          <a:latin typeface="Arial"/>
                        </a:rPr>
                        <a:t>Kompletne</a:t>
                      </a:r>
                      <a:r>
                        <a:rPr lang="en-US" sz="1300" b="0" i="0" dirty="0">
                          <a:solidFill>
                            <a:srgbClr val="0E0E0F"/>
                          </a:solidFill>
                          <a:effectLst/>
                          <a:latin typeface="Arial"/>
                        </a:rPr>
                        <a:t> (</a:t>
                      </a:r>
                      <a:r>
                        <a:rPr lang="en-US" sz="1300" b="0" i="0" dirty="0" err="1">
                          <a:solidFill>
                            <a:srgbClr val="0E0E0F"/>
                          </a:solidFill>
                          <a:effectLst/>
                          <a:latin typeface="Arial"/>
                        </a:rPr>
                        <a:t>tokenizacja</a:t>
                      </a:r>
                      <a:r>
                        <a:rPr lang="en-US" sz="1300" b="0" i="0" dirty="0">
                          <a:solidFill>
                            <a:srgbClr val="0E0E0F"/>
                          </a:solidFill>
                          <a:effectLst/>
                          <a:latin typeface="Arial"/>
                        </a:rPr>
                        <a:t>, </a:t>
                      </a:r>
                      <a:r>
                        <a:rPr lang="en-US" sz="1300" b="0" i="0" dirty="0" err="1">
                          <a:solidFill>
                            <a:srgbClr val="0E0E0F"/>
                          </a:solidFill>
                          <a:effectLst/>
                          <a:latin typeface="Arial"/>
                        </a:rPr>
                        <a:t>opłata</a:t>
                      </a:r>
                      <a:r>
                        <a:rPr lang="en-US" sz="1300" b="0" i="0" dirty="0">
                          <a:solidFill>
                            <a:srgbClr val="0E0E0F"/>
                          </a:solidFill>
                          <a:effectLst/>
                          <a:latin typeface="Arial"/>
                        </a:rPr>
                        <a:t> za </a:t>
                      </a:r>
                      <a:r>
                        <a:rPr lang="en-US" sz="1300" b="0" i="0" dirty="0" err="1">
                          <a:solidFill>
                            <a:srgbClr val="0E0E0F"/>
                          </a:solidFill>
                          <a:effectLst/>
                          <a:latin typeface="Arial"/>
                        </a:rPr>
                        <a:t>ogłoszenie</a:t>
                      </a:r>
                      <a:r>
                        <a:rPr lang="en-US" sz="1300" b="0" i="0" dirty="0">
                          <a:solidFill>
                            <a:srgbClr val="0E0E0F"/>
                          </a:solidFill>
                          <a:effectLst/>
                          <a:latin typeface="Arial"/>
                        </a:rPr>
                        <a:t>)</a:t>
                      </a:r>
                    </a:p>
                  </a:txBody>
                  <a:tcPr anchor="ctr">
                    <a:lnL>
                      <a:noFill/>
                    </a:lnL>
                    <a:lnR>
                      <a:noFill/>
                    </a:lnR>
                    <a:lnT>
                      <a:noFill/>
                    </a:lnT>
                    <a:lnB>
                      <a:noFill/>
                    </a:lnB>
                    <a:solidFill>
                      <a:srgbClr val="F6F5F4"/>
                    </a:solidFill>
                  </a:tcPr>
                </a:tc>
                <a:extLst>
                  <a:ext uri="{0D108BD9-81ED-4DB2-BD59-A6C34878D82A}">
                    <a16:rowId xmlns:a16="http://schemas.microsoft.com/office/drawing/2014/main" val="1694832012"/>
                  </a:ext>
                </a:extLst>
              </a:tr>
              <a:tr h="276559">
                <a:tc>
                  <a:txBody>
                    <a:bodyPr/>
                    <a:lstStyle/>
                    <a:p>
                      <a:pPr marL="0" marR="0" algn="l" latinLnBrk="0">
                        <a:buNone/>
                      </a:pPr>
                      <a:r>
                        <a:rPr lang="en-US" sz="1300" b="0" i="0" err="1">
                          <a:solidFill>
                            <a:srgbClr val="0E0E0F"/>
                          </a:solidFill>
                          <a:effectLst/>
                          <a:latin typeface="Arial"/>
                        </a:rPr>
                        <a:t>Propozycje</a:t>
                      </a:r>
                      <a:r>
                        <a:rPr lang="en-US" sz="1300" b="0" i="0" dirty="0">
                          <a:solidFill>
                            <a:srgbClr val="0E0E0F"/>
                          </a:solidFill>
                          <a:effectLst/>
                          <a:latin typeface="Arial"/>
                        </a:rPr>
                        <a:t> </a:t>
                      </a:r>
                      <a:r>
                        <a:rPr lang="en-US" sz="1300" b="0" i="0" err="1">
                          <a:solidFill>
                            <a:srgbClr val="0E0E0F"/>
                          </a:solidFill>
                          <a:effectLst/>
                          <a:latin typeface="Arial"/>
                        </a:rPr>
                        <a:t>wymiany</a:t>
                      </a:r>
                      <a:r>
                        <a:rPr lang="en-US" sz="1300" b="0" i="0" dirty="0">
                          <a:solidFill>
                            <a:srgbClr val="0E0E0F"/>
                          </a:solidFill>
                          <a:effectLst/>
                          <a:latin typeface="Arial"/>
                        </a:rPr>
                        <a:t> </a:t>
                      </a:r>
                      <a:r>
                        <a:rPr lang="en-US" sz="1300" b="0" i="0" err="1">
                          <a:solidFill>
                            <a:srgbClr val="0E0E0F"/>
                          </a:solidFill>
                          <a:effectLst/>
                          <a:latin typeface="Arial"/>
                        </a:rPr>
                        <a:t>i</a:t>
                      </a:r>
                      <a:r>
                        <a:rPr lang="en-US" sz="1300" b="0" i="0" dirty="0">
                          <a:solidFill>
                            <a:srgbClr val="0E0E0F"/>
                          </a:solidFill>
                          <a:effectLst/>
                          <a:latin typeface="Arial"/>
                        </a:rPr>
                        <a:t> </a:t>
                      </a:r>
                      <a:r>
                        <a:rPr lang="en-US" sz="1300" b="0" i="0" err="1">
                          <a:solidFill>
                            <a:srgbClr val="0E0E0F"/>
                          </a:solidFill>
                          <a:effectLst/>
                          <a:latin typeface="Arial"/>
                        </a:rPr>
                        <a:t>negocjacje</a:t>
                      </a:r>
                      <a:endParaRPr lang="en-US" sz="1300" b="0" i="0" dirty="0">
                        <a:solidFill>
                          <a:srgbClr val="0E0E0F"/>
                        </a:solidFill>
                        <a:effectLst/>
                        <a:latin typeface="Arial"/>
                      </a:endParaRPr>
                    </a:p>
                  </a:txBody>
                  <a:tcPr anchor="ctr">
                    <a:lnL>
                      <a:noFill/>
                    </a:lnL>
                    <a:lnR>
                      <a:noFill/>
                    </a:lnR>
                    <a:lnT>
                      <a:noFill/>
                    </a:lnT>
                    <a:lnB>
                      <a:noFill/>
                    </a:lnB>
                    <a:solidFill>
                      <a:srgbClr val="F6F5F4"/>
                    </a:solidFill>
                  </a:tcPr>
                </a:tc>
                <a:tc>
                  <a:txBody>
                    <a:bodyPr/>
                    <a:lstStyle/>
                    <a:p>
                      <a:pPr marL="0" marR="0" algn="l" latinLnBrk="0">
                        <a:buNone/>
                      </a:pPr>
                      <a:r>
                        <a:rPr lang="en-US" sz="1300" b="0" i="0" dirty="0">
                          <a:solidFill>
                            <a:srgbClr val="0E0E0F"/>
                          </a:solidFill>
                          <a:effectLst/>
                          <a:latin typeface="Arial"/>
                        </a:rPr>
                        <a:t>✅ </a:t>
                      </a:r>
                      <a:r>
                        <a:rPr lang="en-US" sz="1300" b="0" i="0" dirty="0" err="1">
                          <a:solidFill>
                            <a:srgbClr val="0E0E0F"/>
                          </a:solidFill>
                          <a:effectLst/>
                          <a:latin typeface="Arial"/>
                        </a:rPr>
                        <a:t>Kompletne</a:t>
                      </a:r>
                      <a:r>
                        <a:rPr lang="en-US" sz="1300" b="0" i="0" dirty="0">
                          <a:solidFill>
                            <a:srgbClr val="0E0E0F"/>
                          </a:solidFill>
                          <a:effectLst/>
                          <a:latin typeface="Arial"/>
                        </a:rPr>
                        <a:t> (</a:t>
                      </a:r>
                      <a:r>
                        <a:rPr lang="en-US" sz="1300" b="0" i="0" dirty="0" err="1">
                          <a:solidFill>
                            <a:srgbClr val="0E0E0F"/>
                          </a:solidFill>
                          <a:effectLst/>
                          <a:latin typeface="Arial"/>
                        </a:rPr>
                        <a:t>kontrpropozycje</a:t>
                      </a:r>
                      <a:r>
                        <a:rPr lang="en-US" sz="1300" b="0" i="0" dirty="0">
                          <a:solidFill>
                            <a:srgbClr val="0E0E0F"/>
                          </a:solidFill>
                          <a:effectLst/>
                          <a:latin typeface="Arial"/>
                        </a:rPr>
                        <a:t>, </a:t>
                      </a:r>
                      <a:r>
                        <a:rPr lang="en-US" sz="1300" b="0" i="0" dirty="0" err="1">
                          <a:solidFill>
                            <a:srgbClr val="0E0E0F"/>
                          </a:solidFill>
                          <a:effectLst/>
                          <a:latin typeface="Arial"/>
                        </a:rPr>
                        <a:t>historia</a:t>
                      </a:r>
                      <a:r>
                        <a:rPr lang="en-US" sz="1300" b="0" i="0" dirty="0">
                          <a:solidFill>
                            <a:srgbClr val="0E0E0F"/>
                          </a:solidFill>
                          <a:effectLst/>
                          <a:latin typeface="Arial"/>
                        </a:rPr>
                        <a:t>, </a:t>
                      </a:r>
                      <a:r>
                        <a:rPr lang="en-US" sz="1300" b="0" i="0" dirty="0" err="1">
                          <a:solidFill>
                            <a:srgbClr val="0E0E0F"/>
                          </a:solidFill>
                          <a:effectLst/>
                          <a:latin typeface="Arial"/>
                        </a:rPr>
                        <a:t>pozycje</a:t>
                      </a:r>
                      <a:r>
                        <a:rPr lang="en-US" sz="1300" b="0" i="0" dirty="0">
                          <a:solidFill>
                            <a:srgbClr val="0E0E0F"/>
                          </a:solidFill>
                          <a:effectLst/>
                          <a:latin typeface="Arial"/>
                        </a:rPr>
                        <a:t> </a:t>
                      </a:r>
                      <a:r>
                        <a:rPr lang="en-US" sz="1300" b="0" i="0" dirty="0" err="1">
                          <a:solidFill>
                            <a:srgbClr val="0E0E0F"/>
                          </a:solidFill>
                          <a:effectLst/>
                          <a:latin typeface="Arial"/>
                        </a:rPr>
                        <a:t>niestandardowe</a:t>
                      </a:r>
                      <a:r>
                        <a:rPr lang="en-US" sz="1300" b="0" i="0" dirty="0">
                          <a:solidFill>
                            <a:srgbClr val="0E0E0F"/>
                          </a:solidFill>
                          <a:effectLst/>
                          <a:latin typeface="Arial"/>
                        </a:rPr>
                        <a:t>)</a:t>
                      </a:r>
                    </a:p>
                  </a:txBody>
                  <a:tcPr anchor="ctr">
                    <a:lnL>
                      <a:noFill/>
                    </a:lnL>
                    <a:lnR>
                      <a:noFill/>
                    </a:lnR>
                    <a:lnT>
                      <a:noFill/>
                    </a:lnT>
                    <a:lnB>
                      <a:noFill/>
                    </a:lnB>
                    <a:solidFill>
                      <a:srgbClr val="F6F5F4"/>
                    </a:solidFill>
                  </a:tcPr>
                </a:tc>
                <a:extLst>
                  <a:ext uri="{0D108BD9-81ED-4DB2-BD59-A6C34878D82A}">
                    <a16:rowId xmlns:a16="http://schemas.microsoft.com/office/drawing/2014/main" val="2846245789"/>
                  </a:ext>
                </a:extLst>
              </a:tr>
              <a:tr h="247447">
                <a:tc>
                  <a:txBody>
                    <a:bodyPr/>
                    <a:lstStyle/>
                    <a:p>
                      <a:pPr marL="0" marR="0" algn="l" latinLnBrk="0">
                        <a:buNone/>
                      </a:pPr>
                      <a:r>
                        <a:rPr lang="en-US" sz="1300" b="0" i="0" err="1">
                          <a:solidFill>
                            <a:srgbClr val="0E0E0F"/>
                          </a:solidFill>
                          <a:effectLst/>
                          <a:latin typeface="Arial"/>
                        </a:rPr>
                        <a:t>Wiadomości</a:t>
                      </a:r>
                      <a:r>
                        <a:rPr lang="en-US" sz="1300" b="0" i="0" dirty="0">
                          <a:solidFill>
                            <a:srgbClr val="0E0E0F"/>
                          </a:solidFill>
                          <a:effectLst/>
                          <a:latin typeface="Arial"/>
                        </a:rPr>
                        <a:t> </a:t>
                      </a:r>
                      <a:r>
                        <a:rPr lang="en-US" sz="1300" b="0" i="0" err="1">
                          <a:solidFill>
                            <a:srgbClr val="0E0E0F"/>
                          </a:solidFill>
                          <a:effectLst/>
                          <a:latin typeface="Arial"/>
                        </a:rPr>
                        <a:t>między</a:t>
                      </a:r>
                      <a:r>
                        <a:rPr lang="en-US" sz="1300" b="0" i="0" dirty="0">
                          <a:solidFill>
                            <a:srgbClr val="0E0E0F"/>
                          </a:solidFill>
                          <a:effectLst/>
                          <a:latin typeface="Arial"/>
                        </a:rPr>
                        <a:t> </a:t>
                      </a:r>
                      <a:r>
                        <a:rPr lang="en-US" sz="1300" b="0" i="0" err="1">
                          <a:solidFill>
                            <a:srgbClr val="0E0E0F"/>
                          </a:solidFill>
                          <a:effectLst/>
                          <a:latin typeface="Arial"/>
                        </a:rPr>
                        <a:t>użytkownikami</a:t>
                      </a:r>
                      <a:endParaRPr lang="en-US" sz="1300" b="0" i="0" dirty="0">
                        <a:solidFill>
                          <a:srgbClr val="0E0E0F"/>
                        </a:solidFill>
                        <a:effectLst/>
                        <a:latin typeface="Arial"/>
                      </a:endParaRPr>
                    </a:p>
                  </a:txBody>
                  <a:tcPr anchor="ctr">
                    <a:lnL>
                      <a:noFill/>
                    </a:lnL>
                    <a:lnR>
                      <a:noFill/>
                    </a:lnR>
                    <a:lnT>
                      <a:noFill/>
                    </a:lnT>
                    <a:lnB>
                      <a:noFill/>
                    </a:lnB>
                    <a:solidFill>
                      <a:srgbClr val="F6F5F4"/>
                    </a:solidFill>
                  </a:tcPr>
                </a:tc>
                <a:tc>
                  <a:txBody>
                    <a:bodyPr/>
                    <a:lstStyle/>
                    <a:p>
                      <a:pPr marL="0" marR="0" algn="l" latinLnBrk="0">
                        <a:buNone/>
                      </a:pPr>
                      <a:r>
                        <a:rPr lang="en-US" sz="1300" b="0" i="0" dirty="0">
                          <a:solidFill>
                            <a:srgbClr val="0E0E0F"/>
                          </a:solidFill>
                          <a:effectLst/>
                          <a:latin typeface="Arial"/>
                        </a:rPr>
                        <a:t>✅ </a:t>
                      </a:r>
                      <a:r>
                        <a:rPr lang="en-US" sz="1300" b="0" i="0" dirty="0" err="1">
                          <a:solidFill>
                            <a:srgbClr val="0E0E0F"/>
                          </a:solidFill>
                          <a:effectLst/>
                          <a:latin typeface="Arial"/>
                        </a:rPr>
                        <a:t>Kompletne</a:t>
                      </a:r>
                      <a:r>
                        <a:rPr lang="en-US" sz="1300" b="0" i="0" dirty="0">
                          <a:solidFill>
                            <a:srgbClr val="0E0E0F"/>
                          </a:solidFill>
                          <a:effectLst/>
                          <a:latin typeface="Arial"/>
                        </a:rPr>
                        <a:t> (</a:t>
                      </a:r>
                      <a:r>
                        <a:rPr lang="en-US" sz="1300" b="0" i="0" dirty="0" err="1">
                          <a:solidFill>
                            <a:srgbClr val="0E0E0F"/>
                          </a:solidFill>
                          <a:effectLst/>
                          <a:latin typeface="Arial"/>
                        </a:rPr>
                        <a:t>wątki</a:t>
                      </a:r>
                      <a:r>
                        <a:rPr lang="en-US" sz="1300" b="0" i="0" dirty="0">
                          <a:solidFill>
                            <a:srgbClr val="0E0E0F"/>
                          </a:solidFill>
                          <a:effectLst/>
                          <a:latin typeface="Arial"/>
                        </a:rPr>
                        <a:t>, </a:t>
                      </a:r>
                      <a:r>
                        <a:rPr lang="en-US" sz="1300" b="0" i="0" dirty="0" err="1">
                          <a:solidFill>
                            <a:srgbClr val="0E0E0F"/>
                          </a:solidFill>
                          <a:effectLst/>
                          <a:latin typeface="Arial"/>
                        </a:rPr>
                        <a:t>cytowanie</a:t>
                      </a:r>
                      <a:r>
                        <a:rPr lang="en-US" sz="1300" b="0" i="0" dirty="0">
                          <a:solidFill>
                            <a:srgbClr val="0E0E0F"/>
                          </a:solidFill>
                          <a:effectLst/>
                          <a:latin typeface="Arial"/>
                        </a:rPr>
                        <a:t>, </a:t>
                      </a:r>
                      <a:r>
                        <a:rPr lang="en-US" sz="1300" b="0" i="0" dirty="0" err="1">
                          <a:solidFill>
                            <a:srgbClr val="0E0E0F"/>
                          </a:solidFill>
                          <a:effectLst/>
                          <a:latin typeface="Arial"/>
                        </a:rPr>
                        <a:t>zdjęcia</a:t>
                      </a:r>
                      <a:r>
                        <a:rPr lang="en-US" sz="1300" b="0" i="0" dirty="0">
                          <a:solidFill>
                            <a:srgbClr val="0E0E0F"/>
                          </a:solidFill>
                          <a:effectLst/>
                          <a:latin typeface="Arial"/>
                        </a:rPr>
                        <a:t>)</a:t>
                      </a:r>
                    </a:p>
                  </a:txBody>
                  <a:tcPr anchor="ctr">
                    <a:lnL>
                      <a:noFill/>
                    </a:lnL>
                    <a:lnR>
                      <a:noFill/>
                    </a:lnR>
                    <a:lnT>
                      <a:noFill/>
                    </a:lnT>
                    <a:lnB>
                      <a:noFill/>
                    </a:lnB>
                    <a:solidFill>
                      <a:srgbClr val="F6F5F4"/>
                    </a:solidFill>
                  </a:tcPr>
                </a:tc>
                <a:extLst>
                  <a:ext uri="{0D108BD9-81ED-4DB2-BD59-A6C34878D82A}">
                    <a16:rowId xmlns:a16="http://schemas.microsoft.com/office/drawing/2014/main" val="2325074239"/>
                  </a:ext>
                </a:extLst>
              </a:tr>
              <a:tr h="247447">
                <a:tc>
                  <a:txBody>
                    <a:bodyPr/>
                    <a:lstStyle/>
                    <a:p>
                      <a:pPr marL="0" marR="0" algn="l" latinLnBrk="0">
                        <a:buNone/>
                      </a:pPr>
                      <a:r>
                        <a:rPr lang="en-US" sz="1300" b="0" i="0" dirty="0" err="1">
                          <a:solidFill>
                            <a:srgbClr val="0E0E0F"/>
                          </a:solidFill>
                          <a:effectLst/>
                          <a:latin typeface="Arial"/>
                        </a:rPr>
                        <a:t>Recenzje</a:t>
                      </a:r>
                      <a:r>
                        <a:rPr lang="en-US" sz="1300" b="0" i="0" dirty="0">
                          <a:solidFill>
                            <a:srgbClr val="0E0E0F"/>
                          </a:solidFill>
                          <a:effectLst/>
                          <a:latin typeface="Arial"/>
                        </a:rPr>
                        <a:t> </a:t>
                      </a:r>
                      <a:r>
                        <a:rPr lang="en-US" sz="1300" b="0" i="0" dirty="0" err="1">
                          <a:solidFill>
                            <a:srgbClr val="0E0E0F"/>
                          </a:solidFill>
                          <a:effectLst/>
                          <a:latin typeface="Arial"/>
                        </a:rPr>
                        <a:t>i</a:t>
                      </a:r>
                      <a:r>
                        <a:rPr lang="en-US" sz="1300" b="0" i="0" dirty="0">
                          <a:solidFill>
                            <a:srgbClr val="0E0E0F"/>
                          </a:solidFill>
                          <a:effectLst/>
                          <a:latin typeface="Arial"/>
                        </a:rPr>
                        <a:t> </a:t>
                      </a:r>
                      <a:r>
                        <a:rPr lang="en-US" sz="1300" b="0" i="0" dirty="0" err="1">
                          <a:solidFill>
                            <a:srgbClr val="0E0E0F"/>
                          </a:solidFill>
                          <a:effectLst/>
                          <a:latin typeface="Arial"/>
                        </a:rPr>
                        <a:t>oceny</a:t>
                      </a:r>
                    </a:p>
                  </a:txBody>
                  <a:tcPr anchor="ctr">
                    <a:lnL>
                      <a:noFill/>
                    </a:lnL>
                    <a:lnR>
                      <a:noFill/>
                    </a:lnR>
                    <a:lnT>
                      <a:noFill/>
                    </a:lnT>
                    <a:lnB>
                      <a:noFill/>
                    </a:lnB>
                    <a:solidFill>
                      <a:srgbClr val="F6F5F4"/>
                    </a:solidFill>
                  </a:tcPr>
                </a:tc>
                <a:tc>
                  <a:txBody>
                    <a:bodyPr/>
                    <a:lstStyle/>
                    <a:p>
                      <a:pPr marL="0" marR="0" algn="l" latinLnBrk="0">
                        <a:buNone/>
                      </a:pPr>
                      <a:r>
                        <a:rPr lang="en-US" sz="1300" b="0" i="0" dirty="0">
                          <a:solidFill>
                            <a:srgbClr val="0E0E0F"/>
                          </a:solidFill>
                          <a:effectLst/>
                          <a:latin typeface="Arial"/>
                        </a:rPr>
                        <a:t>✅ </a:t>
                      </a:r>
                      <a:r>
                        <a:rPr lang="en-US" sz="1300" b="0" i="0" dirty="0" err="1">
                          <a:solidFill>
                            <a:srgbClr val="0E0E0F"/>
                          </a:solidFill>
                          <a:effectLst/>
                          <a:latin typeface="Arial"/>
                        </a:rPr>
                        <a:t>Kompletne</a:t>
                      </a:r>
                      <a:r>
                        <a:rPr lang="en-US" sz="1300" b="0" i="0" dirty="0">
                          <a:solidFill>
                            <a:srgbClr val="0E0E0F"/>
                          </a:solidFill>
                          <a:effectLst/>
                          <a:latin typeface="Arial"/>
                        </a:rPr>
                        <a:t> (</a:t>
                      </a:r>
                      <a:r>
                        <a:rPr lang="en-US" sz="1300" b="0" i="0" dirty="0" err="1">
                          <a:solidFill>
                            <a:srgbClr val="0E0E0F"/>
                          </a:solidFill>
                          <a:effectLst/>
                          <a:latin typeface="Arial"/>
                        </a:rPr>
                        <a:t>gwiazdki</a:t>
                      </a:r>
                      <a:r>
                        <a:rPr lang="en-US" sz="1300" b="0" i="0" dirty="0">
                          <a:solidFill>
                            <a:srgbClr val="0E0E0F"/>
                          </a:solidFill>
                          <a:effectLst/>
                          <a:latin typeface="Arial"/>
                        </a:rPr>
                        <a:t>, </a:t>
                      </a:r>
                      <a:r>
                        <a:rPr lang="en-US" sz="1300" b="0" i="0" dirty="0" err="1">
                          <a:solidFill>
                            <a:srgbClr val="0E0E0F"/>
                          </a:solidFill>
                          <a:effectLst/>
                          <a:latin typeface="Arial"/>
                        </a:rPr>
                        <a:t>zdjęcia</a:t>
                      </a:r>
                      <a:r>
                        <a:rPr lang="en-US" sz="1300" b="0" i="0" dirty="0">
                          <a:solidFill>
                            <a:srgbClr val="0E0E0F"/>
                          </a:solidFill>
                          <a:effectLst/>
                          <a:latin typeface="Arial"/>
                        </a:rPr>
                        <a:t>, </a:t>
                      </a:r>
                      <a:r>
                        <a:rPr lang="en-US" sz="1300" b="0" i="0" dirty="0" err="1">
                          <a:solidFill>
                            <a:srgbClr val="0E0E0F"/>
                          </a:solidFill>
                          <a:effectLst/>
                          <a:latin typeface="Arial"/>
                        </a:rPr>
                        <a:t>głosowanie</a:t>
                      </a:r>
                      <a:r>
                        <a:rPr lang="en-US" sz="1300" b="0" i="0" dirty="0">
                          <a:solidFill>
                            <a:srgbClr val="0E0E0F"/>
                          </a:solidFill>
                          <a:effectLst/>
                          <a:latin typeface="Arial"/>
                        </a:rPr>
                        <a:t>)</a:t>
                      </a:r>
                    </a:p>
                  </a:txBody>
                  <a:tcPr anchor="ctr">
                    <a:lnL>
                      <a:noFill/>
                    </a:lnL>
                    <a:lnR>
                      <a:noFill/>
                    </a:lnR>
                    <a:lnT>
                      <a:noFill/>
                    </a:lnT>
                    <a:lnB>
                      <a:noFill/>
                    </a:lnB>
                    <a:solidFill>
                      <a:srgbClr val="F6F5F4"/>
                    </a:solidFill>
                  </a:tcPr>
                </a:tc>
                <a:extLst>
                  <a:ext uri="{0D108BD9-81ED-4DB2-BD59-A6C34878D82A}">
                    <a16:rowId xmlns:a16="http://schemas.microsoft.com/office/drawing/2014/main" val="797191724"/>
                  </a:ext>
                </a:extLst>
              </a:tr>
              <a:tr h="247447">
                <a:tc>
                  <a:txBody>
                    <a:bodyPr/>
                    <a:lstStyle/>
                    <a:p>
                      <a:pPr marL="0" marR="0" algn="l" latinLnBrk="0">
                        <a:buNone/>
                      </a:pPr>
                      <a:r>
                        <a:rPr lang="en-US" sz="1300" b="0" i="0" dirty="0" err="1">
                          <a:solidFill>
                            <a:srgbClr val="0E0E0F"/>
                          </a:solidFill>
                          <a:effectLst/>
                          <a:latin typeface="Arial"/>
                        </a:rPr>
                        <a:t>Powiadomienia</a:t>
                      </a:r>
                      <a:r>
                        <a:rPr lang="en-US" sz="1300" b="0" i="0" dirty="0">
                          <a:solidFill>
                            <a:srgbClr val="0E0E0F"/>
                          </a:solidFill>
                          <a:effectLst/>
                          <a:latin typeface="Arial"/>
                        </a:rPr>
                        <a:t> </a:t>
                      </a:r>
                      <a:r>
                        <a:rPr lang="en-US" sz="1300" b="0" i="0" dirty="0" err="1">
                          <a:solidFill>
                            <a:srgbClr val="0E0E0F"/>
                          </a:solidFill>
                          <a:effectLst/>
                          <a:latin typeface="Arial"/>
                        </a:rPr>
                        <a:t>systemowe</a:t>
                      </a:r>
                    </a:p>
                  </a:txBody>
                  <a:tcPr anchor="ctr">
                    <a:lnL>
                      <a:noFill/>
                    </a:lnL>
                    <a:lnR>
                      <a:noFill/>
                    </a:lnR>
                    <a:lnT>
                      <a:noFill/>
                    </a:lnT>
                    <a:lnB>
                      <a:noFill/>
                    </a:lnB>
                    <a:solidFill>
                      <a:srgbClr val="F6F5F4"/>
                    </a:solidFill>
                  </a:tcPr>
                </a:tc>
                <a:tc>
                  <a:txBody>
                    <a:bodyPr/>
                    <a:lstStyle/>
                    <a:p>
                      <a:pPr marL="0" marR="0" algn="l" latinLnBrk="0">
                        <a:buNone/>
                      </a:pPr>
                      <a:r>
                        <a:rPr lang="en-US" sz="1300" b="0" i="0" dirty="0">
                          <a:solidFill>
                            <a:srgbClr val="0E0E0F"/>
                          </a:solidFill>
                          <a:effectLst/>
                          <a:latin typeface="Arial"/>
                        </a:rPr>
                        <a:t>✅ </a:t>
                      </a:r>
                      <a:r>
                        <a:rPr lang="en-US" sz="1300" b="0" i="0" dirty="0" err="1">
                          <a:solidFill>
                            <a:srgbClr val="0E0E0F"/>
                          </a:solidFill>
                          <a:effectLst/>
                          <a:latin typeface="Arial"/>
                        </a:rPr>
                        <a:t>Kompletne</a:t>
                      </a:r>
                      <a:r>
                        <a:rPr lang="en-US" sz="1300" b="0" i="0" dirty="0">
                          <a:solidFill>
                            <a:srgbClr val="0E0E0F"/>
                          </a:solidFill>
                          <a:effectLst/>
                          <a:latin typeface="Arial"/>
                        </a:rPr>
                        <a:t> (5 </a:t>
                      </a:r>
                      <a:r>
                        <a:rPr lang="en-US" sz="1300" b="0" i="0" dirty="0" err="1">
                          <a:solidFill>
                            <a:srgbClr val="0E0E0F"/>
                          </a:solidFill>
                          <a:effectLst/>
                          <a:latin typeface="Arial"/>
                        </a:rPr>
                        <a:t>typów</a:t>
                      </a:r>
                      <a:r>
                        <a:rPr lang="en-US" sz="1300" b="0" i="0" dirty="0">
                          <a:solidFill>
                            <a:srgbClr val="0E0E0F"/>
                          </a:solidFill>
                          <a:effectLst/>
                          <a:latin typeface="Arial"/>
                        </a:rPr>
                        <a:t> </a:t>
                      </a:r>
                      <a:r>
                        <a:rPr lang="en-US" sz="1300" b="0" i="0" dirty="0" err="1">
                          <a:solidFill>
                            <a:srgbClr val="0E0E0F"/>
                          </a:solidFill>
                          <a:effectLst/>
                          <a:latin typeface="Arial"/>
                        </a:rPr>
                        <a:t>zdarzeń</a:t>
                      </a:r>
                      <a:r>
                        <a:rPr lang="en-US" sz="1300" b="0" i="0" dirty="0">
                          <a:solidFill>
                            <a:srgbClr val="0E0E0F"/>
                          </a:solidFill>
                          <a:effectLst/>
                          <a:latin typeface="Arial"/>
                        </a:rPr>
                        <a:t>, </a:t>
                      </a:r>
                      <a:r>
                        <a:rPr lang="en-US" sz="1300" b="0" i="0" dirty="0" err="1">
                          <a:solidFill>
                            <a:srgbClr val="0E0E0F"/>
                          </a:solidFill>
                          <a:effectLst/>
                          <a:latin typeface="Arial"/>
                        </a:rPr>
                        <a:t>licznik</a:t>
                      </a:r>
                      <a:r>
                        <a:rPr lang="en-US" sz="1300" b="0" i="0" dirty="0">
                          <a:solidFill>
                            <a:srgbClr val="0E0E0F"/>
                          </a:solidFill>
                          <a:effectLst/>
                          <a:latin typeface="Arial"/>
                        </a:rPr>
                        <a:t> w </a:t>
                      </a:r>
                      <a:r>
                        <a:rPr lang="en-US" sz="1300" b="0" i="0" dirty="0" err="1">
                          <a:solidFill>
                            <a:srgbClr val="0E0E0F"/>
                          </a:solidFill>
                          <a:effectLst/>
                          <a:latin typeface="Arial"/>
                        </a:rPr>
                        <a:t>nagłówku</a:t>
                      </a:r>
                      <a:r>
                        <a:rPr lang="en-US" sz="1300" b="0" i="0" dirty="0">
                          <a:solidFill>
                            <a:srgbClr val="0E0E0F"/>
                          </a:solidFill>
                          <a:effectLst/>
                          <a:latin typeface="Arial"/>
                        </a:rPr>
                        <a:t>)</a:t>
                      </a:r>
                    </a:p>
                  </a:txBody>
                  <a:tcPr anchor="ctr">
                    <a:lnL>
                      <a:noFill/>
                    </a:lnL>
                    <a:lnR>
                      <a:noFill/>
                    </a:lnR>
                    <a:lnT>
                      <a:noFill/>
                    </a:lnT>
                    <a:lnB>
                      <a:noFill/>
                    </a:lnB>
                    <a:solidFill>
                      <a:srgbClr val="F6F5F4"/>
                    </a:solidFill>
                  </a:tcPr>
                </a:tc>
                <a:extLst>
                  <a:ext uri="{0D108BD9-81ED-4DB2-BD59-A6C34878D82A}">
                    <a16:rowId xmlns:a16="http://schemas.microsoft.com/office/drawing/2014/main" val="4145662012"/>
                  </a:ext>
                </a:extLst>
              </a:tr>
              <a:tr h="247447">
                <a:tc>
                  <a:txBody>
                    <a:bodyPr/>
                    <a:lstStyle/>
                    <a:p>
                      <a:pPr marL="0" marR="0" algn="l" latinLnBrk="0">
                        <a:buNone/>
                      </a:pPr>
                      <a:r>
                        <a:rPr lang="en-US" sz="1300" b="0" i="0" dirty="0" err="1">
                          <a:solidFill>
                            <a:srgbClr val="0E0E0F"/>
                          </a:solidFill>
                          <a:effectLst/>
                          <a:latin typeface="Arial"/>
                        </a:rPr>
                        <a:t>Zgłoszenia</a:t>
                      </a:r>
                      <a:r>
                        <a:rPr lang="en-US" sz="1300" b="0" i="0" dirty="0">
                          <a:solidFill>
                            <a:srgbClr val="0E0E0F"/>
                          </a:solidFill>
                          <a:effectLst/>
                          <a:latin typeface="Arial"/>
                        </a:rPr>
                        <a:t> </a:t>
                      </a:r>
                      <a:r>
                        <a:rPr lang="en-US" sz="1300" b="0" i="0" dirty="0" err="1">
                          <a:solidFill>
                            <a:srgbClr val="0E0E0F"/>
                          </a:solidFill>
                          <a:effectLst/>
                          <a:latin typeface="Arial"/>
                        </a:rPr>
                        <a:t>i</a:t>
                      </a:r>
                      <a:r>
                        <a:rPr lang="en-US" sz="1300" b="0" i="0" dirty="0">
                          <a:solidFill>
                            <a:srgbClr val="0E0E0F"/>
                          </a:solidFill>
                          <a:effectLst/>
                          <a:latin typeface="Arial"/>
                        </a:rPr>
                        <a:t> </a:t>
                      </a:r>
                      <a:r>
                        <a:rPr lang="en-US" sz="1300" b="0" i="0" dirty="0" err="1">
                          <a:solidFill>
                            <a:srgbClr val="0E0E0F"/>
                          </a:solidFill>
                          <a:effectLst/>
                          <a:latin typeface="Arial"/>
                        </a:rPr>
                        <a:t>wsparcie</a:t>
                      </a:r>
                    </a:p>
                  </a:txBody>
                  <a:tcPr anchor="ctr">
                    <a:lnL>
                      <a:noFill/>
                    </a:lnL>
                    <a:lnR>
                      <a:noFill/>
                    </a:lnR>
                    <a:lnT>
                      <a:noFill/>
                    </a:lnT>
                    <a:lnB>
                      <a:noFill/>
                    </a:lnB>
                    <a:solidFill>
                      <a:srgbClr val="F6F5F4"/>
                    </a:solidFill>
                  </a:tcPr>
                </a:tc>
                <a:tc>
                  <a:txBody>
                    <a:bodyPr/>
                    <a:lstStyle/>
                    <a:p>
                      <a:pPr marL="0" marR="0" algn="l" latinLnBrk="0">
                        <a:buNone/>
                      </a:pPr>
                      <a:r>
                        <a:rPr lang="en-US" sz="1300" b="0" i="0" dirty="0">
                          <a:solidFill>
                            <a:srgbClr val="0E0E0F"/>
                          </a:solidFill>
                          <a:effectLst/>
                          <a:latin typeface="Arial"/>
                        </a:rPr>
                        <a:t>✅ </a:t>
                      </a:r>
                      <a:r>
                        <a:rPr lang="en-US" sz="1300" b="0" i="0" dirty="0" err="1">
                          <a:solidFill>
                            <a:srgbClr val="0E0E0F"/>
                          </a:solidFill>
                          <a:effectLst/>
                          <a:latin typeface="Arial"/>
                        </a:rPr>
                        <a:t>Kompletne</a:t>
                      </a:r>
                      <a:r>
                        <a:rPr lang="en-US" sz="1300" b="0" i="0" dirty="0">
                          <a:solidFill>
                            <a:srgbClr val="0E0E0F"/>
                          </a:solidFill>
                          <a:effectLst/>
                          <a:latin typeface="Arial"/>
                        </a:rPr>
                        <a:t> (</a:t>
                      </a:r>
                      <a:r>
                        <a:rPr lang="en-US" sz="1300" b="0" i="0" dirty="0" err="1">
                          <a:solidFill>
                            <a:srgbClr val="0E0E0F"/>
                          </a:solidFill>
                          <a:effectLst/>
                          <a:latin typeface="Arial"/>
                        </a:rPr>
                        <a:t>kategorie</a:t>
                      </a:r>
                      <a:r>
                        <a:rPr lang="en-US" sz="1300" b="0" i="0" dirty="0">
                          <a:solidFill>
                            <a:srgbClr val="0E0E0F"/>
                          </a:solidFill>
                          <a:effectLst/>
                          <a:latin typeface="Arial"/>
                        </a:rPr>
                        <a:t>, statusy, </a:t>
                      </a:r>
                      <a:r>
                        <a:rPr lang="en-US" sz="1300" b="0" i="0" dirty="0" err="1">
                          <a:solidFill>
                            <a:srgbClr val="0E0E0F"/>
                          </a:solidFill>
                          <a:effectLst/>
                          <a:latin typeface="Arial"/>
                        </a:rPr>
                        <a:t>załączniki</a:t>
                      </a:r>
                      <a:r>
                        <a:rPr lang="en-US" sz="1300" b="0" i="0" dirty="0">
                          <a:solidFill>
                            <a:srgbClr val="0E0E0F"/>
                          </a:solidFill>
                          <a:effectLst/>
                          <a:latin typeface="Arial"/>
                        </a:rPr>
                        <a:t>)</a:t>
                      </a:r>
                    </a:p>
                  </a:txBody>
                  <a:tcPr anchor="ctr">
                    <a:lnL>
                      <a:noFill/>
                    </a:lnL>
                    <a:lnR>
                      <a:noFill/>
                    </a:lnR>
                    <a:lnT>
                      <a:noFill/>
                    </a:lnT>
                    <a:lnB>
                      <a:noFill/>
                    </a:lnB>
                    <a:solidFill>
                      <a:srgbClr val="F6F5F4"/>
                    </a:solidFill>
                  </a:tcPr>
                </a:tc>
                <a:extLst>
                  <a:ext uri="{0D108BD9-81ED-4DB2-BD59-A6C34878D82A}">
                    <a16:rowId xmlns:a16="http://schemas.microsoft.com/office/drawing/2014/main" val="1929913213"/>
                  </a:ext>
                </a:extLst>
              </a:tr>
              <a:tr h="247447">
                <a:tc>
                  <a:txBody>
                    <a:bodyPr/>
                    <a:lstStyle/>
                    <a:p>
                      <a:pPr marL="0" marR="0" algn="l" latinLnBrk="0">
                        <a:buNone/>
                      </a:pPr>
                      <a:r>
                        <a:rPr lang="en-US" sz="1300" b="0" i="0" dirty="0">
                          <a:solidFill>
                            <a:srgbClr val="0E0E0F"/>
                          </a:solidFill>
                          <a:effectLst/>
                          <a:latin typeface="Arial"/>
                        </a:rPr>
                        <a:t>Panel </a:t>
                      </a:r>
                      <a:r>
                        <a:rPr lang="en-US" sz="1300" b="0" i="0" dirty="0" err="1">
                          <a:solidFill>
                            <a:srgbClr val="0E0E0F"/>
                          </a:solidFill>
                          <a:effectLst/>
                          <a:latin typeface="Arial"/>
                        </a:rPr>
                        <a:t>administracyjny</a:t>
                      </a:r>
                    </a:p>
                  </a:txBody>
                  <a:tcPr anchor="ctr">
                    <a:lnL>
                      <a:noFill/>
                    </a:lnL>
                    <a:lnR>
                      <a:noFill/>
                    </a:lnR>
                    <a:lnT>
                      <a:noFill/>
                    </a:lnT>
                    <a:lnB>
                      <a:noFill/>
                    </a:lnB>
                    <a:solidFill>
                      <a:srgbClr val="F6F5F4"/>
                    </a:solidFill>
                  </a:tcPr>
                </a:tc>
                <a:tc>
                  <a:txBody>
                    <a:bodyPr/>
                    <a:lstStyle/>
                    <a:p>
                      <a:pPr marL="0" marR="0" algn="l" latinLnBrk="0">
                        <a:buNone/>
                      </a:pPr>
                      <a:r>
                        <a:rPr lang="en-US" sz="1300" b="0" i="0" dirty="0">
                          <a:solidFill>
                            <a:srgbClr val="0E0E0F"/>
                          </a:solidFill>
                          <a:effectLst/>
                          <a:latin typeface="Arial"/>
                        </a:rPr>
                        <a:t>✅ </a:t>
                      </a:r>
                      <a:r>
                        <a:rPr lang="en-US" sz="1300" b="0" i="0" dirty="0" err="1">
                          <a:solidFill>
                            <a:srgbClr val="0E0E0F"/>
                          </a:solidFill>
                          <a:effectLst/>
                          <a:latin typeface="Arial"/>
                        </a:rPr>
                        <a:t>Kompletne</a:t>
                      </a:r>
                      <a:r>
                        <a:rPr lang="en-US" sz="1300" b="0" i="0" dirty="0">
                          <a:solidFill>
                            <a:srgbClr val="0E0E0F"/>
                          </a:solidFill>
                          <a:effectLst/>
                          <a:latin typeface="Arial"/>
                        </a:rPr>
                        <a:t> (</a:t>
                      </a:r>
                      <a:r>
                        <a:rPr lang="en-US" sz="1300" b="0" i="0" dirty="0" err="1">
                          <a:solidFill>
                            <a:srgbClr val="0E0E0F"/>
                          </a:solidFill>
                          <a:effectLst/>
                          <a:latin typeface="Arial"/>
                        </a:rPr>
                        <a:t>ogłoszenia</a:t>
                      </a:r>
                      <a:r>
                        <a:rPr lang="en-US" sz="1300" b="0" i="0" dirty="0">
                          <a:solidFill>
                            <a:srgbClr val="0E0E0F"/>
                          </a:solidFill>
                          <a:effectLst/>
                          <a:latin typeface="Arial"/>
                        </a:rPr>
                        <a:t>, </a:t>
                      </a:r>
                      <a:r>
                        <a:rPr lang="en-US" sz="1300" b="0" i="0" dirty="0" err="1">
                          <a:solidFill>
                            <a:srgbClr val="0E0E0F"/>
                          </a:solidFill>
                          <a:effectLst/>
                          <a:latin typeface="Arial"/>
                        </a:rPr>
                        <a:t>użytkownicy</a:t>
                      </a:r>
                      <a:r>
                        <a:rPr lang="en-US" sz="1300" b="0" i="0" dirty="0">
                          <a:solidFill>
                            <a:srgbClr val="0E0E0F"/>
                          </a:solidFill>
                          <a:effectLst/>
                          <a:latin typeface="Arial"/>
                        </a:rPr>
                        <a:t>, </a:t>
                      </a:r>
                      <a:r>
                        <a:rPr lang="en-US" sz="1300" b="0" i="0" dirty="0" err="1">
                          <a:solidFill>
                            <a:srgbClr val="0E0E0F"/>
                          </a:solidFill>
                          <a:effectLst/>
                          <a:latin typeface="Arial"/>
                        </a:rPr>
                        <a:t>tickety</a:t>
                      </a:r>
                      <a:r>
                        <a:rPr lang="en-US" sz="1300" b="0" i="0" dirty="0">
                          <a:solidFill>
                            <a:srgbClr val="0E0E0F"/>
                          </a:solidFill>
                          <a:effectLst/>
                          <a:latin typeface="Arial"/>
                        </a:rPr>
                        <a:t>)</a:t>
                      </a:r>
                    </a:p>
                  </a:txBody>
                  <a:tcPr anchor="ctr">
                    <a:lnL>
                      <a:noFill/>
                    </a:lnL>
                    <a:lnR>
                      <a:noFill/>
                    </a:lnR>
                    <a:lnT>
                      <a:noFill/>
                    </a:lnT>
                    <a:lnB>
                      <a:noFill/>
                    </a:lnB>
                    <a:solidFill>
                      <a:srgbClr val="F6F5F4"/>
                    </a:solidFill>
                  </a:tcPr>
                </a:tc>
                <a:extLst>
                  <a:ext uri="{0D108BD9-81ED-4DB2-BD59-A6C34878D82A}">
                    <a16:rowId xmlns:a16="http://schemas.microsoft.com/office/drawing/2014/main" val="4223050260"/>
                  </a:ext>
                </a:extLst>
              </a:tr>
              <a:tr h="247447">
                <a:tc>
                  <a:txBody>
                    <a:bodyPr/>
                    <a:lstStyle/>
                    <a:p>
                      <a:pPr marL="0" marR="0" algn="l" latinLnBrk="0">
                        <a:buNone/>
                      </a:pPr>
                      <a:r>
                        <a:rPr lang="en-US" sz="1300" b="0" i="0" dirty="0">
                          <a:solidFill>
                            <a:srgbClr val="0E0E0F"/>
                          </a:solidFill>
                          <a:effectLst/>
                          <a:latin typeface="Arial"/>
                        </a:rPr>
                        <a:t>Testy </a:t>
                      </a:r>
                      <a:r>
                        <a:rPr lang="en-US" sz="1300" b="0" i="0" dirty="0" err="1">
                          <a:solidFill>
                            <a:srgbClr val="0E0E0F"/>
                          </a:solidFill>
                          <a:effectLst/>
                          <a:latin typeface="Arial"/>
                        </a:rPr>
                        <a:t>automatyczne</a:t>
                      </a:r>
                    </a:p>
                  </a:txBody>
                  <a:tcPr anchor="ctr">
                    <a:lnL>
                      <a:noFill/>
                    </a:lnL>
                    <a:lnR>
                      <a:noFill/>
                    </a:lnR>
                    <a:lnT>
                      <a:noFill/>
                    </a:lnT>
                    <a:lnB>
                      <a:noFill/>
                    </a:lnB>
                    <a:solidFill>
                      <a:srgbClr val="F6F5F4"/>
                    </a:solidFill>
                  </a:tcPr>
                </a:tc>
                <a:tc>
                  <a:txBody>
                    <a:bodyPr/>
                    <a:lstStyle/>
                    <a:p>
                      <a:pPr marL="0" marR="0" algn="l" latinLnBrk="0">
                        <a:buNone/>
                      </a:pPr>
                      <a:r>
                        <a:rPr lang="en-US" sz="1300" b="0" i="0" dirty="0">
                          <a:solidFill>
                            <a:srgbClr val="0E0E0F"/>
                          </a:solidFill>
                          <a:effectLst/>
                          <a:latin typeface="Arial"/>
                        </a:rPr>
                        <a:t>✅ 115 </a:t>
                      </a:r>
                      <a:r>
                        <a:rPr lang="en-US" sz="1300" b="0" i="0" dirty="0" err="1">
                          <a:solidFill>
                            <a:srgbClr val="0E0E0F"/>
                          </a:solidFill>
                          <a:effectLst/>
                          <a:latin typeface="Arial"/>
                        </a:rPr>
                        <a:t>przypadków</a:t>
                      </a:r>
                      <a:r>
                        <a:rPr lang="en-US" sz="1300" b="0" i="0" dirty="0">
                          <a:solidFill>
                            <a:srgbClr val="0E0E0F"/>
                          </a:solidFill>
                          <a:effectLst/>
                          <a:latin typeface="Arial"/>
                        </a:rPr>
                        <a:t> </a:t>
                      </a:r>
                      <a:r>
                        <a:rPr lang="en-US" sz="1300" b="0" i="0" dirty="0" err="1">
                          <a:solidFill>
                            <a:srgbClr val="0E0E0F"/>
                          </a:solidFill>
                          <a:effectLst/>
                          <a:latin typeface="Arial"/>
                        </a:rPr>
                        <a:t>testowych</a:t>
                      </a:r>
                    </a:p>
                  </a:txBody>
                  <a:tcPr anchor="ctr">
                    <a:lnL>
                      <a:noFill/>
                    </a:lnL>
                    <a:lnR>
                      <a:noFill/>
                    </a:lnR>
                    <a:lnT>
                      <a:noFill/>
                    </a:lnT>
                    <a:lnB>
                      <a:noFill/>
                    </a:lnB>
                    <a:solidFill>
                      <a:srgbClr val="F6F5F4"/>
                    </a:solidFill>
                  </a:tcPr>
                </a:tc>
                <a:extLst>
                  <a:ext uri="{0D108BD9-81ED-4DB2-BD59-A6C34878D82A}">
                    <a16:rowId xmlns:a16="http://schemas.microsoft.com/office/drawing/2014/main" val="439564427"/>
                  </a:ext>
                </a:extLst>
              </a:tr>
              <a:tr h="247447">
                <a:tc>
                  <a:txBody>
                    <a:bodyPr/>
                    <a:lstStyle/>
                    <a:p>
                      <a:pPr marL="0" marR="0" algn="l" latinLnBrk="0">
                        <a:buNone/>
                      </a:pPr>
                      <a:r>
                        <a:rPr lang="en-US" sz="1300" b="0" i="0" dirty="0" err="1">
                          <a:solidFill>
                            <a:srgbClr val="0E0E0F"/>
                          </a:solidFill>
                          <a:effectLst/>
                          <a:latin typeface="Arial"/>
                        </a:rPr>
                        <a:t>Konteneryzacja</a:t>
                      </a:r>
                      <a:r>
                        <a:rPr lang="en-US" sz="1300" b="0" i="0" dirty="0">
                          <a:solidFill>
                            <a:srgbClr val="0E0E0F"/>
                          </a:solidFill>
                          <a:effectLst/>
                          <a:latin typeface="Arial"/>
                        </a:rPr>
                        <a:t> Docker</a:t>
                      </a:r>
                    </a:p>
                  </a:txBody>
                  <a:tcPr anchor="ctr">
                    <a:lnL>
                      <a:noFill/>
                    </a:lnL>
                    <a:lnR>
                      <a:noFill/>
                    </a:lnR>
                    <a:lnT>
                      <a:noFill/>
                    </a:lnT>
                    <a:lnB>
                      <a:noFill/>
                    </a:lnB>
                    <a:solidFill>
                      <a:srgbClr val="F6F5F4"/>
                    </a:solidFill>
                  </a:tcPr>
                </a:tc>
                <a:tc>
                  <a:txBody>
                    <a:bodyPr/>
                    <a:lstStyle/>
                    <a:p>
                      <a:pPr marL="0" marR="0" algn="l" latinLnBrk="0">
                        <a:buNone/>
                      </a:pPr>
                      <a:r>
                        <a:rPr lang="en-US" sz="1300" b="0" i="0" dirty="0">
                          <a:solidFill>
                            <a:srgbClr val="0E0E0F"/>
                          </a:solidFill>
                          <a:effectLst/>
                          <a:latin typeface="Arial"/>
                        </a:rPr>
                        <a:t>✅ Pełne </a:t>
                      </a:r>
                      <a:r>
                        <a:rPr lang="en-US" sz="1300" b="0" i="0" dirty="0" err="1">
                          <a:solidFill>
                            <a:srgbClr val="0E0E0F"/>
                          </a:solidFill>
                          <a:effectLst/>
                          <a:latin typeface="Arial"/>
                        </a:rPr>
                        <a:t>środowisko</a:t>
                      </a:r>
                      <a:r>
                        <a:rPr lang="en-US" sz="1300" b="0" i="0" dirty="0">
                          <a:solidFill>
                            <a:srgbClr val="0E0E0F"/>
                          </a:solidFill>
                          <a:effectLst/>
                          <a:latin typeface="Arial"/>
                        </a:rPr>
                        <a:t> </a:t>
                      </a:r>
                      <a:r>
                        <a:rPr lang="en-US" sz="1300" b="0" i="0" dirty="0" err="1">
                          <a:solidFill>
                            <a:srgbClr val="0E0E0F"/>
                          </a:solidFill>
                          <a:effectLst/>
                          <a:latin typeface="Arial"/>
                        </a:rPr>
                        <a:t>produkcyjne</a:t>
                      </a:r>
                      <a:r>
                        <a:rPr lang="en-US" sz="1300" b="0" i="0" dirty="0">
                          <a:solidFill>
                            <a:srgbClr val="0E0E0F"/>
                          </a:solidFill>
                          <a:effectLst/>
                          <a:latin typeface="Arial"/>
                        </a:rPr>
                        <a:t> (4 </a:t>
                      </a:r>
                      <a:r>
                        <a:rPr lang="en-US" sz="1300" b="0" i="0" dirty="0" err="1">
                          <a:solidFill>
                            <a:srgbClr val="0E0E0F"/>
                          </a:solidFill>
                          <a:effectLst/>
                          <a:latin typeface="Arial"/>
                        </a:rPr>
                        <a:t>serwisy</a:t>
                      </a:r>
                      <a:r>
                        <a:rPr lang="en-US" sz="1300" b="0" i="0" dirty="0">
                          <a:solidFill>
                            <a:srgbClr val="0E0E0F"/>
                          </a:solidFill>
                          <a:effectLst/>
                          <a:latin typeface="Arial"/>
                        </a:rPr>
                        <a:t>)</a:t>
                      </a:r>
                    </a:p>
                  </a:txBody>
                  <a:tcPr anchor="ctr">
                    <a:lnL>
                      <a:noFill/>
                    </a:lnL>
                    <a:lnR>
                      <a:noFill/>
                    </a:lnR>
                    <a:lnT>
                      <a:noFill/>
                    </a:lnT>
                    <a:lnB>
                      <a:noFill/>
                    </a:lnB>
                    <a:solidFill>
                      <a:srgbClr val="F6F5F4"/>
                    </a:solidFill>
                  </a:tcPr>
                </a:tc>
                <a:extLst>
                  <a:ext uri="{0D108BD9-81ED-4DB2-BD59-A6C34878D82A}">
                    <a16:rowId xmlns:a16="http://schemas.microsoft.com/office/drawing/2014/main" val="4082452289"/>
                  </a:ext>
                </a:extLst>
              </a:tr>
            </a:tbl>
          </a:graphicData>
        </a:graphic>
      </p:graphicFrame>
    </p:spTree>
    <p:extLst>
      <p:ext uri="{BB962C8B-B14F-4D97-AF65-F5344CB8AC3E}">
        <p14:creationId xmlns:p14="http://schemas.microsoft.com/office/powerpoint/2010/main" val="214055261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9A8A7-0818-BA3D-B31F-3A686CAF338C}"/>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2EF5D829-4BE3-A5ED-B5E5-DEEE06C46FAE}"/>
              </a:ext>
            </a:extLst>
          </p:cNvPr>
          <p:cNvSpPr txBox="1">
            <a:spLocks noGrp="1"/>
          </p:cNvSpPr>
          <p:nvPr>
            <p:ph type="title" idx="4294967295"/>
          </p:nvPr>
        </p:nvSpPr>
        <p:spPr>
          <a:xfrm>
            <a:off x="503998" y="301322"/>
            <a:ext cx="9071643" cy="999387"/>
          </a:xfrm>
        </p:spPr>
        <p:txBody>
          <a:bodyPr/>
          <a:lstStyle/>
          <a:p>
            <a:r>
              <a:rPr lang="pl-PL" sz="5400">
                <a:latin typeface="Arial"/>
                <a:cs typeface="Arial"/>
              </a:rPr>
              <a:t>Podsumowanie i wnioski (2⁄2)</a:t>
            </a:r>
            <a:endParaRPr lang="pl-PL" sz="5400">
              <a:solidFill>
                <a:srgbClr val="FFFF00"/>
              </a:solidFill>
              <a:latin typeface="Arial"/>
              <a:cs typeface="Arial"/>
            </a:endParaRPr>
          </a:p>
        </p:txBody>
      </p:sp>
      <p:sp>
        <p:nvSpPr>
          <p:cNvPr id="3" name="Symbol zastępczy tekstu 2">
            <a:extLst>
              <a:ext uri="{FF2B5EF4-FFF2-40B4-BE49-F238E27FC236}">
                <a16:creationId xmlns:a16="http://schemas.microsoft.com/office/drawing/2014/main" id="{4FEDAA26-AAAE-02EF-CD69-D1A3FB01BF71}"/>
              </a:ext>
            </a:extLst>
          </p:cNvPr>
          <p:cNvSpPr txBox="1">
            <a:spLocks noGrp="1"/>
          </p:cNvSpPr>
          <p:nvPr>
            <p:ph type="body" idx="4294967295"/>
          </p:nvPr>
        </p:nvSpPr>
        <p:spPr>
          <a:xfrm>
            <a:off x="503998" y="1411174"/>
            <a:ext cx="9071643" cy="5688166"/>
          </a:xfrm>
        </p:spPr>
        <p:txBody>
          <a:bodyPr>
            <a:noAutofit/>
          </a:bodyPr>
          <a:lstStyle/>
          <a:p>
            <a:pPr algn="l">
              <a:spcBef>
                <a:spcPts val="1889"/>
              </a:spcBef>
            </a:pPr>
            <a:r>
              <a:rPr lang="pl-PL" sz="1700">
                <a:solidFill>
                  <a:schemeClr val="tx1"/>
                </a:solidFill>
                <a:latin typeface="Arial"/>
                <a:cs typeface="Arial"/>
              </a:rPr>
              <a:t>Wnioski techniczne</a:t>
            </a:r>
            <a:endParaRPr lang="en-US" sz="1700">
              <a:solidFill>
                <a:schemeClr val="tx1"/>
              </a:solidFill>
            </a:endParaRPr>
          </a:p>
          <a:p>
            <a:pPr algn="l">
              <a:spcBef>
                <a:spcPts val="1889"/>
              </a:spcBef>
            </a:pPr>
            <a:r>
              <a:rPr lang="pl-PL" sz="1700" b="1">
                <a:solidFill>
                  <a:schemeClr val="tx1"/>
                </a:solidFill>
                <a:latin typeface="Arial"/>
                <a:cs typeface="Arial"/>
              </a:rPr>
              <a:t>Wybory, które się sprawdziły:</a:t>
            </a:r>
            <a:r>
              <a:rPr lang="pl-PL" sz="1700">
                <a:solidFill>
                  <a:schemeClr val="tx1"/>
                </a:solidFill>
                <a:latin typeface="Arial"/>
                <a:cs typeface="Arial"/>
              </a:rPr>
              <a:t> Monolit MVC okazał się właściwym wyborem dla projektu o tej skali — brak narzutu komunikacji między serwisami, prosta diagnostyka błędów, szybki czas wdrożenia. Własny system uwierzytelniania dał pełną kontrolę nad schematem bazy i nie ograniczał projektu do konwencji Identity.</a:t>
            </a:r>
            <a:endParaRPr lang="pl-PL" sz="1700">
              <a:solidFill>
                <a:schemeClr val="tx1"/>
              </a:solidFill>
            </a:endParaRPr>
          </a:p>
          <a:p>
            <a:pPr algn="l">
              <a:spcBef>
                <a:spcPts val="1889"/>
              </a:spcBef>
            </a:pPr>
            <a:r>
              <a:rPr lang="pl-PL" sz="1700" b="1">
                <a:solidFill>
                  <a:schemeClr val="tx1"/>
                </a:solidFill>
                <a:latin typeface="Arial"/>
                <a:cs typeface="Arial"/>
              </a:rPr>
              <a:t>Obszary do poprawy:</a:t>
            </a:r>
            <a:r>
              <a:rPr lang="pl-PL" sz="1700">
                <a:solidFill>
                  <a:schemeClr val="tx1"/>
                </a:solidFill>
                <a:latin typeface="Arial"/>
                <a:cs typeface="Arial"/>
              </a:rPr>
              <a:t> Filtrowanie odległości in-memory będzie wąskim gardłem przy skalowaniu — należy zastąpić PostGIS lub przynajmniej wstępnym filtrowaniem BBox. Brak paginacji na liście ogłoszeń to dług techniczny do spłaty w pierwszej kolejności.</a:t>
            </a:r>
            <a:endParaRPr lang="pl-PL" sz="1700">
              <a:solidFill>
                <a:schemeClr val="tx1"/>
              </a:solidFill>
            </a:endParaRPr>
          </a:p>
          <a:p>
            <a:pPr algn="l">
              <a:spcBef>
                <a:spcPts val="1889"/>
              </a:spcBef>
            </a:pPr>
            <a:r>
              <a:rPr lang="pl-PL" sz="1700" b="1">
                <a:solidFill>
                  <a:schemeClr val="tx1"/>
                </a:solidFill>
                <a:latin typeface="Arial"/>
                <a:cs typeface="Arial"/>
              </a:rPr>
              <a:t>Wnioski z pracy zespołowej:</a:t>
            </a:r>
            <a:r>
              <a:rPr lang="pl-PL" sz="1700">
                <a:solidFill>
                  <a:schemeClr val="tx1"/>
                </a:solidFill>
                <a:latin typeface="Arial"/>
                <a:cs typeface="Arial"/>
              </a:rPr>
              <a:t> Kluczowym wyzwaniem okazało się zarządzanie równoległymi gałęziami bez ustalonej strategii mergowania. Na przyszłość: wyraźne reguły rozgałęziania (feature branch → develop → main), automatyczny CI sprawdzający build przy każdym PR, oraz konwencja zakazująca commitowania plików konfiguracyjnych z sekretami.</a:t>
            </a:r>
            <a:endParaRPr lang="pl-PL" sz="1700">
              <a:solidFill>
                <a:schemeClr val="tx1"/>
              </a:solidFill>
            </a:endParaRPr>
          </a:p>
          <a:p>
            <a:pPr algn="l">
              <a:spcBef>
                <a:spcPts val="1889"/>
              </a:spcBef>
            </a:pPr>
            <a:r>
              <a:rPr lang="pl-PL" sz="1700">
                <a:solidFill>
                  <a:schemeClr val="tx1"/>
                </a:solidFill>
                <a:latin typeface="Arial"/>
                <a:cs typeface="Arial"/>
              </a:rPr>
              <a:t>Wnioski projektowe</a:t>
            </a:r>
            <a:endParaRPr lang="pl-PL" sz="1700">
              <a:solidFill>
                <a:schemeClr val="tx1"/>
              </a:solidFill>
            </a:endParaRPr>
          </a:p>
          <a:p>
            <a:pPr algn="l">
              <a:spcBef>
                <a:spcPts val="1889"/>
              </a:spcBef>
            </a:pPr>
            <a:r>
              <a:rPr lang="pl-PL" sz="1700">
                <a:solidFill>
                  <a:schemeClr val="tx1"/>
                </a:solidFill>
                <a:latin typeface="Arial"/>
                <a:cs typeface="Arial"/>
              </a:rPr>
              <a:t>Projekt udowodnił, że </a:t>
            </a:r>
            <a:r>
              <a:rPr lang="pl-PL" sz="1700" b="1">
                <a:solidFill>
                  <a:schemeClr val="tx1"/>
                </a:solidFill>
                <a:latin typeface="Arial"/>
                <a:cs typeface="Arial"/>
              </a:rPr>
              <a:t>ASP.NET Core 8 z Entity Framework Core i PostgreSQL</a:t>
            </a:r>
            <a:r>
              <a:rPr lang="pl-PL" sz="1700">
                <a:solidFill>
                  <a:schemeClr val="tx1"/>
                </a:solidFill>
                <a:latin typeface="Arial"/>
                <a:cs typeface="Arial"/>
              </a:rPr>
              <a:t> to dojrzały i wydajny stos technologiczny dla aplikacji klasy marketplace, możliwy do wdrożenia przez zespół studencki w realistycznym czasie. Platforma </a:t>
            </a:r>
            <a:r>
              <a:rPr lang="pl-PL" sz="1700" b="1">
                <a:solidFill>
                  <a:schemeClr val="tx1"/>
                </a:solidFill>
                <a:latin typeface="Arial"/>
                <a:cs typeface="Arial"/>
              </a:rPr>
              <a:t>HandlujZTym</a:t>
            </a:r>
            <a:r>
              <a:rPr lang="pl-PL" sz="1700">
                <a:solidFill>
                  <a:schemeClr val="tx1"/>
                </a:solidFill>
                <a:latin typeface="Arial"/>
                <a:cs typeface="Arial"/>
              </a:rPr>
              <a:t> jest gotowa do dalszego rozwoju — zarówno kod, jak i infrastruktura zostały zaprojektowane z myślą o rozszerzalności (interfejsy serwisów, konteneryzacja, indeksy bazy danych pod przewidywane zapytania).</a:t>
            </a:r>
            <a:endParaRPr lang="pl-PL" sz="1700">
              <a:solidFill>
                <a:schemeClr val="tx1"/>
              </a:solidFill>
            </a:endParaRPr>
          </a:p>
          <a:p>
            <a:pPr algn="l">
              <a:spcBef>
                <a:spcPts val="1889"/>
              </a:spcBef>
            </a:pPr>
            <a:endParaRPr lang="pl-PL" sz="1700" b="1" dirty="0">
              <a:solidFill>
                <a:schemeClr val="tx1"/>
              </a:solidFill>
              <a:latin typeface="Arial"/>
              <a:cs typeface="Arial"/>
            </a:endParaRPr>
          </a:p>
        </p:txBody>
      </p:sp>
    </p:spTree>
    <p:extLst>
      <p:ext uri="{BB962C8B-B14F-4D97-AF65-F5344CB8AC3E}">
        <p14:creationId xmlns:p14="http://schemas.microsoft.com/office/powerpoint/2010/main" val="3776606102"/>
      </p:ext>
    </p:extLst>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Custom</PresentationFormat>
  <Slides>79</Slides>
  <Notes>74</Notes>
  <HiddenSlides>0</HiddenSlides>
  <ScaleCrop>false</ScaleCrop>
  <HeadingPairs>
    <vt:vector size="4" baseType="variant">
      <vt:variant>
        <vt:lpstr>Theme</vt:lpstr>
      </vt:variant>
      <vt:variant>
        <vt:i4>1</vt:i4>
      </vt:variant>
      <vt:variant>
        <vt:lpstr>Slide Titles</vt:lpstr>
      </vt:variant>
      <vt:variant>
        <vt:i4>79</vt:i4>
      </vt:variant>
    </vt:vector>
  </HeadingPairs>
  <TitlesOfParts>
    <vt:vector size="80" baseType="lpstr">
      <vt:lpstr>Default</vt:lpstr>
      <vt:lpstr>Projekt zespołowy</vt:lpstr>
      <vt:lpstr>Prezentacja projektu programistycznego</vt:lpstr>
      <vt:lpstr>Tytuł i informacje podstawowe (nazwa projektu, autorzy, data)</vt:lpstr>
      <vt:lpstr>Cel i zakres projektu (1⁄3)</vt:lpstr>
      <vt:lpstr>Cel i zakres projektu (2⁄3)</vt:lpstr>
      <vt:lpstr>Cel i zakres projektu (3⁄3)</vt:lpstr>
      <vt:lpstr>Wymagania funkcjonalne (MVP)</vt:lpstr>
      <vt:lpstr>Rejestracja i logowanie</vt:lpstr>
      <vt:lpstr>Profil użytkownika</vt:lpstr>
      <vt:lpstr>Oferty (CRUD)</vt:lpstr>
      <vt:lpstr>Przeglądanie i filtrowanie</vt:lpstr>
      <vt:lpstr>Szczegóły oferty</vt:lpstr>
      <vt:lpstr>Wiadomości 1:1 (tekst)</vt:lpstr>
      <vt:lpstr>Oznaczenie oferty jako „zrealizowana”</vt:lpstr>
      <vt:lpstr>Recenzja sprzedawcy</vt:lpstr>
      <vt:lpstr>Transakcja (finalizacja)</vt:lpstr>
      <vt:lpstr>Zgłoszenie nadużycia</vt:lpstr>
      <vt:lpstr>Panel administratora</vt:lpstr>
      <vt:lpstr>Powiadomienia w aplikacji (badge/licznik)</vt:lpstr>
      <vt:lpstr>“Nice to have”</vt:lpstr>
      <vt:lpstr>Wymagania niefunkcjonalne</vt:lpstr>
      <vt:lpstr>Wydajność</vt:lpstr>
      <vt:lpstr>Pojemność (testowo)</vt:lpstr>
      <vt:lpstr>Użyteczność</vt:lpstr>
      <vt:lpstr>Dane i spójność</vt:lpstr>
      <vt:lpstr>Bezpieczeństwo</vt:lpstr>
      <vt:lpstr>Prywatność</vt:lpstr>
      <vt:lpstr>Stabilność</vt:lpstr>
      <vt:lpstr>Skalowalność</vt:lpstr>
      <vt:lpstr>Obserwowalność</vt:lpstr>
      <vt:lpstr>Kopie zapasowe</vt:lpstr>
      <vt:lpstr>Opis użytkowników oraz przypadków użycia wraz ze scenariuszami</vt:lpstr>
      <vt:lpstr>Przypadki bazowe</vt:lpstr>
      <vt:lpstr>Przypadki kluczowe</vt:lpstr>
      <vt:lpstr>Przypadki ważne</vt:lpstr>
      <vt:lpstr>Architektura systemu</vt:lpstr>
      <vt:lpstr>Podział na warstwy / moduły</vt:lpstr>
      <vt:lpstr>Przepływ danych (1⁄3)</vt:lpstr>
      <vt:lpstr>Przepływ danych (2⁄3)</vt:lpstr>
      <vt:lpstr>Przepływ danych (3⁄3)</vt:lpstr>
      <vt:lpstr>Integracje / zależności</vt:lpstr>
      <vt:lpstr>Kluczowe biblioteki</vt:lpstr>
      <vt:lpstr>Środowisko działania</vt:lpstr>
      <vt:lpstr>Diagram architektury</vt:lpstr>
      <vt:lpstr>Kluczowe decyzje projektowe</vt:lpstr>
      <vt:lpstr>Model danych (1⁄5)</vt:lpstr>
      <vt:lpstr>Model danych (2⁄5)</vt:lpstr>
      <vt:lpstr>Model danych (3⁄5)</vt:lpstr>
      <vt:lpstr>Model danych (4⁄5)</vt:lpstr>
      <vt:lpstr>Model danych (5⁄5)</vt:lpstr>
      <vt:lpstr>Wykorzystane technologie (1⁄4)</vt:lpstr>
      <vt:lpstr>Wykorzystane technologie (2⁄4)</vt:lpstr>
      <vt:lpstr>Wykorzystane technologie (3⁄4)</vt:lpstr>
      <vt:lpstr>Wykorzystane technologie (4⁄4)</vt:lpstr>
      <vt:lpstr>Implementacja (1⁄6)</vt:lpstr>
      <vt:lpstr>Implementacja (2⁄6)</vt:lpstr>
      <vt:lpstr>Implementacja (3⁄6)</vt:lpstr>
      <vt:lpstr>Implementacja (4⁄6)</vt:lpstr>
      <vt:lpstr>Implementacja (5⁄6)</vt:lpstr>
      <vt:lpstr>Implementacja (6⁄6)</vt:lpstr>
      <vt:lpstr>Interfejs użytkownika (1⁄3)</vt:lpstr>
      <vt:lpstr>Interfejs użytkownika (2⁄3)</vt:lpstr>
      <vt:lpstr>Interfejs użytkownika (3⁄3)</vt:lpstr>
      <vt:lpstr>Demonstracja działania (1⁄4)</vt:lpstr>
      <vt:lpstr>Demonstracja działania (2⁄4)</vt:lpstr>
      <vt:lpstr>Demonstracja działania (3⁄4)</vt:lpstr>
      <vt:lpstr>Demonstracja działania (4⁄4)</vt:lpstr>
      <vt:lpstr>Testowanie (1⁄4)</vt:lpstr>
      <vt:lpstr>Testowanie (2⁄4)</vt:lpstr>
      <vt:lpstr>Testowanie (3⁄4)</vt:lpstr>
      <vt:lpstr>Testowanie (4⁄4)</vt:lpstr>
      <vt:lpstr>Problemy i wyzwania napotkane podczas realizacji (1⁄3)</vt:lpstr>
      <vt:lpstr>Problemy i wyzwania napotkane podczas realizacji (2⁄3)</vt:lpstr>
      <vt:lpstr>Problemy i wyzwania napotkane podczas realizacji (3⁄3)</vt:lpstr>
      <vt:lpstr>Możliwości dalszego rozwoju projektu (1⁄3)</vt:lpstr>
      <vt:lpstr>Możliwości dalszego rozwoju projektu (2⁄3)</vt:lpstr>
      <vt:lpstr>Możliwości dalszego rozwoju projektu (3⁄3)</vt:lpstr>
      <vt:lpstr>Podsumowanie i wnioski (1⁄2)</vt:lpstr>
      <vt:lpstr>Podsumowanie i wnioski (2⁄2)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Projekt zespołowy</dc:title>
  <cp:revision>140</cp:revision>
  <dcterms:created xsi:type="dcterms:W3CDTF">2025-12-03T14:12:27Z</dcterms:created>
  <dcterms:modified xsi:type="dcterms:W3CDTF">2026-06-05T07:58:44Z</dcterms:modified>
</cp:coreProperties>
</file>